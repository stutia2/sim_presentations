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7" d="100"/>
          <a:sy n="67" d="100"/>
        </p:scale>
        <p:origin x="-14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Strategic Management</a:t>
            </a:r>
            <a:endParaRPr lang="en-IN" dirty="0"/>
          </a:p>
        </p:txBody>
      </p:sp>
      <p:sp>
        <p:nvSpPr>
          <p:cNvPr id="3" name="Subtitle 2"/>
          <p:cNvSpPr>
            <a:spLocks noGrp="1"/>
          </p:cNvSpPr>
          <p:nvPr>
            <p:ph type="subTitle" idx="1"/>
          </p:nvPr>
        </p:nvSpPr>
        <p:spPr/>
        <p:txBody>
          <a:bodyPr/>
          <a:lstStyle/>
          <a:p>
            <a:r>
              <a:rPr lang="en-GB" dirty="0" smtClean="0"/>
              <a:t>Session 5</a:t>
            </a:r>
          </a:p>
          <a:p>
            <a:r>
              <a:rPr lang="en-GB" dirty="0" smtClean="0"/>
              <a:t>12</a:t>
            </a:r>
            <a:r>
              <a:rPr lang="en-GB" baseline="30000" dirty="0" smtClean="0"/>
              <a:t>th</a:t>
            </a:r>
            <a:r>
              <a:rPr lang="en-GB" dirty="0" smtClean="0"/>
              <a:t> May, 2026</a:t>
            </a:r>
            <a:endParaRPr lang="en-IN" dirty="0"/>
          </a:p>
        </p:txBody>
      </p:sp>
    </p:spTree>
    <p:extLst>
      <p:ext uri="{BB962C8B-B14F-4D97-AF65-F5344CB8AC3E}">
        <p14:creationId xmlns:p14="http://schemas.microsoft.com/office/powerpoint/2010/main" val="791412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What is strategic management?</a:t>
            </a:r>
            <a:endParaRPr lang="en-IN" dirty="0"/>
          </a:p>
        </p:txBody>
      </p:sp>
      <p:sp>
        <p:nvSpPr>
          <p:cNvPr id="3" name="Content Placeholder 2"/>
          <p:cNvSpPr>
            <a:spLocks noGrp="1"/>
          </p:cNvSpPr>
          <p:nvPr>
            <p:ph idx="1"/>
          </p:nvPr>
        </p:nvSpPr>
        <p:spPr/>
        <p:txBody>
          <a:bodyPr>
            <a:normAutofit/>
          </a:bodyPr>
          <a:lstStyle/>
          <a:p>
            <a:r>
              <a:rPr lang="en-GB" dirty="0"/>
              <a:t>Strategic management is that set of managerial decisions and actions that determines the long-run performance of an organization</a:t>
            </a:r>
            <a:r>
              <a:rPr lang="en-GB" dirty="0" smtClean="0"/>
              <a:t>. </a:t>
            </a:r>
          </a:p>
          <a:p>
            <a:r>
              <a:rPr lang="en-GB" dirty="0" smtClean="0"/>
              <a:t>It </a:t>
            </a:r>
            <a:r>
              <a:rPr lang="en-GB" dirty="0"/>
              <a:t>entails all of the basic management functions; that is, the organization's strategies must be planned, organized, put into effect, and controlled </a:t>
            </a:r>
            <a:endParaRPr lang="en-IN" dirty="0"/>
          </a:p>
          <a:p>
            <a:endParaRPr lang="en-IN" dirty="0"/>
          </a:p>
        </p:txBody>
      </p:sp>
    </p:spTree>
    <p:extLst>
      <p:ext uri="{BB962C8B-B14F-4D97-AF65-F5344CB8AC3E}">
        <p14:creationId xmlns:p14="http://schemas.microsoft.com/office/powerpoint/2010/main" val="1983589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Strategic management process</a:t>
            </a:r>
            <a:endParaRPr lang="en-IN" dirty="0"/>
          </a:p>
        </p:txBody>
      </p:sp>
      <p:sp>
        <p:nvSpPr>
          <p:cNvPr id="3" name="Content Placeholder 2"/>
          <p:cNvSpPr>
            <a:spLocks noGrp="1"/>
          </p:cNvSpPr>
          <p:nvPr>
            <p:ph idx="1"/>
          </p:nvPr>
        </p:nvSpPr>
        <p:spPr/>
        <p:txBody>
          <a:bodyPr>
            <a:normAutofit lnSpcReduction="10000"/>
          </a:bodyPr>
          <a:lstStyle/>
          <a:p>
            <a:r>
              <a:rPr lang="en-GB" b="1" dirty="0"/>
              <a:t>Step 1: Identifying the Organization's Current Mission, Objectives, and Strategies</a:t>
            </a:r>
            <a:endParaRPr lang="en-GB" dirty="0"/>
          </a:p>
          <a:p>
            <a:r>
              <a:rPr lang="en-GB" dirty="0"/>
              <a:t>Every organization needs a mission—a statement of the purpose of an organization. The mission answers the question: What is our reason for being in business? Defining the organization's mission forces managers to carefully identify the scope of its products or services </a:t>
            </a:r>
            <a:r>
              <a:rPr lang="en-IN" dirty="0" smtClean="0"/>
              <a:t>  </a:t>
            </a:r>
            <a:endParaRPr lang="en-IN" dirty="0"/>
          </a:p>
          <a:p>
            <a:endParaRPr lang="en-IN" dirty="0"/>
          </a:p>
        </p:txBody>
      </p:sp>
    </p:spTree>
    <p:extLst>
      <p:ext uri="{BB962C8B-B14F-4D97-AF65-F5344CB8AC3E}">
        <p14:creationId xmlns:p14="http://schemas.microsoft.com/office/powerpoint/2010/main" val="988174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Components of a mission statement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379007547"/>
              </p:ext>
            </p:extLst>
          </p:nvPr>
        </p:nvGraphicFramePr>
        <p:xfrm>
          <a:off x="457200" y="1295400"/>
          <a:ext cx="8229601" cy="4688840"/>
        </p:xfrm>
        <a:graphic>
          <a:graphicData uri="http://schemas.openxmlformats.org/drawingml/2006/table">
            <a:tbl>
              <a:tblPr firstRow="1" bandRow="1">
                <a:tableStyleId>{5C22544A-7EE6-4342-B048-85BDC9FD1C3A}</a:tableStyleId>
              </a:tblPr>
              <a:tblGrid>
                <a:gridCol w="2362200"/>
                <a:gridCol w="5867401"/>
              </a:tblGrid>
              <a:tr h="370840">
                <a:tc>
                  <a:txBody>
                    <a:bodyPr/>
                    <a:lstStyle/>
                    <a:p>
                      <a:r>
                        <a:rPr lang="en-GB" dirty="0" smtClean="0"/>
                        <a:t>Customers</a:t>
                      </a:r>
                      <a:endParaRPr lang="en-IN" dirty="0"/>
                    </a:p>
                  </a:txBody>
                  <a:tcPr/>
                </a:tc>
                <a:tc>
                  <a:txBody>
                    <a:bodyPr/>
                    <a:lstStyle/>
                    <a:p>
                      <a:r>
                        <a:rPr lang="en-GB" dirty="0" smtClean="0"/>
                        <a:t>Who are the organization's customers?</a:t>
                      </a:r>
                      <a:endParaRPr lang="en-IN" dirty="0"/>
                    </a:p>
                  </a:txBody>
                  <a:tcPr/>
                </a:tc>
              </a:tr>
              <a:tr h="370840">
                <a:tc>
                  <a:txBody>
                    <a:bodyPr/>
                    <a:lstStyle/>
                    <a:p>
                      <a:r>
                        <a:rPr lang="en-GB" dirty="0" smtClean="0"/>
                        <a:t>Products or services</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What are the organization's major products or services?</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Markets</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Where does the organization compete geographically?</a:t>
                      </a:r>
                    </a:p>
                  </a:txBody>
                  <a:tcPr/>
                </a:tc>
              </a:tr>
              <a:tr h="370840">
                <a:tc>
                  <a:txBody>
                    <a:bodyPr/>
                    <a:lstStyle/>
                    <a:p>
                      <a:r>
                        <a:rPr lang="en-GB" dirty="0" smtClean="0"/>
                        <a:t>Technology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How technologically current is the organization?</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Concern for survival, growth and profitability</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Is the organization committed to growth and financial stability?</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Philosophy</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What are the organization's basic beliefs, values, aspirations, and ethical priorities?</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Self-concept</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What is the organization's major competitive advantage and core competencies?</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Concern for public image?</a:t>
                      </a:r>
                      <a:endParaRPr lang="en-IN"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How responsive is the organization to societal and environmental concerns</a:t>
                      </a:r>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Concern for employees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Does the organization consider employees a valuable asset? </a:t>
                      </a:r>
                    </a:p>
                  </a:txBody>
                  <a:tcPr/>
                </a:tc>
              </a:tr>
            </a:tbl>
          </a:graphicData>
        </a:graphic>
      </p:graphicFrame>
    </p:spTree>
    <p:extLst>
      <p:ext uri="{BB962C8B-B14F-4D97-AF65-F5344CB8AC3E}">
        <p14:creationId xmlns:p14="http://schemas.microsoft.com/office/powerpoint/2010/main" val="3937201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t>Step 2: </a:t>
            </a:r>
            <a:r>
              <a:rPr lang="en-GB" b="1" dirty="0" err="1"/>
              <a:t>Analyzing</a:t>
            </a:r>
            <a:r>
              <a:rPr lang="en-GB" b="1" dirty="0"/>
              <a:t> the </a:t>
            </a:r>
            <a:r>
              <a:rPr lang="en-GB" b="1" dirty="0" smtClean="0"/>
              <a:t>Environment</a:t>
            </a:r>
            <a:endParaRPr lang="en-IN" dirty="0"/>
          </a:p>
        </p:txBody>
      </p:sp>
      <p:sp>
        <p:nvSpPr>
          <p:cNvPr id="3" name="Content Placeholder 2"/>
          <p:cNvSpPr>
            <a:spLocks noGrp="1"/>
          </p:cNvSpPr>
          <p:nvPr>
            <p:ph idx="1"/>
          </p:nvPr>
        </p:nvSpPr>
        <p:spPr/>
        <p:txBody>
          <a:bodyPr>
            <a:normAutofit fontScale="77500" lnSpcReduction="20000"/>
          </a:bodyPr>
          <a:lstStyle/>
          <a:p>
            <a:r>
              <a:rPr lang="en-GB" dirty="0" err="1"/>
              <a:t>Analyzing</a:t>
            </a:r>
            <a:r>
              <a:rPr lang="en-GB" dirty="0"/>
              <a:t> that environment is a critical step in the strategy process. </a:t>
            </a:r>
            <a:r>
              <a:rPr lang="en-GB" b="1" dirty="0"/>
              <a:t>Why?</a:t>
            </a:r>
            <a:r>
              <a:rPr lang="en-GB" dirty="0"/>
              <a:t> Because an organization's environment, to a large degree, defines management's options. A successful strategy will be one that aligns well with the </a:t>
            </a:r>
            <a:r>
              <a:rPr lang="en-GB" dirty="0" smtClean="0"/>
              <a:t>environment</a:t>
            </a:r>
          </a:p>
          <a:p>
            <a:pPr marL="0" indent="0">
              <a:buNone/>
            </a:pPr>
            <a:endParaRPr lang="en-GB" dirty="0"/>
          </a:p>
          <a:p>
            <a:r>
              <a:rPr lang="en-GB" dirty="0"/>
              <a:t>In </a:t>
            </a:r>
            <a:r>
              <a:rPr lang="en-GB" dirty="0" err="1"/>
              <a:t>analyzing</a:t>
            </a:r>
            <a:r>
              <a:rPr lang="en-GB" dirty="0"/>
              <a:t> the external environment, managers should examine both the specific and general environments to see what trends and changes are occurring </a:t>
            </a:r>
            <a:endParaRPr lang="en-GB" dirty="0" smtClean="0"/>
          </a:p>
          <a:p>
            <a:pPr marL="0" indent="0">
              <a:buNone/>
            </a:pPr>
            <a:endParaRPr lang="en-GB" dirty="0"/>
          </a:p>
          <a:p>
            <a:r>
              <a:rPr lang="en-GB" dirty="0"/>
              <a:t>Step 2 of the strategic management process is complete when managers have an accurate grasp of what is taking place in the external environment and are aware of important trends that might affect the </a:t>
            </a:r>
            <a:r>
              <a:rPr lang="en-GB" dirty="0" smtClean="0"/>
              <a:t>organization</a:t>
            </a:r>
            <a:r>
              <a:rPr lang="en-IN" dirty="0" smtClean="0"/>
              <a:t>  </a:t>
            </a:r>
            <a:endParaRPr lang="en-IN" dirty="0"/>
          </a:p>
          <a:p>
            <a:endParaRPr lang="en-IN" dirty="0"/>
          </a:p>
        </p:txBody>
      </p:sp>
    </p:spTree>
    <p:extLst>
      <p:ext uri="{BB962C8B-B14F-4D97-AF65-F5344CB8AC3E}">
        <p14:creationId xmlns:p14="http://schemas.microsoft.com/office/powerpoint/2010/main" val="681783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Step 3: Identifying Opportunities and Threats</a:t>
            </a:r>
            <a:endParaRPr lang="en-IN" dirty="0"/>
          </a:p>
        </p:txBody>
      </p:sp>
      <p:sp>
        <p:nvSpPr>
          <p:cNvPr id="3" name="Content Placeholder 2"/>
          <p:cNvSpPr>
            <a:spLocks noGrp="1"/>
          </p:cNvSpPr>
          <p:nvPr>
            <p:ph idx="1"/>
          </p:nvPr>
        </p:nvSpPr>
        <p:spPr/>
        <p:txBody>
          <a:bodyPr>
            <a:normAutofit fontScale="92500" lnSpcReduction="20000"/>
          </a:bodyPr>
          <a:lstStyle/>
          <a:p>
            <a:r>
              <a:rPr lang="en-GB" dirty="0"/>
              <a:t>After </a:t>
            </a:r>
            <a:r>
              <a:rPr lang="en-GB" dirty="0" err="1"/>
              <a:t>analyzing</a:t>
            </a:r>
            <a:r>
              <a:rPr lang="en-GB" dirty="0"/>
              <a:t> the environment, managers need to assess what they have learned in terms of opportunities that the organization can exploit and threats it faces. Opportunities are positive trends in external environmental factors; threats are negative trends</a:t>
            </a:r>
          </a:p>
          <a:p>
            <a:r>
              <a:rPr lang="en-GB" dirty="0"/>
              <a:t>Keep in mind that the same environment can present opportunities to one organization and pose threats to another in the same industry because of their different management of resources and </a:t>
            </a:r>
            <a:r>
              <a:rPr lang="en-GB" dirty="0" smtClean="0"/>
              <a:t>capabilities</a:t>
            </a:r>
            <a:endParaRPr lang="en-GB" dirty="0"/>
          </a:p>
        </p:txBody>
      </p:sp>
    </p:spTree>
    <p:extLst>
      <p:ext uri="{BB962C8B-B14F-4D97-AF65-F5344CB8AC3E}">
        <p14:creationId xmlns:p14="http://schemas.microsoft.com/office/powerpoint/2010/main" val="1053895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Step 4: </a:t>
            </a:r>
            <a:r>
              <a:rPr lang="en-GB" b="1" dirty="0" err="1"/>
              <a:t>Analyzing</a:t>
            </a:r>
            <a:r>
              <a:rPr lang="en-GB" b="1" dirty="0"/>
              <a:t> the Organization's Resources and </a:t>
            </a:r>
            <a:r>
              <a:rPr lang="en-GB" b="1" dirty="0" smtClean="0"/>
              <a:t>Capabilities</a:t>
            </a:r>
            <a:endParaRPr lang="en-IN" dirty="0"/>
          </a:p>
        </p:txBody>
      </p:sp>
      <p:sp>
        <p:nvSpPr>
          <p:cNvPr id="3" name="Content Placeholder 2"/>
          <p:cNvSpPr>
            <a:spLocks noGrp="1"/>
          </p:cNvSpPr>
          <p:nvPr>
            <p:ph idx="1"/>
          </p:nvPr>
        </p:nvSpPr>
        <p:spPr/>
        <p:txBody>
          <a:bodyPr>
            <a:normAutofit/>
          </a:bodyPr>
          <a:lstStyle/>
          <a:p>
            <a:r>
              <a:rPr lang="en-GB" dirty="0"/>
              <a:t>W</a:t>
            </a:r>
            <a:r>
              <a:rPr lang="en-GB" dirty="0" smtClean="0"/>
              <a:t>hat </a:t>
            </a:r>
            <a:r>
              <a:rPr lang="en-GB" dirty="0"/>
              <a:t>skills and abilities do the organization's employees have; </a:t>
            </a:r>
            <a:endParaRPr lang="en-GB" dirty="0" smtClean="0"/>
          </a:p>
          <a:p>
            <a:r>
              <a:rPr lang="en-GB" dirty="0"/>
              <a:t>W</a:t>
            </a:r>
            <a:r>
              <a:rPr lang="en-GB" dirty="0" smtClean="0"/>
              <a:t>hat </a:t>
            </a:r>
            <a:r>
              <a:rPr lang="en-GB" dirty="0"/>
              <a:t>resources does the organization have</a:t>
            </a:r>
            <a:r>
              <a:rPr lang="en-GB" dirty="0" smtClean="0"/>
              <a:t>;</a:t>
            </a:r>
          </a:p>
          <a:p>
            <a:r>
              <a:rPr lang="en-GB" dirty="0" smtClean="0"/>
              <a:t>Has the organization </a:t>
            </a:r>
            <a:r>
              <a:rPr lang="en-GB" dirty="0"/>
              <a:t>been successful at innovating products; </a:t>
            </a:r>
            <a:endParaRPr lang="en-GB" dirty="0" smtClean="0"/>
          </a:p>
          <a:p>
            <a:r>
              <a:rPr lang="en-GB" dirty="0"/>
              <a:t>W</a:t>
            </a:r>
            <a:r>
              <a:rPr lang="en-GB" dirty="0" smtClean="0"/>
              <a:t>hat </a:t>
            </a:r>
            <a:r>
              <a:rPr lang="en-GB" dirty="0"/>
              <a:t>is the organization's financial position</a:t>
            </a:r>
            <a:r>
              <a:rPr lang="en-GB" dirty="0" smtClean="0"/>
              <a:t>;</a:t>
            </a:r>
          </a:p>
          <a:p>
            <a:r>
              <a:rPr lang="en-GB" dirty="0" smtClean="0"/>
              <a:t>How </a:t>
            </a:r>
            <a:r>
              <a:rPr lang="en-GB" dirty="0"/>
              <a:t>do customers perceive the organization and the quality of its products or services? </a:t>
            </a:r>
            <a:endParaRPr lang="en-IN" dirty="0"/>
          </a:p>
          <a:p>
            <a:endParaRPr lang="en-IN" dirty="0"/>
          </a:p>
        </p:txBody>
      </p:sp>
    </p:spTree>
    <p:extLst>
      <p:ext uri="{BB962C8B-B14F-4D97-AF65-F5344CB8AC3E}">
        <p14:creationId xmlns:p14="http://schemas.microsoft.com/office/powerpoint/2010/main" val="1907134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r>
              <a:rPr lang="en-GB" dirty="0"/>
              <a:t>The internal analysis provides important information about an organization's specific resources and capabilities. If any of these organizational capabilities or resources are exceptional or unique, </a:t>
            </a:r>
            <a:r>
              <a:rPr lang="en-GB" dirty="0" smtClean="0"/>
              <a:t>they're </a:t>
            </a:r>
            <a:r>
              <a:rPr lang="en-GB" dirty="0"/>
              <a:t>called the organization's core competencies. </a:t>
            </a:r>
            <a:endParaRPr lang="en-GB" dirty="0" smtClean="0"/>
          </a:p>
          <a:p>
            <a:r>
              <a:rPr lang="en-GB" dirty="0" smtClean="0"/>
              <a:t>The </a:t>
            </a:r>
            <a:r>
              <a:rPr lang="en-GB" dirty="0"/>
              <a:t>core competencies are the organization's major value-creating skills, capabilities, and resources that determine the organization's competitive </a:t>
            </a:r>
            <a:r>
              <a:rPr lang="en-GB" dirty="0" smtClean="0"/>
              <a:t>weapons</a:t>
            </a:r>
            <a:r>
              <a:rPr lang="en-IN" dirty="0" smtClean="0"/>
              <a:t>  </a:t>
            </a:r>
            <a:endParaRPr lang="en-IN" dirty="0"/>
          </a:p>
          <a:p>
            <a:endParaRPr lang="en-IN" dirty="0"/>
          </a:p>
        </p:txBody>
      </p:sp>
    </p:spTree>
    <p:extLst>
      <p:ext uri="{BB962C8B-B14F-4D97-AF65-F5344CB8AC3E}">
        <p14:creationId xmlns:p14="http://schemas.microsoft.com/office/powerpoint/2010/main" val="2582406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Step 5: Identifying Strengths and Weaknesses</a:t>
            </a:r>
            <a:endParaRPr lang="en-IN" dirty="0"/>
          </a:p>
        </p:txBody>
      </p:sp>
      <p:sp>
        <p:nvSpPr>
          <p:cNvPr id="3" name="Content Placeholder 2"/>
          <p:cNvSpPr>
            <a:spLocks noGrp="1"/>
          </p:cNvSpPr>
          <p:nvPr>
            <p:ph idx="1"/>
          </p:nvPr>
        </p:nvSpPr>
        <p:spPr/>
        <p:txBody>
          <a:bodyPr>
            <a:normAutofit fontScale="77500" lnSpcReduction="20000"/>
          </a:bodyPr>
          <a:lstStyle/>
          <a:p>
            <a:r>
              <a:rPr lang="en-GB" dirty="0"/>
              <a:t>The analysis in Step 4 should lead to a clear assessment of the organization's internal resources (such as financial capital, technical expertise, skilled workforce, experienced managers, and so forth). </a:t>
            </a:r>
            <a:endParaRPr lang="en-GB" dirty="0" smtClean="0"/>
          </a:p>
          <a:p>
            <a:r>
              <a:rPr lang="en-GB" dirty="0" smtClean="0"/>
              <a:t>It </a:t>
            </a:r>
            <a:r>
              <a:rPr lang="en-GB" dirty="0"/>
              <a:t>should also point out the organization's capabilities in performing the different functional activities (such as marketing, production and manufacturing, research and development, financial and accounting, information systems, human resources management, and so forth). </a:t>
            </a:r>
            <a:endParaRPr lang="en-GB" dirty="0" smtClean="0"/>
          </a:p>
          <a:p>
            <a:r>
              <a:rPr lang="en-GB" dirty="0" smtClean="0"/>
              <a:t>Any </a:t>
            </a:r>
            <a:r>
              <a:rPr lang="en-GB" dirty="0"/>
              <a:t>activities the organization does well or any unique resources that it has are called </a:t>
            </a:r>
            <a:r>
              <a:rPr lang="en-GB" b="1" dirty="0"/>
              <a:t>strengths</a:t>
            </a:r>
            <a:r>
              <a:rPr lang="en-GB" dirty="0"/>
              <a:t>. </a:t>
            </a:r>
            <a:r>
              <a:rPr lang="en-GB" b="1" dirty="0"/>
              <a:t>Weaknesses </a:t>
            </a:r>
            <a:r>
              <a:rPr lang="en-GB" dirty="0"/>
              <a:t>are activities the organization does not do well or resources it needs but does not possess </a:t>
            </a:r>
            <a:r>
              <a:rPr lang="en-IN" dirty="0" smtClean="0"/>
              <a:t>  </a:t>
            </a:r>
            <a:endParaRPr lang="en-IN" dirty="0"/>
          </a:p>
          <a:p>
            <a:endParaRPr lang="en-IN" dirty="0"/>
          </a:p>
        </p:txBody>
      </p:sp>
    </p:spTree>
    <p:extLst>
      <p:ext uri="{BB962C8B-B14F-4D97-AF65-F5344CB8AC3E}">
        <p14:creationId xmlns:p14="http://schemas.microsoft.com/office/powerpoint/2010/main" val="32706147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457200" y="381000"/>
            <a:ext cx="8229600" cy="5745163"/>
          </a:xfrm>
        </p:spPr>
        <p:txBody>
          <a:bodyPr>
            <a:normAutofit fontScale="85000" lnSpcReduction="20000"/>
          </a:bodyPr>
          <a:lstStyle/>
          <a:p>
            <a:r>
              <a:rPr lang="en-GB" dirty="0"/>
              <a:t>Managers should be aware that strong and weak cultures have different effects on strategy and that the content of a culture has a major effect on strategies pursued</a:t>
            </a:r>
          </a:p>
          <a:p>
            <a:r>
              <a:rPr lang="en-GB" dirty="0"/>
              <a:t>A</a:t>
            </a:r>
            <a:r>
              <a:rPr lang="en-GB" dirty="0" smtClean="0"/>
              <a:t>n </a:t>
            </a:r>
            <a:r>
              <a:rPr lang="en-GB" dirty="0"/>
              <a:t>organization's culture is its personality. It reflects the shared values, beliefs, and valued </a:t>
            </a:r>
            <a:r>
              <a:rPr lang="en-GB" dirty="0" err="1"/>
              <a:t>behaviors</a:t>
            </a:r>
            <a:r>
              <a:rPr lang="en-GB" dirty="0"/>
              <a:t> that embody the "way things are done around here." </a:t>
            </a:r>
            <a:endParaRPr lang="en-GB" dirty="0" smtClean="0"/>
          </a:p>
          <a:p>
            <a:r>
              <a:rPr lang="en-GB" dirty="0" smtClean="0"/>
              <a:t>In </a:t>
            </a:r>
            <a:r>
              <a:rPr lang="en-GB" dirty="0"/>
              <a:t>a strong culture, almost all employees will have a clear understanding of what the organization is about. This clarity should make it easy for managers to convey to new employees the organization's core competencies and strengths. </a:t>
            </a:r>
          </a:p>
          <a:p>
            <a:r>
              <a:rPr lang="en-GB" dirty="0" smtClean="0"/>
              <a:t>The </a:t>
            </a:r>
            <a:r>
              <a:rPr lang="en-GB" dirty="0"/>
              <a:t>negative side of a strong culture, of course, is that it's more difficult to change. A strong culture may act as a significant barrier to accepting any changes in the organization's strategies </a:t>
            </a:r>
            <a:endParaRPr lang="en-IN" dirty="0"/>
          </a:p>
          <a:p>
            <a:endParaRPr lang="en-IN" dirty="0"/>
          </a:p>
        </p:txBody>
      </p:sp>
    </p:spTree>
    <p:extLst>
      <p:ext uri="{BB962C8B-B14F-4D97-AF65-F5344CB8AC3E}">
        <p14:creationId xmlns:p14="http://schemas.microsoft.com/office/powerpoint/2010/main" val="2340366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r>
              <a:rPr lang="en-GB" dirty="0" smtClean="0"/>
              <a:t>Organizational </a:t>
            </a:r>
            <a:r>
              <a:rPr lang="en-GB" dirty="0"/>
              <a:t>cultures also differ in the degree to which they encourage taking </a:t>
            </a:r>
            <a:r>
              <a:rPr lang="en-GB" dirty="0" smtClean="0"/>
              <a:t>risks, </a:t>
            </a:r>
            <a:r>
              <a:rPr lang="en-GB" dirty="0"/>
              <a:t>exploiting innovations, and rewarding performance. </a:t>
            </a:r>
          </a:p>
          <a:p>
            <a:r>
              <a:rPr lang="en-GB" dirty="0"/>
              <a:t>In a risk-aversive culture, for example, managers are likely to </a:t>
            </a:r>
            <a:r>
              <a:rPr lang="en-GB" dirty="0" err="1"/>
              <a:t>favor</a:t>
            </a:r>
            <a:r>
              <a:rPr lang="en-GB" dirty="0"/>
              <a:t> strategies that are defensive, that minimize financial exposure, and that react to changes in the environment rather than try to anticipate those changes. Conversely, where innovation is highly valued, managers are likely to </a:t>
            </a:r>
            <a:r>
              <a:rPr lang="en-GB" dirty="0" err="1"/>
              <a:t>favor</a:t>
            </a:r>
            <a:r>
              <a:rPr lang="en-GB" dirty="0"/>
              <a:t> new technology and product development.</a:t>
            </a:r>
          </a:p>
          <a:p>
            <a:r>
              <a:rPr lang="en-GB" dirty="0"/>
              <a:t>Organizational culture also can promote or hinder an organization's strategic </a:t>
            </a:r>
            <a:r>
              <a:rPr lang="en-GB" dirty="0" smtClean="0"/>
              <a:t>actions: </a:t>
            </a:r>
            <a:r>
              <a:rPr lang="en-GB" dirty="0"/>
              <a:t>What is a strategically appropriate culture? It's one that supports the firm's chosen strategy </a:t>
            </a:r>
            <a:endParaRPr lang="en-IN" dirty="0"/>
          </a:p>
          <a:p>
            <a:endParaRPr lang="en-IN" dirty="0"/>
          </a:p>
        </p:txBody>
      </p:sp>
    </p:spTree>
    <p:extLst>
      <p:ext uri="{BB962C8B-B14F-4D97-AF65-F5344CB8AC3E}">
        <p14:creationId xmlns:p14="http://schemas.microsoft.com/office/powerpoint/2010/main" val="983626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a:bodyPr>
          <a:lstStyle/>
          <a:p>
            <a:r>
              <a:rPr lang="en-GB" dirty="0"/>
              <a:t>The merging of Steps 3 and 5 results in an assessment of the organization's internal resources and capabilities and external environmental opportunities</a:t>
            </a:r>
            <a:r>
              <a:rPr lang="en-GB" dirty="0" smtClean="0"/>
              <a:t>.</a:t>
            </a:r>
          </a:p>
          <a:p>
            <a:r>
              <a:rPr lang="en-GB" dirty="0" smtClean="0"/>
              <a:t>This </a:t>
            </a:r>
            <a:r>
              <a:rPr lang="en-GB" dirty="0"/>
              <a:t>is frequently called SWOT analysis because it's an analysis of the organization's </a:t>
            </a:r>
            <a:r>
              <a:rPr lang="en-GB" i="1" dirty="0"/>
              <a:t>s</a:t>
            </a:r>
            <a:r>
              <a:rPr lang="en-GB" dirty="0"/>
              <a:t>trengths, </a:t>
            </a:r>
            <a:r>
              <a:rPr lang="en-GB" i="1" dirty="0"/>
              <a:t>w</a:t>
            </a:r>
            <a:r>
              <a:rPr lang="en-GB" dirty="0"/>
              <a:t>eaknesses, </a:t>
            </a:r>
            <a:r>
              <a:rPr lang="en-GB" i="1" dirty="0"/>
              <a:t>o</a:t>
            </a:r>
            <a:r>
              <a:rPr lang="en-GB" dirty="0"/>
              <a:t>pportunities, and </a:t>
            </a:r>
            <a:r>
              <a:rPr lang="en-GB" i="1" dirty="0"/>
              <a:t>t</a:t>
            </a:r>
            <a:r>
              <a:rPr lang="en-GB" dirty="0"/>
              <a:t>hreats. </a:t>
            </a:r>
            <a:endParaRPr lang="en-GB" dirty="0" smtClean="0"/>
          </a:p>
          <a:p>
            <a:r>
              <a:rPr lang="en-GB" dirty="0" smtClean="0"/>
              <a:t>Based </a:t>
            </a:r>
            <a:r>
              <a:rPr lang="en-GB" dirty="0"/>
              <a:t>on the SWOT analysis, managers can identify a strategic niche that the organization might exploit</a:t>
            </a:r>
            <a:r>
              <a:rPr lang="en-GB" dirty="0" smtClean="0"/>
              <a:t>.</a:t>
            </a:r>
            <a:endParaRPr lang="en-IN" dirty="0"/>
          </a:p>
          <a:p>
            <a:endParaRPr lang="en-IN" dirty="0"/>
          </a:p>
        </p:txBody>
      </p:sp>
    </p:spTree>
    <p:extLst>
      <p:ext uri="{BB962C8B-B14F-4D97-AF65-F5344CB8AC3E}">
        <p14:creationId xmlns:p14="http://schemas.microsoft.com/office/powerpoint/2010/main" val="3554442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6: Formulating Strategies</a:t>
            </a:r>
          </a:p>
        </p:txBody>
      </p:sp>
      <p:sp>
        <p:nvSpPr>
          <p:cNvPr id="3" name="Content Placeholder 2"/>
          <p:cNvSpPr>
            <a:spLocks noGrp="1"/>
          </p:cNvSpPr>
          <p:nvPr>
            <p:ph idx="1"/>
          </p:nvPr>
        </p:nvSpPr>
        <p:spPr/>
        <p:txBody>
          <a:bodyPr>
            <a:normAutofit fontScale="85000" lnSpcReduction="10000"/>
          </a:bodyPr>
          <a:lstStyle/>
          <a:p>
            <a:r>
              <a:rPr lang="en-GB" dirty="0"/>
              <a:t>Strategies need to be established for the corporate, business, and functional levels of the organization </a:t>
            </a:r>
          </a:p>
          <a:p>
            <a:r>
              <a:rPr lang="en-GB" dirty="0"/>
              <a:t>Managers need to develop and evaluate strategic alternatives and then select strategies that support and complement each other and that allow the organization to best capitalize on its strengths and environmental opportunities </a:t>
            </a:r>
          </a:p>
          <a:p>
            <a:r>
              <a:rPr lang="en-GB" dirty="0"/>
              <a:t>Successful managers will choose strategies that give their organization the most </a:t>
            </a:r>
            <a:r>
              <a:rPr lang="en-GB" dirty="0" err="1"/>
              <a:t>favorable</a:t>
            </a:r>
            <a:r>
              <a:rPr lang="en-GB" dirty="0"/>
              <a:t> competitive edge, and then they will try to sustain that </a:t>
            </a:r>
            <a:r>
              <a:rPr lang="en-GB" dirty="0" smtClean="0"/>
              <a:t>advantage</a:t>
            </a:r>
            <a:r>
              <a:rPr lang="en-IN" dirty="0" smtClean="0"/>
              <a:t>  </a:t>
            </a:r>
            <a:endParaRPr lang="en-IN" dirty="0"/>
          </a:p>
          <a:p>
            <a:endParaRPr lang="en-IN" dirty="0"/>
          </a:p>
        </p:txBody>
      </p:sp>
    </p:spTree>
    <p:extLst>
      <p:ext uri="{BB962C8B-B14F-4D97-AF65-F5344CB8AC3E}">
        <p14:creationId xmlns:p14="http://schemas.microsoft.com/office/powerpoint/2010/main" val="3991121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Step 7: Implementing </a:t>
            </a:r>
            <a:r>
              <a:rPr lang="en-IN" b="1" dirty="0" smtClean="0"/>
              <a:t>Strategies</a:t>
            </a:r>
            <a:endParaRPr lang="en-IN" dirty="0"/>
          </a:p>
        </p:txBody>
      </p:sp>
      <p:sp>
        <p:nvSpPr>
          <p:cNvPr id="3" name="Content Placeholder 2"/>
          <p:cNvSpPr>
            <a:spLocks noGrp="1"/>
          </p:cNvSpPr>
          <p:nvPr>
            <p:ph idx="1"/>
          </p:nvPr>
        </p:nvSpPr>
        <p:spPr/>
        <p:txBody>
          <a:bodyPr/>
          <a:lstStyle/>
          <a:p>
            <a:r>
              <a:rPr lang="en-GB" dirty="0"/>
              <a:t>After strategies are formulated, they must be implemented. A strategy is only as good as its implementation. No matter how effectively an organization has planned its strategies, it can't succeed if the strategies aren't implemented properly. </a:t>
            </a:r>
          </a:p>
        </p:txBody>
      </p:sp>
    </p:spTree>
    <p:extLst>
      <p:ext uri="{BB962C8B-B14F-4D97-AF65-F5344CB8AC3E}">
        <p14:creationId xmlns:p14="http://schemas.microsoft.com/office/powerpoint/2010/main" val="5363845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 8: Evaluating Results</a:t>
            </a:r>
          </a:p>
        </p:txBody>
      </p:sp>
      <p:sp>
        <p:nvSpPr>
          <p:cNvPr id="3" name="Content Placeholder 2"/>
          <p:cNvSpPr>
            <a:spLocks noGrp="1"/>
          </p:cNvSpPr>
          <p:nvPr>
            <p:ph idx="1"/>
          </p:nvPr>
        </p:nvSpPr>
        <p:spPr>
          <a:xfrm>
            <a:off x="457200" y="2895600"/>
            <a:ext cx="8229600" cy="3230563"/>
          </a:xfrm>
        </p:spPr>
        <p:txBody>
          <a:bodyPr/>
          <a:lstStyle/>
          <a:p>
            <a:r>
              <a:rPr lang="en-GB" dirty="0"/>
              <a:t>The final step in the strategic management process is evaluating results. </a:t>
            </a:r>
            <a:endParaRPr lang="en-GB" dirty="0" smtClean="0"/>
          </a:p>
          <a:p>
            <a:r>
              <a:rPr lang="en-GB" dirty="0" smtClean="0"/>
              <a:t>How </a:t>
            </a:r>
            <a:r>
              <a:rPr lang="en-GB" dirty="0"/>
              <a:t>effective have our strategies been? </a:t>
            </a:r>
            <a:endParaRPr lang="en-GB" dirty="0" smtClean="0"/>
          </a:p>
          <a:p>
            <a:r>
              <a:rPr lang="en-GB" dirty="0" smtClean="0"/>
              <a:t>What </a:t>
            </a:r>
            <a:r>
              <a:rPr lang="en-GB" dirty="0"/>
              <a:t>adjustments, if any, are necessary? </a:t>
            </a:r>
            <a:endParaRPr lang="en-IN" dirty="0"/>
          </a:p>
          <a:p>
            <a:endParaRPr lang="en-IN" dirty="0"/>
          </a:p>
        </p:txBody>
      </p:sp>
    </p:spTree>
    <p:extLst>
      <p:ext uri="{BB962C8B-B14F-4D97-AF65-F5344CB8AC3E}">
        <p14:creationId xmlns:p14="http://schemas.microsoft.com/office/powerpoint/2010/main" val="2189876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Intended, Emergent and Realized Strategies</a:t>
            </a:r>
            <a:endParaRPr lang="en-IN" dirty="0"/>
          </a:p>
        </p:txBody>
      </p:sp>
      <p:sp>
        <p:nvSpPr>
          <p:cNvPr id="3" name="Content Placeholder 2"/>
          <p:cNvSpPr>
            <a:spLocks noGrp="1"/>
          </p:cNvSpPr>
          <p:nvPr>
            <p:ph idx="1"/>
          </p:nvPr>
        </p:nvSpPr>
        <p:spPr/>
        <p:txBody>
          <a:bodyPr/>
          <a:lstStyle/>
          <a:p>
            <a:r>
              <a:rPr lang="en-GB" dirty="0"/>
              <a:t>An </a:t>
            </a:r>
            <a:r>
              <a:rPr lang="en-GB" b="1" dirty="0"/>
              <a:t>intended strategy </a:t>
            </a:r>
            <a:r>
              <a:rPr lang="en-GB" dirty="0"/>
              <a:t>is the strategy that an organization hopes to execute. </a:t>
            </a:r>
            <a:endParaRPr lang="en-GB" dirty="0" smtClean="0"/>
          </a:p>
          <a:p>
            <a:r>
              <a:rPr lang="en-GB" dirty="0" smtClean="0"/>
              <a:t>Intended </a:t>
            </a:r>
            <a:r>
              <a:rPr lang="en-GB" dirty="0"/>
              <a:t>strategies are </a:t>
            </a:r>
            <a:r>
              <a:rPr lang="en-GB" dirty="0" smtClean="0"/>
              <a:t>usually described </a:t>
            </a:r>
            <a:r>
              <a:rPr lang="en-GB" dirty="0"/>
              <a:t>in detail within an organization’s strategic plan. </a:t>
            </a:r>
            <a:endParaRPr lang="en-GB" dirty="0" smtClean="0"/>
          </a:p>
          <a:p>
            <a:r>
              <a:rPr lang="en-GB" dirty="0" smtClean="0"/>
              <a:t>When </a:t>
            </a:r>
            <a:r>
              <a:rPr lang="en-GB" dirty="0"/>
              <a:t>a strategic plan is created for a new venture</a:t>
            </a:r>
            <a:r>
              <a:rPr lang="en-GB" dirty="0" smtClean="0"/>
              <a:t>, it </a:t>
            </a:r>
            <a:r>
              <a:rPr lang="en-GB" dirty="0"/>
              <a:t>is called a business plan</a:t>
            </a:r>
            <a:endParaRPr lang="en-IN" dirty="0"/>
          </a:p>
        </p:txBody>
      </p:sp>
    </p:spTree>
    <p:extLst>
      <p:ext uri="{BB962C8B-B14F-4D97-AF65-F5344CB8AC3E}">
        <p14:creationId xmlns:p14="http://schemas.microsoft.com/office/powerpoint/2010/main" val="22270821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fontScale="85000" lnSpcReduction="20000"/>
          </a:bodyPr>
          <a:lstStyle/>
          <a:p>
            <a:r>
              <a:rPr lang="en-GB" dirty="0"/>
              <a:t>An </a:t>
            </a:r>
            <a:r>
              <a:rPr lang="en-GB" b="1" dirty="0"/>
              <a:t>emergent strategy </a:t>
            </a:r>
            <a:r>
              <a:rPr lang="en-GB" dirty="0"/>
              <a:t>is an unplanned </a:t>
            </a:r>
            <a:r>
              <a:rPr lang="en-GB" dirty="0" smtClean="0"/>
              <a:t>strategy that </a:t>
            </a:r>
            <a:r>
              <a:rPr lang="en-GB" dirty="0"/>
              <a:t>arises in response to unexpected opportunities and/or challenges. </a:t>
            </a:r>
            <a:endParaRPr lang="en-GB" dirty="0" smtClean="0"/>
          </a:p>
          <a:p>
            <a:r>
              <a:rPr lang="en-GB" dirty="0" smtClean="0"/>
              <a:t>Sometimes </a:t>
            </a:r>
            <a:r>
              <a:rPr lang="en-GB" dirty="0"/>
              <a:t>emergent strategies </a:t>
            </a:r>
            <a:r>
              <a:rPr lang="en-GB" dirty="0" smtClean="0"/>
              <a:t>result </a:t>
            </a:r>
            <a:r>
              <a:rPr lang="en-IN" dirty="0" smtClean="0"/>
              <a:t>in disasters</a:t>
            </a:r>
          </a:p>
          <a:p>
            <a:r>
              <a:rPr lang="en-GB" dirty="0"/>
              <a:t>Emergent strategies can also lead to tremendous </a:t>
            </a:r>
            <a:r>
              <a:rPr lang="en-GB" dirty="0" smtClean="0"/>
              <a:t>success</a:t>
            </a:r>
          </a:p>
          <a:p>
            <a:r>
              <a:rPr lang="en-GB" dirty="0"/>
              <a:t>A </a:t>
            </a:r>
            <a:r>
              <a:rPr lang="en-GB" b="1" dirty="0"/>
              <a:t>realized strategy </a:t>
            </a:r>
            <a:r>
              <a:rPr lang="en-GB" dirty="0"/>
              <a:t>is the strategy that an organization actually follows. </a:t>
            </a:r>
            <a:endParaRPr lang="en-GB" dirty="0" smtClean="0"/>
          </a:p>
          <a:p>
            <a:r>
              <a:rPr lang="en-GB" dirty="0" smtClean="0"/>
              <a:t>Realized </a:t>
            </a:r>
            <a:r>
              <a:rPr lang="en-GB" dirty="0"/>
              <a:t>strategies are a product of </a:t>
            </a:r>
            <a:r>
              <a:rPr lang="en-GB" dirty="0" smtClean="0"/>
              <a:t>a firm’s </a:t>
            </a:r>
            <a:r>
              <a:rPr lang="en-GB" dirty="0"/>
              <a:t>intended strategy (i.e., what the firm planned to do), the firm’s deliberate strategy (i.e., the parts of </a:t>
            </a:r>
            <a:r>
              <a:rPr lang="en-GB" dirty="0" smtClean="0"/>
              <a:t>the intended </a:t>
            </a:r>
            <a:r>
              <a:rPr lang="en-GB" dirty="0"/>
              <a:t>strategy that the firm continues to pursue over time), and its emergent strategy (i.e., what the firm </a:t>
            </a:r>
            <a:r>
              <a:rPr lang="en-GB" dirty="0" smtClean="0"/>
              <a:t>did in </a:t>
            </a:r>
            <a:r>
              <a:rPr lang="en-GB" dirty="0"/>
              <a:t>reaction to unexpected opportunities and challenges).</a:t>
            </a:r>
            <a:endParaRPr lang="en-IN" dirty="0"/>
          </a:p>
        </p:txBody>
      </p:sp>
    </p:spTree>
    <p:extLst>
      <p:ext uri="{BB962C8B-B14F-4D97-AF65-F5344CB8AC3E}">
        <p14:creationId xmlns:p14="http://schemas.microsoft.com/office/powerpoint/2010/main" val="1517943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828800"/>
            <a:ext cx="8229600" cy="2392363"/>
          </a:xfrm>
        </p:spPr>
        <p:txBody>
          <a:bodyPr/>
          <a:lstStyle/>
          <a:p>
            <a:r>
              <a:rPr lang="en-GB" dirty="0"/>
              <a:t>In other cases, firms’ original intended strategies are long forgotten. An </a:t>
            </a:r>
            <a:r>
              <a:rPr lang="en-GB" b="1" dirty="0"/>
              <a:t>unrealized strategy </a:t>
            </a:r>
            <a:r>
              <a:rPr lang="en-GB" dirty="0"/>
              <a:t>refers to </a:t>
            </a:r>
            <a:r>
              <a:rPr lang="en-GB" dirty="0" smtClean="0"/>
              <a:t>the abandoned </a:t>
            </a:r>
            <a:r>
              <a:rPr lang="en-GB" dirty="0"/>
              <a:t>parts of the intended strategy</a:t>
            </a:r>
            <a:endParaRPr lang="en-IN" dirty="0"/>
          </a:p>
        </p:txBody>
      </p:sp>
    </p:spTree>
    <p:extLst>
      <p:ext uri="{BB962C8B-B14F-4D97-AF65-F5344CB8AC3E}">
        <p14:creationId xmlns:p14="http://schemas.microsoft.com/office/powerpoint/2010/main" val="3829108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Types of Organizational Strategy</a:t>
            </a:r>
            <a:endParaRPr lang="en-IN" dirty="0"/>
          </a:p>
        </p:txBody>
      </p:sp>
      <p:sp>
        <p:nvSpPr>
          <p:cNvPr id="3" name="Content Placeholder 2"/>
          <p:cNvSpPr>
            <a:spLocks noGrp="1"/>
          </p:cNvSpPr>
          <p:nvPr>
            <p:ph idx="1"/>
          </p:nvPr>
        </p:nvSpPr>
        <p:spPr/>
        <p:txBody>
          <a:bodyPr>
            <a:normAutofit/>
          </a:bodyPr>
          <a:lstStyle/>
          <a:p>
            <a:r>
              <a:rPr lang="en-IN" b="1" dirty="0"/>
              <a:t>Corporate-Level </a:t>
            </a:r>
            <a:r>
              <a:rPr lang="en-IN" b="1" dirty="0" smtClean="0"/>
              <a:t>Strategy</a:t>
            </a:r>
            <a:r>
              <a:rPr lang="en-IN" dirty="0" smtClean="0"/>
              <a:t>: </a:t>
            </a:r>
            <a:r>
              <a:rPr lang="en-GB" dirty="0"/>
              <a:t>A corporate-level strategy seeks to determine what businesses a company should be in or wants to be in. </a:t>
            </a:r>
            <a:endParaRPr lang="en-GB" dirty="0" smtClean="0"/>
          </a:p>
          <a:p>
            <a:r>
              <a:rPr lang="en-GB" dirty="0" smtClean="0"/>
              <a:t>Corporate-level </a:t>
            </a:r>
            <a:r>
              <a:rPr lang="en-GB" dirty="0"/>
              <a:t>strategy determines the direction that the organization is going and the roles that each business unit in the organization will play in pursuing that direction </a:t>
            </a:r>
            <a:endParaRPr lang="en-IN" dirty="0"/>
          </a:p>
          <a:p>
            <a:endParaRPr lang="en-IN" dirty="0"/>
          </a:p>
        </p:txBody>
      </p:sp>
    </p:spTree>
    <p:extLst>
      <p:ext uri="{BB962C8B-B14F-4D97-AF65-F5344CB8AC3E}">
        <p14:creationId xmlns:p14="http://schemas.microsoft.com/office/powerpoint/2010/main" val="33650372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Grand </a:t>
            </a:r>
            <a:r>
              <a:rPr lang="en-IN" b="1" dirty="0" smtClean="0"/>
              <a:t>Strategy—Stability</a:t>
            </a:r>
            <a:endParaRPr lang="en-IN" dirty="0"/>
          </a:p>
        </p:txBody>
      </p:sp>
      <p:sp>
        <p:nvSpPr>
          <p:cNvPr id="3" name="Content Placeholder 2"/>
          <p:cNvSpPr>
            <a:spLocks noGrp="1"/>
          </p:cNvSpPr>
          <p:nvPr>
            <p:ph idx="1"/>
          </p:nvPr>
        </p:nvSpPr>
        <p:spPr/>
        <p:txBody>
          <a:bodyPr>
            <a:normAutofit fontScale="85000" lnSpcReduction="20000"/>
          </a:bodyPr>
          <a:lstStyle/>
          <a:p>
            <a:r>
              <a:rPr lang="en-GB" dirty="0"/>
              <a:t>A stability strategy is a corporate-level strategy characterized by an absence of significant change</a:t>
            </a:r>
            <a:r>
              <a:rPr lang="en-GB" dirty="0" smtClean="0"/>
              <a:t>.</a:t>
            </a:r>
          </a:p>
          <a:p>
            <a:r>
              <a:rPr lang="en-GB" dirty="0" smtClean="0"/>
              <a:t>Examples </a:t>
            </a:r>
            <a:r>
              <a:rPr lang="en-GB" dirty="0"/>
              <a:t>of this strategy include continuing to serve the same clients by offering the same product or service, maintaining market share, and sustaining the organization's return-on-investment results.</a:t>
            </a:r>
          </a:p>
          <a:p>
            <a:r>
              <a:rPr lang="en-GB" b="1" dirty="0"/>
              <a:t>When should managers pursue stability? </a:t>
            </a:r>
            <a:r>
              <a:rPr lang="en-GB" dirty="0"/>
              <a:t>When they view the organization's performance as satisfactory and the environment appears to be stable and unchanging; that is, the organization is content to continue what it has been doing and sees no reason to </a:t>
            </a:r>
            <a:r>
              <a:rPr lang="en-GB" dirty="0" smtClean="0"/>
              <a:t>change</a:t>
            </a:r>
            <a:endParaRPr lang="en-IN" dirty="0"/>
          </a:p>
          <a:p>
            <a:endParaRPr lang="en-IN" dirty="0"/>
          </a:p>
        </p:txBody>
      </p:sp>
    </p:spTree>
    <p:extLst>
      <p:ext uri="{BB962C8B-B14F-4D97-AF65-F5344CB8AC3E}">
        <p14:creationId xmlns:p14="http://schemas.microsoft.com/office/powerpoint/2010/main" val="2196456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Grand Strategy—Growth</a:t>
            </a:r>
          </a:p>
        </p:txBody>
      </p:sp>
      <p:sp>
        <p:nvSpPr>
          <p:cNvPr id="3" name="Content Placeholder 2"/>
          <p:cNvSpPr>
            <a:spLocks noGrp="1"/>
          </p:cNvSpPr>
          <p:nvPr>
            <p:ph idx="1"/>
          </p:nvPr>
        </p:nvSpPr>
        <p:spPr/>
        <p:txBody>
          <a:bodyPr>
            <a:normAutofit lnSpcReduction="10000"/>
          </a:bodyPr>
          <a:lstStyle/>
          <a:p>
            <a:r>
              <a:rPr lang="en-GB" dirty="0"/>
              <a:t>The growth strategy is a corporate-level strategy that seeks to increase the level of the organization's operations. </a:t>
            </a:r>
            <a:endParaRPr lang="en-GB" dirty="0" smtClean="0"/>
          </a:p>
          <a:p>
            <a:r>
              <a:rPr lang="en-GB" dirty="0" smtClean="0"/>
              <a:t>This </a:t>
            </a:r>
            <a:r>
              <a:rPr lang="en-GB" dirty="0"/>
              <a:t>includes increasing such popular quantitative measures as sales revenues, number of employees, and market share. </a:t>
            </a:r>
            <a:endParaRPr lang="en-GB" dirty="0" smtClean="0"/>
          </a:p>
          <a:p>
            <a:r>
              <a:rPr lang="en-GB" dirty="0" smtClean="0"/>
              <a:t>Growth </a:t>
            </a:r>
            <a:r>
              <a:rPr lang="en-GB" dirty="0"/>
              <a:t>can be achieved through </a:t>
            </a:r>
            <a:r>
              <a:rPr lang="en-GB" b="1" dirty="0"/>
              <a:t>direct expansion</a:t>
            </a:r>
            <a:r>
              <a:rPr lang="en-GB" dirty="0"/>
              <a:t>, </a:t>
            </a:r>
            <a:r>
              <a:rPr lang="en-GB" b="1" dirty="0"/>
              <a:t>vertical integration</a:t>
            </a:r>
            <a:r>
              <a:rPr lang="en-GB" dirty="0"/>
              <a:t>, </a:t>
            </a:r>
            <a:r>
              <a:rPr lang="en-GB" b="1" dirty="0"/>
              <a:t>horizontal integration, or </a:t>
            </a:r>
            <a:r>
              <a:rPr lang="en-GB" b="1" dirty="0" smtClean="0"/>
              <a:t>diversification</a:t>
            </a:r>
            <a:endParaRPr lang="en-IN" b="1" dirty="0"/>
          </a:p>
          <a:p>
            <a:endParaRPr lang="en-IN" dirty="0"/>
          </a:p>
        </p:txBody>
      </p:sp>
    </p:spTree>
    <p:extLst>
      <p:ext uri="{BB962C8B-B14F-4D97-AF65-F5344CB8AC3E}">
        <p14:creationId xmlns:p14="http://schemas.microsoft.com/office/powerpoint/2010/main" val="4246465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0"/>
            <a:ext cx="8229600" cy="4602163"/>
          </a:xfrm>
        </p:spPr>
        <p:txBody>
          <a:bodyPr>
            <a:normAutofit/>
          </a:bodyPr>
          <a:lstStyle/>
          <a:p>
            <a:r>
              <a:rPr lang="en-GB" dirty="0"/>
              <a:t>Growth through </a:t>
            </a:r>
            <a:r>
              <a:rPr lang="en-GB" b="1" dirty="0"/>
              <a:t>direct expansion (also called concentration</a:t>
            </a:r>
            <a:r>
              <a:rPr lang="en-GB" dirty="0"/>
              <a:t>) is achieved by internally increasing a firm's sales, production capacity, or workforce. </a:t>
            </a:r>
            <a:endParaRPr lang="en-GB" dirty="0" smtClean="0"/>
          </a:p>
          <a:p>
            <a:r>
              <a:rPr lang="en-GB" dirty="0" smtClean="0"/>
              <a:t>No </a:t>
            </a:r>
            <a:r>
              <a:rPr lang="en-GB" dirty="0"/>
              <a:t>other firms are acquired or merged with</a:t>
            </a:r>
            <a:r>
              <a:rPr lang="en-GB" dirty="0" smtClean="0"/>
              <a:t>; </a:t>
            </a:r>
            <a:r>
              <a:rPr lang="en-GB" dirty="0"/>
              <a:t>instead the company chooses to grow by itself through its own business operations. </a:t>
            </a:r>
            <a:r>
              <a:rPr lang="en-GB" dirty="0" smtClean="0"/>
              <a:t> </a:t>
            </a:r>
            <a:endParaRPr lang="en-IN" dirty="0"/>
          </a:p>
          <a:p>
            <a:endParaRPr lang="en-IN" dirty="0"/>
          </a:p>
        </p:txBody>
      </p:sp>
    </p:spTree>
    <p:extLst>
      <p:ext uri="{BB962C8B-B14F-4D97-AF65-F5344CB8AC3E}">
        <p14:creationId xmlns:p14="http://schemas.microsoft.com/office/powerpoint/2010/main" val="3800757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8229600" cy="5592763"/>
          </a:xfrm>
        </p:spPr>
        <p:txBody>
          <a:bodyPr>
            <a:normAutofit lnSpcReduction="10000"/>
          </a:bodyPr>
          <a:lstStyle/>
          <a:p>
            <a:r>
              <a:rPr lang="en-GB" dirty="0"/>
              <a:t>A company might also choose to grow by vertical integration, which is an attempt to gain control of inputs (</a:t>
            </a:r>
            <a:r>
              <a:rPr lang="en-GB" b="1" dirty="0"/>
              <a:t>backward vertical integration</a:t>
            </a:r>
            <a:r>
              <a:rPr lang="en-GB" dirty="0"/>
              <a:t>), outputs (</a:t>
            </a:r>
            <a:r>
              <a:rPr lang="en-GB" b="1" dirty="0"/>
              <a:t>forward vertical integration</a:t>
            </a:r>
            <a:r>
              <a:rPr lang="en-GB" dirty="0"/>
              <a:t>), or both. </a:t>
            </a:r>
            <a:endParaRPr lang="en-GB" dirty="0" smtClean="0"/>
          </a:p>
          <a:p>
            <a:r>
              <a:rPr lang="en-GB" dirty="0" smtClean="0"/>
              <a:t>In </a:t>
            </a:r>
            <a:r>
              <a:rPr lang="en-GB" b="1" dirty="0"/>
              <a:t>backward vertical integration</a:t>
            </a:r>
            <a:r>
              <a:rPr lang="en-GB" dirty="0"/>
              <a:t>, the organization attempts to gain control of its inputs by becoming its own supplier </a:t>
            </a:r>
          </a:p>
          <a:p>
            <a:r>
              <a:rPr lang="en-GB" dirty="0"/>
              <a:t>In </a:t>
            </a:r>
            <a:r>
              <a:rPr lang="en-GB" b="1" dirty="0"/>
              <a:t>forward vertical integration</a:t>
            </a:r>
            <a:r>
              <a:rPr lang="en-GB" dirty="0"/>
              <a:t>, the organization gains control of its outputs (products or services) by becoming its own </a:t>
            </a:r>
            <a:r>
              <a:rPr lang="en-GB" dirty="0" smtClean="0"/>
              <a:t>distributor</a:t>
            </a:r>
            <a:r>
              <a:rPr lang="en-IN" dirty="0" smtClean="0"/>
              <a:t>  </a:t>
            </a:r>
            <a:endParaRPr lang="en-IN" dirty="0"/>
          </a:p>
          <a:p>
            <a:endParaRPr lang="en-IN" dirty="0"/>
          </a:p>
        </p:txBody>
      </p:sp>
    </p:spTree>
    <p:extLst>
      <p:ext uri="{BB962C8B-B14F-4D97-AF65-F5344CB8AC3E}">
        <p14:creationId xmlns:p14="http://schemas.microsoft.com/office/powerpoint/2010/main" val="9537486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67000"/>
            <a:ext cx="8229600" cy="3459163"/>
          </a:xfrm>
        </p:spPr>
        <p:txBody>
          <a:bodyPr/>
          <a:lstStyle/>
          <a:p>
            <a:r>
              <a:rPr lang="en-GB" dirty="0"/>
              <a:t>In </a:t>
            </a:r>
            <a:r>
              <a:rPr lang="en-GB" b="1" dirty="0"/>
              <a:t>horizontal integration</a:t>
            </a:r>
            <a:r>
              <a:rPr lang="en-GB" dirty="0"/>
              <a:t>, a company grows by combining with other organizations in the same industry—that is, combining operations with competitors </a:t>
            </a:r>
            <a:endParaRPr lang="en-IN" dirty="0"/>
          </a:p>
          <a:p>
            <a:endParaRPr lang="en-IN" dirty="0"/>
          </a:p>
        </p:txBody>
      </p:sp>
    </p:spTree>
    <p:extLst>
      <p:ext uri="{BB962C8B-B14F-4D97-AF65-F5344CB8AC3E}">
        <p14:creationId xmlns:p14="http://schemas.microsoft.com/office/powerpoint/2010/main" val="5600020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GB" dirty="0"/>
              <a:t>Finally, an organization can grow through </a:t>
            </a:r>
            <a:r>
              <a:rPr lang="en-GB" b="1" dirty="0"/>
              <a:t>diversification</a:t>
            </a:r>
            <a:r>
              <a:rPr lang="en-GB" dirty="0"/>
              <a:t>, either </a:t>
            </a:r>
            <a:r>
              <a:rPr lang="en-GB" b="1" dirty="0"/>
              <a:t>related</a:t>
            </a:r>
            <a:r>
              <a:rPr lang="en-GB" dirty="0"/>
              <a:t> or </a:t>
            </a:r>
            <a:r>
              <a:rPr lang="en-GB" b="1" dirty="0"/>
              <a:t>unrelated</a:t>
            </a:r>
            <a:r>
              <a:rPr lang="en-GB" dirty="0" smtClean="0"/>
              <a:t>.</a:t>
            </a:r>
          </a:p>
          <a:p>
            <a:r>
              <a:rPr lang="en-GB" b="1" dirty="0" smtClean="0"/>
              <a:t>Related </a:t>
            </a:r>
            <a:r>
              <a:rPr lang="en-GB" b="1" dirty="0"/>
              <a:t>diversification</a:t>
            </a:r>
            <a:r>
              <a:rPr lang="en-GB" dirty="0"/>
              <a:t> is when a company grows by merging with or acquiring firms in different but related industries </a:t>
            </a:r>
          </a:p>
          <a:p>
            <a:r>
              <a:rPr lang="en-GB" b="1" dirty="0"/>
              <a:t>Unrelated diversification </a:t>
            </a:r>
            <a:r>
              <a:rPr lang="en-GB" dirty="0"/>
              <a:t>is when a company grows by merging with or acquiring firms in different and unrelated industries. </a:t>
            </a:r>
            <a:r>
              <a:rPr lang="en-IN" dirty="0" smtClean="0"/>
              <a:t>  </a:t>
            </a:r>
            <a:endParaRPr lang="en-IN" dirty="0"/>
          </a:p>
          <a:p>
            <a:endParaRPr lang="en-IN" dirty="0"/>
          </a:p>
        </p:txBody>
      </p:sp>
    </p:spTree>
    <p:extLst>
      <p:ext uri="{BB962C8B-B14F-4D97-AF65-F5344CB8AC3E}">
        <p14:creationId xmlns:p14="http://schemas.microsoft.com/office/powerpoint/2010/main" val="37483091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Grand </a:t>
            </a:r>
            <a:r>
              <a:rPr lang="en-IN" b="1" dirty="0" smtClean="0"/>
              <a:t>Strategy—Retrenchment</a:t>
            </a:r>
            <a:endParaRPr lang="en-IN" dirty="0"/>
          </a:p>
        </p:txBody>
      </p:sp>
      <p:sp>
        <p:nvSpPr>
          <p:cNvPr id="3" name="Content Placeholder 2"/>
          <p:cNvSpPr>
            <a:spLocks noGrp="1"/>
          </p:cNvSpPr>
          <p:nvPr>
            <p:ph idx="1"/>
          </p:nvPr>
        </p:nvSpPr>
        <p:spPr/>
        <p:txBody>
          <a:bodyPr>
            <a:normAutofit lnSpcReduction="10000"/>
          </a:bodyPr>
          <a:lstStyle/>
          <a:p>
            <a:r>
              <a:rPr lang="en-GB" dirty="0"/>
              <a:t>A retrenchment strategy is a corporate-level strategy designed to address organizational weaknesses that are leading to performance declines </a:t>
            </a:r>
          </a:p>
          <a:p>
            <a:r>
              <a:rPr lang="en-GB" dirty="0"/>
              <a:t>When an organization is facing performance problems, a retrenchment strategy helps it stabilize operations, revitalize organizational resources and capabilities, and prepare to compete once </a:t>
            </a:r>
            <a:r>
              <a:rPr lang="en-GB" dirty="0" smtClean="0"/>
              <a:t>again</a:t>
            </a:r>
            <a:r>
              <a:rPr lang="en-IN" dirty="0" smtClean="0"/>
              <a:t>  </a:t>
            </a:r>
            <a:endParaRPr lang="en-IN" dirty="0"/>
          </a:p>
          <a:p>
            <a:endParaRPr lang="en-IN" dirty="0"/>
          </a:p>
        </p:txBody>
      </p:sp>
    </p:spTree>
    <p:extLst>
      <p:ext uri="{BB962C8B-B14F-4D97-AF65-F5344CB8AC3E}">
        <p14:creationId xmlns:p14="http://schemas.microsoft.com/office/powerpoint/2010/main" val="1304567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Corporate Portfolio Analysis</a:t>
            </a:r>
          </a:p>
        </p:txBody>
      </p:sp>
      <p:sp>
        <p:nvSpPr>
          <p:cNvPr id="3" name="Content Placeholder 2"/>
          <p:cNvSpPr>
            <a:spLocks noGrp="1"/>
          </p:cNvSpPr>
          <p:nvPr>
            <p:ph idx="1"/>
          </p:nvPr>
        </p:nvSpPr>
        <p:spPr/>
        <p:txBody>
          <a:bodyPr>
            <a:normAutofit fontScale="85000" lnSpcReduction="20000"/>
          </a:bodyPr>
          <a:lstStyle/>
          <a:p>
            <a:r>
              <a:rPr lang="en-GB" dirty="0"/>
              <a:t>The first portfolio matrix—the </a:t>
            </a:r>
            <a:r>
              <a:rPr lang="en-GB" b="1" dirty="0"/>
              <a:t>BCG matrix</a:t>
            </a:r>
            <a:r>
              <a:rPr lang="en-GB" dirty="0"/>
              <a:t>—developed by the Boston Consulting Group, introduced the idea that an organization's businesses could be evaluated and plotted using a 2 × 2 matrix </a:t>
            </a:r>
            <a:r>
              <a:rPr lang="en-GB" dirty="0" smtClean="0"/>
              <a:t>to </a:t>
            </a:r>
            <a:r>
              <a:rPr lang="en-GB" dirty="0"/>
              <a:t>identify which ones offered high potential and which were a drain on organizational </a:t>
            </a:r>
            <a:r>
              <a:rPr lang="en-GB" dirty="0" smtClean="0"/>
              <a:t>resources.</a:t>
            </a:r>
          </a:p>
          <a:p>
            <a:r>
              <a:rPr lang="en-GB" dirty="0" smtClean="0"/>
              <a:t>The </a:t>
            </a:r>
            <a:r>
              <a:rPr lang="en-GB" b="1" dirty="0"/>
              <a:t>horizontal axis </a:t>
            </a:r>
            <a:r>
              <a:rPr lang="en-GB" dirty="0"/>
              <a:t>represents </a:t>
            </a:r>
            <a:r>
              <a:rPr lang="en-GB" u="sng" dirty="0"/>
              <a:t>market share</a:t>
            </a:r>
            <a:r>
              <a:rPr lang="en-GB" dirty="0"/>
              <a:t>, which was evaluated as either low or high; and the </a:t>
            </a:r>
            <a:r>
              <a:rPr lang="en-GB" b="1" dirty="0"/>
              <a:t>vertical axis</a:t>
            </a:r>
            <a:r>
              <a:rPr lang="en-GB" dirty="0"/>
              <a:t> indicates anticipated </a:t>
            </a:r>
            <a:r>
              <a:rPr lang="en-GB" u="sng" dirty="0"/>
              <a:t>market growth</a:t>
            </a:r>
            <a:r>
              <a:rPr lang="en-GB" dirty="0"/>
              <a:t>, which also was evaluated as either low or high. </a:t>
            </a:r>
            <a:endParaRPr lang="en-GB" dirty="0" smtClean="0"/>
          </a:p>
          <a:p>
            <a:r>
              <a:rPr lang="en-GB" dirty="0" smtClean="0"/>
              <a:t>Based </a:t>
            </a:r>
            <a:r>
              <a:rPr lang="en-GB" dirty="0"/>
              <a:t>on its evaluation, the business was placed in one of four </a:t>
            </a:r>
            <a:r>
              <a:rPr lang="en-GB" dirty="0" smtClean="0"/>
              <a:t>categories</a:t>
            </a:r>
            <a:endParaRPr lang="en-IN" dirty="0"/>
          </a:p>
          <a:p>
            <a:endParaRPr lang="en-IN" dirty="0"/>
          </a:p>
        </p:txBody>
      </p:sp>
    </p:spTree>
    <p:extLst>
      <p:ext uri="{BB962C8B-B14F-4D97-AF65-F5344CB8AC3E}">
        <p14:creationId xmlns:p14="http://schemas.microsoft.com/office/powerpoint/2010/main" val="3432141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BCG Matrix</a:t>
            </a:r>
            <a:endParaRPr lang="en-IN" dirty="0"/>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295400"/>
            <a:ext cx="80010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348117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fontScale="85000" lnSpcReduction="10000"/>
          </a:bodyPr>
          <a:lstStyle/>
          <a:p>
            <a:r>
              <a:rPr lang="en-GB" b="1" dirty="0"/>
              <a:t>Cash cows </a:t>
            </a:r>
            <a:r>
              <a:rPr lang="en-GB" dirty="0"/>
              <a:t>(</a:t>
            </a:r>
            <a:r>
              <a:rPr lang="en-GB" u="sng" dirty="0"/>
              <a:t>low growth, high market share</a:t>
            </a:r>
            <a:r>
              <a:rPr lang="en-GB" dirty="0"/>
              <a:t>). Businesses in this category generate large amounts of cash, but their prospects for future growth are limited</a:t>
            </a:r>
            <a:r>
              <a:rPr lang="en-GB" dirty="0" smtClean="0"/>
              <a:t>.</a:t>
            </a:r>
            <a:endParaRPr lang="en-GB" dirty="0"/>
          </a:p>
          <a:p>
            <a:r>
              <a:rPr lang="en-GB" b="1" dirty="0"/>
              <a:t>Stars</a:t>
            </a:r>
            <a:r>
              <a:rPr lang="en-GB" dirty="0"/>
              <a:t> (</a:t>
            </a:r>
            <a:r>
              <a:rPr lang="en-GB" u="sng" dirty="0"/>
              <a:t>high growth, high market share</a:t>
            </a:r>
            <a:r>
              <a:rPr lang="en-GB" dirty="0"/>
              <a:t>). These businesses are in a fast-growing market and hold a dominant share of that market. Their contribution to cash flow depends on their need for resources</a:t>
            </a:r>
            <a:r>
              <a:rPr lang="en-GB" dirty="0" smtClean="0"/>
              <a:t>.</a:t>
            </a:r>
            <a:endParaRPr lang="en-GB" dirty="0"/>
          </a:p>
          <a:p>
            <a:r>
              <a:rPr lang="en-GB" b="1" dirty="0"/>
              <a:t>Question marks </a:t>
            </a:r>
            <a:r>
              <a:rPr lang="en-GB" dirty="0"/>
              <a:t>(</a:t>
            </a:r>
            <a:r>
              <a:rPr lang="en-GB" u="sng" dirty="0"/>
              <a:t>high growth, low market share</a:t>
            </a:r>
            <a:r>
              <a:rPr lang="en-GB" dirty="0"/>
              <a:t>). These businesses are in an attractive industry but hold a small market share percentage</a:t>
            </a:r>
            <a:r>
              <a:rPr lang="en-GB" dirty="0" smtClean="0"/>
              <a:t>.</a:t>
            </a:r>
            <a:endParaRPr lang="en-GB" dirty="0"/>
          </a:p>
          <a:p>
            <a:r>
              <a:rPr lang="en-GB" b="1" dirty="0"/>
              <a:t>Dogs</a:t>
            </a:r>
            <a:r>
              <a:rPr lang="en-GB" dirty="0"/>
              <a:t> (</a:t>
            </a:r>
            <a:r>
              <a:rPr lang="en-GB" u="sng" dirty="0"/>
              <a:t>low growth, low market share</a:t>
            </a:r>
            <a:r>
              <a:rPr lang="en-GB" dirty="0"/>
              <a:t>). Businesses in this category do not produce or consume much cash. They have a low market share in a low-growth industry.</a:t>
            </a:r>
            <a:endParaRPr lang="en-IN" dirty="0"/>
          </a:p>
        </p:txBody>
      </p:sp>
    </p:spTree>
    <p:extLst>
      <p:ext uri="{BB962C8B-B14F-4D97-AF65-F5344CB8AC3E}">
        <p14:creationId xmlns:p14="http://schemas.microsoft.com/office/powerpoint/2010/main" val="13925966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What are the strategic implications of the BCG matrix? </a:t>
            </a:r>
            <a:endParaRPr lang="en-IN" dirty="0"/>
          </a:p>
        </p:txBody>
      </p:sp>
      <p:sp>
        <p:nvSpPr>
          <p:cNvPr id="3" name="Content Placeholder 2"/>
          <p:cNvSpPr>
            <a:spLocks noGrp="1"/>
          </p:cNvSpPr>
          <p:nvPr>
            <p:ph idx="1"/>
          </p:nvPr>
        </p:nvSpPr>
        <p:spPr/>
        <p:txBody>
          <a:bodyPr>
            <a:normAutofit fontScale="77500" lnSpcReduction="20000"/>
          </a:bodyPr>
          <a:lstStyle/>
          <a:p>
            <a:r>
              <a:rPr lang="en-GB" dirty="0" smtClean="0"/>
              <a:t>Managers </a:t>
            </a:r>
            <a:r>
              <a:rPr lang="en-GB" dirty="0"/>
              <a:t>should "milk" cash cows for as much as they can, limit any new investment in them, and use the large amounts of cash generated to invest in stars and question marks with strong potential to improve market share. </a:t>
            </a:r>
            <a:endParaRPr lang="en-GB" dirty="0" smtClean="0"/>
          </a:p>
          <a:p>
            <a:r>
              <a:rPr lang="en-GB" dirty="0" smtClean="0"/>
              <a:t>Heavy </a:t>
            </a:r>
            <a:r>
              <a:rPr lang="en-GB" dirty="0"/>
              <a:t>investment in stars will help take advantage of the market's growth and help maintain high market share. The stars, of course, will eventually develop into cash cows as their markets mature and sales growth slows. </a:t>
            </a:r>
            <a:endParaRPr lang="en-GB" dirty="0" smtClean="0"/>
          </a:p>
          <a:p>
            <a:r>
              <a:rPr lang="en-GB" dirty="0" smtClean="0"/>
              <a:t>The </a:t>
            </a:r>
            <a:r>
              <a:rPr lang="en-GB" dirty="0"/>
              <a:t>hardest decision for managers is related to the question marks. After close and careful analysis, some will be sold off and others turned into stars. </a:t>
            </a:r>
            <a:endParaRPr lang="en-GB" dirty="0" smtClean="0"/>
          </a:p>
          <a:p>
            <a:r>
              <a:rPr lang="en-GB" dirty="0" smtClean="0"/>
              <a:t>The </a:t>
            </a:r>
            <a:r>
              <a:rPr lang="en-GB" dirty="0"/>
              <a:t>dogs should be sold off or liquidated as they have low market share in markets with low growth potential</a:t>
            </a:r>
            <a:endParaRPr lang="en-IN" dirty="0"/>
          </a:p>
        </p:txBody>
      </p:sp>
    </p:spTree>
    <p:extLst>
      <p:ext uri="{BB962C8B-B14F-4D97-AF65-F5344CB8AC3E}">
        <p14:creationId xmlns:p14="http://schemas.microsoft.com/office/powerpoint/2010/main" val="1171311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Business-Level Strategy</a:t>
            </a:r>
          </a:p>
        </p:txBody>
      </p:sp>
      <p:sp>
        <p:nvSpPr>
          <p:cNvPr id="3" name="Content Placeholder 2"/>
          <p:cNvSpPr>
            <a:spLocks noGrp="1"/>
          </p:cNvSpPr>
          <p:nvPr>
            <p:ph idx="1"/>
          </p:nvPr>
        </p:nvSpPr>
        <p:spPr/>
        <p:txBody>
          <a:bodyPr>
            <a:normAutofit fontScale="85000" lnSpcReduction="10000"/>
          </a:bodyPr>
          <a:lstStyle/>
          <a:p>
            <a:r>
              <a:rPr lang="en-GB" dirty="0"/>
              <a:t>A business-level strategy seeks to determine how an organization should compete in each of its businesses. </a:t>
            </a:r>
            <a:endParaRPr lang="en-GB" dirty="0" smtClean="0"/>
          </a:p>
          <a:p>
            <a:r>
              <a:rPr lang="en-GB" dirty="0" smtClean="0"/>
              <a:t>For </a:t>
            </a:r>
            <a:r>
              <a:rPr lang="en-GB" dirty="0"/>
              <a:t>a small organization in only one line of business or the large organization that has not diversified into different products or markets, the business-level strategy typically overlaps with the organization's corporate strategy. </a:t>
            </a:r>
            <a:endParaRPr lang="en-GB" dirty="0" smtClean="0"/>
          </a:p>
          <a:p>
            <a:r>
              <a:rPr lang="en-GB" dirty="0" smtClean="0"/>
              <a:t>For </a:t>
            </a:r>
            <a:r>
              <a:rPr lang="en-GB" dirty="0"/>
              <a:t>organizations in multiple businesses, however, each division will have its own strategy that defines the products or services it will offer, the customers it wants to reach, and the like. </a:t>
            </a:r>
            <a:endParaRPr lang="en-IN" dirty="0"/>
          </a:p>
          <a:p>
            <a:endParaRPr lang="en-IN" dirty="0"/>
          </a:p>
        </p:txBody>
      </p:sp>
    </p:spTree>
    <p:extLst>
      <p:ext uri="{BB962C8B-B14F-4D97-AF65-F5344CB8AC3E}">
        <p14:creationId xmlns:p14="http://schemas.microsoft.com/office/powerpoint/2010/main" val="9441643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Role of Competitive Advantage</a:t>
            </a:r>
            <a:endParaRPr lang="en-IN" dirty="0"/>
          </a:p>
        </p:txBody>
      </p:sp>
      <p:sp>
        <p:nvSpPr>
          <p:cNvPr id="3" name="Content Placeholder 2"/>
          <p:cNvSpPr>
            <a:spLocks noGrp="1"/>
          </p:cNvSpPr>
          <p:nvPr>
            <p:ph idx="1"/>
          </p:nvPr>
        </p:nvSpPr>
        <p:spPr/>
        <p:txBody>
          <a:bodyPr>
            <a:normAutofit/>
          </a:bodyPr>
          <a:lstStyle/>
          <a:p>
            <a:r>
              <a:rPr lang="en-GB" dirty="0"/>
              <a:t>Competitive advantage is what sets an organization apart, that is, its distinct edge</a:t>
            </a:r>
            <a:r>
              <a:rPr lang="en-GB" dirty="0" smtClean="0"/>
              <a:t>.</a:t>
            </a:r>
          </a:p>
          <a:p>
            <a:r>
              <a:rPr lang="en-GB" dirty="0" smtClean="0"/>
              <a:t>That </a:t>
            </a:r>
            <a:r>
              <a:rPr lang="en-GB" dirty="0"/>
              <a:t>distinct edge comes from the organization's core competencies, </a:t>
            </a:r>
            <a:r>
              <a:rPr lang="en-GB" dirty="0" smtClean="0"/>
              <a:t>which </a:t>
            </a:r>
            <a:r>
              <a:rPr lang="en-GB" dirty="0"/>
              <a:t>might be in the form of organizational capabilities—the organization does something that others cannot do or does it better than others can do it. </a:t>
            </a:r>
            <a:endParaRPr lang="en-IN" dirty="0"/>
          </a:p>
          <a:p>
            <a:endParaRPr lang="en-IN" dirty="0"/>
          </a:p>
        </p:txBody>
      </p:sp>
    </p:spTree>
    <p:extLst>
      <p:ext uri="{BB962C8B-B14F-4D97-AF65-F5344CB8AC3E}">
        <p14:creationId xmlns:p14="http://schemas.microsoft.com/office/powerpoint/2010/main" val="15324706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Competitive </a:t>
            </a:r>
            <a:r>
              <a:rPr lang="en-IN" b="1" dirty="0" smtClean="0"/>
              <a:t>Strategies</a:t>
            </a:r>
            <a:r>
              <a:rPr lang="en-IN" dirty="0"/>
              <a:t> </a:t>
            </a:r>
            <a:r>
              <a:rPr lang="en-IN" dirty="0"/>
              <a:t/>
            </a:r>
            <a:br>
              <a:rPr lang="en-IN" dirty="0"/>
            </a:br>
            <a:r>
              <a:rPr lang="en-IN" dirty="0" smtClean="0"/>
              <a:t>Michael Porter (1980)</a:t>
            </a:r>
            <a:endParaRPr lang="en-IN" dirty="0"/>
          </a:p>
        </p:txBody>
      </p:sp>
      <p:sp>
        <p:nvSpPr>
          <p:cNvPr id="3" name="Content Placeholder 2"/>
          <p:cNvSpPr>
            <a:spLocks noGrp="1"/>
          </p:cNvSpPr>
          <p:nvPr>
            <p:ph idx="1"/>
          </p:nvPr>
        </p:nvSpPr>
        <p:spPr/>
        <p:txBody>
          <a:bodyPr>
            <a:normAutofit fontScale="70000" lnSpcReduction="20000"/>
          </a:bodyPr>
          <a:lstStyle/>
          <a:p>
            <a:r>
              <a:rPr lang="en-GB" dirty="0"/>
              <a:t>His competitive strategies framework identifies three generic strategies from which managers can choose. </a:t>
            </a:r>
            <a:endParaRPr lang="en-GB" dirty="0" smtClean="0"/>
          </a:p>
          <a:p>
            <a:r>
              <a:rPr lang="en-GB" dirty="0" smtClean="0"/>
              <a:t>Success </a:t>
            </a:r>
            <a:r>
              <a:rPr lang="en-GB" dirty="0"/>
              <a:t>depends on selecting the right strategy—one that fits the competitive strengths (resources and capabilities) of the organization and the industry it's in. </a:t>
            </a:r>
            <a:endParaRPr lang="en-GB" dirty="0" smtClean="0"/>
          </a:p>
          <a:p>
            <a:r>
              <a:rPr lang="en-GB" dirty="0" smtClean="0"/>
              <a:t>Porter's </a:t>
            </a:r>
            <a:r>
              <a:rPr lang="en-GB" dirty="0"/>
              <a:t>major contribution has been to carefully explain how managers can create and sustain a competitive advantage that will give a company above-average profitability. </a:t>
            </a:r>
            <a:endParaRPr lang="en-GB" dirty="0" smtClean="0"/>
          </a:p>
          <a:p>
            <a:r>
              <a:rPr lang="en-GB" dirty="0" smtClean="0"/>
              <a:t>An </a:t>
            </a:r>
            <a:r>
              <a:rPr lang="en-GB" dirty="0"/>
              <a:t>important element in doing this is an industry analysis.</a:t>
            </a:r>
          </a:p>
          <a:p>
            <a:r>
              <a:rPr lang="en-GB" dirty="0"/>
              <a:t>Porter proposes that some industries are inherently more profitable (and, therefore, more attractive to enter and remain in) than others </a:t>
            </a:r>
          </a:p>
          <a:p>
            <a:r>
              <a:rPr lang="en-GB" dirty="0" smtClean="0"/>
              <a:t>In </a:t>
            </a:r>
            <a:r>
              <a:rPr lang="en-GB" dirty="0"/>
              <a:t>any industry, five competitive forces dictate the rules of competition. Together, these five forces </a:t>
            </a:r>
            <a:r>
              <a:rPr lang="en-GB" dirty="0" smtClean="0"/>
              <a:t>determine </a:t>
            </a:r>
            <a:r>
              <a:rPr lang="en-GB" dirty="0"/>
              <a:t>industry attractiveness and profitability. </a:t>
            </a:r>
            <a:endParaRPr lang="en-GB" dirty="0" smtClean="0"/>
          </a:p>
          <a:p>
            <a:r>
              <a:rPr lang="en-GB" dirty="0" smtClean="0"/>
              <a:t>Managers </a:t>
            </a:r>
            <a:r>
              <a:rPr lang="en-GB" dirty="0"/>
              <a:t>assess an industry's attractiveness using </a:t>
            </a:r>
            <a:r>
              <a:rPr lang="en-GB" dirty="0" smtClean="0"/>
              <a:t>the </a:t>
            </a:r>
            <a:r>
              <a:rPr lang="en-GB" dirty="0"/>
              <a:t>five </a:t>
            </a:r>
            <a:r>
              <a:rPr lang="en-GB" dirty="0" smtClean="0"/>
              <a:t>factors</a:t>
            </a:r>
            <a:endParaRPr lang="en-IN" dirty="0"/>
          </a:p>
          <a:p>
            <a:endParaRPr lang="en-IN" dirty="0"/>
          </a:p>
        </p:txBody>
      </p:sp>
    </p:spTree>
    <p:extLst>
      <p:ext uri="{BB962C8B-B14F-4D97-AF65-F5344CB8AC3E}">
        <p14:creationId xmlns:p14="http://schemas.microsoft.com/office/powerpoint/2010/main" val="6313081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1000" y="457200"/>
            <a:ext cx="82296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50088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pPr marL="0" indent="0">
              <a:buNone/>
            </a:pPr>
            <a:r>
              <a:rPr lang="en-GB" dirty="0" smtClean="0"/>
              <a:t>1. Threat </a:t>
            </a:r>
            <a:r>
              <a:rPr lang="en-GB" dirty="0"/>
              <a:t>of new entrants. Factors such as economies of scale, brand loyalty, and capital requirements determine how easy or hard it is for new competitors to enter an industry.</a:t>
            </a:r>
          </a:p>
          <a:p>
            <a:pPr marL="0" indent="0">
              <a:buNone/>
            </a:pPr>
            <a:endParaRPr lang="en-GB" dirty="0" smtClean="0"/>
          </a:p>
          <a:p>
            <a:pPr marL="0" indent="0">
              <a:buNone/>
            </a:pPr>
            <a:r>
              <a:rPr lang="en-GB" dirty="0" smtClean="0"/>
              <a:t>2. Threat </a:t>
            </a:r>
            <a:r>
              <a:rPr lang="en-GB" dirty="0"/>
              <a:t>of substitutes. Factors such as switching costs and buyer loyalty determine the degree to which customers are likely to buy a substitute product.</a:t>
            </a:r>
          </a:p>
          <a:p>
            <a:pPr marL="0" indent="0">
              <a:buNone/>
            </a:pPr>
            <a:endParaRPr lang="en-GB" dirty="0" smtClean="0"/>
          </a:p>
          <a:p>
            <a:pPr marL="0" indent="0">
              <a:buNone/>
            </a:pPr>
            <a:r>
              <a:rPr lang="en-GB" dirty="0" smtClean="0"/>
              <a:t>3. Bargaining </a:t>
            </a:r>
            <a:r>
              <a:rPr lang="en-GB" dirty="0"/>
              <a:t>power of buyers. Factors such as number of customers in the market, customer information, and the availability of substitutes determine the amount of influence that buyers have in an industry.</a:t>
            </a:r>
          </a:p>
          <a:p>
            <a:pPr marL="0" indent="0">
              <a:buNone/>
            </a:pPr>
            <a:endParaRPr lang="en-GB" dirty="0" smtClean="0"/>
          </a:p>
          <a:p>
            <a:pPr marL="0" indent="0">
              <a:buNone/>
            </a:pPr>
            <a:r>
              <a:rPr lang="en-GB" dirty="0" smtClean="0"/>
              <a:t>4. Bargaining </a:t>
            </a:r>
            <a:r>
              <a:rPr lang="en-GB" dirty="0"/>
              <a:t>power of suppliers. Factors such as the degree of supplier concentration and availability of substitute inputs determine the amount of power that suppliers have over firms in the industry.</a:t>
            </a:r>
          </a:p>
          <a:p>
            <a:pPr marL="0" indent="0">
              <a:buNone/>
            </a:pPr>
            <a:endParaRPr lang="en-GB" dirty="0" smtClean="0"/>
          </a:p>
          <a:p>
            <a:pPr marL="0" indent="0">
              <a:buNone/>
            </a:pPr>
            <a:r>
              <a:rPr lang="en-GB" dirty="0" smtClean="0"/>
              <a:t>5. Existing </a:t>
            </a:r>
            <a:r>
              <a:rPr lang="en-GB" dirty="0"/>
              <a:t>rivalry. Factors such as industry growth rate, increasing or falling </a:t>
            </a:r>
            <a:r>
              <a:rPr lang="en-GB" dirty="0" smtClean="0"/>
              <a:t>demand</a:t>
            </a:r>
            <a:r>
              <a:rPr lang="en-GB" dirty="0"/>
              <a:t>, and product differences determine how intense the competitive rivalry will be among existing firms in the industry.</a:t>
            </a:r>
            <a:endParaRPr lang="en-IN" dirty="0"/>
          </a:p>
        </p:txBody>
      </p:sp>
    </p:spTree>
    <p:extLst>
      <p:ext uri="{BB962C8B-B14F-4D97-AF65-F5344CB8AC3E}">
        <p14:creationId xmlns:p14="http://schemas.microsoft.com/office/powerpoint/2010/main" val="27664309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77500" lnSpcReduction="20000"/>
          </a:bodyPr>
          <a:lstStyle/>
          <a:p>
            <a:r>
              <a:rPr lang="en-GB" dirty="0"/>
              <a:t>According to Porter, no firm can be successful by trying to be all things to all people. </a:t>
            </a:r>
            <a:endParaRPr lang="en-GB" dirty="0" smtClean="0"/>
          </a:p>
          <a:p>
            <a:r>
              <a:rPr lang="en-GB" dirty="0" smtClean="0"/>
              <a:t>He </a:t>
            </a:r>
            <a:r>
              <a:rPr lang="en-GB" dirty="0"/>
              <a:t>proposes that managers select a strategy that will give the organization a competitive advantage. </a:t>
            </a:r>
            <a:endParaRPr lang="en-GB" dirty="0" smtClean="0"/>
          </a:p>
          <a:p>
            <a:r>
              <a:rPr lang="en-GB" dirty="0" smtClean="0"/>
              <a:t>Porter </a:t>
            </a:r>
            <a:r>
              <a:rPr lang="en-GB" dirty="0"/>
              <a:t>goes on to say that a competitive advantage comes from either having lower costs than all other industry competitors or by being significantly different from competitors. </a:t>
            </a:r>
            <a:endParaRPr lang="en-GB" dirty="0" smtClean="0"/>
          </a:p>
          <a:p>
            <a:r>
              <a:rPr lang="en-GB" dirty="0" smtClean="0"/>
              <a:t>On </a:t>
            </a:r>
            <a:r>
              <a:rPr lang="en-GB" dirty="0"/>
              <a:t>that basis, managers can choose one of </a:t>
            </a:r>
            <a:r>
              <a:rPr lang="en-GB" b="1" dirty="0"/>
              <a:t>three strategies</a:t>
            </a:r>
            <a:r>
              <a:rPr lang="en-GB" dirty="0"/>
              <a:t>: </a:t>
            </a:r>
            <a:r>
              <a:rPr lang="en-GB" u="sng" dirty="0"/>
              <a:t>cost leadership</a:t>
            </a:r>
            <a:r>
              <a:rPr lang="en-GB" dirty="0"/>
              <a:t>, </a:t>
            </a:r>
            <a:r>
              <a:rPr lang="en-GB" u="sng" dirty="0"/>
              <a:t>differentiation</a:t>
            </a:r>
            <a:r>
              <a:rPr lang="en-GB" dirty="0"/>
              <a:t>, or </a:t>
            </a:r>
            <a:r>
              <a:rPr lang="en-GB" u="sng" dirty="0"/>
              <a:t>focus</a:t>
            </a:r>
            <a:r>
              <a:rPr lang="en-GB" dirty="0"/>
              <a:t>. Which one managers select depends on the organization's strengths and core competencies and its competitors' weaknesses</a:t>
            </a:r>
            <a:endParaRPr lang="en-IN" dirty="0"/>
          </a:p>
        </p:txBody>
      </p:sp>
    </p:spTree>
    <p:extLst>
      <p:ext uri="{BB962C8B-B14F-4D97-AF65-F5344CB8AC3E}">
        <p14:creationId xmlns:p14="http://schemas.microsoft.com/office/powerpoint/2010/main" val="33512168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dirty="0"/>
              <a:t>Requirements for Successfully Pursuing Porter's Competitive Strategies</a:t>
            </a:r>
            <a:endParaRPr lang="en-IN" sz="2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99244378"/>
              </p:ext>
            </p:extLst>
          </p:nvPr>
        </p:nvGraphicFramePr>
        <p:xfrm>
          <a:off x="457200" y="1600200"/>
          <a:ext cx="8229600" cy="374904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GB" dirty="0" smtClean="0"/>
                        <a:t>Generic Strategy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Commonly Required Skills and Resources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smtClean="0"/>
                        <a:t>Common Organizational Requirements</a:t>
                      </a:r>
                      <a:endParaRPr lang="en-IN" dirty="0" smtClean="0"/>
                    </a:p>
                  </a:txBody>
                  <a:tcPr/>
                </a:tc>
              </a:tr>
              <a:tr h="370840">
                <a:tc>
                  <a:txBody>
                    <a:bodyPr/>
                    <a:lstStyle/>
                    <a:p>
                      <a:r>
                        <a:rPr lang="en-IN" sz="1800" b="0" i="0" u="none" strike="noStrike" kern="1200" baseline="0" dirty="0" smtClean="0">
                          <a:solidFill>
                            <a:schemeClr val="dk1"/>
                          </a:solidFill>
                          <a:latin typeface="+mn-lt"/>
                          <a:ea typeface="+mn-ea"/>
                          <a:cs typeface="+mn-cs"/>
                        </a:rPr>
                        <a:t>Overall cost leadership</a:t>
                      </a:r>
                    </a:p>
                  </a:txBody>
                  <a:tcPr/>
                </a:tc>
                <a:tc>
                  <a:txBody>
                    <a:bodyPr/>
                    <a:lstStyle/>
                    <a:p>
                      <a:pPr marL="285750" indent="-285750">
                        <a:buFont typeface="Arial" pitchFamily="34" charset="0"/>
                        <a:buChar char="•"/>
                      </a:pPr>
                      <a:r>
                        <a:rPr lang="en-GB" dirty="0" smtClean="0"/>
                        <a:t>Sustained capital investment and access to capital</a:t>
                      </a:r>
                    </a:p>
                    <a:p>
                      <a:pPr marL="285750" indent="-285750">
                        <a:buFont typeface="Arial" pitchFamily="34" charset="0"/>
                        <a:buChar char="•"/>
                      </a:pPr>
                      <a:r>
                        <a:rPr lang="en-GB" dirty="0" smtClean="0"/>
                        <a:t>Process engineering skills</a:t>
                      </a:r>
                    </a:p>
                    <a:p>
                      <a:pPr marL="285750" indent="-285750">
                        <a:buFont typeface="Arial" pitchFamily="34" charset="0"/>
                        <a:buChar char="•"/>
                      </a:pPr>
                      <a:r>
                        <a:rPr lang="en-GB" dirty="0" smtClean="0"/>
                        <a:t>Intense supervision of </a:t>
                      </a:r>
                      <a:r>
                        <a:rPr lang="en-GB" dirty="0" err="1" smtClean="0"/>
                        <a:t>labor</a:t>
                      </a:r>
                      <a:endParaRPr lang="en-GB" dirty="0" smtClean="0"/>
                    </a:p>
                    <a:p>
                      <a:pPr marL="285750" indent="-285750">
                        <a:buFont typeface="Arial" pitchFamily="34" charset="0"/>
                        <a:buChar char="•"/>
                      </a:pPr>
                      <a:r>
                        <a:rPr lang="en-GB" dirty="0" smtClean="0"/>
                        <a:t>Products designed for ease in manufacture</a:t>
                      </a:r>
                    </a:p>
                    <a:p>
                      <a:pPr marL="285750" indent="-285750">
                        <a:buFont typeface="Arial" pitchFamily="34" charset="0"/>
                        <a:buChar char="•"/>
                      </a:pPr>
                      <a:r>
                        <a:rPr lang="en-GB" dirty="0" smtClean="0"/>
                        <a:t>Low-cost distribution system</a:t>
                      </a:r>
                      <a:endParaRPr lang="en-IN" dirty="0"/>
                    </a:p>
                  </a:txBody>
                  <a:tcPr/>
                </a:tc>
                <a:tc>
                  <a:txBody>
                    <a:bodyPr/>
                    <a:lstStyle/>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Tight cost control</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Frequent, detailed control reports</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Structured organization and responsibilities</a:t>
                      </a:r>
                    </a:p>
                    <a:p>
                      <a:pPr marL="285750" indent="-285750">
                        <a:buFont typeface="Arial" pitchFamily="34" charset="0"/>
                        <a:buChar char="•"/>
                      </a:pPr>
                      <a:r>
                        <a:rPr lang="en-GB" sz="1800" b="0" i="0" u="none" strike="noStrike" kern="1200" baseline="0" dirty="0" smtClean="0">
                          <a:solidFill>
                            <a:schemeClr val="dk1"/>
                          </a:solidFill>
                          <a:latin typeface="+mn-lt"/>
                          <a:ea typeface="+mn-ea"/>
                          <a:cs typeface="+mn-cs"/>
                        </a:rPr>
                        <a:t>Incentives based on meeting strict quantitative targets</a:t>
                      </a:r>
                    </a:p>
                  </a:txBody>
                  <a:tcPr/>
                </a:tc>
              </a:tr>
            </a:tbl>
          </a:graphicData>
        </a:graphic>
      </p:graphicFrame>
    </p:spTree>
    <p:extLst>
      <p:ext uri="{BB962C8B-B14F-4D97-AF65-F5344CB8AC3E}">
        <p14:creationId xmlns:p14="http://schemas.microsoft.com/office/powerpoint/2010/main" val="38222643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dirty="0"/>
              <a:t>Requirements for Successfully Pursuing Porter's Competitive Strategies</a:t>
            </a:r>
            <a:endParaRPr lang="en-IN" sz="32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700340586"/>
              </p:ext>
            </p:extLst>
          </p:nvPr>
        </p:nvGraphicFramePr>
        <p:xfrm>
          <a:off x="457200" y="1600200"/>
          <a:ext cx="8229600" cy="512064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GB" dirty="0" smtClean="0"/>
                        <a:t>Generic</a:t>
                      </a:r>
                      <a:r>
                        <a:rPr lang="en-GB" baseline="0" dirty="0" smtClean="0"/>
                        <a:t> strategy</a:t>
                      </a:r>
                      <a:endParaRPr lang="en-IN" dirty="0"/>
                    </a:p>
                  </a:txBody>
                  <a:tcPr/>
                </a:tc>
                <a:tc>
                  <a:txBody>
                    <a:bodyPr/>
                    <a:lstStyle/>
                    <a:p>
                      <a:r>
                        <a:rPr lang="en-IN" sz="1800" b="1" i="0" u="none" strike="noStrike" kern="1200" baseline="0" dirty="0" smtClean="0">
                          <a:solidFill>
                            <a:schemeClr val="lt1"/>
                          </a:solidFill>
                          <a:latin typeface="+mn-lt"/>
                          <a:ea typeface="+mn-ea"/>
                          <a:cs typeface="+mn-cs"/>
                        </a:rPr>
                        <a:t>Commonly Required Skills and Resources</a:t>
                      </a:r>
                      <a:endParaRPr lang="en-IN" sz="1800" b="0" i="0" u="none" strike="noStrike" kern="1200" baseline="0" dirty="0" smtClean="0">
                        <a:solidFill>
                          <a:schemeClr val="lt1"/>
                        </a:solidFill>
                        <a:latin typeface="+mn-lt"/>
                        <a:ea typeface="+mn-ea"/>
                        <a:cs typeface="+mn-cs"/>
                      </a:endParaRPr>
                    </a:p>
                  </a:txBody>
                  <a:tcPr/>
                </a:tc>
                <a:tc>
                  <a:txBody>
                    <a:bodyPr/>
                    <a:lstStyle/>
                    <a:p>
                      <a:r>
                        <a:rPr lang="en-IN" sz="1800" b="1" i="0" u="none" strike="noStrike" kern="1200" baseline="0" dirty="0" smtClean="0">
                          <a:solidFill>
                            <a:schemeClr val="lt1"/>
                          </a:solidFill>
                          <a:latin typeface="+mn-lt"/>
                          <a:ea typeface="+mn-ea"/>
                          <a:cs typeface="+mn-cs"/>
                        </a:rPr>
                        <a:t>Common Organizational Requirements</a:t>
                      </a:r>
                      <a:endParaRPr lang="en-IN" sz="1800" b="0" i="0" u="none" strike="noStrike" kern="1200" baseline="0" dirty="0" smtClean="0">
                        <a:solidFill>
                          <a:schemeClr val="lt1"/>
                        </a:solidFill>
                        <a:latin typeface="+mn-lt"/>
                        <a:ea typeface="+mn-ea"/>
                        <a:cs typeface="+mn-cs"/>
                      </a:endParaRPr>
                    </a:p>
                  </a:txBody>
                  <a:tcPr/>
                </a:tc>
              </a:tr>
              <a:tr h="370840">
                <a:tc>
                  <a:txBody>
                    <a:bodyPr/>
                    <a:lstStyle/>
                    <a:p>
                      <a:r>
                        <a:rPr lang="en-IN" sz="1800" b="0" i="0" u="none" strike="noStrike" kern="1200" baseline="0" dirty="0" smtClean="0">
                          <a:solidFill>
                            <a:schemeClr val="dk1"/>
                          </a:solidFill>
                          <a:latin typeface="+mn-lt"/>
                          <a:ea typeface="+mn-ea"/>
                          <a:cs typeface="+mn-cs"/>
                        </a:rPr>
                        <a:t>Differentiation</a:t>
                      </a:r>
                    </a:p>
                  </a:txBody>
                  <a:tcPr/>
                </a:tc>
                <a:tc>
                  <a:txBody>
                    <a:bodyPr/>
                    <a:lstStyle/>
                    <a:p>
                      <a:pPr marL="285750" indent="-285750">
                        <a:buFont typeface="Arial" pitchFamily="34" charset="0"/>
                        <a:buChar char="•"/>
                      </a:pPr>
                      <a:r>
                        <a:rPr lang="en-GB" dirty="0" smtClean="0"/>
                        <a:t>Strong marketing abilities</a:t>
                      </a:r>
                    </a:p>
                    <a:p>
                      <a:pPr marL="285750" indent="-285750">
                        <a:buFont typeface="Arial" pitchFamily="34" charset="0"/>
                        <a:buChar char="•"/>
                      </a:pPr>
                      <a:r>
                        <a:rPr lang="en-GB" dirty="0" smtClean="0"/>
                        <a:t>Product engineering</a:t>
                      </a:r>
                    </a:p>
                    <a:p>
                      <a:pPr marL="285750" indent="-285750">
                        <a:buFont typeface="Arial" pitchFamily="34" charset="0"/>
                        <a:buChar char="•"/>
                      </a:pPr>
                      <a:r>
                        <a:rPr lang="en-GB" dirty="0" smtClean="0"/>
                        <a:t>Creative flair</a:t>
                      </a:r>
                    </a:p>
                    <a:p>
                      <a:pPr marL="285750" indent="-285750">
                        <a:buFont typeface="Arial" pitchFamily="34" charset="0"/>
                        <a:buChar char="•"/>
                      </a:pPr>
                      <a:r>
                        <a:rPr lang="en-GB" dirty="0" smtClean="0"/>
                        <a:t>Strong capability in basic research</a:t>
                      </a:r>
                    </a:p>
                    <a:p>
                      <a:pPr marL="285750" indent="-285750">
                        <a:buFont typeface="Arial" pitchFamily="34" charset="0"/>
                        <a:buChar char="•"/>
                      </a:pPr>
                      <a:r>
                        <a:rPr lang="en-GB" dirty="0" smtClean="0"/>
                        <a:t>Corporate reputation for quality or technological leadership</a:t>
                      </a:r>
                    </a:p>
                    <a:p>
                      <a:pPr marL="285750" indent="-285750">
                        <a:buFont typeface="Arial" pitchFamily="34" charset="0"/>
                        <a:buChar char="•"/>
                      </a:pPr>
                      <a:r>
                        <a:rPr lang="en-GB" dirty="0" smtClean="0"/>
                        <a:t>Long tradition in the industry or unique combination of skills drawn from other businesses</a:t>
                      </a:r>
                    </a:p>
                    <a:p>
                      <a:pPr marL="285750" indent="-285750">
                        <a:buFont typeface="Arial" pitchFamily="34" charset="0"/>
                        <a:buChar char="•"/>
                      </a:pPr>
                      <a:r>
                        <a:rPr lang="en-GB" dirty="0" smtClean="0"/>
                        <a:t>Strong cooperation from channels</a:t>
                      </a:r>
                      <a:endParaRPr lang="en-IN" dirty="0"/>
                    </a:p>
                  </a:txBody>
                  <a:tcPr/>
                </a:tc>
                <a:tc>
                  <a:txBody>
                    <a:bodyPr/>
                    <a:lstStyle/>
                    <a:p>
                      <a:pPr marL="285750" indent="-285750">
                        <a:buFont typeface="Arial" pitchFamily="34" charset="0"/>
                        <a:buChar char="•"/>
                      </a:pPr>
                      <a:r>
                        <a:rPr lang="en-GB" dirty="0" smtClean="0"/>
                        <a:t>Strong coordination among functions in R&amp;D, product development, and marketing </a:t>
                      </a:r>
                    </a:p>
                    <a:p>
                      <a:pPr marL="285750" indent="-285750">
                        <a:buFont typeface="Arial" pitchFamily="34" charset="0"/>
                        <a:buChar char="•"/>
                      </a:pPr>
                      <a:r>
                        <a:rPr lang="en-GB" dirty="0" smtClean="0"/>
                        <a:t>Subjective measurement and incentives instead of quantitative measures</a:t>
                      </a:r>
                    </a:p>
                    <a:p>
                      <a:pPr marL="285750" indent="-285750">
                        <a:buFont typeface="Arial" pitchFamily="34" charset="0"/>
                        <a:buChar char="•"/>
                      </a:pPr>
                      <a:r>
                        <a:rPr lang="en-GB" dirty="0" smtClean="0"/>
                        <a:t>Amenities to attract highly skilled </a:t>
                      </a:r>
                      <a:r>
                        <a:rPr lang="en-GB" dirty="0" err="1" smtClean="0"/>
                        <a:t>labor</a:t>
                      </a:r>
                      <a:r>
                        <a:rPr lang="en-GB" dirty="0" smtClean="0"/>
                        <a:t>, scientists, or creative people</a:t>
                      </a:r>
                      <a:endParaRPr lang="en-IN" dirty="0"/>
                    </a:p>
                  </a:txBody>
                  <a:tcPr/>
                </a:tc>
              </a:tr>
            </a:tbl>
          </a:graphicData>
        </a:graphic>
      </p:graphicFrame>
    </p:spTree>
    <p:extLst>
      <p:ext uri="{BB962C8B-B14F-4D97-AF65-F5344CB8AC3E}">
        <p14:creationId xmlns:p14="http://schemas.microsoft.com/office/powerpoint/2010/main" val="28826163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p:cNvGraphicFramePr>
            <a:graphicFrameLocks noGrp="1"/>
          </p:cNvGraphicFramePr>
          <p:nvPr>
            <p:ph idx="1"/>
            <p:extLst>
              <p:ext uri="{D42A27DB-BD31-4B8C-83A1-F6EECF244321}">
                <p14:modId xmlns:p14="http://schemas.microsoft.com/office/powerpoint/2010/main" val="837367242"/>
              </p:ext>
            </p:extLst>
          </p:nvPr>
        </p:nvGraphicFramePr>
        <p:xfrm>
          <a:off x="457200" y="1600200"/>
          <a:ext cx="8229600" cy="1828800"/>
        </p:xfrm>
        <a:graphic>
          <a:graphicData uri="http://schemas.openxmlformats.org/drawingml/2006/table">
            <a:tbl>
              <a:tblPr firstRow="1" bandRow="1">
                <a:tableStyleId>{5C22544A-7EE6-4342-B048-85BDC9FD1C3A}</a:tableStyleId>
              </a:tblPr>
              <a:tblGrid>
                <a:gridCol w="2743200"/>
                <a:gridCol w="2743200"/>
                <a:gridCol w="2743200"/>
              </a:tblGrid>
              <a:tr h="370840">
                <a:tc>
                  <a:txBody>
                    <a:bodyPr/>
                    <a:lstStyle/>
                    <a:p>
                      <a:r>
                        <a:rPr lang="en-GB" dirty="0" smtClean="0"/>
                        <a:t>Generic Strategy</a:t>
                      </a:r>
                      <a:endParaRPr lang="en-IN" dirty="0"/>
                    </a:p>
                  </a:txBody>
                  <a:tcPr/>
                </a:tc>
                <a:tc>
                  <a:txBody>
                    <a:bodyPr/>
                    <a:lstStyle/>
                    <a:p>
                      <a:r>
                        <a:rPr lang="en-IN" sz="1800" b="1" i="0" u="none" strike="noStrike" kern="1200" baseline="0" dirty="0" smtClean="0">
                          <a:solidFill>
                            <a:schemeClr val="lt1"/>
                          </a:solidFill>
                          <a:latin typeface="+mn-lt"/>
                          <a:ea typeface="+mn-ea"/>
                          <a:cs typeface="+mn-cs"/>
                        </a:rPr>
                        <a:t>Commonly Required Skills and Resources</a:t>
                      </a:r>
                      <a:endParaRPr lang="en-IN" sz="1800" b="0" i="0" u="none" strike="noStrike" kern="1200" baseline="0" dirty="0" smtClean="0">
                        <a:solidFill>
                          <a:schemeClr val="lt1"/>
                        </a:solidFill>
                        <a:latin typeface="+mn-lt"/>
                        <a:ea typeface="+mn-ea"/>
                        <a:cs typeface="+mn-cs"/>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800" b="1" i="0" u="none" strike="noStrike" kern="1200" baseline="0" dirty="0" smtClean="0">
                          <a:solidFill>
                            <a:schemeClr val="lt1"/>
                          </a:solidFill>
                          <a:latin typeface="+mn-lt"/>
                          <a:ea typeface="+mn-ea"/>
                          <a:cs typeface="+mn-cs"/>
                        </a:rPr>
                        <a:t>Common Organizational Requirements</a:t>
                      </a:r>
                      <a:endParaRPr lang="en-IN" sz="1800" b="0" i="0" u="none" strike="noStrike" kern="1200" baseline="0" dirty="0" smtClean="0">
                        <a:solidFill>
                          <a:schemeClr val="lt1"/>
                        </a:solidFill>
                        <a:latin typeface="+mn-lt"/>
                        <a:ea typeface="+mn-ea"/>
                        <a:cs typeface="+mn-cs"/>
                      </a:endParaRPr>
                    </a:p>
                  </a:txBody>
                  <a:tcPr/>
                </a:tc>
              </a:tr>
              <a:tr h="370840">
                <a:tc>
                  <a:txBody>
                    <a:bodyPr/>
                    <a:lstStyle/>
                    <a:p>
                      <a:r>
                        <a:rPr lang="en-GB" dirty="0" smtClean="0"/>
                        <a:t>Focus</a:t>
                      </a:r>
                      <a:endParaRPr lang="en-IN" dirty="0"/>
                    </a:p>
                  </a:txBody>
                  <a:tcPr/>
                </a:tc>
                <a:tc>
                  <a:txBody>
                    <a:bodyPr/>
                    <a:lstStyle/>
                    <a:p>
                      <a:r>
                        <a:rPr lang="en-GB" sz="1800" b="0" i="0" u="none" strike="noStrike" kern="1200" baseline="0" dirty="0" smtClean="0">
                          <a:solidFill>
                            <a:schemeClr val="dk1"/>
                          </a:solidFill>
                          <a:latin typeface="+mn-lt"/>
                          <a:ea typeface="+mn-ea"/>
                          <a:cs typeface="+mn-cs"/>
                        </a:rPr>
                        <a:t>Combination of the foregoing policies directed at the particular strategic target</a:t>
                      </a:r>
                    </a:p>
                  </a:txBody>
                  <a:tcPr/>
                </a:tc>
                <a:tc>
                  <a:txBody>
                    <a:bodyPr/>
                    <a:lstStyle/>
                    <a:p>
                      <a:r>
                        <a:rPr lang="en-GB" sz="1800" b="0" i="0" u="none" strike="noStrike" kern="1200" baseline="0" dirty="0" smtClean="0">
                          <a:solidFill>
                            <a:schemeClr val="dk1"/>
                          </a:solidFill>
                          <a:latin typeface="+mn-lt"/>
                          <a:ea typeface="+mn-ea"/>
                          <a:cs typeface="+mn-cs"/>
                        </a:rPr>
                        <a:t>Combination of the foregoing policies directed at the particular strategic target</a:t>
                      </a:r>
                    </a:p>
                  </a:txBody>
                  <a:tcPr/>
                </a:tc>
              </a:tr>
            </a:tbl>
          </a:graphicData>
        </a:graphic>
      </p:graphicFrame>
      <p:sp>
        <p:nvSpPr>
          <p:cNvPr id="4" name="Title 1"/>
          <p:cNvSpPr>
            <a:spLocks noGrp="1"/>
          </p:cNvSpPr>
          <p:nvPr>
            <p:ph type="title"/>
          </p:nvPr>
        </p:nvSpPr>
        <p:spPr/>
        <p:txBody>
          <a:bodyPr>
            <a:normAutofit/>
          </a:bodyPr>
          <a:lstStyle/>
          <a:p>
            <a:r>
              <a:rPr lang="en-GB" sz="3200" dirty="0"/>
              <a:t>Requirements for Successfully Pursuing Porter's Competitive Strategies</a:t>
            </a:r>
            <a:endParaRPr lang="en-IN" sz="3200" dirty="0"/>
          </a:p>
        </p:txBody>
      </p:sp>
    </p:spTree>
    <p:extLst>
      <p:ext uri="{BB962C8B-B14F-4D97-AF65-F5344CB8AC3E}">
        <p14:creationId xmlns:p14="http://schemas.microsoft.com/office/powerpoint/2010/main" val="20020694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GB" dirty="0"/>
              <a:t>When an organization sets out to be the lowest-cost producer in its industry, it's following a </a:t>
            </a:r>
            <a:r>
              <a:rPr lang="en-GB" b="1" dirty="0"/>
              <a:t>cost leadership strategy</a:t>
            </a:r>
            <a:r>
              <a:rPr lang="en-GB" dirty="0"/>
              <a:t>. </a:t>
            </a:r>
            <a:endParaRPr lang="en-GB" dirty="0" smtClean="0"/>
          </a:p>
          <a:p>
            <a:r>
              <a:rPr lang="en-GB" dirty="0" smtClean="0"/>
              <a:t>A </a:t>
            </a:r>
            <a:r>
              <a:rPr lang="en-GB" dirty="0"/>
              <a:t>low-cost leader aggressively searches out efficiencies in production, marketing, and other areas of operation. </a:t>
            </a:r>
            <a:endParaRPr lang="en-GB" dirty="0" smtClean="0"/>
          </a:p>
          <a:p>
            <a:r>
              <a:rPr lang="en-GB" dirty="0" smtClean="0"/>
              <a:t>Overhead </a:t>
            </a:r>
            <a:r>
              <a:rPr lang="en-GB" dirty="0"/>
              <a:t>is kept to a minimum, and the firm does everything it can to cut costs. </a:t>
            </a:r>
            <a:endParaRPr lang="en-IN" dirty="0"/>
          </a:p>
          <a:p>
            <a:endParaRPr lang="en-IN" dirty="0"/>
          </a:p>
        </p:txBody>
      </p:sp>
    </p:spTree>
    <p:extLst>
      <p:ext uri="{BB962C8B-B14F-4D97-AF65-F5344CB8AC3E}">
        <p14:creationId xmlns:p14="http://schemas.microsoft.com/office/powerpoint/2010/main" val="34870181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GB" dirty="0"/>
              <a:t>The company that seeks to offer unique products that are widely valued by customers is following a </a:t>
            </a:r>
            <a:r>
              <a:rPr lang="en-GB" b="1" dirty="0"/>
              <a:t>differentiation strategy</a:t>
            </a:r>
            <a:r>
              <a:rPr lang="en-GB" dirty="0"/>
              <a:t>. </a:t>
            </a:r>
            <a:endParaRPr lang="en-GB" dirty="0" smtClean="0"/>
          </a:p>
          <a:p>
            <a:r>
              <a:rPr lang="en-GB" dirty="0" smtClean="0"/>
              <a:t>Sources </a:t>
            </a:r>
            <a:r>
              <a:rPr lang="en-GB" dirty="0"/>
              <a:t>of differentiation might be exceptionally high quality, extraordinary service, innovative design, technological capability, or an unusually positive brand image. </a:t>
            </a:r>
            <a:endParaRPr lang="en-GB" dirty="0" smtClean="0"/>
          </a:p>
          <a:p>
            <a:r>
              <a:rPr lang="en-GB" dirty="0" smtClean="0"/>
              <a:t>The </a:t>
            </a:r>
            <a:r>
              <a:rPr lang="en-GB" dirty="0"/>
              <a:t>key to this competitive strategy is that whatever product or service attribute is chosen for differentiating must set the firm apart from its competitors and be significant enough to justify a price premium that exceeds the cost of differentiating.</a:t>
            </a:r>
            <a:endParaRPr lang="en-IN" dirty="0"/>
          </a:p>
        </p:txBody>
      </p:sp>
    </p:spTree>
    <p:extLst>
      <p:ext uri="{BB962C8B-B14F-4D97-AF65-F5344CB8AC3E}">
        <p14:creationId xmlns:p14="http://schemas.microsoft.com/office/powerpoint/2010/main" val="20537609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lnSpcReduction="10000"/>
          </a:bodyPr>
          <a:lstStyle/>
          <a:p>
            <a:r>
              <a:rPr lang="en-GB" dirty="0"/>
              <a:t>However, the </a:t>
            </a:r>
            <a:r>
              <a:rPr lang="en-GB" b="1" dirty="0"/>
              <a:t>focus strategy </a:t>
            </a:r>
            <a:r>
              <a:rPr lang="en-GB" dirty="0"/>
              <a:t>aims at a cost advantage (cost focus) or a differentiation advantage (differentiation focus) in a narrow segment. </a:t>
            </a:r>
            <a:endParaRPr lang="en-GB" dirty="0" smtClean="0"/>
          </a:p>
          <a:p>
            <a:r>
              <a:rPr lang="en-GB" dirty="0" smtClean="0"/>
              <a:t>That </a:t>
            </a:r>
            <a:r>
              <a:rPr lang="en-GB" dirty="0"/>
              <a:t>is, managers select a market segment or group of segments in an industry and don't attempt to serve the broad market. </a:t>
            </a:r>
            <a:endParaRPr lang="en-GB" dirty="0" smtClean="0"/>
          </a:p>
          <a:p>
            <a:r>
              <a:rPr lang="en-GB" dirty="0" smtClean="0"/>
              <a:t>The </a:t>
            </a:r>
            <a:r>
              <a:rPr lang="en-GB" dirty="0"/>
              <a:t>goal of a focus strategy is to exploit a narrow segment of a market. </a:t>
            </a:r>
            <a:endParaRPr lang="en-GB" dirty="0" smtClean="0"/>
          </a:p>
          <a:p>
            <a:r>
              <a:rPr lang="en-GB" dirty="0" smtClean="0"/>
              <a:t>These </a:t>
            </a:r>
            <a:r>
              <a:rPr lang="en-GB" dirty="0"/>
              <a:t>segments can be based on product variety, type of end buyer, distribution channel, or geographical location of buyers</a:t>
            </a:r>
            <a:endParaRPr lang="en-IN" dirty="0"/>
          </a:p>
        </p:txBody>
      </p:sp>
    </p:spTree>
    <p:extLst>
      <p:ext uri="{BB962C8B-B14F-4D97-AF65-F5344CB8AC3E}">
        <p14:creationId xmlns:p14="http://schemas.microsoft.com/office/powerpoint/2010/main" val="19282624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200" dirty="0"/>
              <a:t>What happens if an organization is unable to develop a cost or differentiation advantage?</a:t>
            </a:r>
            <a:endParaRPr lang="en-IN" sz="3200" dirty="0"/>
          </a:p>
        </p:txBody>
      </p:sp>
      <p:sp>
        <p:nvSpPr>
          <p:cNvPr id="3" name="Content Placeholder 2"/>
          <p:cNvSpPr>
            <a:spLocks noGrp="1"/>
          </p:cNvSpPr>
          <p:nvPr>
            <p:ph idx="1"/>
          </p:nvPr>
        </p:nvSpPr>
        <p:spPr/>
        <p:txBody>
          <a:bodyPr/>
          <a:lstStyle/>
          <a:p>
            <a:r>
              <a:rPr lang="en-GB" dirty="0"/>
              <a:t>Porter uses the term </a:t>
            </a:r>
            <a:r>
              <a:rPr lang="en-GB" b="1" dirty="0"/>
              <a:t>stuck in the middle </a:t>
            </a:r>
            <a:r>
              <a:rPr lang="en-GB" dirty="0"/>
              <a:t>to describe those organizations, which find it very difficult to achieve long-term success</a:t>
            </a:r>
            <a:r>
              <a:rPr lang="en-GB" dirty="0" smtClean="0"/>
              <a:t>.</a:t>
            </a:r>
          </a:p>
          <a:p>
            <a:r>
              <a:rPr lang="en-GB" dirty="0" smtClean="0"/>
              <a:t>Porter </a:t>
            </a:r>
            <a:r>
              <a:rPr lang="en-GB" dirty="0"/>
              <a:t>goes on to note that successful organizations frequently get into trouble by reaching beyond their competitive advantage and ending up stuck in the middle.</a:t>
            </a:r>
            <a:endParaRPr lang="en-IN" dirty="0"/>
          </a:p>
        </p:txBody>
      </p:sp>
    </p:spTree>
    <p:extLst>
      <p:ext uri="{BB962C8B-B14F-4D97-AF65-F5344CB8AC3E}">
        <p14:creationId xmlns:p14="http://schemas.microsoft.com/office/powerpoint/2010/main" val="37043845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Functional-Level Strategy</a:t>
            </a:r>
          </a:p>
        </p:txBody>
      </p:sp>
      <p:sp>
        <p:nvSpPr>
          <p:cNvPr id="3" name="Content Placeholder 2"/>
          <p:cNvSpPr>
            <a:spLocks noGrp="1"/>
          </p:cNvSpPr>
          <p:nvPr>
            <p:ph idx="1"/>
          </p:nvPr>
        </p:nvSpPr>
        <p:spPr/>
        <p:txBody>
          <a:bodyPr/>
          <a:lstStyle/>
          <a:p>
            <a:r>
              <a:rPr lang="en-GB" dirty="0"/>
              <a:t>A functional-level strategy seeks to determine how to support the business-level strategy</a:t>
            </a:r>
            <a:r>
              <a:rPr lang="en-GB" dirty="0" smtClean="0"/>
              <a:t>.</a:t>
            </a:r>
          </a:p>
          <a:p>
            <a:r>
              <a:rPr lang="en-GB" dirty="0" smtClean="0"/>
              <a:t>For </a:t>
            </a:r>
            <a:r>
              <a:rPr lang="en-GB" dirty="0"/>
              <a:t>organizations that have traditional functional departments such as manufacturing, marketing, human resources, research and development, and finance, these strategies need to support the business-level strategy.</a:t>
            </a:r>
            <a:endParaRPr lang="en-IN" dirty="0"/>
          </a:p>
        </p:txBody>
      </p:sp>
    </p:spTree>
    <p:extLst>
      <p:ext uri="{BB962C8B-B14F-4D97-AF65-F5344CB8AC3E}">
        <p14:creationId xmlns:p14="http://schemas.microsoft.com/office/powerpoint/2010/main" val="38063002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History of Strategic Management</a:t>
            </a:r>
            <a:endParaRPr lang="en-IN" dirty="0"/>
          </a:p>
        </p:txBody>
      </p:sp>
      <p:sp>
        <p:nvSpPr>
          <p:cNvPr id="3" name="Content Placeholder 2"/>
          <p:cNvSpPr>
            <a:spLocks noGrp="1"/>
          </p:cNvSpPr>
          <p:nvPr>
            <p:ph idx="1"/>
          </p:nvPr>
        </p:nvSpPr>
        <p:spPr/>
        <p:txBody>
          <a:bodyPr>
            <a:normAutofit fontScale="92500" lnSpcReduction="10000"/>
          </a:bodyPr>
          <a:lstStyle/>
          <a:p>
            <a:r>
              <a:rPr lang="en-GB" dirty="0" smtClean="0"/>
              <a:t>Strategy in Ancient Times: </a:t>
            </a:r>
          </a:p>
          <a:p>
            <a:pPr marL="0" indent="0">
              <a:buNone/>
            </a:pPr>
            <a:endParaRPr lang="en-GB" dirty="0" smtClean="0"/>
          </a:p>
          <a:p>
            <a:pPr marL="0" indent="0" algn="ctr">
              <a:buNone/>
            </a:pPr>
            <a:r>
              <a:rPr lang="en-GB" b="1" dirty="0"/>
              <a:t>Sun Tzu</a:t>
            </a:r>
            <a:r>
              <a:rPr lang="en-GB" dirty="0"/>
              <a:t>’s The Art of War </a:t>
            </a:r>
            <a:r>
              <a:rPr lang="en-GB" dirty="0" smtClean="0"/>
              <a:t>(500 BC) provides </a:t>
            </a:r>
            <a:r>
              <a:rPr lang="en-GB" dirty="0"/>
              <a:t>a classic handbook on military strategy with numerous business applications, such </a:t>
            </a:r>
            <a:r>
              <a:rPr lang="en-GB" dirty="0" smtClean="0"/>
              <a:t>as the </a:t>
            </a:r>
            <a:r>
              <a:rPr lang="en-GB" dirty="0"/>
              <a:t>idea “to win without fighting is the best</a:t>
            </a:r>
            <a:r>
              <a:rPr lang="en-GB" dirty="0" smtClean="0"/>
              <a:t>.”</a:t>
            </a:r>
          </a:p>
          <a:p>
            <a:pPr marL="0" indent="0" algn="ctr">
              <a:buNone/>
            </a:pPr>
            <a:endParaRPr lang="en-GB" dirty="0" smtClean="0"/>
          </a:p>
          <a:p>
            <a:pPr marL="0" indent="0" algn="ctr">
              <a:buNone/>
            </a:pPr>
            <a:r>
              <a:rPr lang="en-GB" b="1" dirty="0" err="1"/>
              <a:t>Niccolò</a:t>
            </a:r>
            <a:r>
              <a:rPr lang="en-GB" b="1" dirty="0"/>
              <a:t> Machiavelli</a:t>
            </a:r>
            <a:r>
              <a:rPr lang="en-GB" dirty="0"/>
              <a:t>’s 1532 book </a:t>
            </a:r>
            <a:r>
              <a:rPr lang="en-GB" i="1" dirty="0"/>
              <a:t>The Prince </a:t>
            </a:r>
            <a:r>
              <a:rPr lang="en-GB" dirty="0"/>
              <a:t>offers clever recipes for success to </a:t>
            </a:r>
            <a:r>
              <a:rPr lang="en-GB" dirty="0" smtClean="0"/>
              <a:t>government </a:t>
            </a:r>
            <a:r>
              <a:rPr lang="en-IN" dirty="0" smtClean="0"/>
              <a:t>leaders</a:t>
            </a:r>
            <a:r>
              <a:rPr lang="en-IN" dirty="0"/>
              <a:t>.</a:t>
            </a:r>
            <a:endParaRPr lang="en-IN" dirty="0"/>
          </a:p>
        </p:txBody>
      </p:sp>
    </p:spTree>
    <p:extLst>
      <p:ext uri="{BB962C8B-B14F-4D97-AF65-F5344CB8AC3E}">
        <p14:creationId xmlns:p14="http://schemas.microsoft.com/office/powerpoint/2010/main" val="19554590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dirty="0" smtClean="0"/>
              <a:t>Strategic Management As A Field of Study</a:t>
            </a:r>
            <a:endParaRPr lang="en-IN" sz="3600" dirty="0"/>
          </a:p>
        </p:txBody>
      </p:sp>
      <p:sp>
        <p:nvSpPr>
          <p:cNvPr id="3" name="Content Placeholder 2"/>
          <p:cNvSpPr>
            <a:spLocks noGrp="1"/>
          </p:cNvSpPr>
          <p:nvPr>
            <p:ph idx="1"/>
          </p:nvPr>
        </p:nvSpPr>
        <p:spPr/>
        <p:txBody>
          <a:bodyPr>
            <a:normAutofit fontScale="85000" lnSpcReduction="20000"/>
          </a:bodyPr>
          <a:lstStyle/>
          <a:p>
            <a:r>
              <a:rPr lang="en-GB" dirty="0"/>
              <a:t>In 1911, Taylor published </a:t>
            </a:r>
            <a:r>
              <a:rPr lang="en-GB" i="1" dirty="0"/>
              <a:t>The Principles of </a:t>
            </a:r>
            <a:r>
              <a:rPr lang="en-GB" i="1" dirty="0" smtClean="0"/>
              <a:t>Scientific </a:t>
            </a:r>
            <a:r>
              <a:rPr lang="en-IN" i="1" dirty="0" smtClean="0"/>
              <a:t>Management: </a:t>
            </a:r>
            <a:r>
              <a:rPr lang="en-IN" dirty="0"/>
              <a:t>Taylor stressed </a:t>
            </a:r>
            <a:r>
              <a:rPr lang="en-IN" dirty="0" smtClean="0"/>
              <a:t>how </a:t>
            </a:r>
            <a:r>
              <a:rPr lang="en-GB" dirty="0" smtClean="0"/>
              <a:t>organizations </a:t>
            </a:r>
            <a:r>
              <a:rPr lang="en-GB" dirty="0"/>
              <a:t>could become more efficient through identifying the “one best way” of performing </a:t>
            </a:r>
            <a:r>
              <a:rPr lang="en-GB" dirty="0" smtClean="0"/>
              <a:t>important </a:t>
            </a:r>
            <a:r>
              <a:rPr lang="en-IN" dirty="0" smtClean="0"/>
              <a:t>tasks</a:t>
            </a:r>
          </a:p>
          <a:p>
            <a:r>
              <a:rPr lang="en-GB" dirty="0"/>
              <a:t>The acceptance of strategic management as </a:t>
            </a:r>
            <a:r>
              <a:rPr lang="en-GB" dirty="0" smtClean="0"/>
              <a:t>a necessary </a:t>
            </a:r>
            <a:r>
              <a:rPr lang="en-GB" dirty="0"/>
              <a:t>element of business school programs took </a:t>
            </a:r>
            <a:r>
              <a:rPr lang="en-GB" dirty="0" smtClean="0"/>
              <a:t>a major </a:t>
            </a:r>
            <a:r>
              <a:rPr lang="en-GB" dirty="0"/>
              <a:t>step forward in </a:t>
            </a:r>
            <a:r>
              <a:rPr lang="en-GB" b="1" dirty="0"/>
              <a:t>1959</a:t>
            </a:r>
            <a:r>
              <a:rPr lang="en-GB" dirty="0"/>
              <a:t>. A widely circulated </a:t>
            </a:r>
            <a:r>
              <a:rPr lang="en-GB" dirty="0" smtClean="0"/>
              <a:t>report created </a:t>
            </a:r>
            <a:r>
              <a:rPr lang="en-GB" dirty="0"/>
              <a:t>by the Ford Foundation recommended that </a:t>
            </a:r>
            <a:r>
              <a:rPr lang="en-GB" dirty="0" smtClean="0"/>
              <a:t>all business </a:t>
            </a:r>
            <a:r>
              <a:rPr lang="en-GB" dirty="0"/>
              <a:t>schools offer a capstone course. The goal </a:t>
            </a:r>
            <a:r>
              <a:rPr lang="en-GB" dirty="0" smtClean="0"/>
              <a:t>of this </a:t>
            </a:r>
            <a:r>
              <a:rPr lang="en-GB" dirty="0"/>
              <a:t>course would be to integrate knowledge </a:t>
            </a:r>
            <a:r>
              <a:rPr lang="en-GB" dirty="0" smtClean="0"/>
              <a:t>across different </a:t>
            </a:r>
            <a:r>
              <a:rPr lang="en-GB" dirty="0"/>
              <a:t>business fields such as marketing, finance</a:t>
            </a:r>
            <a:r>
              <a:rPr lang="en-GB" dirty="0" smtClean="0"/>
              <a:t>, and </a:t>
            </a:r>
            <a:r>
              <a:rPr lang="en-GB" dirty="0"/>
              <a:t>accounting to help students devise better ideas </a:t>
            </a:r>
            <a:r>
              <a:rPr lang="en-GB" dirty="0" smtClean="0"/>
              <a:t>for </a:t>
            </a:r>
            <a:r>
              <a:rPr lang="en-IN" dirty="0" smtClean="0"/>
              <a:t>addressing </a:t>
            </a:r>
            <a:r>
              <a:rPr lang="en-IN" dirty="0"/>
              <a:t>complex business problems</a:t>
            </a:r>
            <a:endParaRPr lang="en-IN" dirty="0"/>
          </a:p>
        </p:txBody>
      </p:sp>
    </p:spTree>
    <p:extLst>
      <p:ext uri="{BB962C8B-B14F-4D97-AF65-F5344CB8AC3E}">
        <p14:creationId xmlns:p14="http://schemas.microsoft.com/office/powerpoint/2010/main" val="40700761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10000"/>
          </a:bodyPr>
          <a:lstStyle/>
          <a:p>
            <a:r>
              <a:rPr lang="en-GB" dirty="0" smtClean="0"/>
              <a:t>1980: Launch of Strategic Management Journal</a:t>
            </a:r>
          </a:p>
          <a:p>
            <a:r>
              <a:rPr lang="en-GB" dirty="0" smtClean="0"/>
              <a:t>1980: publication </a:t>
            </a:r>
            <a:r>
              <a:rPr lang="en-GB" dirty="0"/>
              <a:t>of </a:t>
            </a:r>
            <a:r>
              <a:rPr lang="en-GB" i="1" dirty="0"/>
              <a:t>Competitive Strategy: Techniques for </a:t>
            </a:r>
            <a:r>
              <a:rPr lang="en-GB" i="1" dirty="0" err="1" smtClean="0"/>
              <a:t>Analyzing</a:t>
            </a:r>
            <a:r>
              <a:rPr lang="en-GB" i="1" dirty="0" smtClean="0"/>
              <a:t> Industries </a:t>
            </a:r>
            <a:r>
              <a:rPr lang="en-GB" i="1" dirty="0"/>
              <a:t>and Competitors </a:t>
            </a:r>
            <a:r>
              <a:rPr lang="en-GB" dirty="0"/>
              <a:t>by Harvard professor Michael </a:t>
            </a:r>
            <a:r>
              <a:rPr lang="en-GB" dirty="0" smtClean="0"/>
              <a:t>Porter</a:t>
            </a:r>
          </a:p>
          <a:p>
            <a:r>
              <a:rPr lang="en-GB" dirty="0" smtClean="0"/>
              <a:t>1995: </a:t>
            </a:r>
            <a:r>
              <a:rPr lang="en-GB" dirty="0"/>
              <a:t>launch of Amazon by founder Jeff Bezos was perhaps the pivotal event in creating </a:t>
            </a:r>
            <a:r>
              <a:rPr lang="en-GB" dirty="0" smtClean="0"/>
              <a:t>internet based </a:t>
            </a:r>
            <a:r>
              <a:rPr lang="en-IN" dirty="0" smtClean="0"/>
              <a:t>commerce</a:t>
            </a:r>
          </a:p>
          <a:p>
            <a:r>
              <a:rPr lang="en-GB" dirty="0" smtClean="0"/>
              <a:t>2005: Thomas Friedman’s </a:t>
            </a:r>
            <a:r>
              <a:rPr lang="en-GB" i="1" dirty="0"/>
              <a:t>The World Is Flat: A Brief History of the Twenty-First Century</a:t>
            </a:r>
            <a:r>
              <a:rPr lang="en-GB" dirty="0"/>
              <a:t>, Friedman argues that many of </a:t>
            </a:r>
            <a:r>
              <a:rPr lang="en-GB" dirty="0" smtClean="0"/>
              <a:t>the advantages </a:t>
            </a:r>
            <a:r>
              <a:rPr lang="en-GB" dirty="0"/>
              <a:t>that firms in developed countries such as the United States, Japan, and Great Britain take </a:t>
            </a:r>
            <a:r>
              <a:rPr lang="en-GB" dirty="0" smtClean="0"/>
              <a:t>for </a:t>
            </a:r>
            <a:r>
              <a:rPr lang="en-IN" dirty="0" smtClean="0"/>
              <a:t>granted </a:t>
            </a:r>
            <a:r>
              <a:rPr lang="en-IN" dirty="0"/>
              <a:t>are disappearing</a:t>
            </a:r>
            <a:endParaRPr lang="en-IN" dirty="0"/>
          </a:p>
        </p:txBody>
      </p:sp>
    </p:spTree>
    <p:extLst>
      <p:ext uri="{BB962C8B-B14F-4D97-AF65-F5344CB8AC3E}">
        <p14:creationId xmlns:p14="http://schemas.microsoft.com/office/powerpoint/2010/main" val="13335878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TotalTime>
  <Words>3428</Words>
  <Application>Microsoft Office PowerPoint</Application>
  <PresentationFormat>On-screen Show (4:3)</PresentationFormat>
  <Paragraphs>209</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Strategic Management</vt:lpstr>
      <vt:lpstr>What is strategic management?</vt:lpstr>
      <vt:lpstr>Strategic management process</vt:lpstr>
      <vt:lpstr>Components of a mission statement</vt:lpstr>
      <vt:lpstr>Step 2: Analyzing the Environment</vt:lpstr>
      <vt:lpstr>Step 3: Identifying Opportunities and Threats</vt:lpstr>
      <vt:lpstr>Step 4: Analyzing the Organization's Resources and Capabilities</vt:lpstr>
      <vt:lpstr>PowerPoint Presentation</vt:lpstr>
      <vt:lpstr>Step 5: Identifying Strengths and Weaknesses</vt:lpstr>
      <vt:lpstr>PowerPoint Presentation</vt:lpstr>
      <vt:lpstr>PowerPoint Presentation</vt:lpstr>
      <vt:lpstr>PowerPoint Presentation</vt:lpstr>
      <vt:lpstr>Step 6: Formulating Strategies</vt:lpstr>
      <vt:lpstr>Step 7: Implementing Strategies</vt:lpstr>
      <vt:lpstr>Step 8: Evaluating Results</vt:lpstr>
      <vt:lpstr>Intended, Emergent and Realized Strategies</vt:lpstr>
      <vt:lpstr>PowerPoint Presentation</vt:lpstr>
      <vt:lpstr>PowerPoint Presentation</vt:lpstr>
      <vt:lpstr>Types of Organizational Strategy</vt:lpstr>
      <vt:lpstr>Grand Strategy—Stability</vt:lpstr>
      <vt:lpstr>Grand Strategy—Growth</vt:lpstr>
      <vt:lpstr>PowerPoint Presentation</vt:lpstr>
      <vt:lpstr>PowerPoint Presentation</vt:lpstr>
      <vt:lpstr>PowerPoint Presentation</vt:lpstr>
      <vt:lpstr>PowerPoint Presentation</vt:lpstr>
      <vt:lpstr>Grand Strategy—Retrenchment</vt:lpstr>
      <vt:lpstr>Corporate Portfolio Analysis</vt:lpstr>
      <vt:lpstr>BCG Matrix</vt:lpstr>
      <vt:lpstr>PowerPoint Presentation</vt:lpstr>
      <vt:lpstr>What are the strategic implications of the BCG matrix? </vt:lpstr>
      <vt:lpstr>Business-Level Strategy</vt:lpstr>
      <vt:lpstr>The Role of Competitive Advantage</vt:lpstr>
      <vt:lpstr>Competitive Strategies  Michael Porter (1980)</vt:lpstr>
      <vt:lpstr>PowerPoint Presentation</vt:lpstr>
      <vt:lpstr>PowerPoint Presentation</vt:lpstr>
      <vt:lpstr>PowerPoint Presentation</vt:lpstr>
      <vt:lpstr>Requirements for Successfully Pursuing Porter's Competitive Strategies</vt:lpstr>
      <vt:lpstr>Requirements for Successfully Pursuing Porter's Competitive Strategies</vt:lpstr>
      <vt:lpstr>Requirements for Successfully Pursuing Porter's Competitive Strategies</vt:lpstr>
      <vt:lpstr>PowerPoint Presentation</vt:lpstr>
      <vt:lpstr>PowerPoint Presentation</vt:lpstr>
      <vt:lpstr>PowerPoint Presentation</vt:lpstr>
      <vt:lpstr>What happens if an organization is unable to develop a cost or differentiation advantage?</vt:lpstr>
      <vt:lpstr>Functional-Level Strategy</vt:lpstr>
      <vt:lpstr>History of Strategic Management</vt:lpstr>
      <vt:lpstr>Strategic Management As A Field of Study</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Management</dc:title>
  <dc:creator>HP</dc:creator>
  <cp:lastModifiedBy>HP</cp:lastModifiedBy>
  <cp:revision>11</cp:revision>
  <dcterms:created xsi:type="dcterms:W3CDTF">2006-08-16T00:00:00Z</dcterms:created>
  <dcterms:modified xsi:type="dcterms:W3CDTF">2026-02-23T11:51:20Z</dcterms:modified>
</cp:coreProperties>
</file>