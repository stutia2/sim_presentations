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Groups &amp; Team management</a:t>
            </a:r>
            <a:endParaRPr lang="en-IN" dirty="0"/>
          </a:p>
        </p:txBody>
      </p:sp>
      <p:sp>
        <p:nvSpPr>
          <p:cNvPr id="3" name="Subtitle 2"/>
          <p:cNvSpPr>
            <a:spLocks noGrp="1"/>
          </p:cNvSpPr>
          <p:nvPr>
            <p:ph type="subTitle" idx="1"/>
          </p:nvPr>
        </p:nvSpPr>
        <p:spPr/>
        <p:txBody>
          <a:bodyPr/>
          <a:lstStyle/>
          <a:p>
            <a:r>
              <a:rPr lang="en-GB" dirty="0" smtClean="0"/>
              <a:t>Session 12</a:t>
            </a:r>
          </a:p>
          <a:p>
            <a:r>
              <a:rPr lang="en-GB" dirty="0" smtClean="0"/>
              <a:t>30</a:t>
            </a:r>
            <a:r>
              <a:rPr lang="en-GB" baseline="30000" dirty="0" smtClean="0"/>
              <a:t>th</a:t>
            </a:r>
            <a:r>
              <a:rPr lang="en-GB" dirty="0" smtClean="0"/>
              <a:t> June, 2026</a:t>
            </a:r>
            <a:endParaRPr lang="en-IN" dirty="0"/>
          </a:p>
        </p:txBody>
      </p:sp>
    </p:spTree>
    <p:extLst>
      <p:ext uri="{BB962C8B-B14F-4D97-AF65-F5344CB8AC3E}">
        <p14:creationId xmlns:p14="http://schemas.microsoft.com/office/powerpoint/2010/main" val="2866767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a Group?</a:t>
            </a:r>
          </a:p>
        </p:txBody>
      </p:sp>
      <p:sp>
        <p:nvSpPr>
          <p:cNvPr id="3" name="Content Placeholder 2"/>
          <p:cNvSpPr>
            <a:spLocks noGrp="1"/>
          </p:cNvSpPr>
          <p:nvPr>
            <p:ph idx="1"/>
          </p:nvPr>
        </p:nvSpPr>
        <p:spPr/>
        <p:txBody>
          <a:bodyPr>
            <a:normAutofit fontScale="77500" lnSpcReduction="20000"/>
          </a:bodyPr>
          <a:lstStyle/>
          <a:p>
            <a:r>
              <a:rPr lang="en-GB" dirty="0"/>
              <a:t>A </a:t>
            </a:r>
            <a:r>
              <a:rPr lang="en-GB" b="1" dirty="0"/>
              <a:t>group</a:t>
            </a:r>
            <a:r>
              <a:rPr lang="en-GB" dirty="0"/>
              <a:t> is defined as two or more interacting and interdependent individuals who come together to achieve particular goals. </a:t>
            </a:r>
            <a:endParaRPr lang="en-GB" dirty="0" smtClean="0"/>
          </a:p>
          <a:p>
            <a:r>
              <a:rPr lang="en-GB" dirty="0" smtClean="0"/>
              <a:t>Groups </a:t>
            </a:r>
            <a:r>
              <a:rPr lang="en-GB" dirty="0"/>
              <a:t>can either be </a:t>
            </a:r>
            <a:r>
              <a:rPr lang="en-GB" u="sng" dirty="0"/>
              <a:t>formal</a:t>
            </a:r>
            <a:r>
              <a:rPr lang="en-GB" dirty="0"/>
              <a:t> or </a:t>
            </a:r>
            <a:r>
              <a:rPr lang="en-GB" u="sng" dirty="0"/>
              <a:t>informal</a:t>
            </a:r>
            <a:r>
              <a:rPr lang="en-GB" dirty="0" smtClean="0"/>
              <a:t>.</a:t>
            </a:r>
          </a:p>
          <a:p>
            <a:r>
              <a:rPr lang="en-GB" i="1" dirty="0" smtClean="0"/>
              <a:t>Formal </a:t>
            </a:r>
            <a:r>
              <a:rPr lang="en-GB" i="1" dirty="0"/>
              <a:t>groups </a:t>
            </a:r>
            <a:r>
              <a:rPr lang="en-GB" dirty="0"/>
              <a:t>are work groups established by the organization that have designated work assignments and specific tasks. </a:t>
            </a:r>
            <a:endParaRPr lang="en-GB" dirty="0" smtClean="0"/>
          </a:p>
          <a:p>
            <a:r>
              <a:rPr lang="en-GB" dirty="0" smtClean="0"/>
              <a:t>In </a:t>
            </a:r>
            <a:r>
              <a:rPr lang="en-GB" i="1" dirty="0"/>
              <a:t>formal groups</a:t>
            </a:r>
            <a:r>
              <a:rPr lang="en-GB" dirty="0"/>
              <a:t>, appropriate </a:t>
            </a:r>
            <a:r>
              <a:rPr lang="en-GB" dirty="0" err="1"/>
              <a:t>behaviors</a:t>
            </a:r>
            <a:r>
              <a:rPr lang="en-GB" dirty="0"/>
              <a:t> are established by and directed toward organizational goals. </a:t>
            </a:r>
            <a:endParaRPr lang="en-GB" dirty="0" smtClean="0"/>
          </a:p>
          <a:p>
            <a:r>
              <a:rPr lang="en-GB" i="1" dirty="0" smtClean="0"/>
              <a:t>Informal groups </a:t>
            </a:r>
            <a:r>
              <a:rPr lang="en-GB" dirty="0"/>
              <a:t>are social. These groups occur naturally in the workplace in response to the need for social contact. Informal groups tend to form around friendships and common </a:t>
            </a:r>
            <a:r>
              <a:rPr lang="en-GB" dirty="0" smtClean="0"/>
              <a:t>interests</a:t>
            </a:r>
            <a:endParaRPr lang="en-GB" dirty="0"/>
          </a:p>
        </p:txBody>
      </p:sp>
    </p:spTree>
    <p:extLst>
      <p:ext uri="{BB962C8B-B14F-4D97-AF65-F5344CB8AC3E}">
        <p14:creationId xmlns:p14="http://schemas.microsoft.com/office/powerpoint/2010/main" val="4270986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Examples of formal groups</a:t>
            </a:r>
            <a:endParaRPr lang="en-IN" dirty="0"/>
          </a:p>
        </p:txBody>
      </p:sp>
      <p:sp>
        <p:nvSpPr>
          <p:cNvPr id="3" name="Content Placeholder 2"/>
          <p:cNvSpPr>
            <a:spLocks noGrp="1"/>
          </p:cNvSpPr>
          <p:nvPr>
            <p:ph idx="1"/>
          </p:nvPr>
        </p:nvSpPr>
        <p:spPr/>
        <p:txBody>
          <a:bodyPr>
            <a:normAutofit fontScale="70000" lnSpcReduction="20000"/>
          </a:bodyPr>
          <a:lstStyle/>
          <a:p>
            <a:r>
              <a:rPr lang="en-GB" i="1" dirty="0"/>
              <a:t>Command groups</a:t>
            </a:r>
            <a:r>
              <a:rPr lang="en-GB" dirty="0"/>
              <a:t>. These are the basic, traditional work groups determined by </a:t>
            </a:r>
            <a:r>
              <a:rPr lang="en-GB" u="sng" dirty="0"/>
              <a:t>formal authority relationships</a:t>
            </a:r>
            <a:r>
              <a:rPr lang="en-GB" dirty="0"/>
              <a:t> and depicted on the </a:t>
            </a:r>
            <a:r>
              <a:rPr lang="en-GB" u="sng" dirty="0"/>
              <a:t>organizational chart</a:t>
            </a:r>
            <a:r>
              <a:rPr lang="en-GB" dirty="0"/>
              <a:t>. They typically include a manager and those employees who report directly to him or her.</a:t>
            </a:r>
          </a:p>
          <a:p>
            <a:r>
              <a:rPr lang="en-GB" i="1" dirty="0" smtClean="0"/>
              <a:t>Cross-functional </a:t>
            </a:r>
            <a:r>
              <a:rPr lang="en-GB" i="1" dirty="0"/>
              <a:t>teams</a:t>
            </a:r>
            <a:r>
              <a:rPr lang="en-GB" dirty="0"/>
              <a:t>. These bring together the </a:t>
            </a:r>
            <a:r>
              <a:rPr lang="en-GB" u="sng" dirty="0"/>
              <a:t>knowledge and skills of individuals from various work areas</a:t>
            </a:r>
            <a:r>
              <a:rPr lang="en-GB" dirty="0"/>
              <a:t> in order to come up with solutions to operational problems. Cross-functional teams also include groups whose members have been trained to do each other's jobs.</a:t>
            </a:r>
          </a:p>
          <a:p>
            <a:r>
              <a:rPr lang="en-GB" i="1" dirty="0"/>
              <a:t>Self-managed teams</a:t>
            </a:r>
            <a:r>
              <a:rPr lang="en-GB" dirty="0"/>
              <a:t>. These are essentially independent groups that, in addition to doing their operating jobs, take on </a:t>
            </a:r>
            <a:r>
              <a:rPr lang="en-GB" u="sng" dirty="0"/>
              <a:t>traditional management responsibilities such as hiring, planning and scheduling, and performance evaluations</a:t>
            </a:r>
            <a:r>
              <a:rPr lang="en-GB" dirty="0"/>
              <a:t>.</a:t>
            </a:r>
          </a:p>
          <a:p>
            <a:r>
              <a:rPr lang="en-GB" i="1" dirty="0"/>
              <a:t>Task forces</a:t>
            </a:r>
            <a:r>
              <a:rPr lang="en-GB" dirty="0"/>
              <a:t>. These are </a:t>
            </a:r>
            <a:r>
              <a:rPr lang="en-GB" u="sng" dirty="0"/>
              <a:t>temporary groups created to accomplish a specific task</a:t>
            </a:r>
            <a:r>
              <a:rPr lang="en-GB" dirty="0"/>
              <a:t>. Once the task is complete, the group is disbanded</a:t>
            </a:r>
            <a:r>
              <a:rPr lang="en-GB" dirty="0" smtClean="0"/>
              <a:t>.</a:t>
            </a:r>
            <a:r>
              <a:rPr lang="en-IN" dirty="0" smtClean="0"/>
              <a:t> </a:t>
            </a:r>
            <a:endParaRPr lang="en-IN" dirty="0"/>
          </a:p>
          <a:p>
            <a:endParaRPr lang="en-IN" dirty="0"/>
          </a:p>
          <a:p>
            <a:endParaRPr lang="en-IN" dirty="0"/>
          </a:p>
        </p:txBody>
      </p:sp>
    </p:spTree>
    <p:extLst>
      <p:ext uri="{BB962C8B-B14F-4D97-AF65-F5344CB8AC3E}">
        <p14:creationId xmlns:p14="http://schemas.microsoft.com/office/powerpoint/2010/main" val="3533754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Stages of Group </a:t>
            </a:r>
            <a:r>
              <a:rPr lang="en-IN" b="1" dirty="0" smtClean="0"/>
              <a:t>Development</a:t>
            </a:r>
            <a:endParaRPr lang="en-IN" dirty="0"/>
          </a:p>
        </p:txBody>
      </p:sp>
      <p:sp>
        <p:nvSpPr>
          <p:cNvPr id="3" name="Content Placeholder 2"/>
          <p:cNvSpPr>
            <a:spLocks noGrp="1"/>
          </p:cNvSpPr>
          <p:nvPr>
            <p:ph idx="1"/>
          </p:nvPr>
        </p:nvSpPr>
        <p:spPr/>
        <p:txBody>
          <a:bodyPr/>
          <a:lstStyle/>
          <a:p>
            <a:r>
              <a:rPr lang="en-GB" dirty="0"/>
              <a:t>Group development is a dynamic process</a:t>
            </a:r>
            <a:r>
              <a:rPr lang="en-GB" dirty="0" smtClean="0"/>
              <a:t>.</a:t>
            </a:r>
          </a:p>
          <a:p>
            <a:r>
              <a:rPr lang="en-GB" dirty="0" smtClean="0"/>
              <a:t>Most </a:t>
            </a:r>
            <a:r>
              <a:rPr lang="en-GB" dirty="0"/>
              <a:t>groups are in a continual state of change. </a:t>
            </a:r>
          </a:p>
          <a:p>
            <a:r>
              <a:rPr lang="en-GB" dirty="0"/>
              <a:t>F</a:t>
            </a:r>
            <a:r>
              <a:rPr lang="en-GB" dirty="0" smtClean="0"/>
              <a:t>ive </a:t>
            </a:r>
            <a:r>
              <a:rPr lang="en-GB" dirty="0"/>
              <a:t>stages are </a:t>
            </a:r>
            <a:r>
              <a:rPr lang="en-GB" i="1" dirty="0"/>
              <a:t>forming, storming, norming, performing, </a:t>
            </a:r>
            <a:r>
              <a:rPr lang="en-GB" dirty="0"/>
              <a:t>and </a:t>
            </a:r>
            <a:r>
              <a:rPr lang="en-GB" i="1" dirty="0" smtClean="0"/>
              <a:t>adjourning</a:t>
            </a:r>
            <a:r>
              <a:rPr lang="en-IN" dirty="0" smtClean="0"/>
              <a:t> </a:t>
            </a:r>
            <a:endParaRPr lang="en-IN" dirty="0"/>
          </a:p>
          <a:p>
            <a:endParaRPr lang="en-IN" dirty="0"/>
          </a:p>
        </p:txBody>
      </p:sp>
    </p:spTree>
    <p:extLst>
      <p:ext uri="{BB962C8B-B14F-4D97-AF65-F5344CB8AC3E}">
        <p14:creationId xmlns:p14="http://schemas.microsoft.com/office/powerpoint/2010/main" val="599279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7843" y="381000"/>
            <a:ext cx="8188314" cy="5745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4609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r>
              <a:rPr lang="en-GB" b="1" dirty="0" smtClean="0"/>
              <a:t>Forming: </a:t>
            </a:r>
            <a:r>
              <a:rPr lang="en-GB" u="sng" dirty="0" smtClean="0"/>
              <a:t>First</a:t>
            </a:r>
            <a:r>
              <a:rPr lang="en-GB" dirty="0"/>
              <a:t>, people join the group either because of a work assignment, in the case of a formal group, or for some other benefit desired (such as status, self-esteem, affiliation, power, or security), in the case of an informal group</a:t>
            </a:r>
            <a:r>
              <a:rPr lang="en-GB" dirty="0" smtClean="0"/>
              <a:t>. </a:t>
            </a:r>
            <a:r>
              <a:rPr lang="en-GB" u="sng" dirty="0" smtClean="0"/>
              <a:t>Second</a:t>
            </a:r>
            <a:r>
              <a:rPr lang="en-GB" dirty="0"/>
              <a:t> </a:t>
            </a:r>
            <a:r>
              <a:rPr lang="en-GB" dirty="0" smtClean="0"/>
              <a:t>is </a:t>
            </a:r>
            <a:r>
              <a:rPr lang="en-GB" dirty="0"/>
              <a:t>the task of defining the group's purpose, structure, and leadership. </a:t>
            </a:r>
            <a:endParaRPr lang="en-GB" dirty="0" smtClean="0"/>
          </a:p>
          <a:p>
            <a:r>
              <a:rPr lang="en-GB" b="1" dirty="0" smtClean="0"/>
              <a:t>Storming:</a:t>
            </a:r>
            <a:r>
              <a:rPr lang="en-GB" dirty="0" smtClean="0"/>
              <a:t> </a:t>
            </a:r>
            <a:r>
              <a:rPr lang="en-GB" dirty="0"/>
              <a:t>is one of </a:t>
            </a:r>
            <a:r>
              <a:rPr lang="en-GB" u="sng" dirty="0"/>
              <a:t>intragroup conflict</a:t>
            </a:r>
            <a:r>
              <a:rPr lang="en-GB" dirty="0"/>
              <a:t>. Members accept the existence of the group but resist the control that the group imposes on individuality. Furthermore, there is conflict over who will control the group. </a:t>
            </a:r>
          </a:p>
          <a:p>
            <a:endParaRPr lang="en-IN" dirty="0"/>
          </a:p>
          <a:p>
            <a:endParaRPr lang="en-IN" dirty="0"/>
          </a:p>
        </p:txBody>
      </p:sp>
    </p:spTree>
    <p:extLst>
      <p:ext uri="{BB962C8B-B14F-4D97-AF65-F5344CB8AC3E}">
        <p14:creationId xmlns:p14="http://schemas.microsoft.com/office/powerpoint/2010/main" val="1914531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96000"/>
          </a:xfrm>
        </p:spPr>
        <p:txBody>
          <a:bodyPr>
            <a:normAutofit fontScale="92500" lnSpcReduction="20000"/>
          </a:bodyPr>
          <a:lstStyle/>
          <a:p>
            <a:r>
              <a:rPr lang="en-GB" b="1" dirty="0" smtClean="0"/>
              <a:t>Norming: </a:t>
            </a:r>
            <a:r>
              <a:rPr lang="en-GB" u="sng" dirty="0"/>
              <a:t>close relationships </a:t>
            </a:r>
            <a:r>
              <a:rPr lang="en-GB" dirty="0"/>
              <a:t>develop and the group demonstrates cohesiveness. There's now a strong sense of </a:t>
            </a:r>
            <a:r>
              <a:rPr lang="en-GB" u="sng" dirty="0"/>
              <a:t>group identity </a:t>
            </a:r>
            <a:r>
              <a:rPr lang="en-GB" dirty="0"/>
              <a:t>and camaraderie. This </a:t>
            </a:r>
            <a:r>
              <a:rPr lang="en-GB" dirty="0" smtClean="0"/>
              <a:t>stage </a:t>
            </a:r>
            <a:r>
              <a:rPr lang="en-GB" dirty="0"/>
              <a:t>is complete when the group structure solidifies and the group has assimilated a common set of expectations of what defines correct member </a:t>
            </a:r>
            <a:r>
              <a:rPr lang="en-GB" dirty="0" err="1"/>
              <a:t>behavior</a:t>
            </a:r>
            <a:endParaRPr lang="en-GB" dirty="0"/>
          </a:p>
          <a:p>
            <a:r>
              <a:rPr lang="en-IN" b="1" dirty="0" smtClean="0"/>
              <a:t>Performing:</a:t>
            </a:r>
            <a:r>
              <a:rPr lang="en-IN" dirty="0" smtClean="0"/>
              <a:t> </a:t>
            </a:r>
            <a:r>
              <a:rPr lang="en-GB" dirty="0"/>
              <a:t>The group structure at this point is </a:t>
            </a:r>
            <a:r>
              <a:rPr lang="en-GB" u="sng" dirty="0"/>
              <a:t>fully functional </a:t>
            </a:r>
            <a:r>
              <a:rPr lang="en-GB" dirty="0"/>
              <a:t>and </a:t>
            </a:r>
            <a:r>
              <a:rPr lang="en-GB" u="sng" dirty="0"/>
              <a:t>accepted</a:t>
            </a:r>
            <a:r>
              <a:rPr lang="en-GB" dirty="0"/>
              <a:t>. Group energy has moved from getting to know and understand each other to performing the task at hand.</a:t>
            </a:r>
          </a:p>
          <a:p>
            <a:r>
              <a:rPr lang="en-IN" b="1" dirty="0" smtClean="0"/>
              <a:t>Adjourning: </a:t>
            </a:r>
            <a:r>
              <a:rPr lang="en-GB" u="sng" dirty="0"/>
              <a:t>Temporary groups</a:t>
            </a:r>
            <a:r>
              <a:rPr lang="en-GB" dirty="0"/>
              <a:t>—such as committees, task forces, and similar groups—that have a </a:t>
            </a:r>
            <a:r>
              <a:rPr lang="en-GB" u="sng" dirty="0"/>
              <a:t>limited task to </a:t>
            </a:r>
            <a:r>
              <a:rPr lang="en-GB" u="sng" dirty="0" smtClean="0"/>
              <a:t>perform</a:t>
            </a:r>
            <a:r>
              <a:rPr lang="en-GB" dirty="0" smtClean="0"/>
              <a:t>. </a:t>
            </a:r>
            <a:r>
              <a:rPr lang="en-GB" dirty="0"/>
              <a:t>In this stage, the group prepares to </a:t>
            </a:r>
            <a:r>
              <a:rPr lang="en-GB" u="sng" dirty="0"/>
              <a:t>disband</a:t>
            </a:r>
            <a:r>
              <a:rPr lang="en-GB" dirty="0"/>
              <a:t>. </a:t>
            </a:r>
            <a:r>
              <a:rPr lang="en-IN" dirty="0" smtClean="0"/>
              <a:t>  </a:t>
            </a:r>
            <a:endParaRPr lang="en-IN" dirty="0"/>
          </a:p>
          <a:p>
            <a:endParaRPr lang="en-IN" dirty="0"/>
          </a:p>
        </p:txBody>
      </p:sp>
    </p:spTree>
    <p:extLst>
      <p:ext uri="{BB962C8B-B14F-4D97-AF65-F5344CB8AC3E}">
        <p14:creationId xmlns:p14="http://schemas.microsoft.com/office/powerpoint/2010/main" val="14410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GB" dirty="0" smtClean="0"/>
              <a:t>Basic group concepts</a:t>
            </a:r>
            <a:endParaRPr lang="en-IN" dirty="0"/>
          </a:p>
        </p:txBody>
      </p:sp>
      <p:sp>
        <p:nvSpPr>
          <p:cNvPr id="3" name="Content Placeholder 2"/>
          <p:cNvSpPr>
            <a:spLocks noGrp="1"/>
          </p:cNvSpPr>
          <p:nvPr>
            <p:ph idx="1"/>
          </p:nvPr>
        </p:nvSpPr>
        <p:spPr>
          <a:xfrm>
            <a:off x="457200" y="990600"/>
            <a:ext cx="8229600" cy="5486400"/>
          </a:xfrm>
        </p:spPr>
        <p:txBody>
          <a:bodyPr>
            <a:normAutofit fontScale="92500" lnSpcReduction="10000"/>
          </a:bodyPr>
          <a:lstStyle/>
          <a:p>
            <a:r>
              <a:rPr lang="en-IN" b="1" dirty="0" smtClean="0"/>
              <a:t>Roles</a:t>
            </a:r>
            <a:r>
              <a:rPr lang="en-IN" dirty="0" smtClean="0"/>
              <a:t>: </a:t>
            </a:r>
            <a:r>
              <a:rPr lang="en-GB" dirty="0"/>
              <a:t>refers to a </a:t>
            </a:r>
            <a:r>
              <a:rPr lang="en-GB" u="sng" dirty="0"/>
              <a:t>set of expected </a:t>
            </a:r>
            <a:r>
              <a:rPr lang="en-GB" u="sng" dirty="0" err="1"/>
              <a:t>behavior</a:t>
            </a:r>
            <a:r>
              <a:rPr lang="en-GB" u="sng" dirty="0"/>
              <a:t> patterns</a:t>
            </a:r>
            <a:r>
              <a:rPr lang="en-GB" dirty="0"/>
              <a:t> attributed to someone who occupies a given position in a social unit. </a:t>
            </a:r>
            <a:endParaRPr lang="en-GB" dirty="0" smtClean="0"/>
          </a:p>
          <a:p>
            <a:r>
              <a:rPr lang="en-GB" dirty="0" smtClean="0"/>
              <a:t>In </a:t>
            </a:r>
            <a:r>
              <a:rPr lang="en-GB" dirty="0"/>
              <a:t>a group, individuals are expected to perform certain roles because of their position in the group. </a:t>
            </a:r>
            <a:endParaRPr lang="en-GB" dirty="0" smtClean="0"/>
          </a:p>
          <a:p>
            <a:r>
              <a:rPr lang="en-GB" dirty="0" smtClean="0"/>
              <a:t>These </a:t>
            </a:r>
            <a:r>
              <a:rPr lang="en-GB" dirty="0"/>
              <a:t>roles tend to be oriented toward either </a:t>
            </a:r>
            <a:r>
              <a:rPr lang="en-GB" u="sng" dirty="0"/>
              <a:t>task accomplishment </a:t>
            </a:r>
            <a:r>
              <a:rPr lang="en-GB" dirty="0"/>
              <a:t>or </a:t>
            </a:r>
            <a:r>
              <a:rPr lang="en-GB" u="sng" dirty="0"/>
              <a:t>maintaining group member </a:t>
            </a:r>
            <a:r>
              <a:rPr lang="en-GB" u="sng" dirty="0" smtClean="0"/>
              <a:t>satisfaction. </a:t>
            </a:r>
          </a:p>
          <a:p>
            <a:r>
              <a:rPr lang="en-GB" dirty="0" smtClean="0"/>
              <a:t>When </a:t>
            </a:r>
            <a:r>
              <a:rPr lang="en-GB" dirty="0"/>
              <a:t>that individual is confronted by different role expectations, he or she experiences </a:t>
            </a:r>
            <a:r>
              <a:rPr lang="en-GB" i="1" dirty="0"/>
              <a:t>role conflict</a:t>
            </a:r>
            <a:r>
              <a:rPr lang="en-GB" dirty="0"/>
              <a:t>. </a:t>
            </a:r>
            <a:endParaRPr lang="en-GB" u="sng" dirty="0"/>
          </a:p>
          <a:p>
            <a:endParaRPr lang="en-IN" dirty="0"/>
          </a:p>
        </p:txBody>
      </p:sp>
    </p:spTree>
    <p:extLst>
      <p:ext uri="{BB962C8B-B14F-4D97-AF65-F5344CB8AC3E}">
        <p14:creationId xmlns:p14="http://schemas.microsoft.com/office/powerpoint/2010/main" val="396486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Norms and </a:t>
            </a:r>
            <a:r>
              <a:rPr lang="en-IN" b="1" dirty="0" smtClean="0"/>
              <a:t>Conformity</a:t>
            </a:r>
            <a:endParaRPr lang="en-IN" dirty="0"/>
          </a:p>
        </p:txBody>
      </p:sp>
      <p:sp>
        <p:nvSpPr>
          <p:cNvPr id="3" name="Content Placeholder 2"/>
          <p:cNvSpPr>
            <a:spLocks noGrp="1"/>
          </p:cNvSpPr>
          <p:nvPr>
            <p:ph idx="1"/>
          </p:nvPr>
        </p:nvSpPr>
        <p:spPr/>
        <p:txBody>
          <a:bodyPr>
            <a:normAutofit fontScale="77500" lnSpcReduction="20000"/>
          </a:bodyPr>
          <a:lstStyle/>
          <a:p>
            <a:r>
              <a:rPr lang="en-GB" dirty="0"/>
              <a:t>All groups have established norms, or </a:t>
            </a:r>
            <a:r>
              <a:rPr lang="en-GB" u="sng" dirty="0"/>
              <a:t>acceptable standards or expectations </a:t>
            </a:r>
            <a:r>
              <a:rPr lang="en-GB" dirty="0"/>
              <a:t>that are shared by the group's members. </a:t>
            </a:r>
            <a:endParaRPr lang="en-GB" dirty="0" smtClean="0"/>
          </a:p>
          <a:p>
            <a:r>
              <a:rPr lang="en-GB" dirty="0" smtClean="0"/>
              <a:t>Norms </a:t>
            </a:r>
            <a:r>
              <a:rPr lang="en-GB" dirty="0"/>
              <a:t>dictate factors such as work output levels, absenteeism, promptness, and the amount of socializing allowed on the job.</a:t>
            </a:r>
          </a:p>
          <a:p>
            <a:r>
              <a:rPr lang="en-GB" dirty="0"/>
              <a:t>G</a:t>
            </a:r>
            <a:r>
              <a:rPr lang="en-GB" dirty="0" smtClean="0"/>
              <a:t>roup </a:t>
            </a:r>
            <a:r>
              <a:rPr lang="en-GB" dirty="0"/>
              <a:t>norms that push us toward </a:t>
            </a:r>
            <a:r>
              <a:rPr lang="en-GB" u="sng" dirty="0"/>
              <a:t>conformity</a:t>
            </a:r>
            <a:r>
              <a:rPr lang="en-GB" dirty="0"/>
              <a:t>. </a:t>
            </a:r>
            <a:endParaRPr lang="en-GB" dirty="0" smtClean="0"/>
          </a:p>
          <a:p>
            <a:r>
              <a:rPr lang="en-GB" dirty="0" smtClean="0"/>
              <a:t>We </a:t>
            </a:r>
            <a:r>
              <a:rPr lang="en-GB" dirty="0"/>
              <a:t>desire to be one of the group and to </a:t>
            </a:r>
            <a:r>
              <a:rPr lang="en-GB" u="sng" dirty="0"/>
              <a:t>avoid being visibly different</a:t>
            </a:r>
            <a:r>
              <a:rPr lang="en-GB" dirty="0"/>
              <a:t>. </a:t>
            </a:r>
            <a:endParaRPr lang="en-GB" dirty="0" smtClean="0"/>
          </a:p>
          <a:p>
            <a:r>
              <a:rPr lang="en-GB" dirty="0" smtClean="0"/>
              <a:t>We </a:t>
            </a:r>
            <a:r>
              <a:rPr lang="en-GB" dirty="0"/>
              <a:t>can generalize further to say that when an individual's opinion of objective data differs significantly from that of others in the group, he or she feels extensive pressure to </a:t>
            </a:r>
            <a:r>
              <a:rPr lang="en-GB" u="sng" dirty="0"/>
              <a:t>align his or her opinion to </a:t>
            </a:r>
            <a:r>
              <a:rPr lang="en-GB" b="1" u="sng" dirty="0"/>
              <a:t>conform</a:t>
            </a:r>
            <a:r>
              <a:rPr lang="en-GB" u="sng" dirty="0"/>
              <a:t> with the opinions of others</a:t>
            </a:r>
            <a:r>
              <a:rPr lang="en-GB" dirty="0" smtClean="0"/>
              <a:t>.</a:t>
            </a:r>
            <a:r>
              <a:rPr lang="en-IN" dirty="0" smtClean="0"/>
              <a:t>  </a:t>
            </a:r>
            <a:endParaRPr lang="en-IN" dirty="0"/>
          </a:p>
          <a:p>
            <a:endParaRPr lang="en-IN" dirty="0"/>
          </a:p>
        </p:txBody>
      </p:sp>
    </p:spTree>
    <p:extLst>
      <p:ext uri="{BB962C8B-B14F-4D97-AF65-F5344CB8AC3E}">
        <p14:creationId xmlns:p14="http://schemas.microsoft.com/office/powerpoint/2010/main" val="4121243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GB" dirty="0" smtClean="0"/>
              <a:t>Status systems</a:t>
            </a:r>
            <a:endParaRPr lang="en-IN" dirty="0"/>
          </a:p>
        </p:txBody>
      </p:sp>
      <p:sp>
        <p:nvSpPr>
          <p:cNvPr id="3" name="Content Placeholder 2"/>
          <p:cNvSpPr>
            <a:spLocks noGrp="1"/>
          </p:cNvSpPr>
          <p:nvPr>
            <p:ph idx="1"/>
          </p:nvPr>
        </p:nvSpPr>
        <p:spPr>
          <a:xfrm>
            <a:off x="457200" y="990600"/>
            <a:ext cx="8229600" cy="5135563"/>
          </a:xfrm>
        </p:spPr>
        <p:txBody>
          <a:bodyPr>
            <a:normAutofit fontScale="92500" lnSpcReduction="10000"/>
          </a:bodyPr>
          <a:lstStyle/>
          <a:p>
            <a:r>
              <a:rPr lang="en-GB" dirty="0"/>
              <a:t>Status is </a:t>
            </a:r>
            <a:r>
              <a:rPr lang="en-GB" u="sng" dirty="0"/>
              <a:t>a prestige grading, position, or rank within a group</a:t>
            </a:r>
            <a:r>
              <a:rPr lang="en-GB" dirty="0"/>
              <a:t>. </a:t>
            </a:r>
            <a:endParaRPr lang="en-GB" dirty="0" smtClean="0"/>
          </a:p>
          <a:p>
            <a:r>
              <a:rPr lang="en-GB" dirty="0"/>
              <a:t>Status is a significant motivator and has </a:t>
            </a:r>
            <a:r>
              <a:rPr lang="en-GB" dirty="0" err="1"/>
              <a:t>behavioral</a:t>
            </a:r>
            <a:r>
              <a:rPr lang="en-GB" dirty="0"/>
              <a:t> consequences when individuals see a disparity between what they perceive their status to be and what others perceive it to be</a:t>
            </a:r>
          </a:p>
          <a:p>
            <a:r>
              <a:rPr lang="en-GB" dirty="0"/>
              <a:t>Status in a group may be </a:t>
            </a:r>
            <a:r>
              <a:rPr lang="en-GB" u="sng" dirty="0"/>
              <a:t>informally</a:t>
            </a:r>
            <a:r>
              <a:rPr lang="en-GB" dirty="0"/>
              <a:t> conferred by characteristics such as education, age, skill, or experience. </a:t>
            </a:r>
            <a:endParaRPr lang="en-GB" dirty="0" smtClean="0"/>
          </a:p>
          <a:p>
            <a:r>
              <a:rPr lang="en-GB" dirty="0"/>
              <a:t>Status is also </a:t>
            </a:r>
            <a:r>
              <a:rPr lang="en-GB" u="sng" dirty="0"/>
              <a:t>formally</a:t>
            </a:r>
            <a:r>
              <a:rPr lang="en-GB" dirty="0"/>
              <a:t> conferred </a:t>
            </a:r>
            <a:r>
              <a:rPr lang="en-GB" dirty="0" smtClean="0"/>
              <a:t>on account of hierarchical standing in the organization</a:t>
            </a:r>
            <a:endParaRPr lang="en-GB" dirty="0"/>
          </a:p>
          <a:p>
            <a:endParaRPr lang="en-GB" dirty="0"/>
          </a:p>
          <a:p>
            <a:endParaRPr lang="en-IN" dirty="0"/>
          </a:p>
        </p:txBody>
      </p:sp>
    </p:spTree>
    <p:extLst>
      <p:ext uri="{BB962C8B-B14F-4D97-AF65-F5344CB8AC3E}">
        <p14:creationId xmlns:p14="http://schemas.microsoft.com/office/powerpoint/2010/main" val="3950293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Group </a:t>
            </a:r>
            <a:r>
              <a:rPr lang="en-IN" b="1" dirty="0" smtClean="0"/>
              <a:t>Size</a:t>
            </a:r>
            <a:endParaRPr lang="en-IN" dirty="0"/>
          </a:p>
        </p:txBody>
      </p:sp>
      <p:sp>
        <p:nvSpPr>
          <p:cNvPr id="3" name="Content Placeholder 2"/>
          <p:cNvSpPr>
            <a:spLocks noGrp="1"/>
          </p:cNvSpPr>
          <p:nvPr>
            <p:ph idx="1"/>
          </p:nvPr>
        </p:nvSpPr>
        <p:spPr/>
        <p:txBody>
          <a:bodyPr>
            <a:normAutofit fontScale="92500"/>
          </a:bodyPr>
          <a:lstStyle/>
          <a:p>
            <a:r>
              <a:rPr lang="en-GB" u="sng" dirty="0"/>
              <a:t>S</a:t>
            </a:r>
            <a:r>
              <a:rPr lang="en-GB" u="sng" dirty="0" smtClean="0"/>
              <a:t>mall </a:t>
            </a:r>
            <a:r>
              <a:rPr lang="en-GB" u="sng" dirty="0"/>
              <a:t>groups </a:t>
            </a:r>
            <a:r>
              <a:rPr lang="en-GB" dirty="0"/>
              <a:t>are faster at completing tasks than are larger ones. However, if the group is engaged in </a:t>
            </a:r>
            <a:r>
              <a:rPr lang="en-GB" i="1" dirty="0"/>
              <a:t>problem solving</a:t>
            </a:r>
            <a:r>
              <a:rPr lang="en-GB" dirty="0"/>
              <a:t>, large groups consistently get better results than smaller ones </a:t>
            </a:r>
          </a:p>
          <a:p>
            <a:r>
              <a:rPr lang="en-IN" u="sng" dirty="0" smtClean="0"/>
              <a:t>Free rider tendency: </a:t>
            </a:r>
            <a:r>
              <a:rPr lang="en-GB" dirty="0"/>
              <a:t>as groups get incrementally larger, the contribution of individual members often tends to </a:t>
            </a:r>
            <a:r>
              <a:rPr lang="en-GB" dirty="0" smtClean="0"/>
              <a:t>decrease</a:t>
            </a:r>
            <a:r>
              <a:rPr lang="en-IN" dirty="0" smtClean="0"/>
              <a:t>. </a:t>
            </a:r>
            <a:r>
              <a:rPr lang="en-GB" dirty="0"/>
              <a:t>The dispersion of responsibility within a group encourages individuals to slack off. </a:t>
            </a:r>
            <a:r>
              <a:rPr lang="en-IN" dirty="0" smtClean="0"/>
              <a:t> </a:t>
            </a:r>
            <a:endParaRPr lang="en-IN" dirty="0"/>
          </a:p>
          <a:p>
            <a:endParaRPr lang="en-IN" dirty="0"/>
          </a:p>
        </p:txBody>
      </p:sp>
    </p:spTree>
    <p:extLst>
      <p:ext uri="{BB962C8B-B14F-4D97-AF65-F5344CB8AC3E}">
        <p14:creationId xmlns:p14="http://schemas.microsoft.com/office/powerpoint/2010/main" val="3214024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IN" b="1" dirty="0"/>
              <a:t>Group </a:t>
            </a:r>
            <a:r>
              <a:rPr lang="en-IN" b="1" dirty="0" smtClean="0"/>
              <a:t>Cohesiveness</a:t>
            </a:r>
            <a:endParaRPr lang="en-IN" dirty="0"/>
          </a:p>
        </p:txBody>
      </p:sp>
      <p:sp>
        <p:nvSpPr>
          <p:cNvPr id="3" name="Content Placeholder 2"/>
          <p:cNvSpPr>
            <a:spLocks noGrp="1"/>
          </p:cNvSpPr>
          <p:nvPr>
            <p:ph idx="1"/>
          </p:nvPr>
        </p:nvSpPr>
        <p:spPr>
          <a:xfrm>
            <a:off x="457200" y="1066800"/>
            <a:ext cx="8229600" cy="5059363"/>
          </a:xfrm>
        </p:spPr>
        <p:txBody>
          <a:bodyPr>
            <a:normAutofit fontScale="70000" lnSpcReduction="20000"/>
          </a:bodyPr>
          <a:lstStyle/>
          <a:p>
            <a:r>
              <a:rPr lang="en-GB" dirty="0" smtClean="0"/>
              <a:t>It is the </a:t>
            </a:r>
            <a:r>
              <a:rPr lang="en-GB" dirty="0"/>
              <a:t>degree to which </a:t>
            </a:r>
            <a:r>
              <a:rPr lang="en-GB" u="sng" dirty="0"/>
              <a:t>members are attracted to a group</a:t>
            </a:r>
            <a:r>
              <a:rPr lang="en-GB" dirty="0"/>
              <a:t> and </a:t>
            </a:r>
            <a:r>
              <a:rPr lang="en-GB" u="sng" dirty="0"/>
              <a:t>share the group's goals</a:t>
            </a:r>
          </a:p>
          <a:p>
            <a:r>
              <a:rPr lang="en-GB" dirty="0"/>
              <a:t>H</a:t>
            </a:r>
            <a:r>
              <a:rPr lang="en-GB" dirty="0" smtClean="0"/>
              <a:t>ighly </a:t>
            </a:r>
            <a:r>
              <a:rPr lang="en-GB" dirty="0"/>
              <a:t>cohesive groups are more effective than are less cohesive ones</a:t>
            </a:r>
          </a:p>
          <a:p>
            <a:r>
              <a:rPr lang="en-GB" dirty="0"/>
              <a:t>The more cohesive a group is, the more its </a:t>
            </a:r>
            <a:r>
              <a:rPr lang="en-GB" u="sng" dirty="0"/>
              <a:t>members will follow its goals</a:t>
            </a:r>
            <a:r>
              <a:rPr lang="en-GB" dirty="0"/>
              <a:t>. </a:t>
            </a:r>
            <a:endParaRPr lang="en-GB" dirty="0" smtClean="0"/>
          </a:p>
          <a:p>
            <a:r>
              <a:rPr lang="en-GB" dirty="0" smtClean="0"/>
              <a:t>If </a:t>
            </a:r>
            <a:r>
              <a:rPr lang="en-GB" dirty="0"/>
              <a:t>the </a:t>
            </a:r>
            <a:r>
              <a:rPr lang="en-GB" u="sng" dirty="0"/>
              <a:t>goals are desirable </a:t>
            </a:r>
            <a:r>
              <a:rPr lang="en-GB" dirty="0"/>
              <a:t>(for instance, high output, quality work, cooperation with individuals outside the group), a cohesive group is more productive than a less cohesive group. </a:t>
            </a:r>
            <a:endParaRPr lang="en-GB" dirty="0" smtClean="0"/>
          </a:p>
          <a:p>
            <a:r>
              <a:rPr lang="en-GB" dirty="0" smtClean="0"/>
              <a:t>But </a:t>
            </a:r>
            <a:r>
              <a:rPr lang="en-GB" dirty="0"/>
              <a:t>if </a:t>
            </a:r>
            <a:r>
              <a:rPr lang="en-GB" u="sng" dirty="0"/>
              <a:t>cohesiveness is high and attitudes are </a:t>
            </a:r>
            <a:r>
              <a:rPr lang="en-GB" u="sng" dirty="0" err="1"/>
              <a:t>unfavorable</a:t>
            </a:r>
            <a:r>
              <a:rPr lang="en-GB" dirty="0"/>
              <a:t>, productivity decreases. </a:t>
            </a:r>
            <a:endParaRPr lang="en-GB" dirty="0" smtClean="0"/>
          </a:p>
          <a:p>
            <a:r>
              <a:rPr lang="en-GB" dirty="0" smtClean="0"/>
              <a:t>If </a:t>
            </a:r>
            <a:r>
              <a:rPr lang="en-GB" u="sng" dirty="0"/>
              <a:t>cohesiveness is low and goals are supported</a:t>
            </a:r>
            <a:r>
              <a:rPr lang="en-GB" dirty="0"/>
              <a:t>, productivity increases but not as much as when both cohesiveness and support are high. </a:t>
            </a:r>
            <a:endParaRPr lang="en-GB" dirty="0" smtClean="0"/>
          </a:p>
          <a:p>
            <a:r>
              <a:rPr lang="en-GB" dirty="0" smtClean="0"/>
              <a:t>When </a:t>
            </a:r>
            <a:r>
              <a:rPr lang="en-GB" u="sng" dirty="0"/>
              <a:t>cohesiveness is low and goals are not supported</a:t>
            </a:r>
            <a:r>
              <a:rPr lang="en-GB" dirty="0"/>
              <a:t>, cohesiveness has no significant effect on productivity. </a:t>
            </a:r>
          </a:p>
        </p:txBody>
      </p:sp>
    </p:spTree>
    <p:extLst>
      <p:ext uri="{BB962C8B-B14F-4D97-AF65-F5344CB8AC3E}">
        <p14:creationId xmlns:p14="http://schemas.microsoft.com/office/powerpoint/2010/main" val="4061992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Conflict Management</a:t>
            </a:r>
            <a:endParaRPr lang="en-IN" dirty="0"/>
          </a:p>
        </p:txBody>
      </p:sp>
      <p:sp>
        <p:nvSpPr>
          <p:cNvPr id="3" name="Content Placeholder 2"/>
          <p:cNvSpPr>
            <a:spLocks noGrp="1"/>
          </p:cNvSpPr>
          <p:nvPr>
            <p:ph idx="1"/>
          </p:nvPr>
        </p:nvSpPr>
        <p:spPr>
          <a:xfrm>
            <a:off x="457200" y="2819400"/>
            <a:ext cx="8229600" cy="3306763"/>
          </a:xfrm>
        </p:spPr>
        <p:txBody>
          <a:bodyPr/>
          <a:lstStyle/>
          <a:p>
            <a:pPr marL="0" indent="0" algn="ctr">
              <a:buNone/>
            </a:pPr>
            <a:r>
              <a:rPr lang="en-GB" i="1" dirty="0" smtClean="0"/>
              <a:t>Conflicts </a:t>
            </a:r>
            <a:r>
              <a:rPr lang="en-GB" dirty="0" smtClean="0"/>
              <a:t>are defined as </a:t>
            </a:r>
            <a:r>
              <a:rPr lang="en-GB" i="1" dirty="0" smtClean="0"/>
              <a:t>perceived </a:t>
            </a:r>
            <a:r>
              <a:rPr lang="en-GB" dirty="0"/>
              <a:t>incompatible differences resulting in some form of interference or opposition. </a:t>
            </a:r>
            <a:r>
              <a:rPr lang="en-GB" dirty="0" smtClean="0"/>
              <a:t>If </a:t>
            </a:r>
            <a:r>
              <a:rPr lang="en-GB" dirty="0"/>
              <a:t>people in a group perceive that </a:t>
            </a:r>
            <a:r>
              <a:rPr lang="en-GB" u="sng" dirty="0"/>
              <a:t>differences exist</a:t>
            </a:r>
            <a:r>
              <a:rPr lang="en-GB" dirty="0"/>
              <a:t>, then there is conflict. </a:t>
            </a:r>
            <a:r>
              <a:rPr lang="en-IN" dirty="0" smtClean="0"/>
              <a:t>  </a:t>
            </a:r>
            <a:endParaRPr lang="en-IN" dirty="0"/>
          </a:p>
          <a:p>
            <a:endParaRPr lang="en-IN" dirty="0"/>
          </a:p>
        </p:txBody>
      </p:sp>
    </p:spTree>
    <p:extLst>
      <p:ext uri="{BB962C8B-B14F-4D97-AF65-F5344CB8AC3E}">
        <p14:creationId xmlns:p14="http://schemas.microsoft.com/office/powerpoint/2010/main" val="1422120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GB" dirty="0" smtClean="0"/>
              <a:t>3 views of conflict</a:t>
            </a:r>
            <a:endParaRPr lang="en-IN" dirty="0"/>
          </a:p>
        </p:txBody>
      </p:sp>
      <p:sp>
        <p:nvSpPr>
          <p:cNvPr id="3" name="Content Placeholder 2"/>
          <p:cNvSpPr>
            <a:spLocks noGrp="1"/>
          </p:cNvSpPr>
          <p:nvPr>
            <p:ph idx="1"/>
          </p:nvPr>
        </p:nvSpPr>
        <p:spPr>
          <a:xfrm>
            <a:off x="457200" y="1295400"/>
            <a:ext cx="8229600" cy="5334000"/>
          </a:xfrm>
        </p:spPr>
        <p:txBody>
          <a:bodyPr>
            <a:normAutofit fontScale="70000" lnSpcReduction="20000"/>
          </a:bodyPr>
          <a:lstStyle/>
          <a:p>
            <a:r>
              <a:rPr lang="en-GB" b="1" dirty="0" smtClean="0"/>
              <a:t>Traditional view: </a:t>
            </a:r>
            <a:r>
              <a:rPr lang="en-GB" dirty="0"/>
              <a:t>conflict must be </a:t>
            </a:r>
            <a:r>
              <a:rPr lang="en-GB" dirty="0" smtClean="0"/>
              <a:t>avoided</a:t>
            </a:r>
            <a:r>
              <a:rPr lang="en-GB" dirty="0"/>
              <a:t> </a:t>
            </a:r>
            <a:r>
              <a:rPr lang="en-GB" dirty="0" smtClean="0"/>
              <a:t>because </a:t>
            </a:r>
            <a:r>
              <a:rPr lang="en-GB" dirty="0"/>
              <a:t>it indicates a problem within the group. </a:t>
            </a:r>
          </a:p>
          <a:p>
            <a:r>
              <a:rPr lang="en-IN" b="1" dirty="0" smtClean="0"/>
              <a:t>Human relations view: </a:t>
            </a:r>
            <a:r>
              <a:rPr lang="en-GB" dirty="0" smtClean="0"/>
              <a:t>conflict </a:t>
            </a:r>
            <a:r>
              <a:rPr lang="en-GB" dirty="0"/>
              <a:t>is a natural and inevitable outcome in any group and need not be negative but, rather, has potential to be a positive force in contributing to a group's performance </a:t>
            </a:r>
            <a:endParaRPr lang="en-GB" dirty="0" smtClean="0"/>
          </a:p>
          <a:p>
            <a:r>
              <a:rPr lang="en-IN" b="1" dirty="0" err="1" smtClean="0"/>
              <a:t>Interactionist</a:t>
            </a:r>
            <a:r>
              <a:rPr lang="en-IN" b="1" dirty="0" smtClean="0"/>
              <a:t> view: </a:t>
            </a:r>
            <a:r>
              <a:rPr lang="en-GB" dirty="0"/>
              <a:t>N</a:t>
            </a:r>
            <a:r>
              <a:rPr lang="en-GB" dirty="0" smtClean="0"/>
              <a:t>ot </a:t>
            </a:r>
            <a:r>
              <a:rPr lang="en-GB" dirty="0"/>
              <a:t>only can conflict be a positive force in a group but also that some conflict is </a:t>
            </a:r>
            <a:r>
              <a:rPr lang="en-GB" i="1" dirty="0"/>
              <a:t>absolutely necessary </a:t>
            </a:r>
            <a:r>
              <a:rPr lang="en-GB" dirty="0"/>
              <a:t>for a group to perform </a:t>
            </a:r>
            <a:r>
              <a:rPr lang="en-GB" dirty="0" smtClean="0"/>
              <a:t>effectively. </a:t>
            </a:r>
          </a:p>
          <a:p>
            <a:pPr marL="0" indent="0">
              <a:buNone/>
            </a:pPr>
            <a:endParaRPr lang="en-GB" dirty="0"/>
          </a:p>
          <a:p>
            <a:pPr marL="0" indent="0">
              <a:buNone/>
            </a:pPr>
            <a:endParaRPr lang="en-GB" dirty="0" smtClean="0"/>
          </a:p>
          <a:p>
            <a:pPr marL="0" indent="0">
              <a:buNone/>
            </a:pPr>
            <a:r>
              <a:rPr lang="en-GB" dirty="0" smtClean="0"/>
              <a:t>Some </a:t>
            </a:r>
            <a:r>
              <a:rPr lang="en-GB" dirty="0"/>
              <a:t>conflicts are seen as </a:t>
            </a:r>
            <a:r>
              <a:rPr lang="en-GB" i="1" dirty="0"/>
              <a:t>supporting the goals of the work group and improving its performance</a:t>
            </a:r>
            <a:r>
              <a:rPr lang="en-GB" dirty="0"/>
              <a:t>; these are </a:t>
            </a:r>
            <a:r>
              <a:rPr lang="en-GB" b="1" dirty="0"/>
              <a:t>functional conflicts </a:t>
            </a:r>
            <a:r>
              <a:rPr lang="en-GB" dirty="0"/>
              <a:t>of a constructive nature. </a:t>
            </a:r>
            <a:endParaRPr lang="en-GB" dirty="0" smtClean="0"/>
          </a:p>
          <a:p>
            <a:pPr marL="0" indent="0">
              <a:buNone/>
            </a:pPr>
            <a:r>
              <a:rPr lang="en-GB" dirty="0" smtClean="0"/>
              <a:t>Other </a:t>
            </a:r>
            <a:r>
              <a:rPr lang="en-GB" dirty="0"/>
              <a:t>conflicts are </a:t>
            </a:r>
            <a:r>
              <a:rPr lang="en-GB" i="1" dirty="0"/>
              <a:t>destructive and prevent a group from achieving its goals</a:t>
            </a:r>
            <a:r>
              <a:rPr lang="en-GB" dirty="0"/>
              <a:t>. These are </a:t>
            </a:r>
            <a:r>
              <a:rPr lang="en-GB" b="1" dirty="0"/>
              <a:t>dysfunctional conflicts</a:t>
            </a:r>
            <a:r>
              <a:rPr lang="en-GB" dirty="0"/>
              <a:t>. </a:t>
            </a:r>
            <a:r>
              <a:rPr lang="en-IN" dirty="0" smtClean="0"/>
              <a:t>  </a:t>
            </a:r>
            <a:endParaRPr lang="en-IN" dirty="0"/>
          </a:p>
          <a:p>
            <a:endParaRPr lang="en-IN" dirty="0"/>
          </a:p>
        </p:txBody>
      </p:sp>
    </p:spTree>
    <p:extLst>
      <p:ext uri="{BB962C8B-B14F-4D97-AF65-F5344CB8AC3E}">
        <p14:creationId xmlns:p14="http://schemas.microsoft.com/office/powerpoint/2010/main" val="3796477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Conflict and Group performance</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09168111"/>
              </p:ext>
            </p:extLst>
          </p:nvPr>
        </p:nvGraphicFramePr>
        <p:xfrm>
          <a:off x="457200" y="1600201"/>
          <a:ext cx="8229600" cy="4444999"/>
        </p:xfrm>
        <a:graphic>
          <a:graphicData uri="http://schemas.openxmlformats.org/drawingml/2006/table">
            <a:tbl>
              <a:tblPr firstRow="1" bandRow="1">
                <a:tableStyleId>{5C22544A-7EE6-4342-B048-85BDC9FD1C3A}</a:tableStyleId>
              </a:tblPr>
              <a:tblGrid>
                <a:gridCol w="2057400"/>
                <a:gridCol w="2057400"/>
                <a:gridCol w="2057400"/>
                <a:gridCol w="2057400"/>
              </a:tblGrid>
              <a:tr h="579437">
                <a:tc>
                  <a:txBody>
                    <a:bodyPr/>
                    <a:lstStyle/>
                    <a:p>
                      <a:r>
                        <a:rPr lang="en-GB" b="1" dirty="0" smtClean="0"/>
                        <a:t>Level of conflict</a:t>
                      </a:r>
                      <a:endParaRPr lang="en-IN" b="1" dirty="0"/>
                    </a:p>
                  </a:txBody>
                  <a:tcPr/>
                </a:tc>
                <a:tc>
                  <a:txBody>
                    <a:bodyPr/>
                    <a:lstStyle/>
                    <a:p>
                      <a:r>
                        <a:rPr lang="en-GB" b="0" dirty="0" smtClean="0"/>
                        <a:t>Low or none</a:t>
                      </a:r>
                      <a:endParaRPr lang="en-IN" b="0" dirty="0"/>
                    </a:p>
                  </a:txBody>
                  <a:tcPr/>
                </a:tc>
                <a:tc>
                  <a:txBody>
                    <a:bodyPr/>
                    <a:lstStyle/>
                    <a:p>
                      <a:r>
                        <a:rPr lang="en-GB" b="0" dirty="0" smtClean="0"/>
                        <a:t>Optimal</a:t>
                      </a:r>
                      <a:endParaRPr lang="en-IN" b="0" dirty="0"/>
                    </a:p>
                  </a:txBody>
                  <a:tcPr/>
                </a:tc>
                <a:tc>
                  <a:txBody>
                    <a:bodyPr/>
                    <a:lstStyle/>
                    <a:p>
                      <a:r>
                        <a:rPr lang="en-GB" b="0" dirty="0" smtClean="0"/>
                        <a:t>High</a:t>
                      </a:r>
                      <a:endParaRPr lang="en-IN" b="0" dirty="0"/>
                    </a:p>
                  </a:txBody>
                  <a:tcPr/>
                </a:tc>
              </a:tr>
              <a:tr h="579437">
                <a:tc>
                  <a:txBody>
                    <a:bodyPr/>
                    <a:lstStyle/>
                    <a:p>
                      <a:r>
                        <a:rPr lang="en-GB" b="1" dirty="0" smtClean="0"/>
                        <a:t>Type of</a:t>
                      </a:r>
                      <a:r>
                        <a:rPr lang="en-GB" b="1" baseline="0" dirty="0" smtClean="0"/>
                        <a:t> conflict</a:t>
                      </a:r>
                      <a:endParaRPr lang="en-IN" b="1" dirty="0"/>
                    </a:p>
                  </a:txBody>
                  <a:tcPr/>
                </a:tc>
                <a:tc>
                  <a:txBody>
                    <a:bodyPr/>
                    <a:lstStyle/>
                    <a:p>
                      <a:r>
                        <a:rPr lang="en-GB" dirty="0" smtClean="0"/>
                        <a:t>Dysfunctional</a:t>
                      </a:r>
                      <a:endParaRPr lang="en-IN" dirty="0"/>
                    </a:p>
                  </a:txBody>
                  <a:tcPr/>
                </a:tc>
                <a:tc>
                  <a:txBody>
                    <a:bodyPr/>
                    <a:lstStyle/>
                    <a:p>
                      <a:r>
                        <a:rPr lang="en-GB" dirty="0" smtClean="0"/>
                        <a:t>Functional</a:t>
                      </a:r>
                      <a:endParaRPr lang="en-IN" dirty="0"/>
                    </a:p>
                  </a:txBody>
                  <a:tcPr/>
                </a:tc>
                <a:tc>
                  <a:txBody>
                    <a:bodyPr/>
                    <a:lstStyle/>
                    <a:p>
                      <a:r>
                        <a:rPr lang="en-GB" dirty="0" smtClean="0"/>
                        <a:t>Dysfunctional</a:t>
                      </a:r>
                      <a:endParaRPr lang="en-IN" dirty="0"/>
                    </a:p>
                  </a:txBody>
                  <a:tcPr/>
                </a:tc>
              </a:tr>
              <a:tr h="2286000">
                <a:tc>
                  <a:txBody>
                    <a:bodyPr/>
                    <a:lstStyle/>
                    <a:p>
                      <a:r>
                        <a:rPr lang="en-GB" b="1" dirty="0" smtClean="0"/>
                        <a:t>Group’s internal characteristics</a:t>
                      </a:r>
                      <a:endParaRPr lang="en-IN" b="1" dirty="0"/>
                    </a:p>
                  </a:txBody>
                  <a:tcPr/>
                </a:tc>
                <a:tc>
                  <a:txBody>
                    <a:bodyPr/>
                    <a:lstStyle/>
                    <a:p>
                      <a:r>
                        <a:rPr lang="en-GB" dirty="0" smtClean="0"/>
                        <a:t>Apathetic</a:t>
                      </a:r>
                    </a:p>
                    <a:p>
                      <a:r>
                        <a:rPr lang="en-GB" dirty="0" smtClean="0"/>
                        <a:t>Stagnant</a:t>
                      </a:r>
                    </a:p>
                    <a:p>
                      <a:r>
                        <a:rPr lang="en-GB" dirty="0" smtClean="0"/>
                        <a:t>Unresponsive</a:t>
                      </a:r>
                      <a:r>
                        <a:rPr lang="en-GB" baseline="0" dirty="0" smtClean="0"/>
                        <a:t> to change</a:t>
                      </a:r>
                    </a:p>
                    <a:p>
                      <a:r>
                        <a:rPr lang="en-GB" baseline="0" dirty="0" smtClean="0"/>
                        <a:t>Lack of new ideas</a:t>
                      </a:r>
                      <a:endParaRPr lang="en-IN" dirty="0"/>
                    </a:p>
                  </a:txBody>
                  <a:tcPr/>
                </a:tc>
                <a:tc>
                  <a:txBody>
                    <a:bodyPr/>
                    <a:lstStyle/>
                    <a:p>
                      <a:r>
                        <a:rPr lang="en-GB" dirty="0" smtClean="0"/>
                        <a:t>Viable</a:t>
                      </a:r>
                    </a:p>
                    <a:p>
                      <a:r>
                        <a:rPr lang="en-GB" dirty="0" smtClean="0"/>
                        <a:t>Self-critical</a:t>
                      </a:r>
                    </a:p>
                    <a:p>
                      <a:r>
                        <a:rPr lang="en-GB" dirty="0" smtClean="0"/>
                        <a:t>Innovative</a:t>
                      </a:r>
                      <a:endParaRPr lang="en-IN" dirty="0"/>
                    </a:p>
                  </a:txBody>
                  <a:tcPr/>
                </a:tc>
                <a:tc>
                  <a:txBody>
                    <a:bodyPr/>
                    <a:lstStyle/>
                    <a:p>
                      <a:r>
                        <a:rPr lang="en-GB" dirty="0" smtClean="0"/>
                        <a:t>Disruptive</a:t>
                      </a:r>
                    </a:p>
                    <a:p>
                      <a:r>
                        <a:rPr lang="en-GB" dirty="0" smtClean="0"/>
                        <a:t>Chaotic</a:t>
                      </a:r>
                    </a:p>
                    <a:p>
                      <a:r>
                        <a:rPr lang="en-GB" dirty="0" smtClean="0"/>
                        <a:t>Uncooperative</a:t>
                      </a:r>
                      <a:endParaRPr lang="en-IN" dirty="0"/>
                    </a:p>
                  </a:txBody>
                  <a:tcPr/>
                </a:tc>
              </a:tr>
              <a:tr h="1000125">
                <a:tc>
                  <a:txBody>
                    <a:bodyPr/>
                    <a:lstStyle/>
                    <a:p>
                      <a:r>
                        <a:rPr lang="en-GB" b="1" dirty="0" smtClean="0"/>
                        <a:t>Level of group performance</a:t>
                      </a:r>
                      <a:endParaRPr lang="en-IN" b="1" dirty="0"/>
                    </a:p>
                  </a:txBody>
                  <a:tcPr/>
                </a:tc>
                <a:tc>
                  <a:txBody>
                    <a:bodyPr/>
                    <a:lstStyle/>
                    <a:p>
                      <a:r>
                        <a:rPr lang="en-GB" dirty="0" smtClean="0"/>
                        <a:t>Low</a:t>
                      </a:r>
                      <a:endParaRPr lang="en-IN" dirty="0"/>
                    </a:p>
                  </a:txBody>
                  <a:tcPr/>
                </a:tc>
                <a:tc>
                  <a:txBody>
                    <a:bodyPr/>
                    <a:lstStyle/>
                    <a:p>
                      <a:r>
                        <a:rPr lang="en-GB" dirty="0" smtClean="0"/>
                        <a:t>High</a:t>
                      </a:r>
                      <a:endParaRPr lang="en-IN" dirty="0"/>
                    </a:p>
                  </a:txBody>
                  <a:tcPr/>
                </a:tc>
                <a:tc>
                  <a:txBody>
                    <a:bodyPr/>
                    <a:lstStyle/>
                    <a:p>
                      <a:r>
                        <a:rPr lang="en-GB" dirty="0" smtClean="0"/>
                        <a:t>Low</a:t>
                      </a:r>
                      <a:endParaRPr lang="en-IN" dirty="0"/>
                    </a:p>
                  </a:txBody>
                  <a:tcPr/>
                </a:tc>
              </a:tr>
            </a:tbl>
          </a:graphicData>
        </a:graphic>
      </p:graphicFrame>
    </p:spTree>
    <p:extLst>
      <p:ext uri="{BB962C8B-B14F-4D97-AF65-F5344CB8AC3E}">
        <p14:creationId xmlns:p14="http://schemas.microsoft.com/office/powerpoint/2010/main" val="1092365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What differentiates Dysfunctional from Functional conflict?</a:t>
            </a:r>
            <a:endParaRPr lang="en-IN" dirty="0"/>
          </a:p>
        </p:txBody>
      </p:sp>
      <p:sp>
        <p:nvSpPr>
          <p:cNvPr id="3" name="Content Placeholder 2"/>
          <p:cNvSpPr>
            <a:spLocks noGrp="1"/>
          </p:cNvSpPr>
          <p:nvPr>
            <p:ph idx="1"/>
          </p:nvPr>
        </p:nvSpPr>
        <p:spPr/>
        <p:txBody>
          <a:bodyPr>
            <a:normAutofit fontScale="85000" lnSpcReduction="10000"/>
          </a:bodyPr>
          <a:lstStyle/>
          <a:p>
            <a:r>
              <a:rPr lang="en-GB" b="1" dirty="0"/>
              <a:t>Task conflict </a:t>
            </a:r>
            <a:r>
              <a:rPr lang="en-GB" dirty="0"/>
              <a:t>relates to the content and goals of the work. </a:t>
            </a:r>
            <a:endParaRPr lang="en-GB" dirty="0" smtClean="0"/>
          </a:p>
          <a:p>
            <a:r>
              <a:rPr lang="en-GB" b="1" dirty="0" smtClean="0"/>
              <a:t>Relationship </a:t>
            </a:r>
            <a:r>
              <a:rPr lang="en-GB" b="1" dirty="0"/>
              <a:t>conflict </a:t>
            </a:r>
            <a:r>
              <a:rPr lang="en-GB" dirty="0"/>
              <a:t>focuses on interpersonal relationships. </a:t>
            </a:r>
            <a:r>
              <a:rPr lang="en-GB" dirty="0" smtClean="0"/>
              <a:t>They </a:t>
            </a:r>
            <a:r>
              <a:rPr lang="en-GB" dirty="0"/>
              <a:t>are </a:t>
            </a:r>
            <a:r>
              <a:rPr lang="en-GB" u="sng" dirty="0"/>
              <a:t>almost always dysfunctional</a:t>
            </a:r>
            <a:r>
              <a:rPr lang="en-GB" dirty="0"/>
              <a:t>. </a:t>
            </a:r>
            <a:r>
              <a:rPr lang="en-GB" dirty="0" smtClean="0"/>
              <a:t>Because </a:t>
            </a:r>
            <a:r>
              <a:rPr lang="en-GB" dirty="0"/>
              <a:t>the friction and interpersonal hostilities inherent in relationship conflicts increase </a:t>
            </a:r>
            <a:r>
              <a:rPr lang="en-GB" u="sng" dirty="0"/>
              <a:t>personality clashes </a:t>
            </a:r>
            <a:r>
              <a:rPr lang="en-GB" dirty="0"/>
              <a:t>and decrease mutual understanding, thereby hindering the completion of organizational tasks </a:t>
            </a:r>
            <a:endParaRPr lang="en-GB" dirty="0" smtClean="0"/>
          </a:p>
          <a:p>
            <a:r>
              <a:rPr lang="en-GB" b="1" dirty="0" smtClean="0"/>
              <a:t>Process </a:t>
            </a:r>
            <a:r>
              <a:rPr lang="en-GB" b="1" dirty="0"/>
              <a:t>conflict </a:t>
            </a:r>
            <a:r>
              <a:rPr lang="en-GB" dirty="0"/>
              <a:t>refers to how the work gets done. </a:t>
            </a:r>
            <a:endParaRPr lang="en-GB" dirty="0" smtClean="0"/>
          </a:p>
          <a:p>
            <a:r>
              <a:rPr lang="en-GB" u="sng" dirty="0"/>
              <a:t>L</a:t>
            </a:r>
            <a:r>
              <a:rPr lang="en-GB" u="sng" dirty="0" smtClean="0"/>
              <a:t>ow </a:t>
            </a:r>
            <a:r>
              <a:rPr lang="en-GB" u="sng" dirty="0"/>
              <a:t>levels of process conflict</a:t>
            </a:r>
            <a:r>
              <a:rPr lang="en-GB" dirty="0"/>
              <a:t> and </a:t>
            </a:r>
            <a:r>
              <a:rPr lang="en-GB" u="sng" dirty="0" smtClean="0"/>
              <a:t>Low </a:t>
            </a:r>
            <a:r>
              <a:rPr lang="en-GB" u="sng" dirty="0"/>
              <a:t>to moderate levels of task conflict</a:t>
            </a:r>
            <a:r>
              <a:rPr lang="en-GB" dirty="0"/>
              <a:t> are </a:t>
            </a:r>
            <a:r>
              <a:rPr lang="en-GB" b="1" dirty="0"/>
              <a:t>functional </a:t>
            </a:r>
            <a:endParaRPr lang="en-IN" b="1" dirty="0"/>
          </a:p>
          <a:p>
            <a:endParaRPr lang="en-IN" dirty="0"/>
          </a:p>
        </p:txBody>
      </p:sp>
    </p:spTree>
    <p:extLst>
      <p:ext uri="{BB962C8B-B14F-4D97-AF65-F5344CB8AC3E}">
        <p14:creationId xmlns:p14="http://schemas.microsoft.com/office/powerpoint/2010/main" val="3703971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Conflict-resolution options</a:t>
            </a:r>
            <a:endParaRPr lang="en-IN" dirty="0"/>
          </a:p>
        </p:txBody>
      </p:sp>
      <p:pic>
        <p:nvPicPr>
          <p:cNvPr id="2051"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524000"/>
            <a:ext cx="79248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6522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IN" b="1" dirty="0"/>
              <a:t>Group Decision </a:t>
            </a:r>
            <a:r>
              <a:rPr lang="en-IN" b="1" dirty="0" smtClean="0"/>
              <a:t>Making-Advantages</a:t>
            </a:r>
            <a:endParaRPr lang="en-IN" dirty="0"/>
          </a:p>
        </p:txBody>
      </p:sp>
      <p:sp>
        <p:nvSpPr>
          <p:cNvPr id="3" name="Content Placeholder 2"/>
          <p:cNvSpPr>
            <a:spLocks noGrp="1"/>
          </p:cNvSpPr>
          <p:nvPr>
            <p:ph idx="1"/>
          </p:nvPr>
        </p:nvSpPr>
        <p:spPr>
          <a:xfrm>
            <a:off x="457200" y="838200"/>
            <a:ext cx="8229600" cy="5638800"/>
          </a:xfrm>
        </p:spPr>
        <p:txBody>
          <a:bodyPr>
            <a:normAutofit fontScale="70000" lnSpcReduction="20000"/>
          </a:bodyPr>
          <a:lstStyle/>
          <a:p>
            <a:endParaRPr lang="en-IN" dirty="0"/>
          </a:p>
          <a:p>
            <a:r>
              <a:rPr lang="en-GB" i="1" dirty="0"/>
              <a:t>Provide more complete information</a:t>
            </a:r>
            <a:r>
              <a:rPr lang="en-GB" dirty="0"/>
              <a:t>. </a:t>
            </a:r>
            <a:r>
              <a:rPr lang="en-GB" dirty="0" smtClean="0"/>
              <a:t>A </a:t>
            </a:r>
            <a:r>
              <a:rPr lang="en-GB" dirty="0"/>
              <a:t>group brings </a:t>
            </a:r>
            <a:r>
              <a:rPr lang="en-GB" u="sng" dirty="0"/>
              <a:t>a diversity of experience and perspectives to the decision process</a:t>
            </a:r>
            <a:r>
              <a:rPr lang="en-GB" dirty="0"/>
              <a:t> that an individual cannot.</a:t>
            </a:r>
          </a:p>
          <a:p>
            <a:r>
              <a:rPr lang="en-GB" i="1" dirty="0"/>
              <a:t>Generate more alternatives</a:t>
            </a:r>
            <a:r>
              <a:rPr lang="en-GB" dirty="0"/>
              <a:t>. Because groups have a greater amount and diversity of information, they can </a:t>
            </a:r>
            <a:r>
              <a:rPr lang="en-GB" u="sng" dirty="0"/>
              <a:t>identify more alternatives than an individua</a:t>
            </a:r>
            <a:r>
              <a:rPr lang="en-GB" dirty="0"/>
              <a:t>l. This advantage is particularly evident when group members represent different areas of expertise. For instance, a team made up of individuals from engineering, accounting, production, marketing, and human resources will generate alternatives that reflect their diverse perspectives.</a:t>
            </a:r>
          </a:p>
          <a:p>
            <a:r>
              <a:rPr lang="en-GB" i="1" dirty="0"/>
              <a:t>Increase acceptance of a solution</a:t>
            </a:r>
            <a:r>
              <a:rPr lang="en-GB" dirty="0"/>
              <a:t>. </a:t>
            </a:r>
            <a:r>
              <a:rPr lang="en-GB" dirty="0" smtClean="0"/>
              <a:t>Group </a:t>
            </a:r>
            <a:r>
              <a:rPr lang="en-GB" dirty="0"/>
              <a:t>members are reluctant to fight or undermine a decision they have helped develop.</a:t>
            </a:r>
          </a:p>
          <a:p>
            <a:r>
              <a:rPr lang="en-GB" i="1" dirty="0"/>
              <a:t>Increase legitimacy</a:t>
            </a:r>
            <a:r>
              <a:rPr lang="en-GB" dirty="0"/>
              <a:t>. The group decision-making process is </a:t>
            </a:r>
            <a:r>
              <a:rPr lang="en-GB" u="sng" dirty="0"/>
              <a:t>consistent with democratic ideals</a:t>
            </a:r>
            <a:r>
              <a:rPr lang="en-GB" dirty="0"/>
              <a:t>, and decisions made by groups may be perceived as more legitimate than decisions made unilaterally by one person</a:t>
            </a:r>
            <a:r>
              <a:rPr lang="en-GB" dirty="0" smtClean="0"/>
              <a:t>.</a:t>
            </a:r>
            <a:endParaRPr lang="en-GB" dirty="0"/>
          </a:p>
        </p:txBody>
      </p:sp>
    </p:spTree>
    <p:extLst>
      <p:ext uri="{BB962C8B-B14F-4D97-AF65-F5344CB8AC3E}">
        <p14:creationId xmlns:p14="http://schemas.microsoft.com/office/powerpoint/2010/main" val="1162731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GB" dirty="0" smtClean="0"/>
              <a:t>Group decision making-Disadvantages</a:t>
            </a:r>
            <a:endParaRPr lang="en-IN" dirty="0"/>
          </a:p>
        </p:txBody>
      </p:sp>
      <p:sp>
        <p:nvSpPr>
          <p:cNvPr id="3" name="Content Placeholder 2"/>
          <p:cNvSpPr>
            <a:spLocks noGrp="1"/>
          </p:cNvSpPr>
          <p:nvPr>
            <p:ph idx="1"/>
          </p:nvPr>
        </p:nvSpPr>
        <p:spPr>
          <a:xfrm>
            <a:off x="457200" y="1066800"/>
            <a:ext cx="8229600" cy="5410200"/>
          </a:xfrm>
        </p:spPr>
        <p:txBody>
          <a:bodyPr>
            <a:normAutofit fontScale="62500" lnSpcReduction="20000"/>
          </a:bodyPr>
          <a:lstStyle/>
          <a:p>
            <a:endParaRPr lang="en-IN" dirty="0"/>
          </a:p>
          <a:p>
            <a:r>
              <a:rPr lang="en-GB" i="1" dirty="0"/>
              <a:t>Time consuming</a:t>
            </a:r>
            <a:r>
              <a:rPr lang="en-GB" dirty="0"/>
              <a:t>. </a:t>
            </a:r>
            <a:r>
              <a:rPr lang="en-GB" dirty="0" smtClean="0"/>
              <a:t>Groups </a:t>
            </a:r>
            <a:r>
              <a:rPr lang="en-GB" dirty="0"/>
              <a:t>almost always </a:t>
            </a:r>
            <a:r>
              <a:rPr lang="en-GB" u="sng" dirty="0"/>
              <a:t>take more time to reach a solution </a:t>
            </a:r>
            <a:r>
              <a:rPr lang="en-GB" dirty="0"/>
              <a:t>than it would take an individual.</a:t>
            </a:r>
          </a:p>
          <a:p>
            <a:r>
              <a:rPr lang="en-GB" i="1" dirty="0"/>
              <a:t>Minority domination</a:t>
            </a:r>
            <a:r>
              <a:rPr lang="en-GB" dirty="0"/>
              <a:t>. Members of a group are never perfectly equal. They may differ in organizational rank, experience, knowledge about the problem, influence with other members, verbal skills, assertiveness, and so forth. This inequality creates the opportunity for one or more members to dominate others. A dominant and vocal minority frequently can have an excessive influence on the final decision.</a:t>
            </a:r>
          </a:p>
          <a:p>
            <a:r>
              <a:rPr lang="en-GB" i="1" dirty="0"/>
              <a:t>Pressures to conform</a:t>
            </a:r>
            <a:r>
              <a:rPr lang="en-GB" dirty="0"/>
              <a:t>. </a:t>
            </a:r>
            <a:r>
              <a:rPr lang="en-GB" dirty="0" smtClean="0"/>
              <a:t>There </a:t>
            </a:r>
            <a:r>
              <a:rPr lang="en-GB" dirty="0"/>
              <a:t>are pressures to conform in groups. This can lead to a phenomenon known as </a:t>
            </a:r>
            <a:r>
              <a:rPr lang="en-GB" u="sng" dirty="0"/>
              <a:t>groupthink</a:t>
            </a:r>
            <a:r>
              <a:rPr lang="en-GB" dirty="0"/>
              <a:t>, which is a type of conformity in which group members withhold different or unpopular views in order to give the appearance of agreement. Groupthink undermines critical thinking in the group and eventually harms the quality of the final </a:t>
            </a:r>
            <a:r>
              <a:rPr lang="en-GB" dirty="0" smtClean="0"/>
              <a:t>decision.</a:t>
            </a:r>
            <a:endParaRPr lang="en-GB" dirty="0"/>
          </a:p>
          <a:p>
            <a:r>
              <a:rPr lang="en-GB" i="1" dirty="0"/>
              <a:t>Ambiguous responsibility</a:t>
            </a:r>
            <a:r>
              <a:rPr lang="en-GB" dirty="0"/>
              <a:t>. Group members share responsibility, but who is actually responsible for the final outcome? In an individual decision, it's clear who is responsible. In a group decision, the responsibility of any single member is diluted</a:t>
            </a:r>
            <a:r>
              <a:rPr lang="en-GB" dirty="0" smtClean="0"/>
              <a:t>.</a:t>
            </a:r>
            <a:endParaRPr lang="en-GB" dirty="0"/>
          </a:p>
        </p:txBody>
      </p:sp>
    </p:spTree>
    <p:extLst>
      <p:ext uri="{BB962C8B-B14F-4D97-AF65-F5344CB8AC3E}">
        <p14:creationId xmlns:p14="http://schemas.microsoft.com/office/powerpoint/2010/main" val="107410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Techniques for more creative group decision-making</a:t>
            </a:r>
            <a:endParaRPr lang="en-IN" dirty="0"/>
          </a:p>
        </p:txBody>
      </p:sp>
      <p:sp>
        <p:nvSpPr>
          <p:cNvPr id="3" name="Content Placeholder 2"/>
          <p:cNvSpPr>
            <a:spLocks noGrp="1"/>
          </p:cNvSpPr>
          <p:nvPr>
            <p:ph idx="1"/>
          </p:nvPr>
        </p:nvSpPr>
        <p:spPr/>
        <p:txBody>
          <a:bodyPr>
            <a:normAutofit fontScale="77500" lnSpcReduction="20000"/>
          </a:bodyPr>
          <a:lstStyle/>
          <a:p>
            <a:r>
              <a:rPr lang="en-GB" b="1" dirty="0"/>
              <a:t>Electronic meetings: </a:t>
            </a:r>
            <a:r>
              <a:rPr lang="en-GB" dirty="0"/>
              <a:t>Decision-making groups that interact by using linked computers</a:t>
            </a:r>
          </a:p>
          <a:p>
            <a:endParaRPr lang="en-GB" dirty="0"/>
          </a:p>
          <a:p>
            <a:r>
              <a:rPr lang="en-GB" b="1" dirty="0"/>
              <a:t>Brainstorming: </a:t>
            </a:r>
            <a:r>
              <a:rPr lang="en-GB" dirty="0"/>
              <a:t>An idea-generating process encourages alternatives while withholding criticism</a:t>
            </a:r>
          </a:p>
          <a:p>
            <a:endParaRPr lang="en-GB" dirty="0"/>
          </a:p>
          <a:p>
            <a:r>
              <a:rPr lang="en-GB" b="1" dirty="0"/>
              <a:t>Nominal Group Technique (NGT): </a:t>
            </a:r>
            <a:r>
              <a:rPr lang="en-GB" dirty="0"/>
              <a:t>A group decision-making technique in which group members are presented with a problem; each member independently writes his or her ideas on the problem; and then each member presents one idea to the group until all ideas have been presented. No discussion takes place until all ideas have been presented</a:t>
            </a:r>
            <a:r>
              <a:rPr lang="en-GB" dirty="0" smtClean="0"/>
              <a:t>.</a:t>
            </a:r>
            <a:endParaRPr lang="en-GB" dirty="0"/>
          </a:p>
        </p:txBody>
      </p:sp>
    </p:spTree>
    <p:extLst>
      <p:ext uri="{BB962C8B-B14F-4D97-AF65-F5344CB8AC3E}">
        <p14:creationId xmlns:p14="http://schemas.microsoft.com/office/powerpoint/2010/main" val="3196939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Determinants of work group </a:t>
            </a:r>
            <a:r>
              <a:rPr lang="en-GB" dirty="0" err="1" smtClean="0"/>
              <a:t>behavior</a:t>
            </a:r>
            <a:endParaRPr lang="en-IN" dirty="0"/>
          </a:p>
        </p:txBody>
      </p:sp>
      <p:sp>
        <p:nvSpPr>
          <p:cNvPr id="3" name="Content Placeholder 2"/>
          <p:cNvSpPr>
            <a:spLocks noGrp="1"/>
          </p:cNvSpPr>
          <p:nvPr>
            <p:ph idx="1"/>
          </p:nvPr>
        </p:nvSpPr>
        <p:spPr/>
        <p:txBody>
          <a:bodyPr>
            <a:normAutofit fontScale="92500" lnSpcReduction="10000"/>
          </a:bodyPr>
          <a:lstStyle/>
          <a:p>
            <a:r>
              <a:rPr lang="en-GB" b="1" dirty="0"/>
              <a:t>External Conditions Imposed on the </a:t>
            </a:r>
            <a:r>
              <a:rPr lang="en-GB" b="1" dirty="0" smtClean="0"/>
              <a:t>Group: </a:t>
            </a:r>
            <a:r>
              <a:rPr lang="en-GB" dirty="0"/>
              <a:t>include the organization's overall strategy, authority structures, formal regulations, availability or absence of organizational resources, employee selection criteria, the organization's performance management system, the organization's culture, and the general physical layout of the group's work space</a:t>
            </a:r>
          </a:p>
          <a:p>
            <a:r>
              <a:rPr lang="en-IN" b="1" dirty="0"/>
              <a:t>Group Member </a:t>
            </a:r>
            <a:r>
              <a:rPr lang="en-IN" b="1" dirty="0" smtClean="0"/>
              <a:t>Resources: </a:t>
            </a:r>
            <a:r>
              <a:rPr lang="en-GB" dirty="0"/>
              <a:t>include members' abilities and personality </a:t>
            </a:r>
            <a:r>
              <a:rPr lang="en-GB" dirty="0" smtClean="0"/>
              <a:t>characteristics</a:t>
            </a:r>
            <a:endParaRPr lang="en-GB" dirty="0"/>
          </a:p>
          <a:p>
            <a:endParaRPr lang="en-IN" dirty="0"/>
          </a:p>
        </p:txBody>
      </p:sp>
    </p:spTree>
    <p:extLst>
      <p:ext uri="{BB962C8B-B14F-4D97-AF65-F5344CB8AC3E}">
        <p14:creationId xmlns:p14="http://schemas.microsoft.com/office/powerpoint/2010/main" val="24776380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r>
              <a:rPr lang="en-IN" b="1" dirty="0"/>
              <a:t>Group </a:t>
            </a:r>
            <a:r>
              <a:rPr lang="en-IN" b="1" dirty="0" smtClean="0"/>
              <a:t>Structure: </a:t>
            </a:r>
            <a:r>
              <a:rPr lang="en-GB" dirty="0"/>
              <a:t>include roles, norms, status, group size, and leadership. </a:t>
            </a:r>
          </a:p>
          <a:p>
            <a:r>
              <a:rPr lang="en-IN" b="1" dirty="0"/>
              <a:t>Group </a:t>
            </a:r>
            <a:r>
              <a:rPr lang="en-IN" b="1" dirty="0" smtClean="0"/>
              <a:t>Processes</a:t>
            </a:r>
            <a:r>
              <a:rPr lang="en-IN" dirty="0" smtClean="0"/>
              <a:t>: include </a:t>
            </a:r>
            <a:r>
              <a:rPr lang="en-GB" dirty="0" smtClean="0"/>
              <a:t>the </a:t>
            </a:r>
            <a:r>
              <a:rPr lang="en-GB" dirty="0"/>
              <a:t>communication patterns used by members to exchange information, group decision processes, leader </a:t>
            </a:r>
            <a:r>
              <a:rPr lang="en-GB" dirty="0" err="1"/>
              <a:t>behavior</a:t>
            </a:r>
            <a:r>
              <a:rPr lang="en-GB" dirty="0"/>
              <a:t>, power dynamics, conflict interactions, and the like </a:t>
            </a:r>
          </a:p>
          <a:p>
            <a:r>
              <a:rPr lang="en-IN" b="1" dirty="0"/>
              <a:t>Group </a:t>
            </a:r>
            <a:r>
              <a:rPr lang="en-IN" b="1" dirty="0" smtClean="0"/>
              <a:t>Tasks</a:t>
            </a:r>
            <a:r>
              <a:rPr lang="en-IN" dirty="0" smtClean="0"/>
              <a:t>: </a:t>
            </a:r>
            <a:r>
              <a:rPr lang="en-GB" dirty="0"/>
              <a:t>Tasks can be generalized as being either simple or complex. </a:t>
            </a:r>
            <a:r>
              <a:rPr lang="en-GB" u="sng" dirty="0"/>
              <a:t>Simple tasks </a:t>
            </a:r>
            <a:r>
              <a:rPr lang="en-GB" dirty="0"/>
              <a:t>are routine and standardized. </a:t>
            </a:r>
            <a:r>
              <a:rPr lang="en-GB" u="sng" dirty="0"/>
              <a:t>Complex tasks </a:t>
            </a:r>
            <a:r>
              <a:rPr lang="en-GB" dirty="0"/>
              <a:t>are ones that tend to be novel or </a:t>
            </a:r>
            <a:r>
              <a:rPr lang="en-GB" dirty="0" err="1"/>
              <a:t>nonroutine</a:t>
            </a:r>
            <a:r>
              <a:rPr lang="en-GB" dirty="0"/>
              <a:t>. </a:t>
            </a:r>
            <a:endParaRPr lang="en-IN" dirty="0"/>
          </a:p>
          <a:p>
            <a:endParaRPr lang="en-IN" dirty="0"/>
          </a:p>
        </p:txBody>
      </p:sp>
    </p:spTree>
    <p:extLst>
      <p:ext uri="{BB962C8B-B14F-4D97-AF65-F5344CB8AC3E}">
        <p14:creationId xmlns:p14="http://schemas.microsoft.com/office/powerpoint/2010/main" val="4186822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What Is a Team</a:t>
            </a:r>
            <a:r>
              <a:rPr lang="en-IN" b="1" dirty="0" smtClean="0"/>
              <a:t>?</a:t>
            </a:r>
            <a:endParaRPr lang="en-IN" dirty="0"/>
          </a:p>
        </p:txBody>
      </p:sp>
      <p:sp>
        <p:nvSpPr>
          <p:cNvPr id="3" name="Content Placeholder 2"/>
          <p:cNvSpPr>
            <a:spLocks noGrp="1"/>
          </p:cNvSpPr>
          <p:nvPr>
            <p:ph idx="1"/>
          </p:nvPr>
        </p:nvSpPr>
        <p:spPr>
          <a:xfrm>
            <a:off x="457200" y="2895600"/>
            <a:ext cx="8229600" cy="3230563"/>
          </a:xfrm>
        </p:spPr>
        <p:txBody>
          <a:bodyPr/>
          <a:lstStyle/>
          <a:p>
            <a:pPr marL="0" indent="0" algn="ctr">
              <a:buNone/>
            </a:pPr>
            <a:r>
              <a:rPr lang="en-GB" dirty="0"/>
              <a:t>They are </a:t>
            </a:r>
            <a:r>
              <a:rPr lang="en-GB" u="sng" dirty="0"/>
              <a:t>formal groups </a:t>
            </a:r>
            <a:r>
              <a:rPr lang="en-GB" dirty="0"/>
              <a:t>made up of </a:t>
            </a:r>
            <a:r>
              <a:rPr lang="en-GB" u="sng" dirty="0"/>
              <a:t>interdependent individuals </a:t>
            </a:r>
            <a:r>
              <a:rPr lang="en-GB" dirty="0"/>
              <a:t>who are responsible for the </a:t>
            </a:r>
            <a:r>
              <a:rPr lang="en-GB" u="sng" dirty="0"/>
              <a:t>attainment of a </a:t>
            </a:r>
            <a:r>
              <a:rPr lang="en-GB" u="sng" dirty="0" smtClean="0"/>
              <a:t>goal</a:t>
            </a:r>
            <a:endParaRPr lang="en-GB" u="sng" dirty="0"/>
          </a:p>
        </p:txBody>
      </p:sp>
    </p:spTree>
    <p:extLst>
      <p:ext uri="{BB962C8B-B14F-4D97-AF65-F5344CB8AC3E}">
        <p14:creationId xmlns:p14="http://schemas.microsoft.com/office/powerpoint/2010/main" val="961953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Categories of Teams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50449254"/>
              </p:ext>
            </p:extLst>
          </p:nvPr>
        </p:nvGraphicFramePr>
        <p:xfrm>
          <a:off x="381000" y="1676400"/>
          <a:ext cx="8229600" cy="3810001"/>
        </p:xfrm>
        <a:graphic>
          <a:graphicData uri="http://schemas.openxmlformats.org/drawingml/2006/table">
            <a:tbl>
              <a:tblPr firstRow="1" bandRow="1">
                <a:tableStyleId>{5C22544A-7EE6-4342-B048-85BDC9FD1C3A}</a:tableStyleId>
              </a:tblPr>
              <a:tblGrid>
                <a:gridCol w="4114800"/>
                <a:gridCol w="4114800"/>
              </a:tblGrid>
              <a:tr h="1920241">
                <a:tc>
                  <a:txBody>
                    <a:bodyPr/>
                    <a:lstStyle/>
                    <a:p>
                      <a:r>
                        <a:rPr lang="en-GB" dirty="0" smtClean="0"/>
                        <a:t>Purpose</a:t>
                      </a:r>
                    </a:p>
                    <a:p>
                      <a:r>
                        <a:rPr lang="en-GB" b="0" dirty="0" smtClean="0"/>
                        <a:t>Product Development</a:t>
                      </a:r>
                    </a:p>
                    <a:p>
                      <a:r>
                        <a:rPr lang="en-GB" b="0" dirty="0" smtClean="0"/>
                        <a:t>Problem solving</a:t>
                      </a:r>
                    </a:p>
                    <a:p>
                      <a:r>
                        <a:rPr lang="en-GB" b="0" dirty="0" smtClean="0"/>
                        <a:t>Reengineering</a:t>
                      </a:r>
                    </a:p>
                    <a:p>
                      <a:r>
                        <a:rPr lang="en-GB" b="0" dirty="0" smtClean="0"/>
                        <a:t>Any other organizational purposes desired</a:t>
                      </a:r>
                      <a:endParaRPr lang="en-IN" b="0" dirty="0"/>
                    </a:p>
                  </a:txBody>
                  <a:tcPr/>
                </a:tc>
                <a:tc>
                  <a:txBody>
                    <a:bodyPr/>
                    <a:lstStyle/>
                    <a:p>
                      <a:r>
                        <a:rPr lang="en-GB" dirty="0" smtClean="0"/>
                        <a:t>Structure</a:t>
                      </a:r>
                    </a:p>
                    <a:p>
                      <a:r>
                        <a:rPr lang="en-GB" b="0" dirty="0" smtClean="0"/>
                        <a:t>Supervised</a:t>
                      </a:r>
                    </a:p>
                    <a:p>
                      <a:r>
                        <a:rPr lang="en-GB" b="0" dirty="0" smtClean="0"/>
                        <a:t>Self-managed</a:t>
                      </a:r>
                      <a:endParaRPr lang="en-IN" b="0" dirty="0"/>
                    </a:p>
                  </a:txBody>
                  <a:tcPr/>
                </a:tc>
              </a:tr>
              <a:tr h="1889760">
                <a:tc>
                  <a:txBody>
                    <a:bodyPr/>
                    <a:lstStyle/>
                    <a:p>
                      <a:r>
                        <a:rPr lang="en-GB" b="1" dirty="0" smtClean="0"/>
                        <a:t>Membership</a:t>
                      </a:r>
                    </a:p>
                    <a:p>
                      <a:r>
                        <a:rPr lang="en-GB" dirty="0" smtClean="0"/>
                        <a:t>Functional</a:t>
                      </a:r>
                    </a:p>
                    <a:p>
                      <a:r>
                        <a:rPr lang="en-GB" dirty="0" smtClean="0"/>
                        <a:t>Cross-functional</a:t>
                      </a:r>
                      <a:endParaRPr lang="en-IN" dirty="0"/>
                    </a:p>
                  </a:txBody>
                  <a:tcPr/>
                </a:tc>
                <a:tc>
                  <a:txBody>
                    <a:bodyPr/>
                    <a:lstStyle/>
                    <a:p>
                      <a:r>
                        <a:rPr lang="en-GB" b="1" dirty="0" smtClean="0"/>
                        <a:t>Duration</a:t>
                      </a:r>
                    </a:p>
                    <a:p>
                      <a:r>
                        <a:rPr lang="en-GB" dirty="0" smtClean="0"/>
                        <a:t>Permanent</a:t>
                      </a:r>
                    </a:p>
                    <a:p>
                      <a:r>
                        <a:rPr lang="en-GB" dirty="0" smtClean="0"/>
                        <a:t>Temporary</a:t>
                      </a:r>
                      <a:endParaRPr lang="en-IN" dirty="0"/>
                    </a:p>
                  </a:txBody>
                  <a:tcPr/>
                </a:tc>
              </a:tr>
            </a:tbl>
          </a:graphicData>
        </a:graphic>
      </p:graphicFrame>
    </p:spTree>
    <p:extLst>
      <p:ext uri="{BB962C8B-B14F-4D97-AF65-F5344CB8AC3E}">
        <p14:creationId xmlns:p14="http://schemas.microsoft.com/office/powerpoint/2010/main" val="10902058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Types of Teams</a:t>
            </a:r>
            <a:endParaRPr lang="en-IN" dirty="0"/>
          </a:p>
        </p:txBody>
      </p:sp>
      <p:sp>
        <p:nvSpPr>
          <p:cNvPr id="3" name="Content Placeholder 2"/>
          <p:cNvSpPr>
            <a:spLocks noGrp="1"/>
          </p:cNvSpPr>
          <p:nvPr>
            <p:ph idx="1"/>
          </p:nvPr>
        </p:nvSpPr>
        <p:spPr/>
        <p:txBody>
          <a:bodyPr>
            <a:normAutofit/>
          </a:bodyPr>
          <a:lstStyle/>
          <a:p>
            <a:r>
              <a:rPr lang="en-GB" b="1" dirty="0" smtClean="0"/>
              <a:t>Permanent teams: </a:t>
            </a:r>
            <a:r>
              <a:rPr lang="en-GB" dirty="0" smtClean="0"/>
              <a:t>Departmental </a:t>
            </a:r>
            <a:r>
              <a:rPr lang="en-GB" dirty="0"/>
              <a:t>teams and others that are part of the organization's formal structure </a:t>
            </a:r>
            <a:endParaRPr lang="en-GB" dirty="0" smtClean="0"/>
          </a:p>
          <a:p>
            <a:pPr marL="0" indent="0">
              <a:buNone/>
            </a:pPr>
            <a:endParaRPr lang="en-GB" dirty="0" smtClean="0"/>
          </a:p>
          <a:p>
            <a:r>
              <a:rPr lang="en-GB" b="1" dirty="0" smtClean="0"/>
              <a:t>Temporary teams: </a:t>
            </a:r>
            <a:r>
              <a:rPr lang="en-GB" dirty="0"/>
              <a:t>include task forces, project teams, problem-solving teams, and any other type of short-term team formed to develop, </a:t>
            </a:r>
            <a:r>
              <a:rPr lang="en-GB" dirty="0" err="1"/>
              <a:t>analyze</a:t>
            </a:r>
            <a:r>
              <a:rPr lang="en-GB" dirty="0"/>
              <a:t>, or study a work-related </a:t>
            </a:r>
            <a:r>
              <a:rPr lang="en-GB" dirty="0" smtClean="0"/>
              <a:t>issue</a:t>
            </a:r>
            <a:endParaRPr lang="en-IN" dirty="0"/>
          </a:p>
          <a:p>
            <a:endParaRPr lang="en-IN" dirty="0"/>
          </a:p>
        </p:txBody>
      </p:sp>
    </p:spTree>
    <p:extLst>
      <p:ext uri="{BB962C8B-B14F-4D97-AF65-F5344CB8AC3E}">
        <p14:creationId xmlns:p14="http://schemas.microsoft.com/office/powerpoint/2010/main" val="866738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20000"/>
          </a:bodyPr>
          <a:lstStyle/>
          <a:p>
            <a:r>
              <a:rPr lang="en-GB" u="sng" dirty="0" smtClean="0"/>
              <a:t>Functional teams: </a:t>
            </a:r>
            <a:r>
              <a:rPr lang="en-GB" dirty="0"/>
              <a:t>A departmental team is functional because its members come from a specific functional area. </a:t>
            </a:r>
            <a:endParaRPr lang="en-GB" dirty="0" smtClean="0"/>
          </a:p>
          <a:p>
            <a:r>
              <a:rPr lang="en-GB" u="sng" dirty="0" smtClean="0"/>
              <a:t>Cross-functional teams: </a:t>
            </a:r>
            <a:r>
              <a:rPr lang="en-GB" dirty="0" smtClean="0"/>
              <a:t>are </a:t>
            </a:r>
            <a:r>
              <a:rPr lang="en-GB" dirty="0"/>
              <a:t>a way to foster innovation, cooperation, and commitment.</a:t>
            </a:r>
          </a:p>
          <a:p>
            <a:r>
              <a:rPr lang="en-IN" u="sng" dirty="0" smtClean="0"/>
              <a:t>Supervised teams: </a:t>
            </a:r>
            <a:r>
              <a:rPr lang="en-GB" dirty="0"/>
              <a:t>will be under the direction of a manager who is responsible for guiding the team in setting goals, performing the work activities, and evaluating performance. </a:t>
            </a:r>
            <a:endParaRPr lang="en-GB" dirty="0" smtClean="0"/>
          </a:p>
          <a:p>
            <a:r>
              <a:rPr lang="en-GB" u="sng" dirty="0" smtClean="0"/>
              <a:t>Self-managed team: </a:t>
            </a:r>
            <a:r>
              <a:rPr lang="en-GB" dirty="0"/>
              <a:t>assumes the responsibilities of managing itself</a:t>
            </a:r>
            <a:r>
              <a:rPr lang="en-GB" dirty="0" smtClean="0"/>
              <a:t>.</a:t>
            </a:r>
            <a:r>
              <a:rPr lang="en-IN" dirty="0" smtClean="0"/>
              <a:t> </a:t>
            </a:r>
          </a:p>
          <a:p>
            <a:r>
              <a:rPr lang="en-GB" u="sng" dirty="0"/>
              <a:t>Virtual </a:t>
            </a:r>
            <a:r>
              <a:rPr lang="en-GB" u="sng" dirty="0" smtClean="0"/>
              <a:t>teams: </a:t>
            </a:r>
            <a:r>
              <a:rPr lang="en-GB" dirty="0"/>
              <a:t>are teams that use computer technology to link physically dispersed members in order to achieve a common goal </a:t>
            </a:r>
            <a:r>
              <a:rPr lang="en-IN" dirty="0" smtClean="0"/>
              <a:t> </a:t>
            </a:r>
            <a:endParaRPr lang="en-IN" dirty="0"/>
          </a:p>
          <a:p>
            <a:endParaRPr lang="en-IN" dirty="0"/>
          </a:p>
        </p:txBody>
      </p:sp>
    </p:spTree>
    <p:extLst>
      <p:ext uri="{BB962C8B-B14F-4D97-AF65-F5344CB8AC3E}">
        <p14:creationId xmlns:p14="http://schemas.microsoft.com/office/powerpoint/2010/main" val="41697151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GB" dirty="0" smtClean="0"/>
              <a:t>Characteristics of effective teams</a:t>
            </a:r>
            <a:endParaRPr lang="en-IN" dirty="0"/>
          </a:p>
        </p:txBody>
      </p:sp>
      <p:sp>
        <p:nvSpPr>
          <p:cNvPr id="3" name="Content Placeholder 2"/>
          <p:cNvSpPr>
            <a:spLocks noGrp="1"/>
          </p:cNvSpPr>
          <p:nvPr>
            <p:ph idx="1"/>
          </p:nvPr>
        </p:nvSpPr>
        <p:spPr>
          <a:xfrm>
            <a:off x="457200" y="990600"/>
            <a:ext cx="8229600" cy="5135563"/>
          </a:xfrm>
        </p:spPr>
        <p:txBody>
          <a:bodyPr>
            <a:normAutofit lnSpcReduction="10000"/>
          </a:bodyPr>
          <a:lstStyle/>
          <a:p>
            <a:r>
              <a:rPr lang="en-GB" b="1" dirty="0" smtClean="0"/>
              <a:t>Clear goals: </a:t>
            </a:r>
            <a:r>
              <a:rPr lang="en-GB" dirty="0"/>
              <a:t>High-performance teams have both a clear understanding of the goals to be achieved and a belief that the goals embody important results </a:t>
            </a:r>
          </a:p>
          <a:p>
            <a:r>
              <a:rPr lang="en-IN" b="1" dirty="0" smtClean="0"/>
              <a:t>Relevant skills: </a:t>
            </a:r>
            <a:r>
              <a:rPr lang="en-GB" dirty="0"/>
              <a:t>Effective teams are composed of competent individuals. They have the necessary technical and interpersonal skills to achieved the desired goals while working well together. </a:t>
            </a:r>
          </a:p>
          <a:p>
            <a:r>
              <a:rPr lang="en-GB" b="1" dirty="0" smtClean="0"/>
              <a:t>Mutual trust: </a:t>
            </a:r>
            <a:r>
              <a:rPr lang="en-GB" dirty="0"/>
              <a:t>members believe in the ability, character, and integrity of each other. </a:t>
            </a:r>
            <a:endParaRPr lang="en-IN" dirty="0"/>
          </a:p>
          <a:p>
            <a:endParaRPr lang="en-IN" dirty="0"/>
          </a:p>
        </p:txBody>
      </p:sp>
    </p:spTree>
    <p:extLst>
      <p:ext uri="{BB962C8B-B14F-4D97-AF65-F5344CB8AC3E}">
        <p14:creationId xmlns:p14="http://schemas.microsoft.com/office/powerpoint/2010/main" val="4289217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How to further trust among managers?</a:t>
            </a:r>
            <a:endParaRPr lang="en-IN" dirty="0"/>
          </a:p>
        </p:txBody>
      </p:sp>
      <p:sp>
        <p:nvSpPr>
          <p:cNvPr id="3" name="Content Placeholder 2"/>
          <p:cNvSpPr>
            <a:spLocks noGrp="1"/>
          </p:cNvSpPr>
          <p:nvPr>
            <p:ph idx="1"/>
          </p:nvPr>
        </p:nvSpPr>
        <p:spPr/>
        <p:txBody>
          <a:bodyPr>
            <a:normAutofit fontScale="70000" lnSpcReduction="20000"/>
          </a:bodyPr>
          <a:lstStyle/>
          <a:p>
            <a:endParaRPr lang="en-IN" dirty="0"/>
          </a:p>
          <a:p>
            <a:r>
              <a:rPr lang="en-GB" i="1" dirty="0"/>
              <a:t>Communicate</a:t>
            </a:r>
            <a:r>
              <a:rPr lang="en-GB" dirty="0"/>
              <a:t>. Keep team members and subordinates informed by explaining decisions and policies and providing accurate feedback. Be candid about your own problems and limitations.</a:t>
            </a:r>
          </a:p>
          <a:p>
            <a:r>
              <a:rPr lang="en-GB" i="1" dirty="0"/>
              <a:t>Be supportive</a:t>
            </a:r>
            <a:r>
              <a:rPr lang="en-GB" dirty="0"/>
              <a:t>. Be available and approachable. Encourage and support team members' ideas.</a:t>
            </a:r>
          </a:p>
          <a:p>
            <a:r>
              <a:rPr lang="en-GB" i="1" dirty="0"/>
              <a:t>Be respectful</a:t>
            </a:r>
            <a:r>
              <a:rPr lang="en-GB" dirty="0"/>
              <a:t>. Delegate real authority to team members and listen to their ideas.</a:t>
            </a:r>
          </a:p>
          <a:p>
            <a:r>
              <a:rPr lang="en-GB" i="1" dirty="0"/>
              <a:t>Be fair</a:t>
            </a:r>
            <a:r>
              <a:rPr lang="en-GB" dirty="0"/>
              <a:t>. Give credit where it's due, be objective and impartial in performance evaluations, and be generous with your praise.</a:t>
            </a:r>
          </a:p>
          <a:p>
            <a:r>
              <a:rPr lang="en-GB" i="1" dirty="0"/>
              <a:t>Be predictable</a:t>
            </a:r>
            <a:r>
              <a:rPr lang="en-GB" dirty="0"/>
              <a:t>. Be consistent in your daily affairs. Make good on your explicit and implied promises.</a:t>
            </a:r>
          </a:p>
          <a:p>
            <a:r>
              <a:rPr lang="en-GB" i="1" dirty="0"/>
              <a:t>Demonstrate competence</a:t>
            </a:r>
            <a:r>
              <a:rPr lang="en-GB" dirty="0"/>
              <a:t>. Develop the admiration and respect of team members by demonstrating technical and professional ability and good business sense</a:t>
            </a:r>
            <a:r>
              <a:rPr lang="en-GB" dirty="0" smtClean="0"/>
              <a:t>.</a:t>
            </a:r>
            <a:endParaRPr lang="en-GB" dirty="0"/>
          </a:p>
        </p:txBody>
      </p:sp>
    </p:spTree>
    <p:extLst>
      <p:ext uri="{BB962C8B-B14F-4D97-AF65-F5344CB8AC3E}">
        <p14:creationId xmlns:p14="http://schemas.microsoft.com/office/powerpoint/2010/main" val="3017310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20000"/>
          </a:bodyPr>
          <a:lstStyle/>
          <a:p>
            <a:r>
              <a:rPr lang="en-IN" b="1" dirty="0"/>
              <a:t>Unified </a:t>
            </a:r>
            <a:r>
              <a:rPr lang="en-IN" b="1" dirty="0" smtClean="0"/>
              <a:t>Commitment: </a:t>
            </a:r>
            <a:r>
              <a:rPr lang="en-GB" dirty="0" smtClean="0"/>
              <a:t>Members </a:t>
            </a:r>
            <a:r>
              <a:rPr lang="en-GB" dirty="0"/>
              <a:t>of an effective team exhibit intense loyalty and dedication to the team. They're willing to do whatever it takes to help their team succeed </a:t>
            </a:r>
          </a:p>
          <a:p>
            <a:r>
              <a:rPr lang="en-IN" b="1" dirty="0"/>
              <a:t>Good </a:t>
            </a:r>
            <a:r>
              <a:rPr lang="en-IN" b="1" dirty="0" smtClean="0"/>
              <a:t>Communication: </a:t>
            </a:r>
            <a:r>
              <a:rPr lang="en-GB" dirty="0" smtClean="0"/>
              <a:t>e </a:t>
            </a:r>
            <a:r>
              <a:rPr lang="en-GB" dirty="0"/>
              <a:t>teams are characterized by good communication. Members convey messages between each other in ways that are readily and clearly understood. This includes nonverbal as well as spoken messages </a:t>
            </a:r>
          </a:p>
          <a:p>
            <a:r>
              <a:rPr lang="en-IN" b="1" dirty="0"/>
              <a:t>Negotiating </a:t>
            </a:r>
            <a:r>
              <a:rPr lang="en-IN" b="1" dirty="0" smtClean="0"/>
              <a:t>Skills</a:t>
            </a:r>
            <a:r>
              <a:rPr lang="en-IN" dirty="0" smtClean="0"/>
              <a:t>: </a:t>
            </a:r>
            <a:r>
              <a:rPr lang="en-GB" dirty="0"/>
              <a:t>Effective teams, on the other hand, tend to be flexible and are continually making adjustments in who does what. This flexibility requires team members to possess negotiating skills. </a:t>
            </a:r>
            <a:endParaRPr lang="en-IN" dirty="0"/>
          </a:p>
          <a:p>
            <a:endParaRPr lang="en-IN" dirty="0"/>
          </a:p>
        </p:txBody>
      </p:sp>
    </p:spTree>
    <p:extLst>
      <p:ext uri="{BB962C8B-B14F-4D97-AF65-F5344CB8AC3E}">
        <p14:creationId xmlns:p14="http://schemas.microsoft.com/office/powerpoint/2010/main" val="2840616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4678363"/>
          </a:xfrm>
        </p:spPr>
        <p:txBody>
          <a:bodyPr>
            <a:normAutofit/>
          </a:bodyPr>
          <a:lstStyle/>
          <a:p>
            <a:pPr marL="0" indent="0">
              <a:buNone/>
            </a:pPr>
            <a:r>
              <a:rPr lang="en-IN" b="1" dirty="0"/>
              <a:t>Appropriate </a:t>
            </a:r>
            <a:r>
              <a:rPr lang="en-IN" b="1" dirty="0" smtClean="0"/>
              <a:t>Leadership: </a:t>
            </a:r>
            <a:r>
              <a:rPr lang="en-GB" dirty="0" smtClean="0"/>
              <a:t>Effective </a:t>
            </a:r>
            <a:r>
              <a:rPr lang="en-GB" dirty="0"/>
              <a:t>leaders can motivate a team to follow them through the most difficult situations. How? They help clarify goals. They demonstrate that change is possible by overcoming inertia. And they increase the self-confidence of team members, helping members to more fully realize their potential. </a:t>
            </a:r>
            <a:endParaRPr lang="en-IN" dirty="0"/>
          </a:p>
          <a:p>
            <a:endParaRPr lang="en-IN" dirty="0"/>
          </a:p>
        </p:txBody>
      </p:sp>
    </p:spTree>
    <p:extLst>
      <p:ext uri="{BB962C8B-B14F-4D97-AF65-F5344CB8AC3E}">
        <p14:creationId xmlns:p14="http://schemas.microsoft.com/office/powerpoint/2010/main" val="1257596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rmAutofit fontScale="92500" lnSpcReduction="10000"/>
          </a:bodyPr>
          <a:lstStyle/>
          <a:p>
            <a:r>
              <a:rPr lang="en-IN" b="1" dirty="0"/>
              <a:t>Internal and External </a:t>
            </a:r>
            <a:r>
              <a:rPr lang="en-IN" b="1" dirty="0" smtClean="0"/>
              <a:t>Support</a:t>
            </a:r>
            <a:r>
              <a:rPr lang="en-IN" dirty="0" smtClean="0"/>
              <a:t>: </a:t>
            </a:r>
            <a:r>
              <a:rPr lang="en-GB" dirty="0" smtClean="0"/>
              <a:t>The </a:t>
            </a:r>
            <a:r>
              <a:rPr lang="en-GB" dirty="0"/>
              <a:t>final condition necessary for an effective team is a </a:t>
            </a:r>
            <a:r>
              <a:rPr lang="en-GB" u="sng" dirty="0"/>
              <a:t>supportive climate</a:t>
            </a:r>
            <a:r>
              <a:rPr lang="en-GB" dirty="0"/>
              <a:t>. </a:t>
            </a:r>
            <a:r>
              <a:rPr lang="en-GB" u="sng" dirty="0"/>
              <a:t>Internally</a:t>
            </a:r>
            <a:r>
              <a:rPr lang="en-GB" dirty="0"/>
              <a:t>, the team should have a </a:t>
            </a:r>
            <a:r>
              <a:rPr lang="en-GB" i="1" dirty="0"/>
              <a:t>sound infrastructure</a:t>
            </a:r>
            <a:r>
              <a:rPr lang="en-GB" dirty="0"/>
              <a:t>. This includes proper training, a clear and reasonable measurement system that team members can use to evaluate their overall performance, an incentive program that recognizes and rewards team activities, and a supportive human resource </a:t>
            </a:r>
            <a:r>
              <a:rPr lang="en-GB" dirty="0" smtClean="0"/>
              <a:t>system.</a:t>
            </a:r>
          </a:p>
          <a:p>
            <a:r>
              <a:rPr lang="en-GB" dirty="0" smtClean="0"/>
              <a:t>The </a:t>
            </a:r>
            <a:r>
              <a:rPr lang="en-GB" dirty="0"/>
              <a:t>right infrastructure should support members and reinforce </a:t>
            </a:r>
            <a:r>
              <a:rPr lang="en-GB" dirty="0" err="1"/>
              <a:t>behaviors</a:t>
            </a:r>
            <a:r>
              <a:rPr lang="en-GB" dirty="0"/>
              <a:t> that lead to high levels of performance. </a:t>
            </a:r>
            <a:endParaRPr lang="en-GB" dirty="0" smtClean="0"/>
          </a:p>
          <a:p>
            <a:r>
              <a:rPr lang="en-GB" dirty="0" smtClean="0"/>
              <a:t>Externally</a:t>
            </a:r>
            <a:r>
              <a:rPr lang="en-GB" dirty="0"/>
              <a:t>, managers should provide the team with the resources needed to get the job done</a:t>
            </a:r>
            <a:r>
              <a:rPr lang="en-GB" dirty="0" smtClean="0"/>
              <a:t>.</a:t>
            </a:r>
            <a:endParaRPr lang="en-GB" dirty="0"/>
          </a:p>
        </p:txBody>
      </p:sp>
    </p:spTree>
    <p:extLst>
      <p:ext uri="{BB962C8B-B14F-4D97-AF65-F5344CB8AC3E}">
        <p14:creationId xmlns:p14="http://schemas.microsoft.com/office/powerpoint/2010/main" val="2965164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Managing Teams</a:t>
            </a:r>
            <a:endParaRPr lang="en-IN" dirty="0"/>
          </a:p>
        </p:txBody>
      </p:sp>
      <p:sp>
        <p:nvSpPr>
          <p:cNvPr id="3" name="Content Placeholder 2"/>
          <p:cNvSpPr>
            <a:spLocks noGrp="1"/>
          </p:cNvSpPr>
          <p:nvPr>
            <p:ph idx="1"/>
          </p:nvPr>
        </p:nvSpPr>
        <p:spPr/>
        <p:txBody>
          <a:bodyPr/>
          <a:lstStyle/>
          <a:p>
            <a:r>
              <a:rPr lang="en-IN" b="1" dirty="0"/>
              <a:t>Planning</a:t>
            </a:r>
            <a:endParaRPr lang="en-IN" dirty="0"/>
          </a:p>
          <a:p>
            <a:r>
              <a:rPr lang="en-GB" u="sng" dirty="0"/>
              <a:t>Goal determination </a:t>
            </a:r>
            <a:r>
              <a:rPr lang="en-GB" dirty="0"/>
              <a:t>is an important part of the planning process. </a:t>
            </a:r>
            <a:endParaRPr lang="en-GB" dirty="0" smtClean="0"/>
          </a:p>
          <a:p>
            <a:r>
              <a:rPr lang="en-GB" dirty="0" smtClean="0"/>
              <a:t>Effective </a:t>
            </a:r>
            <a:r>
              <a:rPr lang="en-GB" dirty="0"/>
              <a:t>teams have </a:t>
            </a:r>
            <a:r>
              <a:rPr lang="en-GB" u="sng" dirty="0"/>
              <a:t>clear goals</a:t>
            </a:r>
            <a:r>
              <a:rPr lang="en-GB" dirty="0"/>
              <a:t>. </a:t>
            </a:r>
            <a:endParaRPr lang="en-GB" dirty="0" smtClean="0"/>
          </a:p>
          <a:p>
            <a:r>
              <a:rPr lang="en-GB" dirty="0" smtClean="0"/>
              <a:t>It's </a:t>
            </a:r>
            <a:r>
              <a:rPr lang="en-GB" dirty="0"/>
              <a:t>important that team members understand and accept the team's </a:t>
            </a:r>
            <a:r>
              <a:rPr lang="en-GB" dirty="0" smtClean="0"/>
              <a:t>goals</a:t>
            </a:r>
            <a:endParaRPr lang="en-IN" dirty="0"/>
          </a:p>
          <a:p>
            <a:endParaRPr lang="en-IN" dirty="0"/>
          </a:p>
        </p:txBody>
      </p:sp>
    </p:spTree>
    <p:extLst>
      <p:ext uri="{BB962C8B-B14F-4D97-AF65-F5344CB8AC3E}">
        <p14:creationId xmlns:p14="http://schemas.microsoft.com/office/powerpoint/2010/main" val="13545623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92500" lnSpcReduction="10000"/>
          </a:bodyPr>
          <a:lstStyle/>
          <a:p>
            <a:r>
              <a:rPr lang="en-GB" b="1" dirty="0" smtClean="0"/>
              <a:t>Organizing:</a:t>
            </a:r>
          </a:p>
          <a:p>
            <a:r>
              <a:rPr lang="en-GB" dirty="0"/>
              <a:t>Organizing tasks in managing a team include clarifying authority and structural issues. </a:t>
            </a:r>
          </a:p>
          <a:p>
            <a:r>
              <a:rPr lang="en-IN" b="1" dirty="0" smtClean="0"/>
              <a:t>Leading: </a:t>
            </a:r>
          </a:p>
          <a:p>
            <a:r>
              <a:rPr lang="en-GB" dirty="0" smtClean="0"/>
              <a:t>A </a:t>
            </a:r>
            <a:r>
              <a:rPr lang="en-GB" dirty="0"/>
              <a:t>team must address include, among others, what role the leader will play, how disagreements will be handled, and what communication processes will be used </a:t>
            </a:r>
            <a:r>
              <a:rPr lang="en-IN" dirty="0" smtClean="0"/>
              <a:t> </a:t>
            </a:r>
          </a:p>
          <a:p>
            <a:r>
              <a:rPr lang="en-IN" b="1" dirty="0"/>
              <a:t>Controlling</a:t>
            </a:r>
            <a:endParaRPr lang="en-IN" dirty="0"/>
          </a:p>
          <a:p>
            <a:r>
              <a:rPr lang="en-GB" dirty="0"/>
              <a:t>Two important controlling issues are: </a:t>
            </a:r>
            <a:r>
              <a:rPr lang="en-GB" u="sng" dirty="0"/>
              <a:t>How will the team's performance be evaluated</a:t>
            </a:r>
            <a:r>
              <a:rPr lang="en-GB" dirty="0"/>
              <a:t>, and </a:t>
            </a:r>
            <a:r>
              <a:rPr lang="en-GB" u="sng" dirty="0"/>
              <a:t>what type of reward system will be used</a:t>
            </a:r>
            <a:r>
              <a:rPr lang="en-GB" dirty="0"/>
              <a:t>? </a:t>
            </a:r>
            <a:r>
              <a:rPr lang="en-IN" dirty="0" smtClean="0"/>
              <a:t> </a:t>
            </a:r>
            <a:endParaRPr lang="en-IN" dirty="0"/>
          </a:p>
          <a:p>
            <a:endParaRPr lang="en-IN" dirty="0"/>
          </a:p>
        </p:txBody>
      </p:sp>
    </p:spTree>
    <p:extLst>
      <p:ext uri="{BB962C8B-B14F-4D97-AF65-F5344CB8AC3E}">
        <p14:creationId xmlns:p14="http://schemas.microsoft.com/office/powerpoint/2010/main" val="655774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TotalTime>
  <Words>2588</Words>
  <Application>Microsoft Office PowerPoint</Application>
  <PresentationFormat>On-screen Show (4:3)</PresentationFormat>
  <Paragraphs>170</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Groups &amp; Team management</vt:lpstr>
      <vt:lpstr>What Is a Group?</vt:lpstr>
      <vt:lpstr>Examples of formal groups</vt:lpstr>
      <vt:lpstr>Stages of Group Development</vt:lpstr>
      <vt:lpstr>PowerPoint Presentation</vt:lpstr>
      <vt:lpstr>PowerPoint Presentation</vt:lpstr>
      <vt:lpstr>PowerPoint Presentation</vt:lpstr>
      <vt:lpstr>Basic group concepts</vt:lpstr>
      <vt:lpstr>Norms and Conformity</vt:lpstr>
      <vt:lpstr>Status systems</vt:lpstr>
      <vt:lpstr>Group Size</vt:lpstr>
      <vt:lpstr>Group Cohesiveness</vt:lpstr>
      <vt:lpstr>Conflict Management</vt:lpstr>
      <vt:lpstr>3 views of conflict</vt:lpstr>
      <vt:lpstr>Conflict and Group performance</vt:lpstr>
      <vt:lpstr>What differentiates Dysfunctional from Functional conflict?</vt:lpstr>
      <vt:lpstr>Conflict-resolution options</vt:lpstr>
      <vt:lpstr>Group Decision Making-Advantages</vt:lpstr>
      <vt:lpstr>Group decision making-Disadvantages</vt:lpstr>
      <vt:lpstr>Techniques for more creative group decision-making</vt:lpstr>
      <vt:lpstr>Determinants of work group behavior</vt:lpstr>
      <vt:lpstr>PowerPoint Presentation</vt:lpstr>
      <vt:lpstr>What Is a Team?</vt:lpstr>
      <vt:lpstr>Categories of Teams</vt:lpstr>
      <vt:lpstr>Types of Teams</vt:lpstr>
      <vt:lpstr>PowerPoint Presentation</vt:lpstr>
      <vt:lpstr>Characteristics of effective teams</vt:lpstr>
      <vt:lpstr>How to further trust among managers?</vt:lpstr>
      <vt:lpstr>PowerPoint Presentation</vt:lpstr>
      <vt:lpstr>PowerPoint Presentation</vt:lpstr>
      <vt:lpstr>PowerPoint Presentation</vt:lpstr>
      <vt:lpstr>Managing Teams</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Groups &amp; Team management</dc:title>
  <dc:creator>HP</dc:creator>
  <cp:lastModifiedBy>HP</cp:lastModifiedBy>
  <cp:revision>15</cp:revision>
  <dcterms:created xsi:type="dcterms:W3CDTF">2006-08-16T00:00:00Z</dcterms:created>
  <dcterms:modified xsi:type="dcterms:W3CDTF">2026-02-26T18:53:55Z</dcterms:modified>
</cp:coreProperties>
</file>