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Organizational Structure and Design</a:t>
            </a:r>
            <a:endParaRPr lang="en-IN" dirty="0"/>
          </a:p>
        </p:txBody>
      </p:sp>
      <p:sp>
        <p:nvSpPr>
          <p:cNvPr id="3" name="Subtitle 2"/>
          <p:cNvSpPr>
            <a:spLocks noGrp="1"/>
          </p:cNvSpPr>
          <p:nvPr>
            <p:ph type="subTitle" idx="1"/>
          </p:nvPr>
        </p:nvSpPr>
        <p:spPr/>
        <p:txBody>
          <a:bodyPr/>
          <a:lstStyle/>
          <a:p>
            <a:r>
              <a:rPr lang="en-GB" dirty="0" smtClean="0"/>
              <a:t>Session 4</a:t>
            </a:r>
          </a:p>
          <a:p>
            <a:r>
              <a:rPr lang="en-GB" dirty="0" smtClean="0"/>
              <a:t>5</a:t>
            </a:r>
            <a:r>
              <a:rPr lang="en-GB" baseline="30000" dirty="0" smtClean="0"/>
              <a:t>th</a:t>
            </a:r>
            <a:r>
              <a:rPr lang="en-GB" dirty="0" smtClean="0"/>
              <a:t> May, 2026</a:t>
            </a:r>
            <a:endParaRPr lang="en-IN" dirty="0"/>
          </a:p>
        </p:txBody>
      </p:sp>
    </p:spTree>
    <p:extLst>
      <p:ext uri="{BB962C8B-B14F-4D97-AF65-F5344CB8AC3E}">
        <p14:creationId xmlns:p14="http://schemas.microsoft.com/office/powerpoint/2010/main" val="49992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Purposes of Organizing</a:t>
            </a:r>
            <a:endParaRPr lang="en-IN" dirty="0"/>
          </a:p>
        </p:txBody>
      </p:sp>
      <p:sp>
        <p:nvSpPr>
          <p:cNvPr id="3" name="Content Placeholder 2"/>
          <p:cNvSpPr>
            <a:spLocks noGrp="1"/>
          </p:cNvSpPr>
          <p:nvPr>
            <p:ph idx="1"/>
          </p:nvPr>
        </p:nvSpPr>
        <p:spPr/>
        <p:txBody>
          <a:bodyPr>
            <a:normAutofit fontScale="92500" lnSpcReduction="20000"/>
          </a:bodyPr>
          <a:lstStyle/>
          <a:p>
            <a:r>
              <a:rPr lang="en-GB" dirty="0"/>
              <a:t>Divides work to be done into specific jobs and </a:t>
            </a:r>
            <a:r>
              <a:rPr lang="en-GB" dirty="0" smtClean="0"/>
              <a:t>departments</a:t>
            </a:r>
            <a:endParaRPr lang="en-IN" dirty="0"/>
          </a:p>
          <a:p>
            <a:r>
              <a:rPr lang="en-GB" dirty="0"/>
              <a:t>Assigns tasks and responsibilities associated with individual </a:t>
            </a:r>
            <a:r>
              <a:rPr lang="en-GB" dirty="0" smtClean="0"/>
              <a:t>jobs</a:t>
            </a:r>
            <a:endParaRPr lang="en-IN" dirty="0"/>
          </a:p>
          <a:p>
            <a:r>
              <a:rPr lang="en-IN" dirty="0"/>
              <a:t>Coordinates diverse organizational </a:t>
            </a:r>
            <a:r>
              <a:rPr lang="en-IN" dirty="0" smtClean="0"/>
              <a:t>tasks</a:t>
            </a:r>
            <a:endParaRPr lang="en-IN" dirty="0"/>
          </a:p>
          <a:p>
            <a:r>
              <a:rPr lang="en-IN" dirty="0"/>
              <a:t>Clusters jobs into </a:t>
            </a:r>
            <a:r>
              <a:rPr lang="en-IN" dirty="0" smtClean="0"/>
              <a:t>units</a:t>
            </a:r>
            <a:endParaRPr lang="en-IN" dirty="0"/>
          </a:p>
          <a:p>
            <a:r>
              <a:rPr lang="en-GB" dirty="0"/>
              <a:t>Establishes relationships among individuals, groups, and </a:t>
            </a:r>
            <a:r>
              <a:rPr lang="en-GB" dirty="0" smtClean="0"/>
              <a:t>departments</a:t>
            </a:r>
            <a:endParaRPr lang="en-IN" dirty="0"/>
          </a:p>
          <a:p>
            <a:r>
              <a:rPr lang="en-GB" dirty="0"/>
              <a:t>Establishes formal lines of </a:t>
            </a:r>
            <a:r>
              <a:rPr lang="en-GB" dirty="0" smtClean="0"/>
              <a:t>authority</a:t>
            </a:r>
            <a:endParaRPr lang="en-IN" dirty="0"/>
          </a:p>
          <a:p>
            <a:r>
              <a:rPr lang="en-GB" dirty="0"/>
              <a:t>Allocates and deploys organizational </a:t>
            </a:r>
            <a:r>
              <a:rPr lang="en-GB" dirty="0" smtClean="0"/>
              <a:t>resources</a:t>
            </a:r>
            <a:endParaRPr lang="en-GB" dirty="0"/>
          </a:p>
        </p:txBody>
      </p:sp>
    </p:spTree>
    <p:extLst>
      <p:ext uri="{BB962C8B-B14F-4D97-AF65-F5344CB8AC3E}">
        <p14:creationId xmlns:p14="http://schemas.microsoft.com/office/powerpoint/2010/main" val="115364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Definitions</a:t>
            </a:r>
            <a:endParaRPr lang="en-IN" dirty="0"/>
          </a:p>
        </p:txBody>
      </p:sp>
      <p:sp>
        <p:nvSpPr>
          <p:cNvPr id="3" name="Content Placeholder 2"/>
          <p:cNvSpPr>
            <a:spLocks noGrp="1"/>
          </p:cNvSpPr>
          <p:nvPr>
            <p:ph idx="1"/>
          </p:nvPr>
        </p:nvSpPr>
        <p:spPr/>
        <p:txBody>
          <a:bodyPr>
            <a:normAutofit lnSpcReduction="10000"/>
          </a:bodyPr>
          <a:lstStyle/>
          <a:p>
            <a:r>
              <a:rPr lang="en-GB" dirty="0"/>
              <a:t>An organizational structure is the formal framework by which job tasks are divided, grouped, and coordinated </a:t>
            </a:r>
          </a:p>
          <a:p>
            <a:r>
              <a:rPr lang="en-GB" dirty="0" smtClean="0"/>
              <a:t>Organizational design is a </a:t>
            </a:r>
            <a:r>
              <a:rPr lang="en-GB" dirty="0"/>
              <a:t>process that involves decisions about six key elements: work specialization, departmentalization, chain of command, span of control, centralization and decentralization, and </a:t>
            </a:r>
            <a:r>
              <a:rPr lang="en-GB" dirty="0" smtClean="0"/>
              <a:t>formalization</a:t>
            </a:r>
            <a:endParaRPr lang="en-GB" dirty="0"/>
          </a:p>
        </p:txBody>
      </p:sp>
    </p:spTree>
    <p:extLst>
      <p:ext uri="{BB962C8B-B14F-4D97-AF65-F5344CB8AC3E}">
        <p14:creationId xmlns:p14="http://schemas.microsoft.com/office/powerpoint/2010/main" val="304945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Work specialization</a:t>
            </a:r>
            <a:endParaRPr lang="en-IN" dirty="0"/>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r>
              <a:rPr lang="en-GB" dirty="0"/>
              <a:t>Adam Smith </a:t>
            </a:r>
            <a:r>
              <a:rPr lang="en-GB" dirty="0" smtClean="0"/>
              <a:t>first </a:t>
            </a:r>
            <a:r>
              <a:rPr lang="en-GB" dirty="0"/>
              <a:t>identified division of </a:t>
            </a:r>
            <a:r>
              <a:rPr lang="en-GB" dirty="0" err="1"/>
              <a:t>labor</a:t>
            </a:r>
            <a:r>
              <a:rPr lang="en-GB" dirty="0"/>
              <a:t> in the late eighteenth century and concluded that it contributed to increased employee productivity </a:t>
            </a:r>
          </a:p>
          <a:p>
            <a:r>
              <a:rPr lang="en-GB" dirty="0" smtClean="0"/>
              <a:t>Work specialization is </a:t>
            </a:r>
            <a:r>
              <a:rPr lang="en-GB" dirty="0"/>
              <a:t>the degree to which tasks in an organization are divided into separate jobs</a:t>
            </a:r>
            <a:r>
              <a:rPr lang="en-GB" dirty="0" smtClean="0"/>
              <a:t>.</a:t>
            </a:r>
          </a:p>
          <a:p>
            <a:r>
              <a:rPr lang="en-GB" dirty="0" smtClean="0"/>
              <a:t>The </a:t>
            </a:r>
            <a:r>
              <a:rPr lang="en-GB" dirty="0"/>
              <a:t>essence of work specialization is that an entire job is not done by one individual but instead is broken down into steps, and each step is completed by a different person. </a:t>
            </a:r>
            <a:endParaRPr lang="en-GB" dirty="0" smtClean="0"/>
          </a:p>
          <a:p>
            <a:r>
              <a:rPr lang="en-GB" dirty="0" smtClean="0"/>
              <a:t>Individual </a:t>
            </a:r>
            <a:r>
              <a:rPr lang="en-GB" dirty="0"/>
              <a:t>employees specialize in doing part of an activity rather than the entire </a:t>
            </a:r>
            <a:r>
              <a:rPr lang="en-GB" dirty="0" smtClean="0"/>
              <a:t>activity</a:t>
            </a:r>
            <a:endParaRPr lang="en-IN" dirty="0"/>
          </a:p>
          <a:p>
            <a:endParaRPr lang="en-IN" dirty="0"/>
          </a:p>
        </p:txBody>
      </p:sp>
    </p:spTree>
    <p:extLst>
      <p:ext uri="{BB962C8B-B14F-4D97-AF65-F5344CB8AC3E}">
        <p14:creationId xmlns:p14="http://schemas.microsoft.com/office/powerpoint/2010/main" val="3957074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Departmentalization</a:t>
            </a:r>
            <a:endParaRPr lang="en-IN" dirty="0"/>
          </a:p>
        </p:txBody>
      </p:sp>
      <p:sp>
        <p:nvSpPr>
          <p:cNvPr id="3" name="Content Placeholder 2"/>
          <p:cNvSpPr>
            <a:spLocks noGrp="1"/>
          </p:cNvSpPr>
          <p:nvPr>
            <p:ph idx="1"/>
          </p:nvPr>
        </p:nvSpPr>
        <p:spPr/>
        <p:txBody>
          <a:bodyPr/>
          <a:lstStyle/>
          <a:p>
            <a:r>
              <a:rPr lang="en-GB" dirty="0"/>
              <a:t>Once jobs have been divided up through work specialization, they have to be grouped back together so that common tasks can be coordinated. </a:t>
            </a:r>
            <a:endParaRPr lang="en-GB" dirty="0" smtClean="0"/>
          </a:p>
          <a:p>
            <a:r>
              <a:rPr lang="en-GB" dirty="0" smtClean="0"/>
              <a:t>The </a:t>
            </a:r>
            <a:r>
              <a:rPr lang="en-GB" dirty="0"/>
              <a:t>basis by which jobs are grouped together is called departmentalization. </a:t>
            </a:r>
            <a:endParaRPr lang="en-IN" dirty="0"/>
          </a:p>
          <a:p>
            <a:endParaRPr lang="en-IN" dirty="0"/>
          </a:p>
        </p:txBody>
      </p:sp>
    </p:spTree>
    <p:extLst>
      <p:ext uri="{BB962C8B-B14F-4D97-AF65-F5344CB8AC3E}">
        <p14:creationId xmlns:p14="http://schemas.microsoft.com/office/powerpoint/2010/main" val="252278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Forms of Departmentalization</a:t>
            </a:r>
            <a:endParaRPr lang="en-IN" dirty="0"/>
          </a:p>
        </p:txBody>
      </p:sp>
      <p:sp>
        <p:nvSpPr>
          <p:cNvPr id="3" name="Content Placeholder 2"/>
          <p:cNvSpPr>
            <a:spLocks noGrp="1"/>
          </p:cNvSpPr>
          <p:nvPr>
            <p:ph idx="1"/>
          </p:nvPr>
        </p:nvSpPr>
        <p:spPr>
          <a:xfrm>
            <a:off x="457200" y="1371600"/>
            <a:ext cx="8229600" cy="5105400"/>
          </a:xfrm>
        </p:spPr>
        <p:txBody>
          <a:bodyPr>
            <a:normAutofit fontScale="62500" lnSpcReduction="20000"/>
          </a:bodyPr>
          <a:lstStyle/>
          <a:p>
            <a:r>
              <a:rPr lang="en-GB" b="1" dirty="0"/>
              <a:t>Functional departmentalization </a:t>
            </a:r>
            <a:r>
              <a:rPr lang="en-GB" dirty="0"/>
              <a:t>groups jobs by functions performed. This approach can be used in all types of organizations, although the functions change to reflect the organization's objectives and work activities. </a:t>
            </a:r>
            <a:endParaRPr lang="en-GB" dirty="0" smtClean="0"/>
          </a:p>
          <a:p>
            <a:r>
              <a:rPr lang="en-GB" b="1" dirty="0" smtClean="0"/>
              <a:t>Product </a:t>
            </a:r>
            <a:r>
              <a:rPr lang="en-GB" b="1" dirty="0"/>
              <a:t>departmentalization </a:t>
            </a:r>
            <a:r>
              <a:rPr lang="en-GB" dirty="0"/>
              <a:t>groups jobs by product line. In this approach, each major product area is placed under the authority of a manager who's a specialist in, and is responsible for, everything having to do with that product line. </a:t>
            </a:r>
            <a:endParaRPr lang="en-GB" dirty="0" smtClean="0"/>
          </a:p>
          <a:p>
            <a:r>
              <a:rPr lang="en-GB" b="1" dirty="0" smtClean="0"/>
              <a:t>Geographical </a:t>
            </a:r>
            <a:r>
              <a:rPr lang="en-GB" b="1" dirty="0"/>
              <a:t>departmentalization </a:t>
            </a:r>
            <a:r>
              <a:rPr lang="en-GB" dirty="0"/>
              <a:t>groups jobs on the basis of territory or geography such as southern, </a:t>
            </a:r>
            <a:r>
              <a:rPr lang="en-GB" dirty="0" err="1"/>
              <a:t>midwestern</a:t>
            </a:r>
            <a:r>
              <a:rPr lang="en-GB" dirty="0"/>
              <a:t>, or </a:t>
            </a:r>
            <a:r>
              <a:rPr lang="en-GB" dirty="0" err="1"/>
              <a:t>northwestern</a:t>
            </a:r>
            <a:r>
              <a:rPr lang="en-GB" dirty="0"/>
              <a:t> regions for an organization operating only in the United States; or for a global company, maybe U.S., European, Canadian, and Asian-Pacific regions. </a:t>
            </a:r>
            <a:endParaRPr lang="en-GB" dirty="0" smtClean="0"/>
          </a:p>
          <a:p>
            <a:r>
              <a:rPr lang="en-GB" b="1" dirty="0" smtClean="0"/>
              <a:t>Process </a:t>
            </a:r>
            <a:r>
              <a:rPr lang="en-GB" b="1" dirty="0"/>
              <a:t>departmentalization </a:t>
            </a:r>
            <a:r>
              <a:rPr lang="en-GB" dirty="0"/>
              <a:t>groups jobs on the basis of product or customer flow. In this approach, work activities follow a natural processing flow of products or even of customers. </a:t>
            </a:r>
            <a:endParaRPr lang="en-GB" dirty="0" smtClean="0"/>
          </a:p>
          <a:p>
            <a:r>
              <a:rPr lang="en-GB" b="1" dirty="0" smtClean="0"/>
              <a:t>Customer </a:t>
            </a:r>
            <a:r>
              <a:rPr lang="en-GB" b="1" dirty="0"/>
              <a:t>departmentalization</a:t>
            </a:r>
            <a:r>
              <a:rPr lang="en-GB" dirty="0"/>
              <a:t> groups jobs on the basis of common customers who have common needs or problems that can best be met by having specialists for each</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2739176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Popular trends in Departmentalization</a:t>
            </a:r>
            <a:endParaRPr lang="en-IN" dirty="0"/>
          </a:p>
        </p:txBody>
      </p:sp>
      <p:sp>
        <p:nvSpPr>
          <p:cNvPr id="3" name="Content Placeholder 2"/>
          <p:cNvSpPr>
            <a:spLocks noGrp="1"/>
          </p:cNvSpPr>
          <p:nvPr>
            <p:ph idx="1"/>
          </p:nvPr>
        </p:nvSpPr>
        <p:spPr/>
        <p:txBody>
          <a:bodyPr>
            <a:normAutofit lnSpcReduction="10000"/>
          </a:bodyPr>
          <a:lstStyle/>
          <a:p>
            <a:r>
              <a:rPr lang="en-GB" b="1" dirty="0" smtClean="0"/>
              <a:t>Customer </a:t>
            </a:r>
            <a:r>
              <a:rPr lang="en-GB" b="1" dirty="0"/>
              <a:t>departmentalization </a:t>
            </a:r>
            <a:r>
              <a:rPr lang="en-GB" dirty="0"/>
              <a:t>is increasingly being used as an approach to better monitor customers' needs and to be better able to respond to changes in those needs. </a:t>
            </a:r>
          </a:p>
          <a:p>
            <a:r>
              <a:rPr lang="en-GB" dirty="0"/>
              <a:t>M</a:t>
            </a:r>
            <a:r>
              <a:rPr lang="en-GB" dirty="0" smtClean="0"/>
              <a:t>anagers </a:t>
            </a:r>
            <a:r>
              <a:rPr lang="en-GB" dirty="0"/>
              <a:t>are using </a:t>
            </a:r>
            <a:r>
              <a:rPr lang="en-GB" b="1" dirty="0"/>
              <a:t>cross-functional teams</a:t>
            </a:r>
            <a:r>
              <a:rPr lang="en-GB" dirty="0"/>
              <a:t>, groups of individuals who are experts in various specialties and who work </a:t>
            </a:r>
            <a:r>
              <a:rPr lang="en-GB" dirty="0" smtClean="0"/>
              <a:t>together: </a:t>
            </a:r>
            <a:r>
              <a:rPr lang="en-GB" dirty="0"/>
              <a:t>individuals from engineering, marketing, and </a:t>
            </a:r>
            <a:r>
              <a:rPr lang="en-GB" dirty="0" smtClean="0"/>
              <a:t>manufacturing, etc.</a:t>
            </a:r>
            <a:endParaRPr lang="en-IN" dirty="0"/>
          </a:p>
          <a:p>
            <a:endParaRPr lang="en-IN" dirty="0"/>
          </a:p>
        </p:txBody>
      </p:sp>
    </p:spTree>
    <p:extLst>
      <p:ext uri="{BB962C8B-B14F-4D97-AF65-F5344CB8AC3E}">
        <p14:creationId xmlns:p14="http://schemas.microsoft.com/office/powerpoint/2010/main" val="57190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Chain of Command</a:t>
            </a:r>
            <a:endParaRPr lang="en-IN" dirty="0"/>
          </a:p>
        </p:txBody>
      </p:sp>
      <p:sp>
        <p:nvSpPr>
          <p:cNvPr id="3" name="Content Placeholder 2"/>
          <p:cNvSpPr>
            <a:spLocks noGrp="1"/>
          </p:cNvSpPr>
          <p:nvPr>
            <p:ph idx="1"/>
          </p:nvPr>
        </p:nvSpPr>
        <p:spPr/>
        <p:txBody>
          <a:bodyPr/>
          <a:lstStyle/>
          <a:p>
            <a:r>
              <a:rPr lang="en-GB" dirty="0"/>
              <a:t>The chain of command is the continuous line of authority that extends from upper organizational levels to the lowest levels and clarifies who reports to whom. </a:t>
            </a:r>
            <a:endParaRPr lang="en-GB" dirty="0" smtClean="0"/>
          </a:p>
          <a:p>
            <a:r>
              <a:rPr lang="en-GB" dirty="0" smtClean="0"/>
              <a:t>It </a:t>
            </a:r>
            <a:r>
              <a:rPr lang="en-GB" dirty="0"/>
              <a:t>helps employees answer questions such as "Who do I go to if I have a problem?" or "To whom am I responsible</a:t>
            </a:r>
            <a:r>
              <a:rPr lang="en-GB" dirty="0" smtClean="0"/>
              <a:t>?"</a:t>
            </a:r>
            <a:endParaRPr lang="en-GB" dirty="0"/>
          </a:p>
        </p:txBody>
      </p:sp>
    </p:spTree>
    <p:extLst>
      <p:ext uri="{BB962C8B-B14F-4D97-AF65-F5344CB8AC3E}">
        <p14:creationId xmlns:p14="http://schemas.microsoft.com/office/powerpoint/2010/main" val="3907894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Concepts linked with Chain of Command</a:t>
            </a:r>
            <a:endParaRPr lang="en-IN" dirty="0"/>
          </a:p>
        </p:txBody>
      </p:sp>
      <p:sp>
        <p:nvSpPr>
          <p:cNvPr id="3" name="Content Placeholder 2"/>
          <p:cNvSpPr>
            <a:spLocks noGrp="1"/>
          </p:cNvSpPr>
          <p:nvPr>
            <p:ph idx="1"/>
          </p:nvPr>
        </p:nvSpPr>
        <p:spPr>
          <a:xfrm>
            <a:off x="457200" y="1600200"/>
            <a:ext cx="8229600" cy="4724400"/>
          </a:xfrm>
        </p:spPr>
        <p:txBody>
          <a:bodyPr>
            <a:normAutofit fontScale="85000" lnSpcReduction="10000"/>
          </a:bodyPr>
          <a:lstStyle/>
          <a:p>
            <a:r>
              <a:rPr lang="en-GB" b="1" dirty="0"/>
              <a:t>Authority</a:t>
            </a:r>
            <a:r>
              <a:rPr lang="en-GB" dirty="0"/>
              <a:t> refers to the rights inherent in a managerial position to tell people what to do and to expect them to do it.</a:t>
            </a:r>
          </a:p>
          <a:p>
            <a:r>
              <a:rPr lang="en-GB" dirty="0"/>
              <a:t>As managers coordinate and integrate the work of employees, those employees assume an obligation to perform any assigned duties. This obligation or expectation to perform is known as </a:t>
            </a:r>
            <a:r>
              <a:rPr lang="en-GB" b="1" dirty="0"/>
              <a:t>responsibility</a:t>
            </a:r>
            <a:r>
              <a:rPr lang="en-GB" dirty="0"/>
              <a:t>. </a:t>
            </a:r>
          </a:p>
          <a:p>
            <a:r>
              <a:rPr lang="en-IN" b="1" dirty="0" smtClean="0"/>
              <a:t>Unity of command</a:t>
            </a:r>
            <a:r>
              <a:rPr lang="en-IN" dirty="0" smtClean="0"/>
              <a:t>: </a:t>
            </a:r>
            <a:r>
              <a:rPr lang="en-GB" dirty="0" smtClean="0"/>
              <a:t>helps </a:t>
            </a:r>
            <a:r>
              <a:rPr lang="en-GB" dirty="0"/>
              <a:t>preserve the concept of a continuous line of authority. It states that a person should report to only one manager. Without unity of command, conflicting demands and priorities from multiple bosses can create problems</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3315501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Span of Control</a:t>
            </a:r>
            <a:endParaRPr lang="en-IN" dirty="0"/>
          </a:p>
        </p:txBody>
      </p:sp>
      <p:sp>
        <p:nvSpPr>
          <p:cNvPr id="3" name="Content Placeholder 2"/>
          <p:cNvSpPr>
            <a:spLocks noGrp="1"/>
          </p:cNvSpPr>
          <p:nvPr>
            <p:ph idx="1"/>
          </p:nvPr>
        </p:nvSpPr>
        <p:spPr/>
        <p:txBody>
          <a:bodyPr>
            <a:normAutofit fontScale="85000" lnSpcReduction="20000"/>
          </a:bodyPr>
          <a:lstStyle/>
          <a:p>
            <a:r>
              <a:rPr lang="en-GB" dirty="0"/>
              <a:t>How many employees can a manager efficiently and effectively manage? </a:t>
            </a:r>
          </a:p>
          <a:p>
            <a:r>
              <a:rPr lang="en-GB" dirty="0"/>
              <a:t>M</a:t>
            </a:r>
            <a:r>
              <a:rPr lang="en-GB" dirty="0" smtClean="0"/>
              <a:t>any </a:t>
            </a:r>
            <a:r>
              <a:rPr lang="en-GB" dirty="0"/>
              <a:t>factors influence the appropriate number of employees that a manager can efficiently </a:t>
            </a:r>
            <a:r>
              <a:rPr lang="en-GB" i="1" dirty="0"/>
              <a:t>and </a:t>
            </a:r>
            <a:r>
              <a:rPr lang="en-GB" dirty="0"/>
              <a:t>effectively manage. These factors encompass the </a:t>
            </a:r>
            <a:r>
              <a:rPr lang="en-GB" b="1" dirty="0"/>
              <a:t>skills</a:t>
            </a:r>
            <a:r>
              <a:rPr lang="en-GB" dirty="0"/>
              <a:t> and </a:t>
            </a:r>
            <a:r>
              <a:rPr lang="en-GB" b="1" dirty="0"/>
              <a:t>abilities</a:t>
            </a:r>
            <a:r>
              <a:rPr lang="en-GB" dirty="0"/>
              <a:t> of the manager and the employees and </a:t>
            </a:r>
            <a:r>
              <a:rPr lang="en-GB" b="1" dirty="0"/>
              <a:t>characteristics of the work</a:t>
            </a:r>
            <a:r>
              <a:rPr lang="en-GB" dirty="0"/>
              <a:t> being done</a:t>
            </a:r>
            <a:r>
              <a:rPr lang="en-GB" dirty="0" smtClean="0"/>
              <a:t>. Besides, </a:t>
            </a:r>
            <a:r>
              <a:rPr lang="en-GB" b="1" dirty="0"/>
              <a:t>similarity of employee tasks</a:t>
            </a:r>
            <a:r>
              <a:rPr lang="en-GB" dirty="0"/>
              <a:t>, the </a:t>
            </a:r>
            <a:r>
              <a:rPr lang="en-GB" b="1" dirty="0"/>
              <a:t>complexity of those tasks</a:t>
            </a:r>
            <a:r>
              <a:rPr lang="en-GB" dirty="0"/>
              <a:t>, the </a:t>
            </a:r>
            <a:r>
              <a:rPr lang="en-GB" b="1" dirty="0"/>
              <a:t>physical proximity of subordinates</a:t>
            </a:r>
            <a:r>
              <a:rPr lang="en-GB" dirty="0"/>
              <a:t>, the </a:t>
            </a:r>
            <a:r>
              <a:rPr lang="en-GB" b="1" dirty="0"/>
              <a:t>degree to which standardized procedures are in place</a:t>
            </a:r>
            <a:r>
              <a:rPr lang="en-GB" dirty="0"/>
              <a:t>, the </a:t>
            </a:r>
            <a:r>
              <a:rPr lang="en-GB" b="1" dirty="0"/>
              <a:t>sophistication of the organization's information system</a:t>
            </a:r>
            <a:r>
              <a:rPr lang="en-GB" dirty="0"/>
              <a:t>, the </a:t>
            </a:r>
            <a:r>
              <a:rPr lang="en-GB" b="1" dirty="0"/>
              <a:t>strength of the organization's culture</a:t>
            </a:r>
            <a:r>
              <a:rPr lang="en-GB" dirty="0"/>
              <a:t>, and the </a:t>
            </a:r>
            <a:r>
              <a:rPr lang="en-GB" b="1" dirty="0"/>
              <a:t>preferred style of the </a:t>
            </a:r>
            <a:r>
              <a:rPr lang="en-GB" b="1" dirty="0" smtClean="0"/>
              <a:t>manager </a:t>
            </a:r>
            <a:endParaRPr lang="en-GB" b="1" dirty="0"/>
          </a:p>
        </p:txBody>
      </p:sp>
    </p:spTree>
    <p:extLst>
      <p:ext uri="{BB962C8B-B14F-4D97-AF65-F5344CB8AC3E}">
        <p14:creationId xmlns:p14="http://schemas.microsoft.com/office/powerpoint/2010/main" val="2228830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Centralization and Decentralization</a:t>
            </a:r>
            <a:endParaRPr lang="en-IN" dirty="0"/>
          </a:p>
        </p:txBody>
      </p:sp>
      <p:sp>
        <p:nvSpPr>
          <p:cNvPr id="3" name="Content Placeholder 2"/>
          <p:cNvSpPr>
            <a:spLocks noGrp="1"/>
          </p:cNvSpPr>
          <p:nvPr>
            <p:ph idx="1"/>
          </p:nvPr>
        </p:nvSpPr>
        <p:spPr>
          <a:xfrm>
            <a:off x="457200" y="1295400"/>
            <a:ext cx="8229600" cy="5105400"/>
          </a:xfrm>
        </p:spPr>
        <p:txBody>
          <a:bodyPr>
            <a:normAutofit fontScale="77500" lnSpcReduction="20000"/>
          </a:bodyPr>
          <a:lstStyle/>
          <a:p>
            <a:r>
              <a:rPr lang="en-GB" b="1" dirty="0"/>
              <a:t>Centralization</a:t>
            </a:r>
            <a:r>
              <a:rPr lang="en-GB" dirty="0"/>
              <a:t> describes the degree to which decision making is concentrated at a single point in the organization. If top managers make the organization's key decisions with little or no input from below, then the organization is centralized </a:t>
            </a:r>
          </a:p>
          <a:p>
            <a:r>
              <a:rPr lang="en-GB" dirty="0"/>
              <a:t>In contrast, the more that lower-level employees provide input or actually make decisions, the more </a:t>
            </a:r>
            <a:r>
              <a:rPr lang="en-GB" b="1" dirty="0"/>
              <a:t>decentralization</a:t>
            </a:r>
            <a:r>
              <a:rPr lang="en-GB" dirty="0"/>
              <a:t> there is </a:t>
            </a:r>
          </a:p>
          <a:p>
            <a:r>
              <a:rPr lang="en-GB" dirty="0"/>
              <a:t>T</a:t>
            </a:r>
            <a:r>
              <a:rPr lang="en-GB" dirty="0" smtClean="0"/>
              <a:t>he </a:t>
            </a:r>
            <a:r>
              <a:rPr lang="en-GB" dirty="0"/>
              <a:t>concept of centralization-decentralization is a </a:t>
            </a:r>
            <a:r>
              <a:rPr lang="en-GB" b="1" dirty="0"/>
              <a:t>relative</a:t>
            </a:r>
            <a:r>
              <a:rPr lang="en-GB" dirty="0"/>
              <a:t>, not an </a:t>
            </a:r>
            <a:r>
              <a:rPr lang="en-GB" b="1" dirty="0"/>
              <a:t>absolute</a:t>
            </a:r>
            <a:r>
              <a:rPr lang="en-GB" dirty="0"/>
              <a:t>, one. What we mean is that an organization is never completely centralized or decentralized. Few organizations could function effectively if all decisions were made by only a select group of top managers; nor could they function if all decisions were delegated to employees at the lowest </a:t>
            </a:r>
            <a:r>
              <a:rPr lang="en-GB" dirty="0" smtClean="0"/>
              <a:t>levels</a:t>
            </a:r>
            <a:r>
              <a:rPr lang="en-IN" dirty="0" smtClean="0"/>
              <a:t>  </a:t>
            </a:r>
            <a:endParaRPr lang="en-IN" dirty="0"/>
          </a:p>
          <a:p>
            <a:endParaRPr lang="en-IN" dirty="0"/>
          </a:p>
        </p:txBody>
      </p:sp>
    </p:spTree>
    <p:extLst>
      <p:ext uri="{BB962C8B-B14F-4D97-AF65-F5344CB8AC3E}">
        <p14:creationId xmlns:p14="http://schemas.microsoft.com/office/powerpoint/2010/main" val="2343637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Factors influencing Centralization &amp; Decentralization</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51676929"/>
              </p:ext>
            </p:extLst>
          </p:nvPr>
        </p:nvGraphicFramePr>
        <p:xfrm>
          <a:off x="457200" y="1600200"/>
          <a:ext cx="8229600" cy="430276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smtClean="0"/>
                        <a:t>More centralization</a:t>
                      </a:r>
                      <a:endParaRPr lang="en-IN" dirty="0"/>
                    </a:p>
                  </a:txBody>
                  <a:tcPr/>
                </a:tc>
                <a:tc>
                  <a:txBody>
                    <a:bodyPr/>
                    <a:lstStyle/>
                    <a:p>
                      <a:r>
                        <a:rPr lang="en-GB" dirty="0" smtClean="0"/>
                        <a:t>More decentralization</a:t>
                      </a:r>
                      <a:endParaRPr lang="en-IN" dirty="0"/>
                    </a:p>
                  </a:txBody>
                  <a:tcPr/>
                </a:tc>
              </a:tr>
              <a:tr h="370840">
                <a:tc>
                  <a:txBody>
                    <a:bodyPr/>
                    <a:lstStyle/>
                    <a:p>
                      <a:pPr marL="285750" indent="-285750">
                        <a:buFont typeface="Arial" pitchFamily="34" charset="0"/>
                        <a:buChar char="•"/>
                      </a:pPr>
                      <a:r>
                        <a:rPr lang="en-IN" sz="1800" b="0" i="0" u="none" strike="noStrike" kern="1200" baseline="0" dirty="0" smtClean="0">
                          <a:solidFill>
                            <a:schemeClr val="dk1"/>
                          </a:solidFill>
                          <a:latin typeface="+mn-lt"/>
                          <a:ea typeface="+mn-ea"/>
                          <a:cs typeface="+mn-cs"/>
                        </a:rPr>
                        <a:t>Environment is stable</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Lower-level managers are not as capable or experienced at making decisions as upper-level managers.</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Lower-level managers do not want to have a say in decisions.</a:t>
                      </a:r>
                    </a:p>
                    <a:p>
                      <a:pPr marL="285750" indent="-285750">
                        <a:buFont typeface="Arial" pitchFamily="34" charset="0"/>
                        <a:buChar char="•"/>
                      </a:pPr>
                      <a:r>
                        <a:rPr lang="en-IN" sz="1800" b="0" i="0" u="none" strike="noStrike" kern="1200" baseline="0" dirty="0" smtClean="0">
                          <a:solidFill>
                            <a:schemeClr val="dk1"/>
                          </a:solidFill>
                          <a:latin typeface="+mn-lt"/>
                          <a:ea typeface="+mn-ea"/>
                          <a:cs typeface="+mn-cs"/>
                        </a:rPr>
                        <a:t>Decisions are significant.</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Organization is facing a crisis or the risk of company failure.</a:t>
                      </a:r>
                    </a:p>
                    <a:p>
                      <a:pPr marL="285750" indent="-285750">
                        <a:buFont typeface="Arial" pitchFamily="34" charset="0"/>
                        <a:buChar char="•"/>
                      </a:pPr>
                      <a:r>
                        <a:rPr lang="en-IN" sz="1800" b="0" i="0" u="none" strike="noStrike" kern="1200" baseline="0" dirty="0" smtClean="0">
                          <a:solidFill>
                            <a:schemeClr val="dk1"/>
                          </a:solidFill>
                          <a:latin typeface="+mn-lt"/>
                          <a:ea typeface="+mn-ea"/>
                          <a:cs typeface="+mn-cs"/>
                        </a:rPr>
                        <a:t>Company is large.</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Effective implementation of company strategies depends on managers retaining say over what happens.</a:t>
                      </a:r>
                    </a:p>
                  </a:txBody>
                  <a:tcPr/>
                </a:tc>
                <a:tc>
                  <a:txBody>
                    <a:bodyPr/>
                    <a:lstStyle/>
                    <a:p>
                      <a:pPr marL="285750" indent="-285750">
                        <a:buFont typeface="Arial" pitchFamily="34" charset="0"/>
                        <a:buChar char="•"/>
                      </a:pPr>
                      <a:r>
                        <a:rPr lang="en-IN" sz="1800" b="0" i="0" u="none" strike="noStrike" kern="1200" baseline="0" dirty="0" smtClean="0">
                          <a:solidFill>
                            <a:schemeClr val="dk1"/>
                          </a:solidFill>
                          <a:latin typeface="+mn-lt"/>
                          <a:ea typeface="+mn-ea"/>
                          <a:cs typeface="+mn-cs"/>
                        </a:rPr>
                        <a:t>Environment is complex, uncertain.</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Lower-level managers are capable and experienced at making decisions.</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Lower-level managers want a voice in decisions.</a:t>
                      </a:r>
                    </a:p>
                    <a:p>
                      <a:pPr marL="285750" indent="-285750">
                        <a:buFont typeface="Arial" pitchFamily="34" charset="0"/>
                        <a:buChar char="•"/>
                      </a:pPr>
                      <a:r>
                        <a:rPr lang="en-IN" sz="1800" b="0" i="0" u="none" strike="noStrike" kern="1200" baseline="0" dirty="0" smtClean="0">
                          <a:solidFill>
                            <a:schemeClr val="dk1"/>
                          </a:solidFill>
                          <a:latin typeface="+mn-lt"/>
                          <a:ea typeface="+mn-ea"/>
                          <a:cs typeface="+mn-cs"/>
                        </a:rPr>
                        <a:t>Decisions are relatively minor.</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Corporate culture is open to allowing managers to have a say in what happens.</a:t>
                      </a:r>
                    </a:p>
                    <a:p>
                      <a:pPr marL="285750" indent="-285750">
                        <a:buFont typeface="Arial" pitchFamily="34" charset="0"/>
                        <a:buChar char="•"/>
                      </a:pPr>
                      <a:r>
                        <a:rPr lang="en-IN" sz="1800" b="0" i="0" u="none" strike="noStrike" kern="1200" baseline="0" dirty="0" smtClean="0">
                          <a:solidFill>
                            <a:schemeClr val="dk1"/>
                          </a:solidFill>
                          <a:latin typeface="+mn-lt"/>
                          <a:ea typeface="+mn-ea"/>
                          <a:cs typeface="+mn-cs"/>
                        </a:rPr>
                        <a:t>Company is geographically dispersed.</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Effective implementation of company strategies depends on managers having involvement and flexibility to make decisions.</a:t>
                      </a:r>
                    </a:p>
                  </a:txBody>
                  <a:tcPr/>
                </a:tc>
              </a:tr>
            </a:tbl>
          </a:graphicData>
        </a:graphic>
      </p:graphicFrame>
    </p:spTree>
    <p:extLst>
      <p:ext uri="{BB962C8B-B14F-4D97-AF65-F5344CB8AC3E}">
        <p14:creationId xmlns:p14="http://schemas.microsoft.com/office/powerpoint/2010/main" val="1280822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Formalization</a:t>
            </a:r>
            <a:endParaRPr lang="en-IN" dirty="0"/>
          </a:p>
        </p:txBody>
      </p:sp>
      <p:sp>
        <p:nvSpPr>
          <p:cNvPr id="3" name="Content Placeholder 2"/>
          <p:cNvSpPr>
            <a:spLocks noGrp="1"/>
          </p:cNvSpPr>
          <p:nvPr>
            <p:ph idx="1"/>
          </p:nvPr>
        </p:nvSpPr>
        <p:spPr/>
        <p:txBody>
          <a:bodyPr>
            <a:normAutofit fontScale="92500" lnSpcReduction="20000"/>
          </a:bodyPr>
          <a:lstStyle/>
          <a:p>
            <a:r>
              <a:rPr lang="en-GB" b="1" dirty="0"/>
              <a:t>Formalization</a:t>
            </a:r>
            <a:r>
              <a:rPr lang="en-GB" dirty="0"/>
              <a:t> refers to the degree to which jobs within the organization are standardized and the extent to which employee </a:t>
            </a:r>
            <a:r>
              <a:rPr lang="en-GB" dirty="0" err="1"/>
              <a:t>behavior</a:t>
            </a:r>
            <a:r>
              <a:rPr lang="en-GB" dirty="0"/>
              <a:t> is guided by rules and procedures </a:t>
            </a:r>
          </a:p>
          <a:p>
            <a:r>
              <a:rPr lang="en-GB" dirty="0"/>
              <a:t>In organizations with </a:t>
            </a:r>
            <a:r>
              <a:rPr lang="en-GB" b="1" dirty="0"/>
              <a:t>high formalization</a:t>
            </a:r>
            <a:r>
              <a:rPr lang="en-GB" dirty="0"/>
              <a:t>, there are explicit job descriptions, numerous organizational rules, and clearly defined procedures covering work processes. </a:t>
            </a:r>
            <a:endParaRPr lang="en-GB" dirty="0" smtClean="0"/>
          </a:p>
          <a:p>
            <a:r>
              <a:rPr lang="en-GB" dirty="0" smtClean="0"/>
              <a:t>Where </a:t>
            </a:r>
            <a:r>
              <a:rPr lang="en-GB" b="1" dirty="0"/>
              <a:t>formalization is low</a:t>
            </a:r>
            <a:r>
              <a:rPr lang="en-GB" dirty="0"/>
              <a:t>, job </a:t>
            </a:r>
            <a:r>
              <a:rPr lang="en-GB" dirty="0" err="1"/>
              <a:t>behaviors</a:t>
            </a:r>
            <a:r>
              <a:rPr lang="en-GB" dirty="0"/>
              <a:t> are relatively unstructured and employees have a great deal of freedom in how they do their work. </a:t>
            </a:r>
          </a:p>
        </p:txBody>
      </p:sp>
    </p:spTree>
    <p:extLst>
      <p:ext uri="{BB962C8B-B14F-4D97-AF65-F5344CB8AC3E}">
        <p14:creationId xmlns:p14="http://schemas.microsoft.com/office/powerpoint/2010/main" val="1092814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Models of Organizational Design</a:t>
            </a:r>
            <a:endParaRPr lang="en-IN" dirty="0"/>
          </a:p>
        </p:txBody>
      </p:sp>
      <p:sp>
        <p:nvSpPr>
          <p:cNvPr id="3" name="Content Placeholder 2"/>
          <p:cNvSpPr>
            <a:spLocks noGrp="1"/>
          </p:cNvSpPr>
          <p:nvPr>
            <p:ph idx="1"/>
          </p:nvPr>
        </p:nvSpPr>
        <p:spPr/>
        <p:txBody>
          <a:bodyPr>
            <a:normAutofit/>
          </a:bodyPr>
          <a:lstStyle/>
          <a:p>
            <a:r>
              <a:rPr lang="en-GB" b="1" dirty="0"/>
              <a:t>M</a:t>
            </a:r>
            <a:r>
              <a:rPr lang="en-GB" b="1" dirty="0" smtClean="0"/>
              <a:t>echanistic </a:t>
            </a:r>
            <a:r>
              <a:rPr lang="en-GB" b="1" dirty="0"/>
              <a:t>organization </a:t>
            </a:r>
            <a:r>
              <a:rPr lang="en-GB" dirty="0"/>
              <a:t>is a rigid and tightly controlled structure. It's characterized by </a:t>
            </a:r>
            <a:r>
              <a:rPr lang="en-GB" u="sng" dirty="0"/>
              <a:t>high specialization</a:t>
            </a:r>
            <a:r>
              <a:rPr lang="en-GB" dirty="0"/>
              <a:t>, </a:t>
            </a:r>
            <a:r>
              <a:rPr lang="en-GB" u="sng" dirty="0"/>
              <a:t>rigid departmentalization</a:t>
            </a:r>
            <a:r>
              <a:rPr lang="en-GB" dirty="0" smtClean="0"/>
              <a:t>, </a:t>
            </a:r>
            <a:r>
              <a:rPr lang="en-GB" u="sng" dirty="0" smtClean="0"/>
              <a:t>clear chain of command</a:t>
            </a:r>
            <a:r>
              <a:rPr lang="en-GB" dirty="0" smtClean="0"/>
              <a:t>, </a:t>
            </a:r>
            <a:r>
              <a:rPr lang="en-GB" u="sng" dirty="0"/>
              <a:t>narrow spans of control</a:t>
            </a:r>
            <a:r>
              <a:rPr lang="en-GB" dirty="0"/>
              <a:t>, </a:t>
            </a:r>
            <a:r>
              <a:rPr lang="en-GB" u="sng" dirty="0"/>
              <a:t>high formalization</a:t>
            </a:r>
            <a:r>
              <a:rPr lang="en-GB" dirty="0"/>
              <a:t>, </a:t>
            </a:r>
            <a:r>
              <a:rPr lang="en-GB" u="sng" dirty="0" smtClean="0"/>
              <a:t>centralization</a:t>
            </a:r>
            <a:r>
              <a:rPr lang="en-GB" dirty="0" smtClean="0"/>
              <a:t>, </a:t>
            </a:r>
            <a:r>
              <a:rPr lang="en-GB" u="sng" dirty="0" smtClean="0"/>
              <a:t>a </a:t>
            </a:r>
            <a:r>
              <a:rPr lang="en-GB" u="sng" dirty="0"/>
              <a:t>limited information network</a:t>
            </a:r>
            <a:r>
              <a:rPr lang="en-GB" dirty="0"/>
              <a:t> (mostly downward communication), and </a:t>
            </a:r>
            <a:r>
              <a:rPr lang="en-GB" u="sng" dirty="0"/>
              <a:t>little participation in decision making</a:t>
            </a:r>
            <a:r>
              <a:rPr lang="en-GB" dirty="0"/>
              <a:t> by lower-level employees</a:t>
            </a:r>
            <a:r>
              <a:rPr lang="en-GB" dirty="0" smtClean="0"/>
              <a:t>.</a:t>
            </a:r>
            <a:endParaRPr lang="en-GB" dirty="0"/>
          </a:p>
        </p:txBody>
      </p:sp>
    </p:spTree>
    <p:extLst>
      <p:ext uri="{BB962C8B-B14F-4D97-AF65-F5344CB8AC3E}">
        <p14:creationId xmlns:p14="http://schemas.microsoft.com/office/powerpoint/2010/main" val="1687395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Models of Organizational Design</a:t>
            </a:r>
            <a:endParaRPr lang="en-IN" dirty="0"/>
          </a:p>
        </p:txBody>
      </p:sp>
      <p:sp>
        <p:nvSpPr>
          <p:cNvPr id="3" name="Content Placeholder 2"/>
          <p:cNvSpPr>
            <a:spLocks noGrp="1"/>
          </p:cNvSpPr>
          <p:nvPr>
            <p:ph idx="1"/>
          </p:nvPr>
        </p:nvSpPr>
        <p:spPr/>
        <p:txBody>
          <a:bodyPr>
            <a:normAutofit lnSpcReduction="10000"/>
          </a:bodyPr>
          <a:lstStyle/>
          <a:p>
            <a:r>
              <a:rPr lang="en-GB" b="1" dirty="0"/>
              <a:t>Mechanistic</a:t>
            </a:r>
            <a:r>
              <a:rPr lang="en-GB" dirty="0"/>
              <a:t> types of organizational structures tend to be </a:t>
            </a:r>
            <a:r>
              <a:rPr lang="en-GB" u="sng" dirty="0"/>
              <a:t>efficiency machines</a:t>
            </a:r>
            <a:r>
              <a:rPr lang="en-GB" dirty="0"/>
              <a:t>, well oiled by </a:t>
            </a:r>
            <a:r>
              <a:rPr lang="en-GB" u="sng" dirty="0"/>
              <a:t>rules</a:t>
            </a:r>
            <a:r>
              <a:rPr lang="en-GB" dirty="0"/>
              <a:t>, </a:t>
            </a:r>
            <a:r>
              <a:rPr lang="en-GB" u="sng" dirty="0"/>
              <a:t>regulations</a:t>
            </a:r>
            <a:r>
              <a:rPr lang="en-GB" dirty="0"/>
              <a:t>, </a:t>
            </a:r>
            <a:r>
              <a:rPr lang="en-GB" u="sng" dirty="0"/>
              <a:t>standardized tasks</a:t>
            </a:r>
            <a:r>
              <a:rPr lang="en-GB" dirty="0"/>
              <a:t>, and </a:t>
            </a:r>
            <a:r>
              <a:rPr lang="en-GB" u="sng" dirty="0"/>
              <a:t>similar controls</a:t>
            </a:r>
            <a:r>
              <a:rPr lang="en-GB" dirty="0"/>
              <a:t>. </a:t>
            </a:r>
            <a:endParaRPr lang="en-GB" dirty="0" smtClean="0"/>
          </a:p>
          <a:p>
            <a:r>
              <a:rPr lang="en-GB" dirty="0" smtClean="0"/>
              <a:t>This </a:t>
            </a:r>
            <a:r>
              <a:rPr lang="en-GB" dirty="0"/>
              <a:t>organizational design tries to </a:t>
            </a:r>
            <a:r>
              <a:rPr lang="en-GB" u="sng" dirty="0"/>
              <a:t>minimize the impact of differing personalities</a:t>
            </a:r>
            <a:r>
              <a:rPr lang="en-GB" dirty="0"/>
              <a:t>, </a:t>
            </a:r>
            <a:r>
              <a:rPr lang="en-GB" u="sng" dirty="0"/>
              <a:t>judgments</a:t>
            </a:r>
            <a:r>
              <a:rPr lang="en-GB" dirty="0"/>
              <a:t>, and </a:t>
            </a:r>
            <a:r>
              <a:rPr lang="en-GB" u="sng" dirty="0"/>
              <a:t>ambiguity</a:t>
            </a:r>
            <a:r>
              <a:rPr lang="en-GB" dirty="0"/>
              <a:t> because these human traits are seen as inefficient and inconsistent </a:t>
            </a:r>
          </a:p>
        </p:txBody>
      </p:sp>
    </p:spTree>
    <p:extLst>
      <p:ext uri="{BB962C8B-B14F-4D97-AF65-F5344CB8AC3E}">
        <p14:creationId xmlns:p14="http://schemas.microsoft.com/office/powerpoint/2010/main" val="1462103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Models of Organizational Design</a:t>
            </a:r>
            <a:endParaRPr lang="en-IN" dirty="0"/>
          </a:p>
        </p:txBody>
      </p:sp>
      <p:sp>
        <p:nvSpPr>
          <p:cNvPr id="3" name="Content Placeholder 2"/>
          <p:cNvSpPr>
            <a:spLocks noGrp="1"/>
          </p:cNvSpPr>
          <p:nvPr>
            <p:ph idx="1"/>
          </p:nvPr>
        </p:nvSpPr>
        <p:spPr/>
        <p:txBody>
          <a:bodyPr/>
          <a:lstStyle/>
          <a:p>
            <a:r>
              <a:rPr lang="en-GB" b="1" dirty="0" smtClean="0"/>
              <a:t>Organic model has:</a:t>
            </a:r>
          </a:p>
          <a:p>
            <a:r>
              <a:rPr lang="en-GB" i="1" dirty="0"/>
              <a:t>Cross-Functional Teams</a:t>
            </a:r>
          </a:p>
          <a:p>
            <a:r>
              <a:rPr lang="en-GB" i="1" dirty="0"/>
              <a:t>Cross-Hierarchical Teams</a:t>
            </a:r>
          </a:p>
          <a:p>
            <a:r>
              <a:rPr lang="en-GB" i="1" dirty="0"/>
              <a:t>Free flow of information</a:t>
            </a:r>
          </a:p>
          <a:p>
            <a:r>
              <a:rPr lang="en-GB" i="1" dirty="0"/>
              <a:t>Wide spans of control</a:t>
            </a:r>
          </a:p>
          <a:p>
            <a:r>
              <a:rPr lang="en-GB" i="1" dirty="0"/>
              <a:t>Decentralization</a:t>
            </a:r>
          </a:p>
          <a:p>
            <a:r>
              <a:rPr lang="en-GB" i="1" dirty="0"/>
              <a:t>Low </a:t>
            </a:r>
            <a:r>
              <a:rPr lang="en-GB" i="1" dirty="0" smtClean="0"/>
              <a:t>formalization</a:t>
            </a:r>
            <a:endParaRPr lang="en-GB" i="1" dirty="0"/>
          </a:p>
        </p:txBody>
      </p:sp>
    </p:spTree>
    <p:extLst>
      <p:ext uri="{BB962C8B-B14F-4D97-AF65-F5344CB8AC3E}">
        <p14:creationId xmlns:p14="http://schemas.microsoft.com/office/powerpoint/2010/main" val="1713925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Models of Organizational Design</a:t>
            </a:r>
            <a:endParaRPr lang="en-IN" dirty="0"/>
          </a:p>
        </p:txBody>
      </p:sp>
      <p:sp>
        <p:nvSpPr>
          <p:cNvPr id="3" name="Content Placeholder 2"/>
          <p:cNvSpPr>
            <a:spLocks noGrp="1"/>
          </p:cNvSpPr>
          <p:nvPr>
            <p:ph idx="1"/>
          </p:nvPr>
        </p:nvSpPr>
        <p:spPr/>
        <p:txBody>
          <a:bodyPr>
            <a:normAutofit fontScale="70000" lnSpcReduction="20000"/>
          </a:bodyPr>
          <a:lstStyle/>
          <a:p>
            <a:r>
              <a:rPr lang="en-GB" b="1" dirty="0" smtClean="0"/>
              <a:t>Organic organization </a:t>
            </a:r>
            <a:r>
              <a:rPr lang="en-GB" dirty="0" smtClean="0"/>
              <a:t>is </a:t>
            </a:r>
            <a:r>
              <a:rPr lang="en-GB" dirty="0"/>
              <a:t>as </a:t>
            </a:r>
            <a:r>
              <a:rPr lang="en-GB" u="sng" dirty="0"/>
              <a:t>highly adaptive </a:t>
            </a:r>
            <a:r>
              <a:rPr lang="en-GB" dirty="0"/>
              <a:t>and </a:t>
            </a:r>
            <a:r>
              <a:rPr lang="en-GB" u="sng" dirty="0"/>
              <a:t>flexible</a:t>
            </a:r>
            <a:r>
              <a:rPr lang="en-GB" dirty="0"/>
              <a:t> a structure as the mechanistic organization is rigid and stable</a:t>
            </a:r>
            <a:r>
              <a:rPr lang="en-GB" dirty="0" smtClean="0"/>
              <a:t>.</a:t>
            </a:r>
          </a:p>
          <a:p>
            <a:r>
              <a:rPr lang="en-GB" dirty="0" smtClean="0"/>
              <a:t>Rather </a:t>
            </a:r>
            <a:r>
              <a:rPr lang="en-GB" dirty="0"/>
              <a:t>than having standardized jobs and regulations, the organic organization is </a:t>
            </a:r>
            <a:r>
              <a:rPr lang="en-GB" u="sng" dirty="0"/>
              <a:t>flexible</a:t>
            </a:r>
            <a:r>
              <a:rPr lang="en-GB" dirty="0"/>
              <a:t>, which allows it to change rapidly as needs require. </a:t>
            </a:r>
            <a:endParaRPr lang="en-GB" dirty="0" smtClean="0"/>
          </a:p>
          <a:p>
            <a:r>
              <a:rPr lang="en-GB" dirty="0" smtClean="0"/>
              <a:t>Organic </a:t>
            </a:r>
            <a:r>
              <a:rPr lang="en-GB" dirty="0"/>
              <a:t>organizations have </a:t>
            </a:r>
            <a:r>
              <a:rPr lang="en-GB" u="sng" dirty="0"/>
              <a:t>division of </a:t>
            </a:r>
            <a:r>
              <a:rPr lang="en-GB" u="sng" dirty="0" err="1"/>
              <a:t>labor</a:t>
            </a:r>
            <a:r>
              <a:rPr lang="en-GB" dirty="0"/>
              <a:t>, but the jobs people do are </a:t>
            </a:r>
            <a:r>
              <a:rPr lang="en-GB" u="sng" dirty="0"/>
              <a:t>not standardized</a:t>
            </a:r>
            <a:r>
              <a:rPr lang="en-GB" dirty="0"/>
              <a:t>. </a:t>
            </a:r>
            <a:endParaRPr lang="en-GB" dirty="0" smtClean="0"/>
          </a:p>
          <a:p>
            <a:r>
              <a:rPr lang="en-GB" dirty="0" smtClean="0"/>
              <a:t>Employees </a:t>
            </a:r>
            <a:r>
              <a:rPr lang="en-GB" dirty="0"/>
              <a:t>are </a:t>
            </a:r>
            <a:r>
              <a:rPr lang="en-GB" u="sng" dirty="0"/>
              <a:t>highly trained </a:t>
            </a:r>
            <a:r>
              <a:rPr lang="en-GB" dirty="0"/>
              <a:t>and empowered to handle diverse job activities and problems, and these organizations frequently use </a:t>
            </a:r>
            <a:r>
              <a:rPr lang="en-GB" u="sng" dirty="0"/>
              <a:t>employee teams</a:t>
            </a:r>
            <a:r>
              <a:rPr lang="en-GB" dirty="0"/>
              <a:t>. </a:t>
            </a:r>
            <a:endParaRPr lang="en-GB" dirty="0" smtClean="0"/>
          </a:p>
          <a:p>
            <a:r>
              <a:rPr lang="en-GB" dirty="0" smtClean="0"/>
              <a:t>Employees </a:t>
            </a:r>
            <a:r>
              <a:rPr lang="en-GB" dirty="0"/>
              <a:t>in organic-type organizations require </a:t>
            </a:r>
            <a:r>
              <a:rPr lang="en-GB" u="sng" dirty="0"/>
              <a:t>minimal formal rules</a:t>
            </a:r>
            <a:r>
              <a:rPr lang="en-GB" dirty="0"/>
              <a:t> and </a:t>
            </a:r>
            <a:r>
              <a:rPr lang="en-GB" u="sng" dirty="0"/>
              <a:t>little direct supervision</a:t>
            </a:r>
            <a:r>
              <a:rPr lang="en-GB" dirty="0"/>
              <a:t>. Their high levels of skills and training and the support provided by other team members make formalization and tight managerial controls </a:t>
            </a:r>
            <a:r>
              <a:rPr lang="en-GB" dirty="0" smtClean="0"/>
              <a:t>unnecessary</a:t>
            </a:r>
            <a:endParaRPr lang="en-GB" dirty="0"/>
          </a:p>
        </p:txBody>
      </p:sp>
    </p:spTree>
    <p:extLst>
      <p:ext uri="{BB962C8B-B14F-4D97-AF65-F5344CB8AC3E}">
        <p14:creationId xmlns:p14="http://schemas.microsoft.com/office/powerpoint/2010/main" val="2963138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Contingency factors affecting the choice of Organizational Design</a:t>
            </a:r>
            <a:endParaRPr lang="en-IN" dirty="0"/>
          </a:p>
        </p:txBody>
      </p:sp>
      <p:sp>
        <p:nvSpPr>
          <p:cNvPr id="3" name="Content Placeholder 2"/>
          <p:cNvSpPr>
            <a:spLocks noGrp="1"/>
          </p:cNvSpPr>
          <p:nvPr>
            <p:ph idx="1"/>
          </p:nvPr>
        </p:nvSpPr>
        <p:spPr>
          <a:xfrm>
            <a:off x="457200" y="2438400"/>
            <a:ext cx="8229600" cy="3687763"/>
          </a:xfrm>
        </p:spPr>
        <p:txBody>
          <a:bodyPr/>
          <a:lstStyle/>
          <a:p>
            <a:r>
              <a:rPr lang="en-GB" dirty="0"/>
              <a:t>organization's strategy, </a:t>
            </a:r>
            <a:endParaRPr lang="en-GB" dirty="0" smtClean="0"/>
          </a:p>
          <a:p>
            <a:r>
              <a:rPr lang="en-GB" dirty="0" smtClean="0"/>
              <a:t>size</a:t>
            </a:r>
            <a:r>
              <a:rPr lang="en-GB" dirty="0"/>
              <a:t>, </a:t>
            </a:r>
            <a:endParaRPr lang="en-GB" dirty="0" smtClean="0"/>
          </a:p>
          <a:p>
            <a:r>
              <a:rPr lang="en-GB" dirty="0" smtClean="0"/>
              <a:t>technology</a:t>
            </a:r>
            <a:r>
              <a:rPr lang="en-GB" dirty="0"/>
              <a:t>, and </a:t>
            </a:r>
            <a:endParaRPr lang="en-GB" dirty="0" smtClean="0"/>
          </a:p>
          <a:p>
            <a:r>
              <a:rPr lang="en-GB" dirty="0" smtClean="0"/>
              <a:t>degree </a:t>
            </a:r>
            <a:r>
              <a:rPr lang="en-GB" dirty="0"/>
              <a:t>of environmental </a:t>
            </a:r>
            <a:r>
              <a:rPr lang="en-GB" dirty="0" smtClean="0"/>
              <a:t>uncertainty</a:t>
            </a:r>
            <a:r>
              <a:rPr lang="en-IN" dirty="0" smtClean="0"/>
              <a:t>  </a:t>
            </a:r>
            <a:endParaRPr lang="en-IN" dirty="0"/>
          </a:p>
          <a:p>
            <a:endParaRPr lang="en-IN" dirty="0"/>
          </a:p>
        </p:txBody>
      </p:sp>
    </p:spTree>
    <p:extLst>
      <p:ext uri="{BB962C8B-B14F-4D97-AF65-F5344CB8AC3E}">
        <p14:creationId xmlns:p14="http://schemas.microsoft.com/office/powerpoint/2010/main" val="720817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Organization’s strategy</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GB" dirty="0"/>
              <a:t>(1) </a:t>
            </a:r>
            <a:r>
              <a:rPr lang="en-GB" b="1" dirty="0"/>
              <a:t>innovation</a:t>
            </a:r>
            <a:r>
              <a:rPr lang="en-GB" dirty="0"/>
              <a:t>, which reflects the organization's pursuit of meaningful and unique </a:t>
            </a:r>
            <a:r>
              <a:rPr lang="en-GB" dirty="0" smtClean="0"/>
              <a:t>innovations: </a:t>
            </a:r>
            <a:r>
              <a:rPr lang="en-GB" dirty="0"/>
              <a:t>Innovators need the flexibility and free-flowing information of the </a:t>
            </a:r>
            <a:r>
              <a:rPr lang="en-GB" b="1" dirty="0"/>
              <a:t>organic structure </a:t>
            </a:r>
            <a:r>
              <a:rPr lang="en-GB" b="1" dirty="0" smtClean="0"/>
              <a:t> </a:t>
            </a:r>
          </a:p>
          <a:p>
            <a:pPr marL="0" indent="0">
              <a:buNone/>
            </a:pPr>
            <a:r>
              <a:rPr lang="en-GB" dirty="0" smtClean="0"/>
              <a:t>(</a:t>
            </a:r>
            <a:r>
              <a:rPr lang="en-GB" dirty="0"/>
              <a:t>2) </a:t>
            </a:r>
            <a:r>
              <a:rPr lang="en-GB" b="1" dirty="0"/>
              <a:t>cost minimization</a:t>
            </a:r>
            <a:r>
              <a:rPr lang="en-GB" dirty="0"/>
              <a:t>, which reflects the organization's pursuit of tightly controlled </a:t>
            </a:r>
            <a:r>
              <a:rPr lang="en-GB" dirty="0" smtClean="0"/>
              <a:t>costs: </a:t>
            </a:r>
            <a:r>
              <a:rPr lang="en-GB" dirty="0"/>
              <a:t>cost minimizers seek the efficiency, stability, and tight controls of the </a:t>
            </a:r>
            <a:r>
              <a:rPr lang="en-GB" b="1" dirty="0"/>
              <a:t>mechanistic structure </a:t>
            </a:r>
            <a:r>
              <a:rPr lang="en-GB" b="1" dirty="0" smtClean="0"/>
              <a:t> </a:t>
            </a:r>
          </a:p>
          <a:p>
            <a:pPr marL="0" indent="0">
              <a:buNone/>
            </a:pPr>
            <a:r>
              <a:rPr lang="en-GB" dirty="0" smtClean="0"/>
              <a:t>(</a:t>
            </a:r>
            <a:r>
              <a:rPr lang="en-GB" dirty="0"/>
              <a:t>3) </a:t>
            </a:r>
            <a:r>
              <a:rPr lang="en-GB" b="1" dirty="0"/>
              <a:t>imitation</a:t>
            </a:r>
            <a:r>
              <a:rPr lang="en-GB" dirty="0"/>
              <a:t>, which reflects an organization's seeking to minimize risk and maximize profit opportunities by copying the market </a:t>
            </a:r>
            <a:r>
              <a:rPr lang="en-GB" dirty="0" smtClean="0"/>
              <a:t>leaders: </a:t>
            </a:r>
            <a:r>
              <a:rPr lang="en-GB" dirty="0"/>
              <a:t>Imitators use structural characteristics of </a:t>
            </a:r>
            <a:r>
              <a:rPr lang="en-GB" b="1" dirty="0"/>
              <a:t>both—the mechanistic structure </a:t>
            </a:r>
            <a:r>
              <a:rPr lang="en-GB" dirty="0"/>
              <a:t>to maintain tight controls and low costs </a:t>
            </a:r>
            <a:r>
              <a:rPr lang="en-GB" b="1" dirty="0"/>
              <a:t>and the organic structure </a:t>
            </a:r>
            <a:r>
              <a:rPr lang="en-GB" dirty="0"/>
              <a:t>to pursue new and innovative </a:t>
            </a:r>
            <a:r>
              <a:rPr lang="en-GB" dirty="0" smtClean="0"/>
              <a:t>directions</a:t>
            </a:r>
            <a:endParaRPr lang="en-GB" dirty="0"/>
          </a:p>
        </p:txBody>
      </p:sp>
    </p:spTree>
    <p:extLst>
      <p:ext uri="{BB962C8B-B14F-4D97-AF65-F5344CB8AC3E}">
        <p14:creationId xmlns:p14="http://schemas.microsoft.com/office/powerpoint/2010/main" val="1277417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Size and structure</a:t>
            </a:r>
            <a:endParaRPr lang="en-IN" dirty="0"/>
          </a:p>
        </p:txBody>
      </p:sp>
      <p:sp>
        <p:nvSpPr>
          <p:cNvPr id="3" name="Content Placeholder 2"/>
          <p:cNvSpPr>
            <a:spLocks noGrp="1"/>
          </p:cNvSpPr>
          <p:nvPr>
            <p:ph idx="1"/>
          </p:nvPr>
        </p:nvSpPr>
        <p:spPr/>
        <p:txBody>
          <a:bodyPr>
            <a:normAutofit/>
          </a:bodyPr>
          <a:lstStyle/>
          <a:p>
            <a:r>
              <a:rPr lang="en-GB" dirty="0"/>
              <a:t>Essentially, once an organization has around 2,000 employees, it's already fairly </a:t>
            </a:r>
            <a:r>
              <a:rPr lang="en-GB" dirty="0" smtClean="0"/>
              <a:t>mechanistic with </a:t>
            </a:r>
            <a:r>
              <a:rPr lang="en-GB" dirty="0"/>
              <a:t>more specialization, departmentalization, centralization, and rules and regulations </a:t>
            </a:r>
          </a:p>
          <a:p>
            <a:r>
              <a:rPr lang="en-IN" dirty="0"/>
              <a:t>A</a:t>
            </a:r>
            <a:r>
              <a:rPr lang="en-GB" dirty="0" err="1" smtClean="0"/>
              <a:t>dding</a:t>
            </a:r>
            <a:r>
              <a:rPr lang="en-GB" dirty="0" smtClean="0"/>
              <a:t> </a:t>
            </a:r>
            <a:r>
              <a:rPr lang="en-GB" dirty="0"/>
              <a:t>500 employees to an organization that has only 300 members is likely to result in a shift toward a more mechanistic </a:t>
            </a:r>
            <a:r>
              <a:rPr lang="en-GB" dirty="0" smtClean="0"/>
              <a:t>structure</a:t>
            </a:r>
            <a:endParaRPr lang="en-GB" dirty="0"/>
          </a:p>
        </p:txBody>
      </p:sp>
    </p:spTree>
    <p:extLst>
      <p:ext uri="{BB962C8B-B14F-4D97-AF65-F5344CB8AC3E}">
        <p14:creationId xmlns:p14="http://schemas.microsoft.com/office/powerpoint/2010/main" val="2281184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Technology and Structure</a:t>
            </a:r>
            <a:endParaRPr lang="en-IN" dirty="0"/>
          </a:p>
        </p:txBody>
      </p:sp>
      <p:sp>
        <p:nvSpPr>
          <p:cNvPr id="3" name="Content Placeholder 2"/>
          <p:cNvSpPr>
            <a:spLocks noGrp="1"/>
          </p:cNvSpPr>
          <p:nvPr>
            <p:ph idx="1"/>
          </p:nvPr>
        </p:nvSpPr>
        <p:spPr/>
        <p:txBody>
          <a:bodyPr>
            <a:normAutofit fontScale="85000" lnSpcReduction="20000"/>
          </a:bodyPr>
          <a:lstStyle/>
          <a:p>
            <a:r>
              <a:rPr lang="en-GB" dirty="0"/>
              <a:t>Joan </a:t>
            </a:r>
            <a:r>
              <a:rPr lang="en-GB" dirty="0" smtClean="0"/>
              <a:t>Woodward </a:t>
            </a:r>
            <a:r>
              <a:rPr lang="en-GB" dirty="0"/>
              <a:t>studied several small manufacturing firms in southern England to determine the extent to which structural design elements were related to organizational success. </a:t>
            </a:r>
          </a:p>
          <a:p>
            <a:r>
              <a:rPr lang="en-GB" dirty="0"/>
              <a:t>The </a:t>
            </a:r>
            <a:r>
              <a:rPr lang="en-GB" b="1" dirty="0"/>
              <a:t>three categories</a:t>
            </a:r>
            <a:r>
              <a:rPr lang="en-GB" dirty="0"/>
              <a:t>, representing three distinct technologies, had increasing levels of complexity and sophistication. The </a:t>
            </a:r>
            <a:r>
              <a:rPr lang="en-GB" u="sng" dirty="0"/>
              <a:t>first category</a:t>
            </a:r>
            <a:r>
              <a:rPr lang="en-GB" dirty="0"/>
              <a:t>, </a:t>
            </a:r>
            <a:r>
              <a:rPr lang="en-GB" b="1" dirty="0"/>
              <a:t>unit production</a:t>
            </a:r>
            <a:r>
              <a:rPr lang="en-GB" dirty="0"/>
              <a:t>, described the production of items in units or small batches. The </a:t>
            </a:r>
            <a:r>
              <a:rPr lang="en-GB" u="sng" dirty="0"/>
              <a:t>second category</a:t>
            </a:r>
            <a:r>
              <a:rPr lang="en-GB" dirty="0"/>
              <a:t>, </a:t>
            </a:r>
            <a:r>
              <a:rPr lang="en-GB" b="1" dirty="0"/>
              <a:t>mass production</a:t>
            </a:r>
            <a:r>
              <a:rPr lang="en-GB" dirty="0"/>
              <a:t>, described large-batch manufacturing. Finally, the </a:t>
            </a:r>
            <a:r>
              <a:rPr lang="en-GB" u="sng" dirty="0"/>
              <a:t>third</a:t>
            </a:r>
            <a:r>
              <a:rPr lang="en-GB" dirty="0"/>
              <a:t> and most technically complex group, process production, included </a:t>
            </a:r>
            <a:r>
              <a:rPr lang="en-GB" b="1" dirty="0"/>
              <a:t>continuous-process production </a:t>
            </a:r>
            <a:r>
              <a:rPr lang="en-IN" b="1" dirty="0" smtClean="0"/>
              <a:t>  </a:t>
            </a:r>
            <a:endParaRPr lang="en-IN" b="1" dirty="0"/>
          </a:p>
          <a:p>
            <a:endParaRPr lang="en-IN" dirty="0"/>
          </a:p>
        </p:txBody>
      </p:sp>
    </p:spTree>
    <p:extLst>
      <p:ext uri="{BB962C8B-B14F-4D97-AF65-F5344CB8AC3E}">
        <p14:creationId xmlns:p14="http://schemas.microsoft.com/office/powerpoint/2010/main" val="2614830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
            </a:r>
            <a:br>
              <a:rPr lang="en-GB" b="1" dirty="0" smtClean="0"/>
            </a:br>
            <a:r>
              <a:rPr lang="en-GB" b="1" dirty="0" smtClean="0"/>
              <a:t>Woodward's </a:t>
            </a:r>
            <a:r>
              <a:rPr lang="en-GB" b="1" dirty="0"/>
              <a:t>Findings on Technology, Structure, and </a:t>
            </a:r>
            <a:r>
              <a:rPr lang="en-GB" b="1" dirty="0" smtClean="0"/>
              <a:t>Effectiveness</a:t>
            </a:r>
            <a:r>
              <a:rPr lang="en-IN" dirty="0"/>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65073008"/>
              </p:ext>
            </p:extLst>
          </p:nvPr>
        </p:nvGraphicFramePr>
        <p:xfrm>
          <a:off x="457200" y="1600200"/>
          <a:ext cx="8229600" cy="347980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endParaRPr lang="en-IN" dirty="0"/>
                    </a:p>
                  </a:txBody>
                  <a:tcPr/>
                </a:tc>
                <a:tc>
                  <a:txBody>
                    <a:bodyPr/>
                    <a:lstStyle/>
                    <a:p>
                      <a:r>
                        <a:rPr lang="en-GB" dirty="0" smtClean="0"/>
                        <a:t>Unit Production</a:t>
                      </a:r>
                      <a:endParaRPr lang="en-IN" dirty="0"/>
                    </a:p>
                  </a:txBody>
                  <a:tcPr/>
                </a:tc>
                <a:tc>
                  <a:txBody>
                    <a:bodyPr/>
                    <a:lstStyle/>
                    <a:p>
                      <a:r>
                        <a:rPr lang="en-GB" dirty="0" smtClean="0"/>
                        <a:t>Mass Production</a:t>
                      </a:r>
                      <a:endParaRPr lang="en-IN" dirty="0"/>
                    </a:p>
                  </a:txBody>
                  <a:tcPr/>
                </a:tc>
                <a:tc>
                  <a:txBody>
                    <a:bodyPr/>
                    <a:lstStyle/>
                    <a:p>
                      <a:r>
                        <a:rPr lang="en-GB" dirty="0" smtClean="0"/>
                        <a:t>Process Production</a:t>
                      </a:r>
                      <a:endParaRPr lang="en-IN" dirty="0"/>
                    </a:p>
                  </a:txBody>
                  <a:tcPr/>
                </a:tc>
              </a:tr>
              <a:tr h="370840">
                <a:tc>
                  <a:txBody>
                    <a:bodyPr/>
                    <a:lstStyle/>
                    <a:p>
                      <a:r>
                        <a:rPr lang="en-GB" dirty="0" smtClean="0"/>
                        <a:t>Structural characteristics</a:t>
                      </a:r>
                    </a:p>
                    <a:p>
                      <a:endParaRPr lang="en-GB" dirty="0" smtClean="0"/>
                    </a:p>
                    <a:p>
                      <a:endParaRPr lang="en-GB" dirty="0" smtClean="0"/>
                    </a:p>
                    <a:p>
                      <a:endParaRPr lang="en-GB" dirty="0" smtClean="0"/>
                    </a:p>
                    <a:p>
                      <a:endParaRPr lang="en-GB" dirty="0" smtClean="0"/>
                    </a:p>
                    <a:p>
                      <a:endParaRPr lang="en-GB" dirty="0" smtClean="0"/>
                    </a:p>
                    <a:p>
                      <a:endParaRPr lang="en-GB" dirty="0" smtClean="0"/>
                    </a:p>
                    <a:p>
                      <a:endParaRPr lang="en-GB" dirty="0" smtClean="0"/>
                    </a:p>
                    <a:p>
                      <a:r>
                        <a:rPr lang="en-GB" dirty="0" smtClean="0"/>
                        <a:t>Most</a:t>
                      </a:r>
                      <a:r>
                        <a:rPr lang="en-GB" baseline="0" dirty="0" smtClean="0"/>
                        <a:t> effective structure</a:t>
                      </a:r>
                      <a:endParaRPr lang="en-IN" dirty="0"/>
                    </a:p>
                  </a:txBody>
                  <a:tcPr/>
                </a:tc>
                <a:tc>
                  <a:txBody>
                    <a:bodyPr/>
                    <a:lstStyle/>
                    <a:p>
                      <a:r>
                        <a:rPr lang="en-IN" sz="1800" b="0" i="0" u="none" strike="noStrike" kern="1200" baseline="0" dirty="0" smtClean="0">
                          <a:solidFill>
                            <a:schemeClr val="dk1"/>
                          </a:solidFill>
                          <a:latin typeface="+mn-lt"/>
                          <a:ea typeface="+mn-ea"/>
                          <a:cs typeface="+mn-cs"/>
                        </a:rPr>
                        <a:t>Low vertical differentiation</a:t>
                      </a:r>
                    </a:p>
                    <a:p>
                      <a:r>
                        <a:rPr lang="en-IN" sz="1800" b="0" i="0" u="none" strike="noStrike" kern="1200" baseline="0" dirty="0" smtClean="0">
                          <a:solidFill>
                            <a:schemeClr val="dk1"/>
                          </a:solidFill>
                          <a:latin typeface="+mn-lt"/>
                          <a:ea typeface="+mn-ea"/>
                          <a:cs typeface="+mn-cs"/>
                        </a:rPr>
                        <a:t> </a:t>
                      </a:r>
                    </a:p>
                    <a:p>
                      <a:r>
                        <a:rPr lang="en-IN" sz="1800" b="0" i="0" u="none" strike="noStrike" kern="1200" baseline="0" smtClean="0">
                          <a:solidFill>
                            <a:schemeClr val="dk1"/>
                          </a:solidFill>
                          <a:latin typeface="+mn-lt"/>
                          <a:ea typeface="+mn-ea"/>
                          <a:cs typeface="+mn-cs"/>
                        </a:rPr>
                        <a:t>Low </a:t>
                      </a:r>
                      <a:r>
                        <a:rPr lang="en-IN" sz="1800" b="0" i="0" u="none" strike="noStrike" kern="1200" baseline="0" dirty="0" smtClean="0">
                          <a:solidFill>
                            <a:schemeClr val="dk1"/>
                          </a:solidFill>
                          <a:latin typeface="+mn-lt"/>
                          <a:ea typeface="+mn-ea"/>
                          <a:cs typeface="+mn-cs"/>
                        </a:rPr>
                        <a:t>horizontal differentiation</a:t>
                      </a:r>
                    </a:p>
                    <a:p>
                      <a:r>
                        <a:rPr lang="en-IN" sz="1800" b="0" i="0" u="none" strike="noStrike" kern="1200" baseline="0" smtClean="0">
                          <a:solidFill>
                            <a:schemeClr val="dk1"/>
                          </a:solidFill>
                          <a:latin typeface="+mn-lt"/>
                          <a:ea typeface="+mn-ea"/>
                          <a:cs typeface="+mn-cs"/>
                        </a:rPr>
                        <a:t>  </a:t>
                      </a:r>
                      <a:endParaRPr lang="en-IN" sz="1800" b="0" i="0" u="none" strike="noStrike" kern="1200" baseline="0" dirty="0" smtClean="0">
                        <a:solidFill>
                          <a:schemeClr val="dk1"/>
                        </a:solidFill>
                        <a:latin typeface="+mn-lt"/>
                        <a:ea typeface="+mn-ea"/>
                        <a:cs typeface="+mn-cs"/>
                      </a:endParaRPr>
                    </a:p>
                    <a:p>
                      <a:r>
                        <a:rPr lang="en-IN" sz="1800" b="0" i="0" u="none" strike="noStrike" kern="1200" baseline="0" dirty="0" smtClean="0">
                          <a:solidFill>
                            <a:schemeClr val="dk1"/>
                          </a:solidFill>
                          <a:latin typeface="+mn-lt"/>
                          <a:ea typeface="+mn-ea"/>
                          <a:cs typeface="+mn-cs"/>
                        </a:rPr>
                        <a:t>Low formalization</a:t>
                      </a:r>
                    </a:p>
                    <a:p>
                      <a:r>
                        <a:rPr lang="en-IN" sz="1800" b="0" i="0" u="none" strike="noStrike" kern="1200" baseline="0" smtClean="0">
                          <a:solidFill>
                            <a:schemeClr val="dk1"/>
                          </a:solidFill>
                          <a:latin typeface="+mn-lt"/>
                          <a:ea typeface="+mn-ea"/>
                          <a:cs typeface="+mn-cs"/>
                        </a:rPr>
                        <a:t> </a:t>
                      </a:r>
                      <a:endParaRPr lang="en-IN" sz="1800" b="0" i="0" u="none" strike="noStrike" kern="1200" baseline="0" dirty="0" smtClean="0">
                        <a:solidFill>
                          <a:schemeClr val="dk1"/>
                        </a:solidFill>
                        <a:latin typeface="+mn-lt"/>
                        <a:ea typeface="+mn-ea"/>
                        <a:cs typeface="+mn-cs"/>
                      </a:endParaRPr>
                    </a:p>
                    <a:p>
                      <a:r>
                        <a:rPr lang="en-IN" sz="1800" b="0" i="0" u="none" strike="noStrike" kern="1200" baseline="0" smtClean="0">
                          <a:solidFill>
                            <a:schemeClr val="dk1"/>
                          </a:solidFill>
                          <a:latin typeface="+mn-lt"/>
                          <a:ea typeface="+mn-ea"/>
                          <a:cs typeface="+mn-cs"/>
                        </a:rPr>
                        <a:t>   </a:t>
                      </a:r>
                      <a:endParaRPr lang="en-IN" sz="1800" b="0" i="0" u="none" strike="noStrike" kern="1200" baseline="0" dirty="0" smtClean="0">
                        <a:solidFill>
                          <a:schemeClr val="dk1"/>
                        </a:solidFill>
                        <a:latin typeface="+mn-lt"/>
                        <a:ea typeface="+mn-ea"/>
                        <a:cs typeface="+mn-cs"/>
                      </a:endParaRPr>
                    </a:p>
                    <a:p>
                      <a:endParaRPr lang="en-GB" smtClean="0"/>
                    </a:p>
                    <a:p>
                      <a:r>
                        <a:rPr lang="en-GB" smtClean="0"/>
                        <a:t>Organic</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smtClean="0">
                          <a:solidFill>
                            <a:schemeClr val="dk1"/>
                          </a:solidFill>
                          <a:latin typeface="+mn-lt"/>
                          <a:ea typeface="+mn-ea"/>
                          <a:cs typeface="+mn-cs"/>
                        </a:rPr>
                        <a:t>Moderate vertical differentiation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smtClean="0">
                          <a:solidFill>
                            <a:schemeClr val="dk1"/>
                          </a:solidFill>
                          <a:latin typeface="+mn-lt"/>
                          <a:ea typeface="+mn-ea"/>
                          <a:cs typeface="+mn-cs"/>
                        </a:rPr>
                        <a:t>High horizontal differentiation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smtClean="0">
                          <a:solidFill>
                            <a:schemeClr val="dk1"/>
                          </a:solidFill>
                          <a:latin typeface="+mn-lt"/>
                          <a:ea typeface="+mn-ea"/>
                          <a:cs typeface="+mn-cs"/>
                        </a:rPr>
                        <a:t>High formalization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800" b="0" i="0" u="none" strike="noStrike" kern="1200" baseline="0" dirty="0" smtClean="0">
                          <a:solidFill>
                            <a:schemeClr val="dk1"/>
                          </a:solidFill>
                          <a:latin typeface="+mn-lt"/>
                          <a:ea typeface="+mn-ea"/>
                          <a:cs typeface="+mn-cs"/>
                        </a:rPr>
                        <a:t>Mechanistic</a:t>
                      </a:r>
                      <a:endParaRPr lang="en-IN" sz="1800" b="0" i="0" u="none" strike="noStrike" kern="1200" baseline="0" dirty="0" smtClean="0">
                        <a:solidFill>
                          <a:schemeClr val="dk1"/>
                        </a:solidFill>
                        <a:latin typeface="+mn-lt"/>
                        <a:ea typeface="+mn-ea"/>
                        <a:cs typeface="+mn-cs"/>
                      </a:endParaRPr>
                    </a:p>
                  </a:txBody>
                  <a:tcPr/>
                </a:tc>
                <a:tc>
                  <a:txBody>
                    <a:bodyPr/>
                    <a:lstStyle/>
                    <a:p>
                      <a:r>
                        <a:rPr lang="en-IN" sz="1800" b="0" i="0" u="none" strike="noStrike" kern="1200" baseline="0" dirty="0" smtClean="0">
                          <a:solidFill>
                            <a:schemeClr val="dk1"/>
                          </a:solidFill>
                          <a:latin typeface="+mn-lt"/>
                          <a:ea typeface="+mn-ea"/>
                          <a:cs typeface="+mn-cs"/>
                        </a:rPr>
                        <a:t>High vertical differentiation</a:t>
                      </a:r>
                    </a:p>
                    <a:p>
                      <a:endParaRPr lang="en-GB" sz="1800" b="0" i="0" u="none" strike="noStrike"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smtClean="0">
                          <a:solidFill>
                            <a:schemeClr val="dk1"/>
                          </a:solidFill>
                          <a:latin typeface="+mn-lt"/>
                          <a:ea typeface="+mn-ea"/>
                          <a:cs typeface="+mn-cs"/>
                        </a:rPr>
                        <a:t>Low horizontal differentiation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smtClean="0">
                          <a:solidFill>
                            <a:schemeClr val="dk1"/>
                          </a:solidFill>
                          <a:latin typeface="+mn-lt"/>
                          <a:ea typeface="+mn-ea"/>
                          <a:cs typeface="+mn-cs"/>
                        </a:rPr>
                        <a:t>Low formalization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800" b="0" i="0" u="none" strike="noStrike" kern="1200" baseline="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800" b="0" i="0" u="none" strike="noStrike" kern="1200" baseline="0" smtClean="0">
                          <a:solidFill>
                            <a:schemeClr val="dk1"/>
                          </a:solidFill>
                          <a:latin typeface="+mn-lt"/>
                          <a:ea typeface="+mn-ea"/>
                          <a:cs typeface="+mn-cs"/>
                        </a:rPr>
                        <a:t>Organic</a:t>
                      </a:r>
                      <a:endParaRPr lang="en-IN" sz="1800" b="0" i="0" u="none" strike="noStrike" kern="1200" baseline="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1356454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Environmental uncertainty and structure</a:t>
            </a:r>
            <a:endParaRPr lang="en-IN" dirty="0"/>
          </a:p>
        </p:txBody>
      </p:sp>
      <p:sp>
        <p:nvSpPr>
          <p:cNvPr id="3" name="Content Placeholder 2"/>
          <p:cNvSpPr>
            <a:spLocks noGrp="1"/>
          </p:cNvSpPr>
          <p:nvPr>
            <p:ph idx="1"/>
          </p:nvPr>
        </p:nvSpPr>
        <p:spPr/>
        <p:txBody>
          <a:bodyPr>
            <a:normAutofit fontScale="77500" lnSpcReduction="20000"/>
          </a:bodyPr>
          <a:lstStyle/>
          <a:p>
            <a:r>
              <a:rPr lang="en-GB" dirty="0"/>
              <a:t>Some organizations face relatively stable and simple environments; others face dynamic and complex environments </a:t>
            </a:r>
          </a:p>
          <a:p>
            <a:r>
              <a:rPr lang="en-GB" dirty="0"/>
              <a:t>The greater the uncertainty, the greater the need for the flexibility offered by an </a:t>
            </a:r>
            <a:r>
              <a:rPr lang="en-GB" b="1" dirty="0"/>
              <a:t>organic design</a:t>
            </a:r>
            <a:r>
              <a:rPr lang="en-GB" dirty="0"/>
              <a:t>. On the other hand, in stable, simple environments, </a:t>
            </a:r>
            <a:r>
              <a:rPr lang="en-GB" b="1" dirty="0"/>
              <a:t>mechanistic designs</a:t>
            </a:r>
            <a:r>
              <a:rPr lang="en-GB" dirty="0"/>
              <a:t> tend to be most effective.</a:t>
            </a:r>
          </a:p>
          <a:p>
            <a:r>
              <a:rPr lang="en-GB" u="sng" dirty="0"/>
              <a:t>Global competition</a:t>
            </a:r>
            <a:r>
              <a:rPr lang="en-GB" dirty="0"/>
              <a:t>, </a:t>
            </a:r>
            <a:r>
              <a:rPr lang="en-GB" u="sng" dirty="0"/>
              <a:t>accelerated product innovation by competitors</a:t>
            </a:r>
            <a:r>
              <a:rPr lang="en-GB" dirty="0"/>
              <a:t>, and </a:t>
            </a:r>
            <a:r>
              <a:rPr lang="en-GB" u="sng" dirty="0"/>
              <a:t>increased demands from customers for high quality and faster deliveries </a:t>
            </a:r>
            <a:r>
              <a:rPr lang="en-GB" dirty="0"/>
              <a:t>are examples of dynamic environmental forces. Mechanistic organizations are not equipped to respond to rapid environmental change and environmental uncertainty. As a result, we're seeing organizations being designed to be more </a:t>
            </a:r>
            <a:r>
              <a:rPr lang="en-GB" b="1" dirty="0"/>
              <a:t>organic</a:t>
            </a:r>
            <a:r>
              <a:rPr lang="en-GB" dirty="0" smtClean="0"/>
              <a:t>.</a:t>
            </a:r>
            <a:endParaRPr lang="en-IN" dirty="0"/>
          </a:p>
          <a:p>
            <a:endParaRPr lang="en-IN" dirty="0"/>
          </a:p>
        </p:txBody>
      </p:sp>
    </p:spTree>
    <p:extLst>
      <p:ext uri="{BB962C8B-B14F-4D97-AF65-F5344CB8AC3E}">
        <p14:creationId xmlns:p14="http://schemas.microsoft.com/office/powerpoint/2010/main" val="2634040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Traditional Organizational Designs</a:t>
            </a:r>
            <a:endParaRPr lang="en-IN" dirty="0"/>
          </a:p>
        </p:txBody>
      </p:sp>
      <p:sp>
        <p:nvSpPr>
          <p:cNvPr id="3" name="Content Placeholder 2"/>
          <p:cNvSpPr>
            <a:spLocks noGrp="1"/>
          </p:cNvSpPr>
          <p:nvPr>
            <p:ph idx="1"/>
          </p:nvPr>
        </p:nvSpPr>
        <p:spPr/>
        <p:txBody>
          <a:bodyPr>
            <a:normAutofit fontScale="92500" lnSpcReduction="10000"/>
          </a:bodyPr>
          <a:lstStyle/>
          <a:p>
            <a:r>
              <a:rPr lang="en-GB" dirty="0"/>
              <a:t>A </a:t>
            </a:r>
            <a:r>
              <a:rPr lang="en-GB" b="1" dirty="0"/>
              <a:t>simple structure </a:t>
            </a:r>
            <a:r>
              <a:rPr lang="en-GB" dirty="0"/>
              <a:t>is an organizational design with low departmentalization, wide spans of control, authority centralized in a single person, and little </a:t>
            </a:r>
            <a:r>
              <a:rPr lang="en-GB" dirty="0" smtClean="0"/>
              <a:t>formalization. </a:t>
            </a:r>
            <a:r>
              <a:rPr lang="en-GB" dirty="0"/>
              <a:t>This structure is most commonly used by small businesses in which the owner and manager are one and the </a:t>
            </a:r>
            <a:r>
              <a:rPr lang="en-GB" dirty="0" smtClean="0"/>
              <a:t>same</a:t>
            </a:r>
          </a:p>
          <a:p>
            <a:r>
              <a:rPr lang="en-GB" b="1" dirty="0"/>
              <a:t>Strengths</a:t>
            </a:r>
            <a:r>
              <a:rPr lang="en-GB" dirty="0"/>
              <a:t>: Fast; flexible; inexpensive to maintain; clear </a:t>
            </a:r>
            <a:r>
              <a:rPr lang="en-GB" dirty="0" smtClean="0"/>
              <a:t>accountability</a:t>
            </a:r>
            <a:endParaRPr lang="en-IN" dirty="0"/>
          </a:p>
          <a:p>
            <a:r>
              <a:rPr lang="en-GB" b="1" dirty="0"/>
              <a:t>Weaknesses</a:t>
            </a:r>
            <a:r>
              <a:rPr lang="en-GB" dirty="0"/>
              <a:t>: Not appropriate as organization grows; reliance on one person is </a:t>
            </a:r>
            <a:r>
              <a:rPr lang="en-GB" dirty="0" smtClean="0"/>
              <a:t>risky</a:t>
            </a:r>
            <a:endParaRPr lang="en-GB" dirty="0"/>
          </a:p>
          <a:p>
            <a:endParaRPr lang="en-IN" dirty="0"/>
          </a:p>
        </p:txBody>
      </p:sp>
    </p:spTree>
    <p:extLst>
      <p:ext uri="{BB962C8B-B14F-4D97-AF65-F5344CB8AC3E}">
        <p14:creationId xmlns:p14="http://schemas.microsoft.com/office/powerpoint/2010/main" val="274385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Traditional Organizational Designs</a:t>
            </a:r>
            <a:endParaRPr lang="en-IN" dirty="0"/>
          </a:p>
        </p:txBody>
      </p:sp>
      <p:sp>
        <p:nvSpPr>
          <p:cNvPr id="3" name="Content Placeholder 2"/>
          <p:cNvSpPr>
            <a:spLocks noGrp="1"/>
          </p:cNvSpPr>
          <p:nvPr>
            <p:ph idx="1"/>
          </p:nvPr>
        </p:nvSpPr>
        <p:spPr/>
        <p:txBody>
          <a:bodyPr>
            <a:normAutofit fontScale="77500" lnSpcReduction="20000"/>
          </a:bodyPr>
          <a:lstStyle/>
          <a:p>
            <a:r>
              <a:rPr lang="en-GB" b="1" dirty="0" smtClean="0"/>
              <a:t>Functional structure</a:t>
            </a:r>
            <a:r>
              <a:rPr lang="en-GB" dirty="0" smtClean="0"/>
              <a:t>: </a:t>
            </a:r>
            <a:r>
              <a:rPr lang="en-GB" dirty="0"/>
              <a:t>A functional structure is an organizational design that groups similar or related occupational specialties together. It's the functional approach to departmentalization applied to the entire organization. </a:t>
            </a:r>
            <a:r>
              <a:rPr lang="en-GB" b="1" dirty="0" smtClean="0"/>
              <a:t>Example</a:t>
            </a:r>
            <a:r>
              <a:rPr lang="en-GB" dirty="0" smtClean="0"/>
              <a:t>: </a:t>
            </a:r>
            <a:r>
              <a:rPr lang="en-GB" dirty="0"/>
              <a:t>functions of operations, finance, human resources, and product research and </a:t>
            </a:r>
            <a:r>
              <a:rPr lang="en-GB" dirty="0" smtClean="0"/>
              <a:t>development</a:t>
            </a:r>
          </a:p>
          <a:p>
            <a:r>
              <a:rPr lang="en-GB" b="1" dirty="0"/>
              <a:t>Strengths</a:t>
            </a:r>
            <a:r>
              <a:rPr lang="en-GB" dirty="0"/>
              <a:t>: Cost-saving advantages from specialization (economies of scale, minimal </a:t>
            </a:r>
            <a:r>
              <a:rPr lang="en-GB" dirty="0" smtClean="0"/>
              <a:t>duplication </a:t>
            </a:r>
            <a:r>
              <a:rPr lang="en-GB" dirty="0"/>
              <a:t>of people and equipment) and employees are grouped with others who have similar </a:t>
            </a:r>
            <a:r>
              <a:rPr lang="en-GB" dirty="0" smtClean="0"/>
              <a:t>tasks</a:t>
            </a:r>
            <a:endParaRPr lang="en-IN" dirty="0"/>
          </a:p>
          <a:p>
            <a:r>
              <a:rPr lang="en-GB" b="1" dirty="0"/>
              <a:t>Weaknesses</a:t>
            </a:r>
            <a:r>
              <a:rPr lang="en-GB" dirty="0"/>
              <a:t>: Pursuit of functional goals can cause managers to lose sight of what's best for </a:t>
            </a:r>
            <a:r>
              <a:rPr lang="en-GB" dirty="0" smtClean="0"/>
              <a:t>overall </a:t>
            </a:r>
            <a:r>
              <a:rPr lang="en-GB" dirty="0"/>
              <a:t>organization; functional specialists become insulated and have little understanding of what other units are </a:t>
            </a:r>
            <a:r>
              <a:rPr lang="en-GB" dirty="0" smtClean="0"/>
              <a:t>doing</a:t>
            </a:r>
            <a:endParaRPr lang="en-GB" dirty="0"/>
          </a:p>
        </p:txBody>
      </p:sp>
    </p:spTree>
    <p:extLst>
      <p:ext uri="{BB962C8B-B14F-4D97-AF65-F5344CB8AC3E}">
        <p14:creationId xmlns:p14="http://schemas.microsoft.com/office/powerpoint/2010/main" val="2757974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Traditional Organizational Designs</a:t>
            </a:r>
            <a:endParaRPr lang="en-IN" dirty="0"/>
          </a:p>
        </p:txBody>
      </p:sp>
      <p:sp>
        <p:nvSpPr>
          <p:cNvPr id="3" name="Content Placeholder 2"/>
          <p:cNvSpPr>
            <a:spLocks noGrp="1"/>
          </p:cNvSpPr>
          <p:nvPr>
            <p:ph idx="1"/>
          </p:nvPr>
        </p:nvSpPr>
        <p:spPr/>
        <p:txBody>
          <a:bodyPr>
            <a:normAutofit fontScale="77500" lnSpcReduction="20000"/>
          </a:bodyPr>
          <a:lstStyle/>
          <a:p>
            <a:r>
              <a:rPr lang="en-GB" dirty="0"/>
              <a:t>The </a:t>
            </a:r>
            <a:r>
              <a:rPr lang="en-GB" b="1" dirty="0"/>
              <a:t>divisional structure </a:t>
            </a:r>
            <a:r>
              <a:rPr lang="en-GB" dirty="0"/>
              <a:t>is an organizational structure made up of separate units or </a:t>
            </a:r>
            <a:r>
              <a:rPr lang="en-GB" dirty="0" smtClean="0"/>
              <a:t>divisions. </a:t>
            </a:r>
            <a:r>
              <a:rPr lang="en-GB" dirty="0"/>
              <a:t>In this design, each unit or division has relatively limited autonomy, with a division manager responsible for performance and who has strategic and operational authority over his or her </a:t>
            </a:r>
            <a:r>
              <a:rPr lang="en-GB" dirty="0" smtClean="0"/>
              <a:t>unit. </a:t>
            </a:r>
            <a:r>
              <a:rPr lang="en-GB" b="1" dirty="0" smtClean="0"/>
              <a:t>Example:</a:t>
            </a:r>
            <a:r>
              <a:rPr lang="en-GB" dirty="0" smtClean="0"/>
              <a:t> </a:t>
            </a:r>
            <a:r>
              <a:rPr lang="en-GB" dirty="0"/>
              <a:t>Wal-Mart Realty, International, Specialty Stores, Sam's Clubs, and </a:t>
            </a:r>
            <a:r>
              <a:rPr lang="en-GB" dirty="0" err="1"/>
              <a:t>Supercenters</a:t>
            </a:r>
            <a:r>
              <a:rPr lang="en-GB" dirty="0"/>
              <a:t> </a:t>
            </a:r>
          </a:p>
          <a:p>
            <a:r>
              <a:rPr lang="en-GB" b="1" dirty="0"/>
              <a:t>Strengths</a:t>
            </a:r>
            <a:r>
              <a:rPr lang="en-GB" dirty="0"/>
              <a:t>: Focuses on results—division managers are responsible for what happens to their </a:t>
            </a:r>
            <a:r>
              <a:rPr lang="en-IN" dirty="0" smtClean="0"/>
              <a:t>products </a:t>
            </a:r>
            <a:r>
              <a:rPr lang="en-IN" dirty="0"/>
              <a:t>and </a:t>
            </a:r>
            <a:r>
              <a:rPr lang="en-IN" dirty="0" smtClean="0"/>
              <a:t>services </a:t>
            </a:r>
            <a:endParaRPr lang="en-IN" dirty="0"/>
          </a:p>
          <a:p>
            <a:r>
              <a:rPr lang="en-GB" b="1" dirty="0"/>
              <a:t>Weaknesses</a:t>
            </a:r>
            <a:r>
              <a:rPr lang="en-GB" dirty="0"/>
              <a:t>: Duplication of activities and resources increases costs and reduces </a:t>
            </a:r>
            <a:r>
              <a:rPr lang="en-GB" dirty="0" smtClean="0"/>
              <a:t>efficiency</a:t>
            </a:r>
            <a:r>
              <a:rPr lang="en-IN" dirty="0" smtClean="0"/>
              <a:t>  </a:t>
            </a:r>
            <a:endParaRPr lang="en-IN" dirty="0"/>
          </a:p>
          <a:p>
            <a:endParaRPr lang="en-IN" dirty="0"/>
          </a:p>
        </p:txBody>
      </p:sp>
    </p:spTree>
    <p:extLst>
      <p:ext uri="{BB962C8B-B14F-4D97-AF65-F5344CB8AC3E}">
        <p14:creationId xmlns:p14="http://schemas.microsoft.com/office/powerpoint/2010/main" val="1644751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Contemporary Organizational Designs</a:t>
            </a:r>
            <a:endParaRPr lang="en-IN" dirty="0"/>
          </a:p>
        </p:txBody>
      </p:sp>
      <p:sp>
        <p:nvSpPr>
          <p:cNvPr id="3" name="Content Placeholder 2"/>
          <p:cNvSpPr>
            <a:spLocks noGrp="1"/>
          </p:cNvSpPr>
          <p:nvPr>
            <p:ph idx="1"/>
          </p:nvPr>
        </p:nvSpPr>
        <p:spPr/>
        <p:txBody>
          <a:bodyPr>
            <a:normAutofit/>
          </a:bodyPr>
          <a:lstStyle/>
          <a:p>
            <a:r>
              <a:rPr lang="en-GB" b="1" dirty="0" smtClean="0"/>
              <a:t>Team-based structure</a:t>
            </a:r>
            <a:r>
              <a:rPr lang="en-GB" dirty="0" smtClean="0"/>
              <a:t>: </a:t>
            </a:r>
            <a:r>
              <a:rPr lang="en-GB" dirty="0"/>
              <a:t>In a team-based structure, the entire organization is made up of work groups or teams that perform the organization's </a:t>
            </a:r>
            <a:r>
              <a:rPr lang="en-GB" dirty="0" smtClean="0"/>
              <a:t>work. In </a:t>
            </a:r>
            <a:r>
              <a:rPr lang="en-GB" dirty="0"/>
              <a:t>a team-based structure, employee empowerment is crucial because there is no line of managerial authority from top to bottom. Rather, employee teams are free to design work in the way they think is best </a:t>
            </a:r>
          </a:p>
          <a:p>
            <a:endParaRPr lang="en-IN" dirty="0"/>
          </a:p>
        </p:txBody>
      </p:sp>
    </p:spTree>
    <p:extLst>
      <p:ext uri="{BB962C8B-B14F-4D97-AF65-F5344CB8AC3E}">
        <p14:creationId xmlns:p14="http://schemas.microsoft.com/office/powerpoint/2010/main" val="2732234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Contemporary Organizational Designs</a:t>
            </a:r>
            <a:endParaRPr lang="en-IN" dirty="0"/>
          </a:p>
        </p:txBody>
      </p:sp>
      <p:sp>
        <p:nvSpPr>
          <p:cNvPr id="3" name="Content Placeholder 2"/>
          <p:cNvSpPr>
            <a:spLocks noGrp="1"/>
          </p:cNvSpPr>
          <p:nvPr>
            <p:ph idx="1"/>
          </p:nvPr>
        </p:nvSpPr>
        <p:spPr/>
        <p:txBody>
          <a:bodyPr>
            <a:normAutofit fontScale="55000" lnSpcReduction="20000"/>
          </a:bodyPr>
          <a:lstStyle/>
          <a:p>
            <a:r>
              <a:rPr lang="en-GB" b="1" dirty="0" smtClean="0"/>
              <a:t>Matrix and Project Structures</a:t>
            </a:r>
            <a:r>
              <a:rPr lang="en-GB" dirty="0" smtClean="0"/>
              <a:t>: </a:t>
            </a:r>
            <a:r>
              <a:rPr lang="en-GB" dirty="0"/>
              <a:t>The matrix structure is an organizational structure that assigns specialists from different functional departments to work on one or more projects being led by project managers. </a:t>
            </a:r>
          </a:p>
          <a:p>
            <a:r>
              <a:rPr lang="en-GB" dirty="0" smtClean="0"/>
              <a:t>Each </a:t>
            </a:r>
            <a:r>
              <a:rPr lang="en-GB" dirty="0"/>
              <a:t>project is managed by an individual who staffs his or her project with people from each of the functional departments. </a:t>
            </a:r>
          </a:p>
          <a:p>
            <a:r>
              <a:rPr lang="en-GB" dirty="0" smtClean="0"/>
              <a:t>This structure </a:t>
            </a:r>
            <a:r>
              <a:rPr lang="en-GB" dirty="0"/>
              <a:t>"weaves together" elements of functional and product departmentalization—hence, the term </a:t>
            </a:r>
            <a:r>
              <a:rPr lang="en-GB" i="1" dirty="0"/>
              <a:t>matrix </a:t>
            </a:r>
            <a:endParaRPr lang="en-GB" i="1" dirty="0" smtClean="0"/>
          </a:p>
          <a:p>
            <a:r>
              <a:rPr lang="en-GB" dirty="0"/>
              <a:t>Employees in a matrix organization have two managers: their functional department manager and their product or project manager, who share authority </a:t>
            </a:r>
            <a:endParaRPr lang="en-GB" dirty="0" smtClean="0"/>
          </a:p>
          <a:p>
            <a:r>
              <a:rPr lang="en-GB" dirty="0" smtClean="0"/>
              <a:t>A </a:t>
            </a:r>
            <a:r>
              <a:rPr lang="en-GB" b="1" dirty="0"/>
              <a:t>project structure </a:t>
            </a:r>
            <a:r>
              <a:rPr lang="en-GB" dirty="0"/>
              <a:t>has no formal departments to which employees return at the completion of a project. Instead, employees take their specific skills, abilities, and experiences to other work projects. In addition, all work activities in project structures are performed by teams of employees who become part of a project team because they have the appropriate work skills and abilities </a:t>
            </a:r>
            <a:endParaRPr lang="en-GB" dirty="0" smtClean="0"/>
          </a:p>
          <a:p>
            <a:r>
              <a:rPr lang="en-GB" b="1" dirty="0"/>
              <a:t>Project structures </a:t>
            </a:r>
            <a:r>
              <a:rPr lang="en-GB" dirty="0"/>
              <a:t>tend to be very fluid and </a:t>
            </a:r>
            <a:r>
              <a:rPr lang="en-GB" b="1" dirty="0"/>
              <a:t>flexible organizational designs</a:t>
            </a:r>
            <a:r>
              <a:rPr lang="en-GB" dirty="0"/>
              <a:t>. There's no departmentalization or rigid organizational hierarchy to slow down decision making or taking actions. In this type of structure, managers serve as facilitators, mentors, and coaches </a:t>
            </a:r>
            <a:endParaRPr lang="en-IN" dirty="0"/>
          </a:p>
          <a:p>
            <a:endParaRPr lang="en-IN" dirty="0"/>
          </a:p>
        </p:txBody>
      </p:sp>
    </p:spTree>
    <p:extLst>
      <p:ext uri="{BB962C8B-B14F-4D97-AF65-F5344CB8AC3E}">
        <p14:creationId xmlns:p14="http://schemas.microsoft.com/office/powerpoint/2010/main" val="3881323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Autonomous Internal Units</a:t>
            </a:r>
            <a:endParaRPr lang="en-IN" dirty="0"/>
          </a:p>
        </p:txBody>
      </p:sp>
      <p:sp>
        <p:nvSpPr>
          <p:cNvPr id="3" name="Content Placeholder 2"/>
          <p:cNvSpPr>
            <a:spLocks noGrp="1"/>
          </p:cNvSpPr>
          <p:nvPr>
            <p:ph idx="1"/>
          </p:nvPr>
        </p:nvSpPr>
        <p:spPr>
          <a:xfrm>
            <a:off x="457200" y="3352800"/>
            <a:ext cx="8229600" cy="2773363"/>
          </a:xfrm>
        </p:spPr>
        <p:txBody>
          <a:bodyPr/>
          <a:lstStyle/>
          <a:p>
            <a:pPr marL="0" indent="0" algn="ctr">
              <a:buNone/>
            </a:pPr>
            <a:r>
              <a:rPr lang="en-GB" dirty="0" smtClean="0"/>
              <a:t>These are independent </a:t>
            </a:r>
            <a:r>
              <a:rPr lang="en-GB" dirty="0"/>
              <a:t>decentralized business units, each with its own products, clients, competitors, and profit goals </a:t>
            </a:r>
          </a:p>
        </p:txBody>
      </p:sp>
    </p:spTree>
    <p:extLst>
      <p:ext uri="{BB962C8B-B14F-4D97-AF65-F5344CB8AC3E}">
        <p14:creationId xmlns:p14="http://schemas.microsoft.com/office/powerpoint/2010/main" val="2030696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Boundaryless</a:t>
            </a:r>
            <a:r>
              <a:rPr lang="en-GB" dirty="0" smtClean="0"/>
              <a:t> Organization</a:t>
            </a:r>
            <a:endParaRPr lang="en-IN" dirty="0"/>
          </a:p>
        </p:txBody>
      </p:sp>
      <p:sp>
        <p:nvSpPr>
          <p:cNvPr id="3" name="Content Placeholder 2"/>
          <p:cNvSpPr>
            <a:spLocks noGrp="1"/>
          </p:cNvSpPr>
          <p:nvPr>
            <p:ph idx="1"/>
          </p:nvPr>
        </p:nvSpPr>
        <p:spPr/>
        <p:txBody>
          <a:bodyPr>
            <a:normAutofit fontScale="85000" lnSpcReduction="10000"/>
          </a:bodyPr>
          <a:lstStyle/>
          <a:p>
            <a:r>
              <a:rPr lang="en-GB" dirty="0"/>
              <a:t>A</a:t>
            </a:r>
            <a:r>
              <a:rPr lang="en-GB" dirty="0" smtClean="0"/>
              <a:t>n </a:t>
            </a:r>
            <a:r>
              <a:rPr lang="en-GB" dirty="0"/>
              <a:t>organization whose design is not defined by, or limited to, the horizontal, vertical, or external boundaries imposed by a predefined </a:t>
            </a:r>
            <a:r>
              <a:rPr lang="en-GB" dirty="0" smtClean="0"/>
              <a:t>structure.</a:t>
            </a:r>
          </a:p>
          <a:p>
            <a:r>
              <a:rPr lang="en-GB" dirty="0" smtClean="0"/>
              <a:t>The </a:t>
            </a:r>
            <a:r>
              <a:rPr lang="en-GB" dirty="0"/>
              <a:t>term was coined by </a:t>
            </a:r>
            <a:r>
              <a:rPr lang="en-GB" b="1" dirty="0"/>
              <a:t>Jack Welch</a:t>
            </a:r>
            <a:r>
              <a:rPr lang="en-GB" dirty="0"/>
              <a:t>, former chairman of General Electric, who wanted to eliminate vertical and horizontal boundaries within GE and break down external barriers between the company and its customers and suppliers. </a:t>
            </a:r>
          </a:p>
          <a:p>
            <a:r>
              <a:rPr lang="en-GB" dirty="0" smtClean="0"/>
              <a:t>It seeks </a:t>
            </a:r>
            <a:r>
              <a:rPr lang="en-GB" dirty="0"/>
              <a:t>to eliminate the chain of command, to have appropriate spans of control, and to replace departments with empowered </a:t>
            </a:r>
            <a:r>
              <a:rPr lang="en-GB" dirty="0" smtClean="0"/>
              <a:t>teams</a:t>
            </a:r>
            <a:r>
              <a:rPr lang="en-IN" dirty="0" smtClean="0"/>
              <a:t>  </a:t>
            </a:r>
            <a:endParaRPr lang="en-IN" dirty="0"/>
          </a:p>
          <a:p>
            <a:endParaRPr lang="en-IN" dirty="0"/>
          </a:p>
        </p:txBody>
      </p:sp>
    </p:spTree>
    <p:extLst>
      <p:ext uri="{BB962C8B-B14F-4D97-AF65-F5344CB8AC3E}">
        <p14:creationId xmlns:p14="http://schemas.microsoft.com/office/powerpoint/2010/main" val="89314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Learning Organization</a:t>
            </a:r>
            <a:endParaRPr lang="en-IN" dirty="0"/>
          </a:p>
        </p:txBody>
      </p:sp>
      <p:sp>
        <p:nvSpPr>
          <p:cNvPr id="3" name="Content Placeholder 2"/>
          <p:cNvSpPr>
            <a:spLocks noGrp="1"/>
          </p:cNvSpPr>
          <p:nvPr>
            <p:ph idx="1"/>
          </p:nvPr>
        </p:nvSpPr>
        <p:spPr/>
        <p:txBody>
          <a:bodyPr>
            <a:normAutofit fontScale="70000" lnSpcReduction="20000"/>
          </a:bodyPr>
          <a:lstStyle/>
          <a:p>
            <a:r>
              <a:rPr lang="en-GB" dirty="0"/>
              <a:t>It's an organization that has developed the capacity to continuously adapt and change because all members take an active role in identifying and resolving work-related </a:t>
            </a:r>
            <a:r>
              <a:rPr lang="en-GB" dirty="0" smtClean="0"/>
              <a:t>issues.</a:t>
            </a:r>
          </a:p>
          <a:p>
            <a:r>
              <a:rPr lang="en-GB" dirty="0" smtClean="0"/>
              <a:t>In </a:t>
            </a:r>
            <a:r>
              <a:rPr lang="en-GB" dirty="0"/>
              <a:t>a learning organization, employees are practicing knowledge management by continually acquiring and sharing new knowledge and are willing to apply that knowledge in making decisions or performing their work </a:t>
            </a:r>
            <a:endParaRPr lang="en-GB" dirty="0" smtClean="0"/>
          </a:p>
          <a:p>
            <a:r>
              <a:rPr lang="en-GB" dirty="0"/>
              <a:t>A learning organization's culture is one in which everyone agrees on a shared vision and everyone recognizes the inherent interrelationships among the organization's processes, activities, functions, and external environment. </a:t>
            </a:r>
            <a:endParaRPr lang="en-GB" dirty="0" smtClean="0"/>
          </a:p>
          <a:p>
            <a:r>
              <a:rPr lang="en-GB" dirty="0" smtClean="0"/>
              <a:t>There </a:t>
            </a:r>
            <a:r>
              <a:rPr lang="en-GB" dirty="0"/>
              <a:t>is a strong sense of community, caring for each other, and trust. In a learning organization, employees feel free to openly communicate, share, experiment, and learn without fear of criticism or punishment</a:t>
            </a:r>
            <a:r>
              <a:rPr lang="en-GB" dirty="0" smtClean="0"/>
              <a:t>.</a:t>
            </a:r>
            <a:endParaRPr lang="en-IN" dirty="0"/>
          </a:p>
          <a:p>
            <a:endParaRPr lang="en-IN" dirty="0"/>
          </a:p>
        </p:txBody>
      </p:sp>
    </p:spTree>
    <p:extLst>
      <p:ext uri="{BB962C8B-B14F-4D97-AF65-F5344CB8AC3E}">
        <p14:creationId xmlns:p14="http://schemas.microsoft.com/office/powerpoint/2010/main" val="121965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2563</Words>
  <Application>Microsoft Office PowerPoint</Application>
  <PresentationFormat>On-screen Show (4:3)</PresentationFormat>
  <Paragraphs>176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Organizational Structure and Design</vt:lpstr>
      <vt:lpstr>Purposes of Organizing</vt:lpstr>
      <vt:lpstr>Definitions</vt:lpstr>
      <vt:lpstr>Work specialization</vt:lpstr>
      <vt:lpstr>Departmentalization</vt:lpstr>
      <vt:lpstr>Forms of Departmentalization</vt:lpstr>
      <vt:lpstr>Popular trends in Departmentalization</vt:lpstr>
      <vt:lpstr>Chain of Command</vt:lpstr>
      <vt:lpstr>Concepts linked with Chain of Command</vt:lpstr>
      <vt:lpstr>Span of Control</vt:lpstr>
      <vt:lpstr>Centralization and Decentralization</vt:lpstr>
      <vt:lpstr>Factors influencing Centralization &amp; Decentralization</vt:lpstr>
      <vt:lpstr>Formalization</vt:lpstr>
      <vt:lpstr>Models of Organizational Design</vt:lpstr>
      <vt:lpstr>Models of Organizational Design</vt:lpstr>
      <vt:lpstr>Models of Organizational Design</vt:lpstr>
      <vt:lpstr>Models of Organizational Design</vt:lpstr>
      <vt:lpstr>Contingency factors affecting the choice of Organizational Design</vt:lpstr>
      <vt:lpstr>Organization’s strategy</vt:lpstr>
      <vt:lpstr>Size and structure</vt:lpstr>
      <vt:lpstr>Technology and Structure</vt:lpstr>
      <vt:lpstr> Woodward's Findings on Technology, Structure, and Effectiveness </vt:lpstr>
      <vt:lpstr>Environmental uncertainty and structure</vt:lpstr>
      <vt:lpstr>Traditional Organizational Designs</vt:lpstr>
      <vt:lpstr>Traditional Organizational Designs</vt:lpstr>
      <vt:lpstr>Traditional Organizational Designs</vt:lpstr>
      <vt:lpstr>Contemporary Organizational Designs</vt:lpstr>
      <vt:lpstr>Contemporary Organizational Designs</vt:lpstr>
      <vt:lpstr>Autonomous Internal Units</vt:lpstr>
      <vt:lpstr>Boundaryless Organization</vt:lpstr>
      <vt:lpstr>Learning Organization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Structure and Design</dc:title>
  <dc:creator>HP</dc:creator>
  <cp:lastModifiedBy>HP</cp:lastModifiedBy>
  <cp:revision>10</cp:revision>
  <dcterms:created xsi:type="dcterms:W3CDTF">2006-08-16T00:00:00Z</dcterms:created>
  <dcterms:modified xsi:type="dcterms:W3CDTF">2026-02-22T15:13:31Z</dcterms:modified>
</cp:coreProperties>
</file>