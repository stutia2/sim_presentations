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4" r:id="rId38"/>
    <p:sldId id="292" r:id="rId39"/>
    <p:sldId id="293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Managerial Environment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Session 6</a:t>
            </a:r>
          </a:p>
          <a:p>
            <a:r>
              <a:rPr lang="en-GB" dirty="0" smtClean="0"/>
              <a:t>19</a:t>
            </a:r>
            <a:r>
              <a:rPr lang="en-GB" baseline="30000" dirty="0" smtClean="0"/>
              <a:t>th</a:t>
            </a:r>
            <a:r>
              <a:rPr lang="en-GB" dirty="0" smtClean="0"/>
              <a:t> May, 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3681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895600"/>
            <a:ext cx="8229600" cy="1143000"/>
          </a:xfrm>
        </p:spPr>
        <p:txBody>
          <a:bodyPr/>
          <a:lstStyle/>
          <a:p>
            <a:r>
              <a:rPr lang="en-GB" b="1" dirty="0" smtClean="0"/>
              <a:t>External Environment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21706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Relationship between an Organization and its Environment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What Is the Environment</a:t>
            </a:r>
            <a:r>
              <a:rPr lang="en-IN" b="1" dirty="0" smtClean="0"/>
              <a:t>?</a:t>
            </a:r>
          </a:p>
          <a:p>
            <a:r>
              <a:rPr lang="en-GB" dirty="0"/>
              <a:t>For any organization, the environment consists of the set of external conditions and forces that have </a:t>
            </a:r>
            <a:r>
              <a:rPr lang="en-GB" dirty="0" smtClean="0"/>
              <a:t>the potential </a:t>
            </a:r>
            <a:r>
              <a:rPr lang="en-GB" dirty="0"/>
              <a:t>to influence the </a:t>
            </a:r>
            <a:r>
              <a:rPr lang="en-GB" dirty="0" smtClean="0"/>
              <a:t>organization</a:t>
            </a:r>
          </a:p>
          <a:p>
            <a:r>
              <a:rPr lang="en-GB" b="1" dirty="0" smtClean="0"/>
              <a:t>Example: </a:t>
            </a:r>
            <a:r>
              <a:rPr lang="en-GB" dirty="0" smtClean="0"/>
              <a:t>Customers, Rivals, Society, Politics</a:t>
            </a:r>
          </a:p>
          <a:p>
            <a:r>
              <a:rPr lang="en-GB" dirty="0"/>
              <a:t>It is useful to break the concept of the competitive environment for a business down into </a:t>
            </a:r>
            <a:r>
              <a:rPr lang="en-GB" b="1" dirty="0"/>
              <a:t>two components</a:t>
            </a:r>
            <a:r>
              <a:rPr lang="en-GB" dirty="0"/>
              <a:t>: </a:t>
            </a:r>
            <a:r>
              <a:rPr lang="en-GB" dirty="0" smtClean="0"/>
              <a:t>the </a:t>
            </a:r>
            <a:r>
              <a:rPr lang="en-GB" b="1" dirty="0" smtClean="0"/>
              <a:t>general </a:t>
            </a:r>
            <a:r>
              <a:rPr lang="en-GB" b="1" dirty="0"/>
              <a:t>environment </a:t>
            </a:r>
            <a:r>
              <a:rPr lang="en-GB" dirty="0"/>
              <a:t>and </a:t>
            </a:r>
            <a:r>
              <a:rPr lang="en-GB" b="1" dirty="0"/>
              <a:t>its industry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 smtClean="0"/>
              <a:t>The </a:t>
            </a:r>
            <a:r>
              <a:rPr lang="en-GB" u="sng" dirty="0"/>
              <a:t>general environment, or macro-environment</a:t>
            </a:r>
            <a:r>
              <a:rPr lang="en-GB" dirty="0"/>
              <a:t>, includes overall </a:t>
            </a:r>
            <a:r>
              <a:rPr lang="en-GB" dirty="0" smtClean="0"/>
              <a:t>trends and </a:t>
            </a:r>
            <a:r>
              <a:rPr lang="en-GB" dirty="0"/>
              <a:t>events in society such as social trends, technological trends, demographics, and economic conditions. </a:t>
            </a:r>
            <a:endParaRPr lang="en-GB" dirty="0" smtClean="0"/>
          </a:p>
          <a:p>
            <a:r>
              <a:rPr lang="en-GB" dirty="0" smtClean="0"/>
              <a:t>The</a:t>
            </a:r>
            <a:r>
              <a:rPr lang="en-GB" dirty="0"/>
              <a:t> </a:t>
            </a:r>
            <a:r>
              <a:rPr lang="en-GB" u="sng" dirty="0" smtClean="0"/>
              <a:t>industry</a:t>
            </a:r>
            <a:r>
              <a:rPr lang="en-GB" u="sng" dirty="0"/>
              <a:t>, or competitive environment</a:t>
            </a:r>
            <a:r>
              <a:rPr lang="en-GB" dirty="0"/>
              <a:t>, consists of multiple organizations that collectively compete with </a:t>
            </a:r>
            <a:r>
              <a:rPr lang="en-GB" dirty="0" smtClean="0"/>
              <a:t>one another </a:t>
            </a:r>
            <a:r>
              <a:rPr lang="en-GB" dirty="0"/>
              <a:t>by providing similar goods, services, or both.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0527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Why Does the Environment Matter?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First, the environment provides </a:t>
            </a:r>
            <a:r>
              <a:rPr lang="en-GB" b="1" dirty="0"/>
              <a:t>resources</a:t>
            </a:r>
            <a:r>
              <a:rPr lang="en-GB" dirty="0"/>
              <a:t> that an </a:t>
            </a:r>
            <a:r>
              <a:rPr lang="en-GB" dirty="0" smtClean="0"/>
              <a:t>organization needs </a:t>
            </a:r>
            <a:r>
              <a:rPr lang="en-GB" dirty="0"/>
              <a:t>in order to create goods and services</a:t>
            </a:r>
            <a:r>
              <a:rPr lang="en-GB" dirty="0" smtClean="0"/>
              <a:t>.</a:t>
            </a:r>
          </a:p>
          <a:p>
            <a:r>
              <a:rPr lang="en-GB" dirty="0"/>
              <a:t>Second, the environment is a source of </a:t>
            </a:r>
            <a:r>
              <a:rPr lang="en-GB" b="1" dirty="0" smtClean="0"/>
              <a:t>opportunities and </a:t>
            </a:r>
            <a:r>
              <a:rPr lang="en-GB" b="1" dirty="0"/>
              <a:t>threats </a:t>
            </a:r>
            <a:r>
              <a:rPr lang="en-GB" dirty="0"/>
              <a:t>for an organization. Opportunities </a:t>
            </a:r>
            <a:r>
              <a:rPr lang="en-GB" dirty="0" smtClean="0"/>
              <a:t>are events </a:t>
            </a:r>
            <a:r>
              <a:rPr lang="en-GB" dirty="0"/>
              <a:t>and trends that create chances to improve </a:t>
            </a:r>
            <a:r>
              <a:rPr lang="en-GB" dirty="0" smtClean="0"/>
              <a:t>an </a:t>
            </a:r>
            <a:r>
              <a:rPr lang="en-IN" dirty="0" smtClean="0"/>
              <a:t>organization’s </a:t>
            </a:r>
            <a:r>
              <a:rPr lang="en-IN" dirty="0"/>
              <a:t>performance </a:t>
            </a:r>
            <a:r>
              <a:rPr lang="en-IN" dirty="0" smtClean="0"/>
              <a:t>level. </a:t>
            </a:r>
            <a:r>
              <a:rPr lang="en-GB" dirty="0"/>
              <a:t>Threats are events and trends that </a:t>
            </a:r>
            <a:r>
              <a:rPr lang="en-GB" dirty="0" smtClean="0"/>
              <a:t>may </a:t>
            </a:r>
            <a:r>
              <a:rPr lang="en-IN" dirty="0" smtClean="0"/>
              <a:t>undermine </a:t>
            </a:r>
            <a:r>
              <a:rPr lang="en-IN" dirty="0"/>
              <a:t>an organization’s </a:t>
            </a:r>
            <a:r>
              <a:rPr lang="en-IN" dirty="0" smtClean="0"/>
              <a:t>performance</a:t>
            </a:r>
          </a:p>
          <a:p>
            <a:r>
              <a:rPr lang="en-GB" dirty="0"/>
              <a:t>Third, the environment shapes the </a:t>
            </a:r>
            <a:r>
              <a:rPr lang="en-GB" b="1" dirty="0"/>
              <a:t>various strategic decisions</a:t>
            </a:r>
            <a:r>
              <a:rPr lang="en-GB" dirty="0"/>
              <a:t> that executives make as they attempt to </a:t>
            </a:r>
            <a:r>
              <a:rPr lang="en-GB" dirty="0" smtClean="0"/>
              <a:t>lead their </a:t>
            </a:r>
            <a:r>
              <a:rPr lang="en-GB" dirty="0"/>
              <a:t>organizations to success. The environment often places important constraints on an organization’s </a:t>
            </a:r>
            <a:r>
              <a:rPr lang="en-GB" dirty="0" smtClean="0"/>
              <a:t>goals, </a:t>
            </a:r>
            <a:r>
              <a:rPr lang="en-IN" dirty="0" smtClean="0"/>
              <a:t>for </a:t>
            </a:r>
            <a:r>
              <a:rPr lang="en-IN" dirty="0"/>
              <a:t>example.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9205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Evaluating the General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The Elements of the General Environment: PESTEL </a:t>
            </a:r>
            <a:r>
              <a:rPr lang="en-GB" b="1" dirty="0" smtClean="0"/>
              <a:t>Analysis</a:t>
            </a:r>
          </a:p>
          <a:p>
            <a:r>
              <a:rPr lang="en-GB" b="1" dirty="0"/>
              <a:t>PESTEL analysis </a:t>
            </a:r>
            <a:r>
              <a:rPr lang="en-GB" dirty="0"/>
              <a:t>is one important tool that executives can rely on to organize factors within the </a:t>
            </a:r>
            <a:r>
              <a:rPr lang="en-GB" dirty="0" smtClean="0"/>
              <a:t>general environment </a:t>
            </a:r>
            <a:r>
              <a:rPr lang="en-GB" dirty="0"/>
              <a:t>and to identify how these factors influence industries and the firms within them</a:t>
            </a:r>
            <a:r>
              <a:rPr lang="en-GB" dirty="0" smtClean="0"/>
              <a:t>.</a:t>
            </a:r>
          </a:p>
          <a:p>
            <a:r>
              <a:rPr lang="en-IN" dirty="0"/>
              <a:t>PESTEL </a:t>
            </a:r>
            <a:r>
              <a:rPr lang="en-IN" dirty="0" smtClean="0"/>
              <a:t>reflects </a:t>
            </a:r>
            <a:r>
              <a:rPr lang="en-GB" dirty="0" smtClean="0"/>
              <a:t>the </a:t>
            </a:r>
            <a:r>
              <a:rPr lang="en-GB" dirty="0"/>
              <a:t>names of the six segments of the general environment: (1) </a:t>
            </a:r>
            <a:r>
              <a:rPr lang="en-GB" u="sng" dirty="0"/>
              <a:t>political</a:t>
            </a:r>
            <a:r>
              <a:rPr lang="en-GB" dirty="0"/>
              <a:t>, (2) </a:t>
            </a:r>
            <a:r>
              <a:rPr lang="en-GB" u="sng" dirty="0"/>
              <a:t>economic</a:t>
            </a:r>
            <a:r>
              <a:rPr lang="en-GB" dirty="0"/>
              <a:t>, (3) </a:t>
            </a:r>
            <a:r>
              <a:rPr lang="en-GB" u="sng" dirty="0"/>
              <a:t>socio-cultural</a:t>
            </a:r>
            <a:r>
              <a:rPr lang="en-GB" dirty="0"/>
              <a:t>, (4</a:t>
            </a:r>
            <a:r>
              <a:rPr lang="en-GB" dirty="0" smtClean="0"/>
              <a:t>) </a:t>
            </a:r>
            <a:r>
              <a:rPr lang="en-GB" u="sng" dirty="0" smtClean="0"/>
              <a:t>technological</a:t>
            </a:r>
            <a:r>
              <a:rPr lang="en-GB" dirty="0"/>
              <a:t>, (5) </a:t>
            </a:r>
            <a:r>
              <a:rPr lang="en-GB" u="sng" dirty="0"/>
              <a:t>environmental</a:t>
            </a:r>
            <a:r>
              <a:rPr lang="en-GB" dirty="0"/>
              <a:t>, and (6) </a:t>
            </a:r>
            <a:r>
              <a:rPr lang="en-GB" u="sng" dirty="0"/>
              <a:t>legal</a:t>
            </a:r>
            <a:r>
              <a:rPr lang="en-GB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7428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PESTEL framework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2521143"/>
              </p:ext>
            </p:extLst>
          </p:nvPr>
        </p:nvGraphicFramePr>
        <p:xfrm>
          <a:off x="457200" y="1600200"/>
          <a:ext cx="82296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77724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Political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factors include elements such as tax policies, changes in trade restrictions and tariffs, and the stability of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governments.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Economic 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factors include elements such as interest rates, inflation rates, gross domestic product, unemployment rates, levels of disposable income, and the general growth or decline of the economy.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 smtClean="0"/>
                        <a:t>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Socio-cultural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factors include trends in demographics such as population size, age, and ethnic mix, as well as cultural trends such as attitudes toward obesity and consumer activism.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 smtClean="0"/>
                        <a:t>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Technological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factors include, for example, changes in the rate of new product development, increases in automation, and advancements in service industry delivery.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 smtClean="0"/>
                        <a:t>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Environmental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factors, also called ecological factors, include, for example, natural disasters, global warming,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pollution, and weather patterns.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 smtClean="0"/>
                        <a:t>L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Legal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factors include laws involving issues such as employment, health and safety, discrimination, and antitrust.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203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3200"/>
            <a:ext cx="8229600" cy="1143000"/>
          </a:xfrm>
        </p:spPr>
        <p:txBody>
          <a:bodyPr/>
          <a:lstStyle/>
          <a:p>
            <a:r>
              <a:rPr lang="en-IN" b="1" dirty="0"/>
              <a:t>Evaluating the Industry</a:t>
            </a:r>
          </a:p>
        </p:txBody>
      </p:sp>
    </p:spTree>
    <p:extLst>
      <p:ext uri="{BB962C8B-B14F-4D97-AF65-F5344CB8AC3E}">
        <p14:creationId xmlns:p14="http://schemas.microsoft.com/office/powerpoint/2010/main" val="154120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The Purpose of Five Forces </a:t>
            </a:r>
            <a:r>
              <a:rPr lang="en-GB" b="1" dirty="0" smtClean="0"/>
              <a:t>Analysis (Porter)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2428617"/>
              </p:ext>
            </p:extLst>
          </p:nvPr>
        </p:nvGraphicFramePr>
        <p:xfrm>
          <a:off x="381000" y="1447800"/>
          <a:ext cx="8229600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</a:tblGrid>
              <a:tr h="1219200"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Threat of potential entrants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are firms that are not currently considered viable competitors in the industry but that may become viable competitors in the future.</a:t>
                      </a:r>
                      <a:endParaRPr lang="en-IN" dirty="0"/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Bargaining power of suppliers</a:t>
                      </a:r>
                      <a:endParaRPr lang="en-IN" dirty="0"/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Rivalry of industry competitors</a:t>
                      </a:r>
                      <a:endParaRPr lang="en-IN" dirty="0"/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Bargaining power of buyers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are those firms that buy directly from the industry</a:t>
                      </a:r>
                      <a:endParaRPr lang="en-IN" dirty="0"/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Threat of substitutes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7687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The purpose of Five Forces Analysis is to identify how much profit potential exists in an industry. </a:t>
            </a:r>
            <a:endParaRPr lang="en-GB" dirty="0" smtClean="0"/>
          </a:p>
          <a:p>
            <a:r>
              <a:rPr lang="en-GB" dirty="0" smtClean="0"/>
              <a:t>To </a:t>
            </a:r>
            <a:r>
              <a:rPr lang="en-GB" dirty="0"/>
              <a:t>do so</a:t>
            </a:r>
            <a:r>
              <a:rPr lang="en-GB" dirty="0" smtClean="0"/>
              <a:t>, Five </a:t>
            </a:r>
            <a:r>
              <a:rPr lang="en-GB" dirty="0"/>
              <a:t>Forces Analysis considers the interactions among the competitors in an industry, potential new </a:t>
            </a:r>
            <a:r>
              <a:rPr lang="en-GB" dirty="0" smtClean="0"/>
              <a:t>entrants to </a:t>
            </a:r>
            <a:r>
              <a:rPr lang="en-GB" dirty="0"/>
              <a:t>the industry, substitutes for the industry’s offerings, suppliers to the industry, and the industry’s </a:t>
            </a:r>
            <a:r>
              <a:rPr lang="en-GB" dirty="0" smtClean="0"/>
              <a:t>buyers (</a:t>
            </a:r>
            <a:r>
              <a:rPr lang="en-GB" dirty="0"/>
              <a:t>Porter, 1979). </a:t>
            </a:r>
            <a:endParaRPr lang="en-GB" dirty="0" smtClean="0"/>
          </a:p>
          <a:p>
            <a:r>
              <a:rPr lang="en-GB" dirty="0" smtClean="0"/>
              <a:t>If </a:t>
            </a:r>
            <a:r>
              <a:rPr lang="en-GB" dirty="0"/>
              <a:t>none of these five forces works to undermine profits in the industry, then the profit potential </a:t>
            </a:r>
            <a:r>
              <a:rPr lang="en-GB" dirty="0" smtClean="0"/>
              <a:t>is very </a:t>
            </a:r>
            <a:r>
              <a:rPr lang="en-GB" dirty="0"/>
              <a:t>strong</a:t>
            </a:r>
            <a:r>
              <a:rPr lang="en-GB" dirty="0" smtClean="0"/>
              <a:t>.</a:t>
            </a:r>
          </a:p>
          <a:p>
            <a:r>
              <a:rPr lang="en-GB" dirty="0" smtClean="0"/>
              <a:t>If </a:t>
            </a:r>
            <a:r>
              <a:rPr lang="en-GB" dirty="0"/>
              <a:t>all the forces work to undermine profits, then the profit potential is very weak. </a:t>
            </a:r>
            <a:endParaRPr lang="en-GB" dirty="0" smtClean="0"/>
          </a:p>
          <a:p>
            <a:r>
              <a:rPr lang="en-GB" dirty="0" smtClean="0"/>
              <a:t>Most industries lie </a:t>
            </a:r>
            <a:r>
              <a:rPr lang="en-GB" dirty="0"/>
              <a:t>somewhere in between these extremes.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0240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Rivalry among Competitors in an Industry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competitors in an industry are firms that produce similar products or services. </a:t>
            </a:r>
            <a:endParaRPr lang="en-GB" dirty="0" smtClean="0"/>
          </a:p>
          <a:p>
            <a:r>
              <a:rPr lang="en-GB" dirty="0" smtClean="0"/>
              <a:t>Competitors </a:t>
            </a:r>
            <a:r>
              <a:rPr lang="en-GB" dirty="0"/>
              <a:t>use a </a:t>
            </a:r>
            <a:r>
              <a:rPr lang="en-GB" dirty="0" smtClean="0"/>
              <a:t>variety of </a:t>
            </a:r>
            <a:r>
              <a:rPr lang="en-GB" dirty="0"/>
              <a:t>moves such as advertising, new offerings, and price cuts to try to </a:t>
            </a:r>
            <a:r>
              <a:rPr lang="en-GB" dirty="0" err="1"/>
              <a:t>outmaneuver</a:t>
            </a:r>
            <a:r>
              <a:rPr lang="en-GB" dirty="0"/>
              <a:t> one another to retain </a:t>
            </a:r>
            <a:r>
              <a:rPr lang="en-GB" dirty="0" smtClean="0"/>
              <a:t>existing buyers </a:t>
            </a:r>
            <a:r>
              <a:rPr lang="en-GB" dirty="0"/>
              <a:t>and to attract new ones</a:t>
            </a:r>
            <a:r>
              <a:rPr lang="en-GB" dirty="0" smtClean="0"/>
              <a:t>.</a:t>
            </a:r>
          </a:p>
          <a:p>
            <a:r>
              <a:rPr lang="en-GB" dirty="0" smtClean="0"/>
              <a:t>Because </a:t>
            </a:r>
            <a:r>
              <a:rPr lang="en-GB" dirty="0"/>
              <a:t>competitors seek to serve the same general set of buyers, rivalry </a:t>
            </a:r>
            <a:r>
              <a:rPr lang="en-GB" dirty="0" smtClean="0"/>
              <a:t>can </a:t>
            </a:r>
            <a:r>
              <a:rPr lang="en-IN" dirty="0" smtClean="0"/>
              <a:t>become </a:t>
            </a:r>
            <a:r>
              <a:rPr lang="en-IN" dirty="0"/>
              <a:t>intense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641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Rivalry among existing competitors tends to be high to the extent that…</a:t>
            </a:r>
            <a:endParaRPr lang="en-IN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1149519"/>
              </p:ext>
            </p:extLst>
          </p:nvPr>
        </p:nvGraphicFramePr>
        <p:xfrm>
          <a:off x="457200" y="1371600"/>
          <a:ext cx="8229601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/>
                <a:gridCol w="495300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1" dirty="0" smtClean="0"/>
                        <a:t>Competitors are numerous or are roughly equal in size and power.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No one firm rules the industry, and cutthroat moves are likely as firms jockey for position.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 smtClean="0"/>
                        <a:t>The growth rate of the industry is slow.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shortage of new customers leads firms to steal each other’s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customers.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Competitors are not differentiated from each </a:t>
                      </a:r>
                      <a:r>
                        <a:rPr lang="en-IN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other.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This forces firms to compete based on price rather than based on the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uniqueness of their offerings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Fixed costs in the industry are high.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These costs must be covered, even if it means slashing prices in order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 do so.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Exit barriers are high.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Firms must stay and fight rather than leaving the industry gracefully.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Excess capacity exists in the industry.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When too much of a product is available, firms must work hard to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earn sales.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Capacity must be expanded in large increments </a:t>
                      </a:r>
                      <a:r>
                        <a:rPr lang="en-IN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 be efficient.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high costs of adding these increments needs to be covered.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product is perishable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Firms need to sell their wares before they spoil and become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worthless.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2603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Industry Concentration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Industry concentration refers to the extent to which large firms dominate an industry. </a:t>
            </a:r>
            <a:endParaRPr lang="en-GB" dirty="0" smtClean="0"/>
          </a:p>
          <a:p>
            <a:r>
              <a:rPr lang="en-GB" dirty="0" smtClean="0"/>
              <a:t>Buyers </a:t>
            </a:r>
            <a:r>
              <a:rPr lang="en-GB" dirty="0"/>
              <a:t>and </a:t>
            </a:r>
            <a:r>
              <a:rPr lang="en-GB" dirty="0" smtClean="0"/>
              <a:t>suppliers generally </a:t>
            </a:r>
            <a:r>
              <a:rPr lang="en-GB" dirty="0"/>
              <a:t>have more bargaining power when they are from concentrated industries. </a:t>
            </a:r>
            <a:endParaRPr lang="en-GB" dirty="0" smtClean="0"/>
          </a:p>
          <a:p>
            <a:r>
              <a:rPr lang="en-GB" dirty="0" smtClean="0"/>
              <a:t>This </a:t>
            </a:r>
            <a:r>
              <a:rPr lang="en-GB" dirty="0"/>
              <a:t>is because the firms </a:t>
            </a:r>
            <a:r>
              <a:rPr lang="en-GB" dirty="0" smtClean="0"/>
              <a:t>that do </a:t>
            </a:r>
            <a:r>
              <a:rPr lang="en-GB" dirty="0"/>
              <a:t>business with them have fewer options when seeking buyers and suppliers.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4860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Industry Concentration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7222075"/>
              </p:ext>
            </p:extLst>
          </p:nvPr>
        </p:nvGraphicFramePr>
        <p:xfrm>
          <a:off x="457200" y="29718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/>
                <a:gridCol w="49530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High-Concentration Industries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Circuses (89%) and breakfast cereal manufacturing (85%)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Medium-Concentration Industries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Flight training (52%) and sugar manufacturing (60%)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Low-Concentration or “Fragmented” Industries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Full-service restaurants (9%), Legal services (3%), Truck driving schools (27%), and Telephone call </a:t>
                      </a:r>
                      <a:r>
                        <a:rPr lang="en-GB" dirty="0" err="1" smtClean="0"/>
                        <a:t>centers</a:t>
                      </a:r>
                      <a:r>
                        <a:rPr lang="en-GB" dirty="0" smtClean="0"/>
                        <a:t> (22%)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8953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34962"/>
          </a:xfrm>
        </p:spPr>
        <p:txBody>
          <a:bodyPr>
            <a:normAutofit fontScale="90000"/>
          </a:bodyPr>
          <a:lstStyle/>
          <a:p>
            <a:r>
              <a:rPr lang="en-GB" sz="3200" dirty="0" smtClean="0"/>
              <a:t>Threat of new entrants</a:t>
            </a:r>
            <a:endParaRPr lang="en-IN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0993652"/>
              </p:ext>
            </p:extLst>
          </p:nvPr>
        </p:nvGraphicFramePr>
        <p:xfrm>
          <a:off x="228600" y="685799"/>
          <a:ext cx="8763000" cy="617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399"/>
                <a:gridCol w="6324601"/>
              </a:tblGrid>
              <a:tr h="1432561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Economies of scale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As the number of customers a firm serves increases, the cost of serving each customer tends to decrease. This is because fixed costs—the expenses the firm must pay—are allocated across a larger number of sales. When the firms in an industry enjoy significant economies of scale, new firms struggle to be able to sell their wares at competitive prices.</a:t>
                      </a:r>
                      <a:endParaRPr lang="en-IN" dirty="0"/>
                    </a:p>
                  </a:txBody>
                  <a:tcPr/>
                </a:tc>
              </a:tr>
              <a:tr h="669620">
                <a:tc>
                  <a:txBody>
                    <a:bodyPr/>
                    <a:lstStyle/>
                    <a:p>
                      <a:r>
                        <a:rPr lang="en-IN" dirty="0" smtClean="0"/>
                        <a:t>Capital requirements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The more expensive it is to enter a business, the less likely a new firm is to attempt to enter it.</a:t>
                      </a:r>
                      <a:endParaRPr lang="en-IN" dirty="0"/>
                    </a:p>
                  </a:txBody>
                  <a:tcPr/>
                </a:tc>
              </a:tr>
              <a:tr h="621101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Access to distribution</a:t>
                      </a:r>
                    </a:p>
                    <a:p>
                      <a:r>
                        <a:rPr lang="en-IN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channels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ability to get goods and services to customers can pose a significant challenge to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would-be newcomers</a:t>
                      </a:r>
                      <a:endParaRPr lang="en-IN" dirty="0"/>
                    </a:p>
                  </a:txBody>
                  <a:tcPr/>
                </a:tc>
              </a:tr>
              <a:tr h="669620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Government policy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Decisions made by governments can deter or encourage potential new entrants.</a:t>
                      </a:r>
                      <a:endParaRPr lang="en-IN" dirty="0"/>
                    </a:p>
                  </a:txBody>
                  <a:tcPr/>
                </a:tc>
              </a:tr>
              <a:tr h="414526">
                <a:tc>
                  <a:txBody>
                    <a:bodyPr/>
                    <a:lstStyle/>
                    <a:p>
                      <a:r>
                        <a:rPr lang="en-IN" dirty="0" smtClean="0"/>
                        <a:t>Differentiation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Highlighting the unique features of the products</a:t>
                      </a:r>
                      <a:endParaRPr lang="en-IN" dirty="0"/>
                    </a:p>
                  </a:txBody>
                  <a:tcPr/>
                </a:tc>
              </a:tr>
              <a:tr h="452418">
                <a:tc>
                  <a:txBody>
                    <a:bodyPr/>
                    <a:lstStyle/>
                    <a:p>
                      <a:r>
                        <a:rPr lang="en-IN" dirty="0" smtClean="0"/>
                        <a:t>Switching costs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Costs incurred</a:t>
                      </a:r>
                      <a:r>
                        <a:rPr lang="en-GB" baseline="0" dirty="0" smtClean="0"/>
                        <a:t> to change the product/service</a:t>
                      </a:r>
                      <a:endParaRPr lang="en-IN" dirty="0"/>
                    </a:p>
                  </a:txBody>
                  <a:tcPr/>
                </a:tc>
              </a:tr>
              <a:tr h="669620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Expected retaliation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New</a:t>
                      </a:r>
                      <a:r>
                        <a:rPr lang="en-GB" baseline="0" dirty="0" smtClean="0"/>
                        <a:t> firms entering a industry might face responses from the other players, say by reducing prices or offering incentives</a:t>
                      </a:r>
                      <a:endParaRPr lang="en-IN" dirty="0"/>
                    </a:p>
                  </a:txBody>
                  <a:tcPr/>
                </a:tc>
              </a:tr>
              <a:tr h="918956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Cost advantages</a:t>
                      </a:r>
                    </a:p>
                    <a:p>
                      <a:r>
                        <a:rPr lang="en-IN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independent of size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Proprietary technology, access to raw materials, and desirable geographic location are all examples of cost advantages not directly associated with size and economies of scale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4034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Power of Suppliers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4267253"/>
              </p:ext>
            </p:extLst>
          </p:nvPr>
        </p:nvGraphicFramePr>
        <p:xfrm>
          <a:off x="457200" y="2286000"/>
          <a:ext cx="822960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 supplier group is powerful if it is dominated by a few companies or is more concentrated than the industry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that it supplies.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supplier group is powerful if there is no substitute for what the supplier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group provides.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supplier group is powerful if industry members rely heavily on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suppliers to be profitable.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supplier group is powerful if industry members face high costs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when changing suppliers.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supplier group is powerful if their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products are differentiated.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supplier group is powerful if it can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credibly threaten to compete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(integrate forward) in the industry if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motivated.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430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Bargaining power of Buyers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6138669"/>
              </p:ext>
            </p:extLst>
          </p:nvPr>
        </p:nvGraphicFramePr>
        <p:xfrm>
          <a:off x="457200" y="16002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 buyer group is powerful when there are relatively few buyers compared to the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number of firms supplying the industry.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buyer group is powerful when the industry’s goods or services are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standardized or undifferentiated.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buyer group is powerful when they face little or no switching costs in changing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vendors.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buyer group is powerful when the good or service purchased by the buyers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represents a high percentage of the buyer’s costs, encouraging </a:t>
                      </a:r>
                      <a:r>
                        <a:rPr lang="en-GB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ongoing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searches for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lower-priced suppliers.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buyer group is powerful if it can credibly threaten to compete (integrate backward)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 the industry if motivated.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buyer group is powerful when the good or service purchased by buyer groups is of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limited importance to the quality or price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of the buyer’s offerings.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7661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Strategic Groups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Strategic </a:t>
            </a:r>
            <a:r>
              <a:rPr lang="en-IN" dirty="0" smtClean="0"/>
              <a:t>groups </a:t>
            </a:r>
            <a:r>
              <a:rPr lang="en-GB" dirty="0" smtClean="0"/>
              <a:t>are </a:t>
            </a:r>
            <a:r>
              <a:rPr lang="en-GB" dirty="0"/>
              <a:t>sets of firms that follow similar strategies to one another (Hunt, 1972; Short et al., 2007). </a:t>
            </a:r>
            <a:endParaRPr lang="en-GB" dirty="0" smtClean="0"/>
          </a:p>
          <a:p>
            <a:r>
              <a:rPr lang="en-GB" dirty="0" smtClean="0"/>
              <a:t>A </a:t>
            </a:r>
            <a:r>
              <a:rPr lang="en-GB" dirty="0"/>
              <a:t>strategic group consists of a set of industry competitors that have similar characteristics to one another </a:t>
            </a:r>
            <a:r>
              <a:rPr lang="en-GB" dirty="0" smtClean="0"/>
              <a:t>but differ </a:t>
            </a:r>
            <a:r>
              <a:rPr lang="en-GB" dirty="0"/>
              <a:t>in important ways from the members of other groups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7153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19400"/>
            <a:ext cx="8229600" cy="1143000"/>
          </a:xfrm>
        </p:spPr>
        <p:txBody>
          <a:bodyPr>
            <a:normAutofit/>
          </a:bodyPr>
          <a:lstStyle/>
          <a:p>
            <a:r>
              <a:rPr lang="en-IN" sz="5400" dirty="0"/>
              <a:t>Internal Environment</a:t>
            </a:r>
          </a:p>
        </p:txBody>
      </p:sp>
    </p:spTree>
    <p:extLst>
      <p:ext uri="{BB962C8B-B14F-4D97-AF65-F5344CB8AC3E}">
        <p14:creationId xmlns:p14="http://schemas.microsoft.com/office/powerpoint/2010/main" val="649794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Managing Firm </a:t>
            </a:r>
            <a:r>
              <a:rPr lang="en-IN" b="1" dirty="0" smtClean="0"/>
              <a:t>Resources: Resource-based 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i="1" dirty="0"/>
              <a:t>According to </a:t>
            </a:r>
            <a:r>
              <a:rPr lang="en-GB" b="1" i="1" dirty="0"/>
              <a:t>resource-based theory</a:t>
            </a:r>
            <a:r>
              <a:rPr lang="en-GB" i="1" dirty="0"/>
              <a:t>, organizations that own “</a:t>
            </a:r>
            <a:r>
              <a:rPr lang="en-GB" i="1" u="sng" dirty="0"/>
              <a:t>strategic resources</a:t>
            </a:r>
            <a:r>
              <a:rPr lang="en-GB" i="1" dirty="0"/>
              <a:t>” have important </a:t>
            </a:r>
            <a:r>
              <a:rPr lang="en-GB" i="1" dirty="0" smtClean="0"/>
              <a:t>competitive advantages </a:t>
            </a:r>
            <a:r>
              <a:rPr lang="en-GB" i="1" dirty="0"/>
              <a:t>over organizations that do not. </a:t>
            </a:r>
            <a:endParaRPr lang="en-GB" i="1" dirty="0" smtClean="0"/>
          </a:p>
          <a:p>
            <a:r>
              <a:rPr lang="en-GB" i="1" dirty="0" smtClean="0"/>
              <a:t>Some </a:t>
            </a:r>
            <a:r>
              <a:rPr lang="en-GB" i="1" dirty="0"/>
              <a:t>resources, such as cash and trucks, are not considered to </a:t>
            </a:r>
            <a:r>
              <a:rPr lang="en-GB" i="1" dirty="0" smtClean="0"/>
              <a:t>be strategic </a:t>
            </a:r>
            <a:r>
              <a:rPr lang="en-GB" i="1" dirty="0"/>
              <a:t>resources because an organization’s competitors can readily acquire them. </a:t>
            </a:r>
            <a:endParaRPr lang="en-GB" i="1" dirty="0" smtClean="0"/>
          </a:p>
          <a:p>
            <a:r>
              <a:rPr lang="en-GB" i="1" dirty="0" smtClean="0"/>
              <a:t>Instead</a:t>
            </a:r>
            <a:r>
              <a:rPr lang="en-GB" i="1" dirty="0"/>
              <a:t>, a resource </a:t>
            </a:r>
            <a:r>
              <a:rPr lang="en-GB" i="1" dirty="0" smtClean="0"/>
              <a:t>is strategic </a:t>
            </a:r>
            <a:r>
              <a:rPr lang="en-GB" i="1" dirty="0"/>
              <a:t>to the extent that it is </a:t>
            </a:r>
            <a:r>
              <a:rPr lang="en-GB" i="1" u="sng" dirty="0"/>
              <a:t>valuable</a:t>
            </a:r>
            <a:r>
              <a:rPr lang="en-GB" i="1" dirty="0"/>
              <a:t>, rare, </a:t>
            </a:r>
            <a:r>
              <a:rPr lang="en-GB" i="1" u="sng" dirty="0"/>
              <a:t>difficult to imitate</a:t>
            </a:r>
            <a:r>
              <a:rPr lang="en-GB" i="1" dirty="0"/>
              <a:t>, and </a:t>
            </a:r>
            <a:r>
              <a:rPr lang="en-GB" i="1" u="sng" dirty="0"/>
              <a:t>organized to capture value</a:t>
            </a:r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902736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Resource-Based View: The Basics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5183218"/>
              </p:ext>
            </p:extLst>
          </p:nvPr>
        </p:nvGraphicFramePr>
        <p:xfrm>
          <a:off x="457200" y="2438400"/>
          <a:ext cx="8229600" cy="291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</a:tblGrid>
              <a:tr h="716280"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VALUABLE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resources aid in improving the organization’s effectiveness and efficiency while neutralizing the opportunities and threats of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competitors.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 smtClean="0"/>
                        <a:t>RARE</a:t>
                      </a:r>
                      <a:r>
                        <a:rPr lang="en-GB" dirty="0" smtClean="0"/>
                        <a:t> resources are those held by few or no other competitors.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DIFFICULT-TO-IMITATE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resources often involve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legally protected intellectual property such as trademarks, patents, or copyrights. Other difficult-to-imitate resources, such as brand names, usually need time to develop fully.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ORGANIZED TO CAPTURE VALUE: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Having in place the organizational systems, processes, and structure to capitalize on the potential of the resources and capabilities of the firm to provide a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competitive advantage.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1154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70000" lnSpcReduction="20000"/>
          </a:bodyPr>
          <a:lstStyle/>
          <a:p>
            <a:r>
              <a:rPr lang="en-GB" b="1" dirty="0"/>
              <a:t>Resources</a:t>
            </a:r>
            <a:r>
              <a:rPr lang="en-GB" dirty="0"/>
              <a:t> and </a:t>
            </a:r>
            <a:r>
              <a:rPr lang="en-GB" b="1" dirty="0"/>
              <a:t>capabilities</a:t>
            </a:r>
            <a:r>
              <a:rPr lang="en-GB" dirty="0"/>
              <a:t> are the basic building blocks that organizations use to create strategies. These </a:t>
            </a:r>
            <a:r>
              <a:rPr lang="en-GB" dirty="0" smtClean="0"/>
              <a:t>two building </a:t>
            </a:r>
            <a:r>
              <a:rPr lang="en-GB" dirty="0"/>
              <a:t>blocks are tightly linked—capabilities from using resources over time</a:t>
            </a:r>
            <a:r>
              <a:rPr lang="en-GB" dirty="0" smtClean="0"/>
              <a:t>.</a:t>
            </a:r>
          </a:p>
          <a:p>
            <a:r>
              <a:rPr lang="en-GB" i="1" dirty="0"/>
              <a:t>Resources can be divided into two main types: </a:t>
            </a:r>
            <a:r>
              <a:rPr lang="en-GB" b="1" i="1" dirty="0"/>
              <a:t>tangible </a:t>
            </a:r>
            <a:r>
              <a:rPr lang="en-GB" i="1" dirty="0"/>
              <a:t>and </a:t>
            </a:r>
            <a:r>
              <a:rPr lang="en-GB" b="1" i="1" dirty="0"/>
              <a:t>intangible</a:t>
            </a:r>
            <a:r>
              <a:rPr lang="en-GB" i="1" dirty="0"/>
              <a:t>. </a:t>
            </a:r>
            <a:endParaRPr lang="en-GB" i="1" dirty="0" smtClean="0"/>
          </a:p>
          <a:p>
            <a:r>
              <a:rPr lang="en-GB" b="1" dirty="0"/>
              <a:t>Tangible resources </a:t>
            </a:r>
            <a:r>
              <a:rPr lang="en-GB" dirty="0"/>
              <a:t>are resources that can be readily seen, touched, and quantified. </a:t>
            </a:r>
            <a:r>
              <a:rPr lang="en-GB" u="sng" dirty="0"/>
              <a:t>Physical assets </a:t>
            </a:r>
            <a:r>
              <a:rPr lang="en-GB" dirty="0"/>
              <a:t>such as a </a:t>
            </a:r>
            <a:r>
              <a:rPr lang="en-GB" dirty="0" smtClean="0"/>
              <a:t>firm’s property</a:t>
            </a:r>
            <a:r>
              <a:rPr lang="en-GB" dirty="0"/>
              <a:t>, plant, and equipment are considered to be tangible resources, as is </a:t>
            </a:r>
            <a:r>
              <a:rPr lang="en-GB" u="sng" dirty="0"/>
              <a:t>cash</a:t>
            </a:r>
            <a:r>
              <a:rPr lang="en-GB" dirty="0" smtClean="0"/>
              <a:t>.</a:t>
            </a:r>
          </a:p>
          <a:p>
            <a:r>
              <a:rPr lang="en-GB" dirty="0"/>
              <a:t>I</a:t>
            </a:r>
            <a:r>
              <a:rPr lang="en-GB" b="1" dirty="0"/>
              <a:t>ntangible resources </a:t>
            </a:r>
            <a:r>
              <a:rPr lang="en-GB" dirty="0"/>
              <a:t>are quite difficult to see, touch, or quantify. Intangible resources include, for example, </a:t>
            </a:r>
            <a:r>
              <a:rPr lang="en-GB" dirty="0" smtClean="0"/>
              <a:t>the </a:t>
            </a:r>
            <a:r>
              <a:rPr lang="en-GB" u="sng" dirty="0" smtClean="0"/>
              <a:t>knowledge </a:t>
            </a:r>
            <a:r>
              <a:rPr lang="en-GB" u="sng" dirty="0"/>
              <a:t>and skills of employees</a:t>
            </a:r>
            <a:r>
              <a:rPr lang="en-GB" dirty="0"/>
              <a:t>, a </a:t>
            </a:r>
            <a:r>
              <a:rPr lang="en-GB" u="sng" dirty="0"/>
              <a:t>firm’s reputation</a:t>
            </a:r>
            <a:r>
              <a:rPr lang="en-GB" dirty="0"/>
              <a:t>, and a </a:t>
            </a:r>
            <a:r>
              <a:rPr lang="en-GB" u="sng" dirty="0"/>
              <a:t>firm’s culture</a:t>
            </a:r>
            <a:endParaRPr lang="en-GB" i="1" u="sng" dirty="0" smtClean="0"/>
          </a:p>
          <a:p>
            <a:r>
              <a:rPr lang="en-GB" i="1" dirty="0" smtClean="0"/>
              <a:t>While </a:t>
            </a:r>
            <a:r>
              <a:rPr lang="en-GB" b="1" i="1" dirty="0"/>
              <a:t>resources</a:t>
            </a:r>
            <a:r>
              <a:rPr lang="en-GB" i="1" dirty="0"/>
              <a:t> refer to </a:t>
            </a:r>
            <a:r>
              <a:rPr lang="en-GB" i="1" u="sng" dirty="0"/>
              <a:t>what </a:t>
            </a:r>
            <a:r>
              <a:rPr lang="en-GB" i="1" u="sng" dirty="0" smtClean="0"/>
              <a:t>an organization </a:t>
            </a:r>
            <a:r>
              <a:rPr lang="en-GB" i="1" u="sng" dirty="0"/>
              <a:t>owns</a:t>
            </a:r>
            <a:r>
              <a:rPr lang="en-GB" i="1" dirty="0"/>
              <a:t>, </a:t>
            </a:r>
            <a:r>
              <a:rPr lang="en-GB" b="1" i="1" dirty="0"/>
              <a:t>capabilities</a:t>
            </a:r>
            <a:r>
              <a:rPr lang="en-GB" i="1" dirty="0"/>
              <a:t> refer to </a:t>
            </a:r>
            <a:r>
              <a:rPr lang="en-GB" i="1" u="sng" dirty="0"/>
              <a:t>what the organization can do</a:t>
            </a:r>
            <a:r>
              <a:rPr lang="en-GB" i="1" dirty="0"/>
              <a:t>. </a:t>
            </a:r>
            <a:endParaRPr lang="en-GB" i="1" dirty="0" smtClean="0"/>
          </a:p>
          <a:p>
            <a:r>
              <a:rPr lang="en-GB" b="1" i="1" dirty="0" smtClean="0"/>
              <a:t>Capabilities</a:t>
            </a:r>
            <a:r>
              <a:rPr lang="en-GB" i="1" dirty="0" smtClean="0"/>
              <a:t> </a:t>
            </a:r>
            <a:r>
              <a:rPr lang="en-GB" i="1" dirty="0"/>
              <a:t>refer to </a:t>
            </a:r>
            <a:r>
              <a:rPr lang="en-GB" i="1" dirty="0" smtClean="0"/>
              <a:t>the firm’s </a:t>
            </a:r>
            <a:r>
              <a:rPr lang="en-GB" i="1" dirty="0"/>
              <a:t>ability to bundle, manage, or otherwise exploit resources in a manner that provides added value and</a:t>
            </a:r>
            <a:r>
              <a:rPr lang="en-GB" i="1" dirty="0" smtClean="0"/>
              <a:t>, </a:t>
            </a:r>
            <a:r>
              <a:rPr lang="en-IN" i="1" dirty="0" smtClean="0"/>
              <a:t>hopefully</a:t>
            </a:r>
            <a:r>
              <a:rPr lang="en-IN" i="1" dirty="0"/>
              <a:t>, advantage over competitors.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3748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GB" sz="2800" dirty="0"/>
              <a:t>VRIO: Four Characteristics of Strategic Resources</a:t>
            </a:r>
            <a:endParaRPr lang="en-IN" sz="28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685800"/>
            <a:ext cx="60198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6561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A strategic resource is an asset that is valuable, rare, difficult to imitate, and organized to capture value (Barney</a:t>
            </a:r>
            <a:r>
              <a:rPr lang="en-GB" dirty="0" smtClean="0"/>
              <a:t>, 1991</a:t>
            </a:r>
            <a:r>
              <a:rPr lang="en-GB" dirty="0"/>
              <a:t>; Chi, 1994). </a:t>
            </a:r>
            <a:endParaRPr lang="en-GB" dirty="0" smtClean="0"/>
          </a:p>
          <a:p>
            <a:r>
              <a:rPr lang="en-GB" dirty="0" smtClean="0"/>
              <a:t>A </a:t>
            </a:r>
            <a:r>
              <a:rPr lang="en-GB" dirty="0"/>
              <a:t>resource is valuable to the extent that it helps a firm create strategies that capitalize </a:t>
            </a:r>
            <a:r>
              <a:rPr lang="en-GB" dirty="0" smtClean="0"/>
              <a:t>on opportunities </a:t>
            </a:r>
            <a:r>
              <a:rPr lang="en-GB" dirty="0"/>
              <a:t>and ward off threats</a:t>
            </a:r>
            <a:r>
              <a:rPr lang="en-GB" dirty="0" smtClean="0"/>
              <a:t>.</a:t>
            </a:r>
          </a:p>
          <a:p>
            <a:r>
              <a:rPr lang="en-GB" dirty="0"/>
              <a:t>Competitors have a hard time duplicating resources that are difficult to imitate. </a:t>
            </a:r>
            <a:endParaRPr lang="en-GB" dirty="0" smtClean="0"/>
          </a:p>
          <a:p>
            <a:r>
              <a:rPr lang="en-GB" dirty="0" smtClean="0"/>
              <a:t>Some </a:t>
            </a:r>
            <a:r>
              <a:rPr lang="en-GB" dirty="0"/>
              <a:t>difficult to </a:t>
            </a:r>
            <a:r>
              <a:rPr lang="en-GB" dirty="0" smtClean="0"/>
              <a:t>imitate resources </a:t>
            </a:r>
            <a:r>
              <a:rPr lang="en-GB" dirty="0"/>
              <a:t>are protected by various legal means, including trademarks, patents, and copyrights. </a:t>
            </a:r>
            <a:endParaRPr lang="en-GB" dirty="0" smtClean="0"/>
          </a:p>
          <a:p>
            <a:r>
              <a:rPr lang="en-GB" dirty="0" smtClean="0"/>
              <a:t>Other resources are </a:t>
            </a:r>
            <a:r>
              <a:rPr lang="en-GB" dirty="0"/>
              <a:t>hard to copy because they evolve over time and they reflect unique aspects of the </a:t>
            </a:r>
            <a:r>
              <a:rPr lang="en-GB" dirty="0" smtClean="0"/>
              <a:t>firm</a:t>
            </a:r>
          </a:p>
          <a:p>
            <a:r>
              <a:rPr lang="en-GB" dirty="0"/>
              <a:t>A resource is organized to capture value when the firm has organizational systems, processes, and </a:t>
            </a:r>
            <a:r>
              <a:rPr lang="en-GB" dirty="0" smtClean="0"/>
              <a:t>structure in </a:t>
            </a:r>
            <a:r>
              <a:rPr lang="en-GB" dirty="0"/>
              <a:t>place to capitalize on the resource for a competitive advantage.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21640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Intellectual Property and Isolating Mechanisms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44963"/>
          </a:xfrm>
        </p:spPr>
        <p:txBody>
          <a:bodyPr/>
          <a:lstStyle/>
          <a:p>
            <a:r>
              <a:rPr lang="en-GB" b="1" dirty="0"/>
              <a:t>Intellectual property </a:t>
            </a:r>
            <a:r>
              <a:rPr lang="en-GB" dirty="0"/>
              <a:t>refers to creations of the mind, such as inventions, artistic products, and symbols. </a:t>
            </a:r>
            <a:endParaRPr lang="en-GB" dirty="0" smtClean="0"/>
          </a:p>
          <a:p>
            <a:r>
              <a:rPr lang="en-GB" dirty="0" smtClean="0"/>
              <a:t>The four </a:t>
            </a:r>
            <a:r>
              <a:rPr lang="en-GB" dirty="0"/>
              <a:t>main types of intellectual property are patents, trademarks, copyrights, and trade secrets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07547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Types of Intellectual Property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321965"/>
              </p:ext>
            </p:extLst>
          </p:nvPr>
        </p:nvGraphicFramePr>
        <p:xfrm>
          <a:off x="381000" y="2514600"/>
          <a:ext cx="82296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Patents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protect inventions from direct imitation for a limited period of time.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Trademarks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are phrases, pictures, names, or symbols used to identify a particular organization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Copyrights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provide exclusive rights to the creators of original artistic works such as books, movies, songs, and screenplays. Sometimes copyrights are sold and licensed.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Trade secrets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refer to formulas, practices, and designs that are central to a firm’s business and that remain unknown to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competitors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8611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Isolating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a firm can prevent a competitor from imitating the resource or capability that gives it a </a:t>
            </a:r>
            <a:r>
              <a:rPr lang="en-GB" dirty="0" smtClean="0"/>
              <a:t>competitive advantage</a:t>
            </a:r>
            <a:r>
              <a:rPr lang="en-GB" dirty="0"/>
              <a:t>, it is able to sustain that advantage longer. This strategy is called </a:t>
            </a:r>
            <a:r>
              <a:rPr lang="en-GB" b="1" dirty="0"/>
              <a:t>isolating mechanisms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 smtClean="0"/>
              <a:t>A </a:t>
            </a:r>
            <a:r>
              <a:rPr lang="en-GB" dirty="0"/>
              <a:t>patent</a:t>
            </a:r>
            <a:r>
              <a:rPr lang="en-GB" dirty="0" smtClean="0"/>
              <a:t>, for </a:t>
            </a:r>
            <a:r>
              <a:rPr lang="en-GB" dirty="0"/>
              <a:t>example, is a legal way to prevent imitation.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02259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Kinds of isolating mechanisms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Social </a:t>
            </a:r>
            <a:r>
              <a:rPr lang="en-IN" b="1" dirty="0" smtClean="0"/>
              <a:t>Complexity: </a:t>
            </a:r>
            <a:r>
              <a:rPr lang="en-GB" dirty="0"/>
              <a:t>The interrelationships within a firm, along with relationships within or across a business process, can </a:t>
            </a:r>
            <a:r>
              <a:rPr lang="en-GB" dirty="0" smtClean="0"/>
              <a:t>be difficult </a:t>
            </a:r>
            <a:r>
              <a:rPr lang="en-GB" dirty="0"/>
              <a:t>to imitate. </a:t>
            </a:r>
            <a:endParaRPr lang="en-GB" dirty="0" smtClean="0"/>
          </a:p>
          <a:p>
            <a:r>
              <a:rPr lang="en-GB" dirty="0" smtClean="0"/>
              <a:t>For </a:t>
            </a:r>
            <a:r>
              <a:rPr lang="en-GB" dirty="0"/>
              <a:t>example, key relationships that members of a firm have with a supplier of a key </a:t>
            </a:r>
            <a:r>
              <a:rPr lang="en-GB" dirty="0" smtClean="0"/>
              <a:t>strategic resource </a:t>
            </a:r>
            <a:r>
              <a:rPr lang="en-GB" dirty="0"/>
              <a:t>create a condition that a competitor cannot duplicate. </a:t>
            </a:r>
            <a:endParaRPr lang="en-GB" dirty="0" smtClean="0"/>
          </a:p>
          <a:p>
            <a:r>
              <a:rPr lang="en-GB" dirty="0" smtClean="0"/>
              <a:t>This </a:t>
            </a:r>
            <a:r>
              <a:rPr lang="en-GB" b="1" dirty="0"/>
              <a:t>social complexity </a:t>
            </a:r>
            <a:r>
              <a:rPr lang="en-GB" dirty="0"/>
              <a:t>creates a barrier </a:t>
            </a:r>
            <a:r>
              <a:rPr lang="en-GB" dirty="0" smtClean="0"/>
              <a:t>to imitation </a:t>
            </a:r>
            <a:r>
              <a:rPr lang="en-GB" dirty="0"/>
              <a:t>and can prolong a competitive advantage possessed by an organization. </a:t>
            </a:r>
            <a:endParaRPr lang="en-GB" dirty="0" smtClean="0"/>
          </a:p>
          <a:p>
            <a:r>
              <a:rPr lang="en-GB" dirty="0" smtClean="0"/>
              <a:t>Social </a:t>
            </a:r>
            <a:r>
              <a:rPr lang="en-GB" dirty="0"/>
              <a:t>complexity </a:t>
            </a:r>
            <a:r>
              <a:rPr lang="en-GB" dirty="0" smtClean="0"/>
              <a:t>might arise </a:t>
            </a:r>
            <a:r>
              <a:rPr lang="en-GB" dirty="0"/>
              <a:t>through certain customer relationships or with key political figures, provided they can help the </a:t>
            </a:r>
            <a:r>
              <a:rPr lang="en-GB" dirty="0" smtClean="0"/>
              <a:t>firm’s </a:t>
            </a:r>
            <a:r>
              <a:rPr lang="en-IN" dirty="0" smtClean="0"/>
              <a:t>competitive </a:t>
            </a:r>
            <a:r>
              <a:rPr lang="en-IN" dirty="0"/>
              <a:t>position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2127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Kinds of isolating mechanisms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Path </a:t>
            </a:r>
            <a:r>
              <a:rPr lang="en-IN" dirty="0" smtClean="0"/>
              <a:t>Dependence: </a:t>
            </a:r>
            <a:r>
              <a:rPr lang="en-GB" dirty="0"/>
              <a:t>The path that a firm takes over time to achieve the point of a competitive advantage may also provide a </a:t>
            </a:r>
            <a:r>
              <a:rPr lang="en-GB" dirty="0" smtClean="0"/>
              <a:t>barrier to </a:t>
            </a:r>
            <a:r>
              <a:rPr lang="en-GB" dirty="0"/>
              <a:t>imitation. </a:t>
            </a:r>
            <a:endParaRPr lang="en-GB" dirty="0" smtClean="0"/>
          </a:p>
          <a:p>
            <a:r>
              <a:rPr lang="en-GB" dirty="0" smtClean="0"/>
              <a:t>Decisions </a:t>
            </a:r>
            <a:r>
              <a:rPr lang="en-GB" dirty="0"/>
              <a:t>made in the past that brought a firm to its current position may make it very </a:t>
            </a:r>
            <a:r>
              <a:rPr lang="en-GB" dirty="0" smtClean="0"/>
              <a:t>difficult for </a:t>
            </a:r>
            <a:r>
              <a:rPr lang="en-GB" dirty="0"/>
              <a:t>other firms to imitate. </a:t>
            </a:r>
            <a:endParaRPr lang="en-GB" dirty="0" smtClean="0"/>
          </a:p>
          <a:p>
            <a:r>
              <a:rPr lang="en-GB" dirty="0" smtClean="0"/>
              <a:t>The </a:t>
            </a:r>
            <a:r>
              <a:rPr lang="en-GB" dirty="0"/>
              <a:t>accumulated learning and experience gained along the historical path are </a:t>
            </a:r>
            <a:r>
              <a:rPr lang="en-GB" dirty="0" smtClean="0"/>
              <a:t>not easily </a:t>
            </a:r>
            <a:r>
              <a:rPr lang="en-GB" dirty="0"/>
              <a:t>duplicated. </a:t>
            </a:r>
            <a:endParaRPr lang="en-GB" dirty="0" smtClean="0"/>
          </a:p>
          <a:p>
            <a:r>
              <a:rPr lang="en-GB" dirty="0" smtClean="0"/>
              <a:t>This </a:t>
            </a:r>
            <a:r>
              <a:rPr lang="en-GB" b="1" dirty="0"/>
              <a:t>path dependence </a:t>
            </a:r>
            <a:r>
              <a:rPr lang="en-GB" dirty="0"/>
              <a:t>can serve as an isolating mechanism to block competitors from </a:t>
            </a:r>
            <a:r>
              <a:rPr lang="en-GB" dirty="0" smtClean="0"/>
              <a:t>gaining the </a:t>
            </a:r>
            <a:r>
              <a:rPr lang="en-GB" dirty="0"/>
              <a:t>same position in the market.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66451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Kinds of isolating mechanisms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Causal </a:t>
            </a:r>
            <a:r>
              <a:rPr lang="en-IN" b="1" dirty="0" smtClean="0"/>
              <a:t>Ambiguity:</a:t>
            </a:r>
            <a:r>
              <a:rPr lang="en-IN" dirty="0" smtClean="0"/>
              <a:t> It </a:t>
            </a:r>
            <a:r>
              <a:rPr lang="en-GB" dirty="0" smtClean="0"/>
              <a:t>means </a:t>
            </a:r>
            <a:r>
              <a:rPr lang="en-GB" dirty="0"/>
              <a:t>the reason for achieving a competitive advantage </a:t>
            </a:r>
            <a:r>
              <a:rPr lang="en-GB" dirty="0" smtClean="0"/>
              <a:t>is not </a:t>
            </a:r>
            <a:r>
              <a:rPr lang="en-GB" dirty="0"/>
              <a:t>apparent. </a:t>
            </a:r>
            <a:endParaRPr lang="en-GB" dirty="0" smtClean="0"/>
          </a:p>
          <a:p>
            <a:r>
              <a:rPr lang="en-GB" dirty="0" smtClean="0"/>
              <a:t>The </a:t>
            </a:r>
            <a:r>
              <a:rPr lang="en-GB" dirty="0"/>
              <a:t>cause for success is obscure and not understood well. </a:t>
            </a:r>
            <a:endParaRPr lang="en-GB" dirty="0" smtClean="0"/>
          </a:p>
          <a:p>
            <a:r>
              <a:rPr lang="en-GB" dirty="0" smtClean="0"/>
              <a:t>Because </a:t>
            </a:r>
            <a:r>
              <a:rPr lang="en-GB" dirty="0"/>
              <a:t>the firm itself does not </a:t>
            </a:r>
            <a:r>
              <a:rPr lang="en-GB" dirty="0" smtClean="0"/>
              <a:t>really know </a:t>
            </a:r>
            <a:r>
              <a:rPr lang="en-GB" dirty="0"/>
              <a:t>why it has achieved success, it is quite difficult for a competitor to replicate it.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93496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Value Chain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value chain charts the path by which products and services are created </a:t>
            </a:r>
            <a:r>
              <a:rPr lang="en-GB" dirty="0" smtClean="0"/>
              <a:t>and eventually </a:t>
            </a:r>
            <a:r>
              <a:rPr lang="en-GB" dirty="0"/>
              <a:t>sold to customers (Porter, 1985</a:t>
            </a:r>
            <a:r>
              <a:rPr lang="en-GB" dirty="0" smtClean="0"/>
              <a:t>).</a:t>
            </a:r>
          </a:p>
          <a:p>
            <a:r>
              <a:rPr lang="en-GB" dirty="0" smtClean="0"/>
              <a:t>The </a:t>
            </a:r>
            <a:r>
              <a:rPr lang="en-GB" dirty="0"/>
              <a:t>term value chain reflects the fact that, as each step of </a:t>
            </a:r>
            <a:r>
              <a:rPr lang="en-GB" dirty="0" smtClean="0"/>
              <a:t>this path </a:t>
            </a:r>
            <a:r>
              <a:rPr lang="en-GB" dirty="0"/>
              <a:t>is completed, the product becomes more valuable than it was at the previous step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04519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81000"/>
            <a:ext cx="7467599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1502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Value Chain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3840163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Value chains include both </a:t>
            </a:r>
            <a:r>
              <a:rPr lang="en-GB" b="1" dirty="0"/>
              <a:t>primary</a:t>
            </a:r>
            <a:r>
              <a:rPr lang="en-GB" dirty="0"/>
              <a:t> and </a:t>
            </a:r>
            <a:r>
              <a:rPr lang="en-GB" b="1" dirty="0"/>
              <a:t>secondary</a:t>
            </a:r>
            <a:r>
              <a:rPr lang="en-GB" dirty="0"/>
              <a:t> activities. </a:t>
            </a:r>
            <a:endParaRPr lang="en-GB" dirty="0" smtClean="0"/>
          </a:p>
          <a:p>
            <a:r>
              <a:rPr lang="en-GB" u="sng" dirty="0" smtClean="0"/>
              <a:t>Primary </a:t>
            </a:r>
            <a:r>
              <a:rPr lang="en-GB" u="sng" dirty="0"/>
              <a:t>activities </a:t>
            </a:r>
            <a:r>
              <a:rPr lang="en-GB" dirty="0"/>
              <a:t>are actions that are </a:t>
            </a:r>
            <a:r>
              <a:rPr lang="en-GB" dirty="0" smtClean="0"/>
              <a:t>directly involved </a:t>
            </a:r>
            <a:r>
              <a:rPr lang="en-GB" dirty="0"/>
              <a:t>in creating and distributing goods and services</a:t>
            </a:r>
            <a:r>
              <a:rPr lang="en-GB" dirty="0" smtClean="0"/>
              <a:t>.</a:t>
            </a:r>
          </a:p>
          <a:p>
            <a:r>
              <a:rPr lang="en-GB" u="sng" dirty="0"/>
              <a:t>Secondary activities </a:t>
            </a:r>
            <a:r>
              <a:rPr lang="en-GB" dirty="0"/>
              <a:t>are not directly involved in the evolution of a product, but instead provide </a:t>
            </a:r>
            <a:r>
              <a:rPr lang="en-GB" dirty="0" smtClean="0"/>
              <a:t>important underlying </a:t>
            </a:r>
            <a:r>
              <a:rPr lang="en-GB" dirty="0"/>
              <a:t>support for primary activities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41596837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Types of Primary Activities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 smtClean="0"/>
              <a:t>Inbound </a:t>
            </a:r>
            <a:r>
              <a:rPr lang="en-GB" b="1" dirty="0"/>
              <a:t>logistics </a:t>
            </a:r>
            <a:r>
              <a:rPr lang="en-GB" dirty="0"/>
              <a:t>refers to the arrival of raw </a:t>
            </a:r>
            <a:r>
              <a:rPr lang="en-GB" dirty="0" smtClean="0"/>
              <a:t>materials</a:t>
            </a:r>
          </a:p>
          <a:p>
            <a:r>
              <a:rPr lang="en-IN" b="1" dirty="0"/>
              <a:t>Operations</a:t>
            </a:r>
            <a:r>
              <a:rPr lang="en-IN" dirty="0"/>
              <a:t> refers to </a:t>
            </a:r>
            <a:r>
              <a:rPr lang="en-IN" dirty="0" smtClean="0"/>
              <a:t>the actual </a:t>
            </a:r>
            <a:r>
              <a:rPr lang="en-IN" dirty="0"/>
              <a:t>production </a:t>
            </a:r>
            <a:r>
              <a:rPr lang="en-IN" dirty="0" smtClean="0"/>
              <a:t>process</a:t>
            </a:r>
          </a:p>
          <a:p>
            <a:r>
              <a:rPr lang="en-GB" b="1" dirty="0"/>
              <a:t>O</a:t>
            </a:r>
            <a:r>
              <a:rPr lang="en-GB" b="1" dirty="0" smtClean="0"/>
              <a:t>utbound </a:t>
            </a:r>
            <a:r>
              <a:rPr lang="en-GB" b="1" dirty="0"/>
              <a:t>logistics </a:t>
            </a:r>
            <a:r>
              <a:rPr lang="en-GB" dirty="0"/>
              <a:t>tracks the movement of a finished product to </a:t>
            </a:r>
            <a:r>
              <a:rPr lang="en-GB" dirty="0" smtClean="0"/>
              <a:t>customers</a:t>
            </a:r>
          </a:p>
          <a:p>
            <a:r>
              <a:rPr lang="en-GB" b="1" dirty="0" smtClean="0"/>
              <a:t>Marketing and sales: </a:t>
            </a:r>
            <a:r>
              <a:rPr lang="en-GB" dirty="0"/>
              <a:t>Attracting potential customers and convincing them to make </a:t>
            </a:r>
            <a:r>
              <a:rPr lang="en-GB" dirty="0" smtClean="0"/>
              <a:t>purchases</a:t>
            </a:r>
          </a:p>
          <a:p>
            <a:r>
              <a:rPr lang="en-GB" b="1" dirty="0"/>
              <a:t>S</a:t>
            </a:r>
            <a:r>
              <a:rPr lang="en-GB" b="1" dirty="0" smtClean="0"/>
              <a:t>ervice</a:t>
            </a:r>
            <a:r>
              <a:rPr lang="en-GB" dirty="0" smtClean="0"/>
              <a:t> </a:t>
            </a:r>
            <a:r>
              <a:rPr lang="en-GB" dirty="0"/>
              <a:t>refers to the extent to which a firm provides assistance to </a:t>
            </a:r>
            <a:r>
              <a:rPr lang="en-GB" dirty="0" smtClean="0"/>
              <a:t>their </a:t>
            </a:r>
            <a:r>
              <a:rPr lang="en-IN" dirty="0" smtClean="0"/>
              <a:t>customers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05819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Types of Secondary Activities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 smtClean="0"/>
              <a:t>F</a:t>
            </a:r>
            <a:r>
              <a:rPr lang="en-GB" b="1" dirty="0"/>
              <a:t>irm infrastructure </a:t>
            </a:r>
            <a:r>
              <a:rPr lang="en-GB" dirty="0"/>
              <a:t>refers to how the firm is organized and led </a:t>
            </a:r>
            <a:r>
              <a:rPr lang="en-GB" dirty="0" smtClean="0"/>
              <a:t>by </a:t>
            </a:r>
            <a:r>
              <a:rPr lang="en-IN" dirty="0" smtClean="0"/>
              <a:t>executives.</a:t>
            </a:r>
          </a:p>
          <a:p>
            <a:r>
              <a:rPr lang="en-GB" b="1" dirty="0"/>
              <a:t>Human resource management </a:t>
            </a:r>
            <a:r>
              <a:rPr lang="en-GB" dirty="0"/>
              <a:t>involves the recruitment</a:t>
            </a:r>
            <a:r>
              <a:rPr lang="en-GB" dirty="0" smtClean="0"/>
              <a:t>, training</a:t>
            </a:r>
            <a:r>
              <a:rPr lang="en-GB" dirty="0"/>
              <a:t>, and compensation of </a:t>
            </a:r>
            <a:r>
              <a:rPr lang="en-GB" dirty="0" smtClean="0"/>
              <a:t>employees</a:t>
            </a:r>
          </a:p>
          <a:p>
            <a:r>
              <a:rPr lang="en-GB" b="1" dirty="0"/>
              <a:t>Technology</a:t>
            </a:r>
            <a:r>
              <a:rPr lang="en-GB" dirty="0"/>
              <a:t> refers to the use of computerization and telecommunications to support primary </a:t>
            </a:r>
            <a:r>
              <a:rPr lang="en-GB" dirty="0" smtClean="0"/>
              <a:t>activities</a:t>
            </a:r>
          </a:p>
          <a:p>
            <a:r>
              <a:rPr lang="en-GB" b="1" dirty="0"/>
              <a:t>Procurement</a:t>
            </a:r>
            <a:r>
              <a:rPr lang="en-GB" dirty="0"/>
              <a:t> is the process of negotiating for and purchasing raw materials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8329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SWOT Framework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00400"/>
            <a:ext cx="8229600" cy="2925763"/>
          </a:xfrm>
        </p:spPr>
        <p:txBody>
          <a:bodyPr/>
          <a:lstStyle/>
          <a:p>
            <a:r>
              <a:rPr lang="en-GB" b="1" i="1" dirty="0"/>
              <a:t>Strengths</a:t>
            </a:r>
            <a:r>
              <a:rPr lang="en-GB" i="1" dirty="0"/>
              <a:t> and </a:t>
            </a:r>
            <a:r>
              <a:rPr lang="en-GB" b="1" i="1" dirty="0"/>
              <a:t>weaknesses</a:t>
            </a:r>
            <a:r>
              <a:rPr lang="en-GB" i="1" dirty="0"/>
              <a:t> are assessed by examining the firm, while </a:t>
            </a:r>
            <a:r>
              <a:rPr lang="en-GB" b="1" i="1" dirty="0"/>
              <a:t>opportunities</a:t>
            </a:r>
            <a:r>
              <a:rPr lang="en-GB" i="1" dirty="0"/>
              <a:t> and </a:t>
            </a:r>
            <a:r>
              <a:rPr lang="en-GB" b="1" i="1" dirty="0" smtClean="0"/>
              <a:t>threats</a:t>
            </a:r>
            <a:r>
              <a:rPr lang="en-GB" i="1" dirty="0" smtClean="0"/>
              <a:t> refer </a:t>
            </a:r>
            <a:r>
              <a:rPr lang="en-GB" i="1" dirty="0"/>
              <a:t>to external events and trends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17503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Selecting business-level strategies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A </a:t>
            </a:r>
            <a:r>
              <a:rPr lang="en-GB" b="1" dirty="0"/>
              <a:t>generic, business-level strategy </a:t>
            </a:r>
            <a:r>
              <a:rPr lang="en-GB" dirty="0"/>
              <a:t>is also called its </a:t>
            </a:r>
            <a:r>
              <a:rPr lang="en-GB" u="sng" dirty="0"/>
              <a:t>generic competitive strategy</a:t>
            </a:r>
            <a:r>
              <a:rPr lang="en-GB" dirty="0" smtClean="0"/>
              <a:t>, because </a:t>
            </a:r>
            <a:r>
              <a:rPr lang="en-GB" dirty="0"/>
              <a:t>it defines how a firm competes head-to-head against similar products and services in the marketplace.</a:t>
            </a:r>
          </a:p>
          <a:p>
            <a:r>
              <a:rPr lang="en-GB" dirty="0"/>
              <a:t>According to </a:t>
            </a:r>
            <a:r>
              <a:rPr lang="en-GB" u="sng" dirty="0"/>
              <a:t>Michael Porter</a:t>
            </a:r>
            <a:r>
              <a:rPr lang="en-GB" dirty="0"/>
              <a:t>, a firm may pursue one of </a:t>
            </a:r>
            <a:r>
              <a:rPr lang="en-GB" u="sng" dirty="0"/>
              <a:t>five</a:t>
            </a:r>
            <a:r>
              <a:rPr lang="en-GB" dirty="0"/>
              <a:t> generic/competitive business-level </a:t>
            </a:r>
            <a:r>
              <a:rPr lang="en-GB" dirty="0" smtClean="0"/>
              <a:t>strategies: </a:t>
            </a:r>
            <a:r>
              <a:rPr lang="en-GB" i="1" dirty="0" smtClean="0"/>
              <a:t>broad </a:t>
            </a:r>
            <a:r>
              <a:rPr lang="en-GB" i="1" dirty="0"/>
              <a:t>cost leadership</a:t>
            </a:r>
            <a:r>
              <a:rPr lang="en-GB" dirty="0"/>
              <a:t>, </a:t>
            </a:r>
            <a:r>
              <a:rPr lang="en-GB" i="1" dirty="0"/>
              <a:t>broad differentiation</a:t>
            </a:r>
            <a:r>
              <a:rPr lang="en-GB" dirty="0"/>
              <a:t>, </a:t>
            </a:r>
            <a:r>
              <a:rPr lang="en-GB" i="1" dirty="0"/>
              <a:t>focused cost leadership</a:t>
            </a:r>
            <a:r>
              <a:rPr lang="en-GB" dirty="0"/>
              <a:t>, </a:t>
            </a:r>
            <a:r>
              <a:rPr lang="en-GB" i="1" dirty="0"/>
              <a:t>focused differentiation</a:t>
            </a:r>
            <a:r>
              <a:rPr lang="en-GB" dirty="0"/>
              <a:t>, </a:t>
            </a:r>
            <a:r>
              <a:rPr lang="en-GB" dirty="0" smtClean="0"/>
              <a:t>and </a:t>
            </a:r>
            <a:r>
              <a:rPr lang="en-IN" i="1" dirty="0" smtClean="0"/>
              <a:t>best </a:t>
            </a:r>
            <a:r>
              <a:rPr lang="en-IN" i="1" dirty="0"/>
              <a:t>cost strategies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32943938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According to Porter, two competitive dimensions are the keys to business-level strategy. </a:t>
            </a:r>
            <a:endParaRPr lang="en-GB" dirty="0" smtClean="0"/>
          </a:p>
          <a:p>
            <a:r>
              <a:rPr lang="en-GB" dirty="0" smtClean="0"/>
              <a:t>The </a:t>
            </a:r>
            <a:r>
              <a:rPr lang="en-GB" dirty="0"/>
              <a:t>first </a:t>
            </a:r>
            <a:r>
              <a:rPr lang="en-GB" dirty="0" smtClean="0"/>
              <a:t>dimension is </a:t>
            </a:r>
            <a:r>
              <a:rPr lang="en-GB" b="1" dirty="0"/>
              <a:t>a firm’s source of competitive advantage</a:t>
            </a:r>
            <a:r>
              <a:rPr lang="en-GB" dirty="0"/>
              <a:t>. This dimension involves whether a firm tries to gain an edge </a:t>
            </a:r>
            <a:r>
              <a:rPr lang="en-GB" dirty="0" smtClean="0"/>
              <a:t>on rivals </a:t>
            </a:r>
            <a:r>
              <a:rPr lang="en-GB" dirty="0"/>
              <a:t>by keeping costs down or by offering something unique in the market. </a:t>
            </a:r>
            <a:endParaRPr lang="en-GB" dirty="0" smtClean="0"/>
          </a:p>
          <a:p>
            <a:r>
              <a:rPr lang="en-GB" dirty="0" smtClean="0"/>
              <a:t>The </a:t>
            </a:r>
            <a:r>
              <a:rPr lang="en-GB" dirty="0"/>
              <a:t>second dimension is </a:t>
            </a:r>
            <a:r>
              <a:rPr lang="en-GB" b="1" dirty="0"/>
              <a:t>a firms</a:t>
            </a:r>
            <a:r>
              <a:rPr lang="en-GB" b="1" dirty="0" smtClean="0"/>
              <a:t>’ scope </a:t>
            </a:r>
            <a:r>
              <a:rPr lang="en-GB" b="1" dirty="0"/>
              <a:t>of operations</a:t>
            </a:r>
            <a:r>
              <a:rPr lang="en-GB" dirty="0"/>
              <a:t>. This dimension involves whether a firm tries to target customers in general or </a:t>
            </a:r>
            <a:r>
              <a:rPr lang="en-GB" dirty="0" smtClean="0"/>
              <a:t>whether it </a:t>
            </a:r>
            <a:r>
              <a:rPr lang="en-GB" dirty="0"/>
              <a:t>seeks to attract just a narrow segment of customers.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84529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Business-Level Strategies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4134655"/>
              </p:ext>
            </p:extLst>
          </p:nvPr>
        </p:nvGraphicFramePr>
        <p:xfrm>
          <a:off x="457200" y="1600200"/>
          <a:ext cx="82296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Competitive Advantage: Cost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Broad Target Market: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cost leadership strategy depends on attracting a large customer base and keeping prices low by buying massive quantities of goods from suppliers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Narrow Target Market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Company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does not offer a full array of consumer goods,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but those that it does offer are priced to move.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Competitive Advantage: Differentiation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Broad Target Market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Organization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builds its differentiation strategy around offering designer merchandise and providing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exceptional service.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Narrow Target Market: Company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follows a focused differentiation strategy by selling unique (and pricey) products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3712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Cost leadership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Firms that compete based on price and target a broad target market are following a broad cost </a:t>
            </a:r>
            <a:r>
              <a:rPr lang="en-GB" i="1" dirty="0" smtClean="0"/>
              <a:t>leadership </a:t>
            </a:r>
            <a:r>
              <a:rPr lang="en-IN" i="1" dirty="0" smtClean="0"/>
              <a:t>strategy.</a:t>
            </a:r>
          </a:p>
          <a:p>
            <a:r>
              <a:rPr lang="en-GB" dirty="0"/>
              <a:t>A firm following a cost </a:t>
            </a:r>
            <a:r>
              <a:rPr lang="en-GB" dirty="0" smtClean="0"/>
              <a:t>leadership strategy </a:t>
            </a:r>
            <a:r>
              <a:rPr lang="en-GB" dirty="0"/>
              <a:t>offers products or services with acceptable quality and features to a broad set of customers at a </a:t>
            </a:r>
            <a:r>
              <a:rPr lang="en-GB" dirty="0" smtClean="0"/>
              <a:t>low </a:t>
            </a:r>
            <a:r>
              <a:rPr lang="en-IN" dirty="0" smtClean="0"/>
              <a:t>price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82433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Executing a Low-Cost Strategy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4815270"/>
              </p:ext>
            </p:extLst>
          </p:nvPr>
        </p:nvGraphicFramePr>
        <p:xfrm>
          <a:off x="457200" y="1600200"/>
          <a:ext cx="8229600" cy="377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Advantages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 profits can be enjoyed if a cost leader has a high market share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Low-cost firms can withstand price wars because high-priced competitors will not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want to compete directly with a more efficient rival.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 smtClean="0"/>
                        <a:t>Disadvantages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If perceptions of quality become too low, business will suffer.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Large volumes of sales are a must because margins are slim.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need to keep expenses low might lead cost leaders to be late in detecting key environment trends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Low-cost firms’ emphasis on efficiency makes it difficult for them to change quickly if needed.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9644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Differentiation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i="1" dirty="0"/>
              <a:t>Firms that compete on </a:t>
            </a:r>
            <a:r>
              <a:rPr lang="en-GB" i="1" u="sng" dirty="0"/>
              <a:t>uniqueness</a:t>
            </a:r>
            <a:r>
              <a:rPr lang="en-GB" i="1" dirty="0"/>
              <a:t> and target a </a:t>
            </a:r>
            <a:r>
              <a:rPr lang="en-GB" i="1" u="sng" dirty="0"/>
              <a:t>broad market </a:t>
            </a:r>
            <a:r>
              <a:rPr lang="en-GB" i="1" dirty="0"/>
              <a:t>are following a differentiation strategy</a:t>
            </a:r>
            <a:r>
              <a:rPr lang="en-GB" i="1" dirty="0" smtClean="0"/>
              <a:t>.</a:t>
            </a:r>
          </a:p>
          <a:p>
            <a:r>
              <a:rPr lang="en-GB" b="1" i="1" dirty="0" smtClean="0"/>
              <a:t>Advantages: </a:t>
            </a:r>
            <a:r>
              <a:rPr lang="en-GB" i="1" dirty="0" smtClean="0"/>
              <a:t>Buyer loyalty; Company’s reputation allows it to charge premiums from customers</a:t>
            </a:r>
          </a:p>
          <a:p>
            <a:r>
              <a:rPr lang="en-GB" b="1" i="1" dirty="0" smtClean="0"/>
              <a:t>Disadvantages: </a:t>
            </a:r>
            <a:r>
              <a:rPr lang="en-GB" i="1" dirty="0" smtClean="0"/>
              <a:t>Less expensive products might switch buying </a:t>
            </a:r>
            <a:r>
              <a:rPr lang="en-GB" i="1" dirty="0" err="1" smtClean="0"/>
              <a:t>behavior</a:t>
            </a:r>
            <a:r>
              <a:rPr lang="en-GB" i="1" dirty="0" smtClean="0"/>
              <a:t> of customers</a:t>
            </a:r>
            <a:r>
              <a:rPr lang="en-IN" dirty="0" smtClean="0"/>
              <a:t>; </a:t>
            </a:r>
            <a:r>
              <a:rPr lang="en-IN" i="1" dirty="0" smtClean="0"/>
              <a:t>Imitations of products available at cheap prices in the market may lead the price-sensitive customers to switch over</a:t>
            </a:r>
            <a:endParaRPr lang="en-GB" i="1" dirty="0" smtClean="0"/>
          </a:p>
        </p:txBody>
      </p:sp>
    </p:spTree>
    <p:extLst>
      <p:ext uri="{BB962C8B-B14F-4D97-AF65-F5344CB8AC3E}">
        <p14:creationId xmlns:p14="http://schemas.microsoft.com/office/powerpoint/2010/main" val="28377337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Focus Cost Leadership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A focused cost leadership strategy requires </a:t>
            </a:r>
            <a:r>
              <a:rPr lang="en-GB" dirty="0" smtClean="0"/>
              <a:t>competing based </a:t>
            </a:r>
            <a:r>
              <a:rPr lang="en-GB" dirty="0"/>
              <a:t>on price to target a narrow </a:t>
            </a:r>
            <a:r>
              <a:rPr lang="en-GB" dirty="0" smtClean="0"/>
              <a:t>market. </a:t>
            </a:r>
          </a:p>
          <a:p>
            <a:r>
              <a:rPr lang="en-GB" dirty="0" smtClean="0"/>
              <a:t>A firm that </a:t>
            </a:r>
            <a:r>
              <a:rPr lang="en-GB" dirty="0"/>
              <a:t>follows this strategy does not necessarily charge </a:t>
            </a:r>
            <a:r>
              <a:rPr lang="en-GB" dirty="0" smtClean="0"/>
              <a:t>the lowest </a:t>
            </a:r>
            <a:r>
              <a:rPr lang="en-GB" dirty="0"/>
              <a:t>prices in the industry. </a:t>
            </a:r>
            <a:endParaRPr lang="en-GB" dirty="0" smtClean="0"/>
          </a:p>
          <a:p>
            <a:r>
              <a:rPr lang="en-GB" dirty="0" smtClean="0"/>
              <a:t>Instead</a:t>
            </a:r>
            <a:r>
              <a:rPr lang="en-GB" dirty="0"/>
              <a:t>, it charges low </a:t>
            </a:r>
            <a:r>
              <a:rPr lang="en-GB" dirty="0" smtClean="0"/>
              <a:t>prices relative </a:t>
            </a:r>
            <a:r>
              <a:rPr lang="en-GB" dirty="0"/>
              <a:t>to other firms that compete within the </a:t>
            </a:r>
            <a:r>
              <a:rPr lang="en-GB" dirty="0" smtClean="0"/>
              <a:t>target </a:t>
            </a:r>
            <a:r>
              <a:rPr lang="en-IN" dirty="0" smtClean="0"/>
              <a:t>market.</a:t>
            </a:r>
          </a:p>
          <a:p>
            <a:r>
              <a:rPr lang="en-GB" dirty="0"/>
              <a:t>Another important point is that the nature of the narrow target market varies across firms that use a </a:t>
            </a:r>
            <a:r>
              <a:rPr lang="en-GB" dirty="0" smtClean="0"/>
              <a:t>focused cost </a:t>
            </a:r>
            <a:r>
              <a:rPr lang="en-GB" dirty="0"/>
              <a:t>leadership strategy. In some cases, the target market is defined by </a:t>
            </a:r>
            <a:r>
              <a:rPr lang="en-GB" u="sng" dirty="0"/>
              <a:t>demographics</a:t>
            </a:r>
            <a:r>
              <a:rPr lang="en-GB" dirty="0" smtClean="0"/>
              <a:t>. </a:t>
            </a:r>
            <a:r>
              <a:rPr lang="en-GB" dirty="0"/>
              <a:t>In other cases, the target market is defined by the </a:t>
            </a:r>
            <a:r>
              <a:rPr lang="en-GB" u="sng" dirty="0"/>
              <a:t>sales channel </a:t>
            </a:r>
            <a:r>
              <a:rPr lang="en-GB" dirty="0"/>
              <a:t>used to reach customers.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04275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Focused Differentiation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focused differentiation strategy </a:t>
            </a:r>
            <a:r>
              <a:rPr lang="en-GB" dirty="0" smtClean="0"/>
              <a:t>requires offering </a:t>
            </a:r>
            <a:r>
              <a:rPr lang="en-GB" dirty="0"/>
              <a:t>unique features that </a:t>
            </a:r>
            <a:r>
              <a:rPr lang="en-GB" dirty="0" err="1"/>
              <a:t>fulfill</a:t>
            </a:r>
            <a:r>
              <a:rPr lang="en-GB" dirty="0"/>
              <a:t> the demands of a narrow </a:t>
            </a:r>
            <a:r>
              <a:rPr lang="en-GB" dirty="0" smtClean="0"/>
              <a:t>market</a:t>
            </a:r>
          </a:p>
          <a:p>
            <a:r>
              <a:rPr lang="en-GB" dirty="0"/>
              <a:t>Some firms using a </a:t>
            </a:r>
            <a:r>
              <a:rPr lang="en-GB" dirty="0" smtClean="0"/>
              <a:t>focused differentiation </a:t>
            </a:r>
            <a:r>
              <a:rPr lang="en-GB" dirty="0"/>
              <a:t>strategy concentrate their efforts on a particular </a:t>
            </a:r>
            <a:r>
              <a:rPr lang="en-GB" u="sng" dirty="0"/>
              <a:t>sales channel</a:t>
            </a:r>
            <a:r>
              <a:rPr lang="en-GB" dirty="0"/>
              <a:t>, such as selling over the </a:t>
            </a:r>
            <a:r>
              <a:rPr lang="en-GB" dirty="0" smtClean="0"/>
              <a:t>internet only</a:t>
            </a:r>
            <a:r>
              <a:rPr lang="en-GB" dirty="0"/>
              <a:t>. Others target particular </a:t>
            </a:r>
            <a:r>
              <a:rPr lang="en-GB" u="sng" dirty="0"/>
              <a:t>demographic groups</a:t>
            </a:r>
            <a:r>
              <a:rPr lang="en-GB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69006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Executing a Focus Strategy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1866682"/>
              </p:ext>
            </p:extLst>
          </p:nvPr>
        </p:nvGraphicFramePr>
        <p:xfrm>
          <a:off x="457200" y="1600200"/>
          <a:ext cx="8229600" cy="313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Advantages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High prices can be charged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Firms using a focused strategy often develop great expertise about the good or service being sold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 smtClean="0"/>
                        <a:t>Disadvantages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Limited demands exist for specialized goods and services, so every potential sale counts.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area of focus may be taken over by others or even disappear over time.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Other firms may provide an even narrower focus.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1624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Best-Cost Strategy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Firms that charge relatively low prices and offer substantial differentiation are following a best-cost strategy</a:t>
            </a:r>
            <a:r>
              <a:rPr lang="en-GB" i="1" dirty="0" smtClean="0"/>
              <a:t>.</a:t>
            </a:r>
          </a:p>
          <a:p>
            <a:r>
              <a:rPr lang="en-GB" dirty="0"/>
              <a:t>One route toward a best-cost strategy is for a firm to adopt a business model whose fixed costs and </a:t>
            </a:r>
            <a:r>
              <a:rPr lang="en-GB" dirty="0" smtClean="0"/>
              <a:t>overhead are </a:t>
            </a:r>
            <a:r>
              <a:rPr lang="en-GB" dirty="0"/>
              <a:t>very low relative to the costs that competitors are </a:t>
            </a:r>
            <a:r>
              <a:rPr lang="en-GB" dirty="0" smtClean="0"/>
              <a:t>absorbing</a:t>
            </a:r>
          </a:p>
          <a:p>
            <a:r>
              <a:rPr lang="en-GB" dirty="0" smtClean="0"/>
              <a:t>Example: e-tailing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76062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Executing a Best Cost Strategy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1836885"/>
              </p:ext>
            </p:extLst>
          </p:nvPr>
        </p:nvGraphicFramePr>
        <p:xfrm>
          <a:off x="457200" y="1600200"/>
          <a:ext cx="8229600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Advantages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Best cost can attract both the cost-conscientious buyer and one looking for better quality than the low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cost leader.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Best cost can also result in the best value for the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buyer.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 smtClean="0"/>
                        <a:t>Disadvantages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Trying to achieve best cost can result in not having low enough prices to attract the cost-conscious buyer.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Neither achieving a low enough price nor sufficient differentiation can result in accomplishing neither, and getting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“stuck in the middle.”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93797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Stuck in the Middle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A firm is said to be stuck in the middle if it does not offer features that are unique enough to convince </a:t>
            </a:r>
            <a:r>
              <a:rPr lang="en-GB" i="1" dirty="0" smtClean="0"/>
              <a:t>customers to </a:t>
            </a:r>
            <a:r>
              <a:rPr lang="en-GB" i="1" dirty="0"/>
              <a:t>buy its offerings and its prices are too high to effectively compete based on price. </a:t>
            </a:r>
            <a:endParaRPr lang="en-GB" i="1" dirty="0" smtClean="0"/>
          </a:p>
          <a:p>
            <a:r>
              <a:rPr lang="en-GB" i="1" dirty="0" smtClean="0"/>
              <a:t>Firms </a:t>
            </a:r>
            <a:r>
              <a:rPr lang="en-GB" i="1" dirty="0"/>
              <a:t>that are stuck in </a:t>
            </a:r>
            <a:r>
              <a:rPr lang="en-GB" i="1" dirty="0" smtClean="0"/>
              <a:t>the middle </a:t>
            </a:r>
            <a:r>
              <a:rPr lang="en-GB" i="1" dirty="0"/>
              <a:t>generally perform poorly because they lack a clear market or competitive pricing.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185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3569</Words>
  <Application>Microsoft Office PowerPoint</Application>
  <PresentationFormat>On-screen Show (4:3)</PresentationFormat>
  <Paragraphs>247</Paragraphs>
  <Slides>47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Managerial Environment</vt:lpstr>
      <vt:lpstr>External Environment</vt:lpstr>
      <vt:lpstr>Relationship between an Organization and its Environment</vt:lpstr>
      <vt:lpstr>Why Does the Environment Matter?</vt:lpstr>
      <vt:lpstr>Evaluating the General Environment</vt:lpstr>
      <vt:lpstr>PESTEL framework</vt:lpstr>
      <vt:lpstr>Evaluating the Industry</vt:lpstr>
      <vt:lpstr>The Purpose of Five Forces Analysis (Porter)</vt:lpstr>
      <vt:lpstr>PowerPoint Presentation</vt:lpstr>
      <vt:lpstr>The Rivalry among Competitors in an Industry</vt:lpstr>
      <vt:lpstr>Rivalry among existing competitors tends to be high to the extent that…</vt:lpstr>
      <vt:lpstr>Industry Concentration</vt:lpstr>
      <vt:lpstr>Industry Concentration</vt:lpstr>
      <vt:lpstr>Threat of new entrants</vt:lpstr>
      <vt:lpstr>Power of Suppliers</vt:lpstr>
      <vt:lpstr>Bargaining power of Buyers</vt:lpstr>
      <vt:lpstr>Strategic Groups</vt:lpstr>
      <vt:lpstr>Internal Environment</vt:lpstr>
      <vt:lpstr>Managing Firm Resources: Resource-based view</vt:lpstr>
      <vt:lpstr>Resource-Based View: The Basics</vt:lpstr>
      <vt:lpstr>PowerPoint Presentation</vt:lpstr>
      <vt:lpstr>VRIO: Four Characteristics of Strategic Resources</vt:lpstr>
      <vt:lpstr>PowerPoint Presentation</vt:lpstr>
      <vt:lpstr>Intellectual Property and Isolating Mechanisms</vt:lpstr>
      <vt:lpstr>Types of Intellectual Property</vt:lpstr>
      <vt:lpstr>Isolating Mechanisms</vt:lpstr>
      <vt:lpstr>Kinds of isolating mechanisms</vt:lpstr>
      <vt:lpstr>Kinds of isolating mechanisms</vt:lpstr>
      <vt:lpstr>Kinds of isolating mechanisms</vt:lpstr>
      <vt:lpstr>Value Chain</vt:lpstr>
      <vt:lpstr>PowerPoint Presentation</vt:lpstr>
      <vt:lpstr>Value Chain</vt:lpstr>
      <vt:lpstr>Types of Primary Activities</vt:lpstr>
      <vt:lpstr>Types of Secondary Activities</vt:lpstr>
      <vt:lpstr>SWOT Framework</vt:lpstr>
      <vt:lpstr>Selecting business-level strategies</vt:lpstr>
      <vt:lpstr>PowerPoint Presentation</vt:lpstr>
      <vt:lpstr>Business-Level Strategies</vt:lpstr>
      <vt:lpstr>Cost leadership</vt:lpstr>
      <vt:lpstr>Executing a Low-Cost Strategy</vt:lpstr>
      <vt:lpstr>Differentiation</vt:lpstr>
      <vt:lpstr>Focus Cost Leadership Strategy</vt:lpstr>
      <vt:lpstr>Focused Differentiation Strategy</vt:lpstr>
      <vt:lpstr>Executing a Focus Strategy</vt:lpstr>
      <vt:lpstr>Best-Cost Strategy</vt:lpstr>
      <vt:lpstr>Executing a Best Cost Strategy</vt:lpstr>
      <vt:lpstr>Stuck in the Middle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Managerial Environment</dc:title>
  <dc:creator>HP</dc:creator>
  <cp:lastModifiedBy>HP</cp:lastModifiedBy>
  <cp:revision>14</cp:revision>
  <dcterms:created xsi:type="dcterms:W3CDTF">2006-08-16T00:00:00Z</dcterms:created>
  <dcterms:modified xsi:type="dcterms:W3CDTF">2026-02-23T16:19:37Z</dcterms:modified>
</cp:coreProperties>
</file>