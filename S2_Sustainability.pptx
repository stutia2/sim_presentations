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47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Sustainability and Ethics</a:t>
            </a:r>
            <a:endParaRPr lang="en-IN" dirty="0"/>
          </a:p>
        </p:txBody>
      </p:sp>
      <p:sp>
        <p:nvSpPr>
          <p:cNvPr id="3" name="Subtitle 2"/>
          <p:cNvSpPr>
            <a:spLocks noGrp="1"/>
          </p:cNvSpPr>
          <p:nvPr>
            <p:ph type="subTitle" idx="1"/>
          </p:nvPr>
        </p:nvSpPr>
        <p:spPr/>
        <p:txBody>
          <a:bodyPr/>
          <a:lstStyle/>
          <a:p>
            <a:r>
              <a:rPr lang="en-GB" dirty="0" smtClean="0"/>
              <a:t>Session 2</a:t>
            </a:r>
          </a:p>
          <a:p>
            <a:r>
              <a:rPr lang="en-GB" dirty="0" smtClean="0"/>
              <a:t>14</a:t>
            </a:r>
            <a:r>
              <a:rPr lang="en-GB" baseline="30000" dirty="0" smtClean="0"/>
              <a:t>th</a:t>
            </a:r>
            <a:r>
              <a:rPr lang="en-GB" dirty="0" smtClean="0"/>
              <a:t> April, 2026</a:t>
            </a:r>
          </a:p>
          <a:p>
            <a:endParaRPr lang="en-IN" dirty="0"/>
          </a:p>
        </p:txBody>
      </p:sp>
    </p:spTree>
    <p:extLst>
      <p:ext uri="{BB962C8B-B14F-4D97-AF65-F5344CB8AC3E}">
        <p14:creationId xmlns:p14="http://schemas.microsoft.com/office/powerpoint/2010/main" val="15558487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Social Responsibility</a:t>
            </a:r>
            <a:endParaRPr lang="en-IN" dirty="0"/>
          </a:p>
        </p:txBody>
      </p:sp>
      <p:sp>
        <p:nvSpPr>
          <p:cNvPr id="3" name="Content Placeholder 2"/>
          <p:cNvSpPr>
            <a:spLocks noGrp="1"/>
          </p:cNvSpPr>
          <p:nvPr>
            <p:ph idx="1"/>
          </p:nvPr>
        </p:nvSpPr>
        <p:spPr/>
        <p:txBody>
          <a:bodyPr/>
          <a:lstStyle/>
          <a:p>
            <a:r>
              <a:rPr lang="en-GB" dirty="0"/>
              <a:t>"profit making only," </a:t>
            </a:r>
            <a:endParaRPr lang="en-GB" dirty="0" smtClean="0"/>
          </a:p>
          <a:p>
            <a:r>
              <a:rPr lang="en-GB" dirty="0" smtClean="0"/>
              <a:t>"</a:t>
            </a:r>
            <a:r>
              <a:rPr lang="en-GB" dirty="0"/>
              <a:t>going beyond profit making," </a:t>
            </a:r>
            <a:endParaRPr lang="en-GB" dirty="0" smtClean="0"/>
          </a:p>
          <a:p>
            <a:r>
              <a:rPr lang="en-GB" dirty="0" smtClean="0"/>
              <a:t>"</a:t>
            </a:r>
            <a:r>
              <a:rPr lang="en-GB" dirty="0"/>
              <a:t>voluntary activities," </a:t>
            </a:r>
            <a:endParaRPr lang="en-GB" dirty="0" smtClean="0"/>
          </a:p>
          <a:p>
            <a:r>
              <a:rPr lang="en-GB" dirty="0" smtClean="0"/>
              <a:t>"</a:t>
            </a:r>
            <a:r>
              <a:rPr lang="en-GB" dirty="0"/>
              <a:t>concern for the broader social system," </a:t>
            </a:r>
            <a:r>
              <a:rPr lang="en-GB" dirty="0" smtClean="0"/>
              <a:t>and</a:t>
            </a:r>
          </a:p>
          <a:p>
            <a:r>
              <a:rPr lang="en-GB" dirty="0" smtClean="0"/>
              <a:t>"</a:t>
            </a:r>
            <a:r>
              <a:rPr lang="en-GB" dirty="0"/>
              <a:t>social </a:t>
            </a:r>
            <a:r>
              <a:rPr lang="en-GB" dirty="0" smtClean="0"/>
              <a:t>responsiveness</a:t>
            </a:r>
            <a:endParaRPr lang="en-IN" dirty="0"/>
          </a:p>
          <a:p>
            <a:endParaRPr lang="en-IN" dirty="0"/>
          </a:p>
        </p:txBody>
      </p:sp>
    </p:spTree>
    <p:extLst>
      <p:ext uri="{BB962C8B-B14F-4D97-AF65-F5344CB8AC3E}">
        <p14:creationId xmlns:p14="http://schemas.microsoft.com/office/powerpoint/2010/main" val="3209390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Classical approach to Social Responsibility</a:t>
            </a:r>
            <a:endParaRPr lang="en-IN" dirty="0"/>
          </a:p>
        </p:txBody>
      </p:sp>
      <p:sp>
        <p:nvSpPr>
          <p:cNvPr id="3" name="Content Placeholder 2"/>
          <p:cNvSpPr>
            <a:spLocks noGrp="1"/>
          </p:cNvSpPr>
          <p:nvPr>
            <p:ph idx="1"/>
          </p:nvPr>
        </p:nvSpPr>
        <p:spPr/>
        <p:txBody>
          <a:bodyPr>
            <a:normAutofit fontScale="85000" lnSpcReduction="10000"/>
          </a:bodyPr>
          <a:lstStyle/>
          <a:p>
            <a:r>
              <a:rPr lang="en-GB" dirty="0" smtClean="0"/>
              <a:t>Chief proponent was Milton Friedman</a:t>
            </a:r>
          </a:p>
          <a:p>
            <a:r>
              <a:rPr lang="en-GB" dirty="0"/>
              <a:t>M</a:t>
            </a:r>
            <a:r>
              <a:rPr lang="en-GB" dirty="0" smtClean="0"/>
              <a:t>anagement's </a:t>
            </a:r>
            <a:r>
              <a:rPr lang="en-GB" dirty="0"/>
              <a:t>only social responsibility is to maximize profits </a:t>
            </a:r>
            <a:endParaRPr lang="en-GB" dirty="0" smtClean="0"/>
          </a:p>
          <a:p>
            <a:r>
              <a:rPr lang="en-GB" dirty="0"/>
              <a:t>M</a:t>
            </a:r>
            <a:r>
              <a:rPr lang="en-GB" dirty="0" smtClean="0"/>
              <a:t>anagers</a:t>
            </a:r>
            <a:r>
              <a:rPr lang="en-GB" dirty="0"/>
              <a:t>' primary responsibility is to operate the business in the best interests of the stockholders (the true owners of a corporation</a:t>
            </a:r>
            <a:r>
              <a:rPr lang="en-GB" dirty="0" smtClean="0"/>
              <a:t>): to earn </a:t>
            </a:r>
            <a:r>
              <a:rPr lang="en-IN" dirty="0"/>
              <a:t>financial return </a:t>
            </a:r>
          </a:p>
          <a:p>
            <a:r>
              <a:rPr lang="en-IN" dirty="0" smtClean="0"/>
              <a:t>When organizations deal in “social good” thereby adding to the costs of the business, such costs should be borne by the customers by high pricing or </a:t>
            </a:r>
            <a:r>
              <a:rPr lang="en-GB" dirty="0"/>
              <a:t>absorbed by stockholders through a smaller profit returned as dividends </a:t>
            </a:r>
            <a:r>
              <a:rPr lang="en-GB" dirty="0" smtClean="0"/>
              <a:t> </a:t>
            </a:r>
            <a:endParaRPr lang="en-GB" dirty="0"/>
          </a:p>
          <a:p>
            <a:endParaRPr lang="en-GB" dirty="0"/>
          </a:p>
          <a:p>
            <a:endParaRPr lang="en-IN" dirty="0"/>
          </a:p>
        </p:txBody>
      </p:sp>
    </p:spTree>
    <p:extLst>
      <p:ext uri="{BB962C8B-B14F-4D97-AF65-F5344CB8AC3E}">
        <p14:creationId xmlns:p14="http://schemas.microsoft.com/office/powerpoint/2010/main" val="2721010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Socio-economic approach to Social Responsibility</a:t>
            </a:r>
            <a:endParaRPr lang="en-IN" dirty="0"/>
          </a:p>
        </p:txBody>
      </p:sp>
      <p:sp>
        <p:nvSpPr>
          <p:cNvPr id="3" name="Content Placeholder 2"/>
          <p:cNvSpPr>
            <a:spLocks noGrp="1"/>
          </p:cNvSpPr>
          <p:nvPr>
            <p:ph idx="1"/>
          </p:nvPr>
        </p:nvSpPr>
        <p:spPr/>
        <p:txBody>
          <a:bodyPr/>
          <a:lstStyle/>
          <a:p>
            <a:r>
              <a:rPr lang="en-GB" dirty="0"/>
              <a:t>M</a:t>
            </a:r>
            <a:r>
              <a:rPr lang="en-GB" dirty="0" smtClean="0"/>
              <a:t>anagement's </a:t>
            </a:r>
            <a:r>
              <a:rPr lang="en-GB" dirty="0"/>
              <a:t>social responsibility goes beyond making profits to include protecting and improving society's welfare </a:t>
            </a:r>
          </a:p>
          <a:p>
            <a:r>
              <a:rPr lang="en-GB" dirty="0"/>
              <a:t>Society accepts and even encourages businesses to become involved in social, political, and legal </a:t>
            </a:r>
            <a:r>
              <a:rPr lang="en-GB" dirty="0" smtClean="0"/>
              <a:t>issues</a:t>
            </a:r>
            <a:r>
              <a:rPr lang="en-IN" dirty="0" smtClean="0"/>
              <a:t>  </a:t>
            </a:r>
            <a:endParaRPr lang="en-IN" dirty="0"/>
          </a:p>
          <a:p>
            <a:endParaRPr lang="en-IN" dirty="0"/>
          </a:p>
        </p:txBody>
      </p:sp>
    </p:spTree>
    <p:extLst>
      <p:ext uri="{BB962C8B-B14F-4D97-AF65-F5344CB8AC3E}">
        <p14:creationId xmlns:p14="http://schemas.microsoft.com/office/powerpoint/2010/main" val="1477970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Arguments for and against Social Responsibility</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46253589"/>
              </p:ext>
            </p:extLst>
          </p:nvPr>
        </p:nvGraphicFramePr>
        <p:xfrm>
          <a:off x="457200" y="1600200"/>
          <a:ext cx="8229600" cy="5217160"/>
        </p:xfrm>
        <a:graphic>
          <a:graphicData uri="http://schemas.openxmlformats.org/drawingml/2006/table">
            <a:tbl>
              <a:tblPr firstRow="1" bandRow="1">
                <a:tableStyleId>{5C22544A-7EE6-4342-B048-85BDC9FD1C3A}</a:tableStyleId>
              </a:tblPr>
              <a:tblGrid>
                <a:gridCol w="4114800"/>
                <a:gridCol w="4114800"/>
              </a:tblGrid>
              <a:tr h="370840">
                <a:tc>
                  <a:txBody>
                    <a:bodyPr/>
                    <a:lstStyle/>
                    <a:p>
                      <a:r>
                        <a:rPr lang="en-GB" dirty="0" smtClean="0"/>
                        <a:t>For</a:t>
                      </a:r>
                      <a:endParaRPr lang="en-IN" dirty="0"/>
                    </a:p>
                  </a:txBody>
                  <a:tcPr/>
                </a:tc>
                <a:tc>
                  <a:txBody>
                    <a:bodyPr/>
                    <a:lstStyle/>
                    <a:p>
                      <a:r>
                        <a:rPr lang="en-GB" dirty="0" smtClean="0"/>
                        <a:t>Against</a:t>
                      </a:r>
                      <a:endParaRPr lang="en-IN" dirty="0"/>
                    </a:p>
                  </a:txBody>
                  <a:tcPr/>
                </a:tc>
              </a:tr>
              <a:tr h="467360">
                <a:tc>
                  <a:txBody>
                    <a:bodyPr/>
                    <a:lstStyle/>
                    <a:p>
                      <a:r>
                        <a:rPr lang="en-IN" b="1" i="1" dirty="0" smtClean="0"/>
                        <a:t>Public expectations </a:t>
                      </a:r>
                      <a:r>
                        <a:rPr lang="en-IN" dirty="0" smtClean="0"/>
                        <a:t>(</a:t>
                      </a:r>
                      <a:r>
                        <a:rPr lang="en-GB" sz="1800" b="0" i="0" u="none" strike="noStrike" kern="1200" baseline="0" dirty="0" smtClean="0">
                          <a:solidFill>
                            <a:schemeClr val="dk1"/>
                          </a:solidFill>
                          <a:latin typeface="+mn-lt"/>
                          <a:ea typeface="+mn-ea"/>
                          <a:cs typeface="+mn-cs"/>
                        </a:rPr>
                        <a:t>Public opinion now supports businesses pursuing economic and social goals</a:t>
                      </a:r>
                      <a:r>
                        <a:rPr lang="en-IN" sz="1800" b="0" i="0" u="none" strike="noStrike" kern="1200" baseline="0" dirty="0" smtClean="0">
                          <a:solidFill>
                            <a:schemeClr val="dk1"/>
                          </a:solidFill>
                          <a:latin typeface="+mn-lt"/>
                          <a:ea typeface="+mn-ea"/>
                          <a:cs typeface="+mn-cs"/>
                        </a:rPr>
                        <a:t>)</a:t>
                      </a:r>
                      <a:endParaRPr lang="en-GB" sz="1800" b="0" i="0" u="none" strike="noStrike" kern="1200" baseline="0" dirty="0" smtClean="0">
                        <a:solidFill>
                          <a:schemeClr val="dk1"/>
                        </a:solidFill>
                        <a:latin typeface="+mn-lt"/>
                        <a:ea typeface="+mn-ea"/>
                        <a:cs typeface="+mn-cs"/>
                      </a:endParaRPr>
                    </a:p>
                  </a:txBody>
                  <a:tcPr/>
                </a:tc>
                <a:tc>
                  <a:txBody>
                    <a:bodyPr/>
                    <a:lstStyle/>
                    <a:p>
                      <a:r>
                        <a:rPr lang="en-IN" b="1" i="1" dirty="0" smtClean="0"/>
                        <a:t>Violation of profit maximization</a:t>
                      </a:r>
                      <a:r>
                        <a:rPr lang="en-IN" dirty="0" smtClean="0"/>
                        <a:t> (</a:t>
                      </a:r>
                      <a:r>
                        <a:rPr lang="en-GB" sz="1800" b="0" i="0" u="none" strike="noStrike" kern="1200" baseline="0" dirty="0" smtClean="0">
                          <a:solidFill>
                            <a:schemeClr val="dk1"/>
                          </a:solidFill>
                          <a:latin typeface="+mn-lt"/>
                          <a:ea typeface="+mn-ea"/>
                          <a:cs typeface="+mn-cs"/>
                        </a:rPr>
                        <a:t>Business is being socially responsible only when it pursues its economic interests</a:t>
                      </a:r>
                      <a:r>
                        <a:rPr lang="en-IN" sz="1800" b="0" i="0" u="none" strike="noStrike" kern="1200" baseline="0" dirty="0" smtClean="0">
                          <a:solidFill>
                            <a:schemeClr val="dk1"/>
                          </a:solidFill>
                          <a:latin typeface="+mn-lt"/>
                          <a:ea typeface="+mn-ea"/>
                          <a:cs typeface="+mn-cs"/>
                        </a:rPr>
                        <a:t>)</a:t>
                      </a:r>
                      <a:endParaRPr lang="en-IN" dirty="0" smtClean="0"/>
                    </a:p>
                  </a:txBody>
                  <a:tcPr/>
                </a:tc>
              </a:tr>
              <a:tr h="370840">
                <a:tc>
                  <a:txBody>
                    <a:bodyPr/>
                    <a:lstStyle/>
                    <a:p>
                      <a:r>
                        <a:rPr lang="en-IN" sz="1800" b="1" i="1" u="none" strike="noStrike" kern="1200" baseline="0" dirty="0" smtClean="0">
                          <a:solidFill>
                            <a:schemeClr val="dk1"/>
                          </a:solidFill>
                          <a:latin typeface="+mn-lt"/>
                          <a:ea typeface="+mn-ea"/>
                          <a:cs typeface="+mn-cs"/>
                        </a:rPr>
                        <a:t>Long-run profits</a:t>
                      </a:r>
                      <a:r>
                        <a:rPr lang="en-IN" sz="1800" b="1" i="0" u="none" strike="noStrike" kern="1200" baseline="0" dirty="0" smtClean="0">
                          <a:solidFill>
                            <a:schemeClr val="dk1"/>
                          </a:solidFill>
                          <a:latin typeface="+mn-lt"/>
                          <a:ea typeface="+mn-ea"/>
                          <a:cs typeface="+mn-cs"/>
                        </a:rPr>
                        <a:t> </a:t>
                      </a:r>
                      <a:r>
                        <a:rPr lang="en-IN" sz="1800" b="0" i="0" u="none" strike="noStrike" kern="1200" baseline="0" dirty="0" smtClean="0">
                          <a:solidFill>
                            <a:schemeClr val="dk1"/>
                          </a:solidFill>
                          <a:latin typeface="+mn-lt"/>
                          <a:ea typeface="+mn-ea"/>
                          <a:cs typeface="+mn-cs"/>
                        </a:rPr>
                        <a:t>(</a:t>
                      </a:r>
                      <a:r>
                        <a:rPr lang="en-GB" sz="1800" b="0" i="0" u="none" strike="noStrike" kern="1200" baseline="0" dirty="0" smtClean="0">
                          <a:solidFill>
                            <a:schemeClr val="dk1"/>
                          </a:solidFill>
                          <a:latin typeface="+mn-lt"/>
                          <a:ea typeface="+mn-ea"/>
                          <a:cs typeface="+mn-cs"/>
                        </a:rPr>
                        <a:t>Socially responsible companies tend to have more secure long-run profits</a:t>
                      </a:r>
                      <a:r>
                        <a:rPr lang="en-IN" sz="1800" b="0" i="0" u="none" strike="noStrike" kern="1200" baseline="0" dirty="0" smtClean="0">
                          <a:solidFill>
                            <a:schemeClr val="dk1"/>
                          </a:solidFill>
                          <a:latin typeface="+mn-lt"/>
                          <a:ea typeface="+mn-ea"/>
                          <a:cs typeface="+mn-cs"/>
                        </a:rPr>
                        <a:t>)</a:t>
                      </a:r>
                      <a:endParaRPr lang="en-GB" sz="1800" b="0" i="0" u="none" strike="noStrike" kern="1200" baseline="0" dirty="0" smtClean="0">
                        <a:solidFill>
                          <a:schemeClr val="dk1"/>
                        </a:solidFill>
                        <a:latin typeface="+mn-lt"/>
                        <a:ea typeface="+mn-ea"/>
                        <a:cs typeface="+mn-cs"/>
                      </a:endParaRPr>
                    </a:p>
                  </a:txBody>
                  <a:tcPr/>
                </a:tc>
                <a:tc>
                  <a:txBody>
                    <a:bodyPr/>
                    <a:lstStyle/>
                    <a:p>
                      <a:r>
                        <a:rPr lang="en-IN" sz="1800" b="1" i="1" u="none" strike="noStrike" kern="1200" baseline="0" dirty="0" smtClean="0">
                          <a:solidFill>
                            <a:schemeClr val="dk1"/>
                          </a:solidFill>
                          <a:latin typeface="+mn-lt"/>
                          <a:ea typeface="+mn-ea"/>
                          <a:cs typeface="+mn-cs"/>
                        </a:rPr>
                        <a:t>Dilution of purpose</a:t>
                      </a:r>
                      <a:r>
                        <a:rPr lang="en-IN" sz="1800" b="0" i="0" u="none" strike="noStrike" kern="1200" baseline="0" dirty="0" smtClean="0">
                          <a:solidFill>
                            <a:schemeClr val="dk1"/>
                          </a:solidFill>
                          <a:latin typeface="+mn-lt"/>
                          <a:ea typeface="+mn-ea"/>
                          <a:cs typeface="+mn-cs"/>
                        </a:rPr>
                        <a:t> (</a:t>
                      </a:r>
                      <a:r>
                        <a:rPr lang="en-GB" sz="1800" b="0" i="0" u="none" strike="noStrike" kern="1200" baseline="0" dirty="0" smtClean="0">
                          <a:solidFill>
                            <a:schemeClr val="dk1"/>
                          </a:solidFill>
                          <a:latin typeface="+mn-lt"/>
                          <a:ea typeface="+mn-ea"/>
                          <a:cs typeface="+mn-cs"/>
                        </a:rPr>
                        <a:t>Pursuing social goals dilutes business's primary purpose—economic productivity</a:t>
                      </a:r>
                      <a:r>
                        <a:rPr lang="en-IN" sz="1800" b="0" i="0" u="none" strike="noStrike" kern="1200" baseline="0" dirty="0" smtClean="0">
                          <a:solidFill>
                            <a:schemeClr val="dk1"/>
                          </a:solidFill>
                          <a:latin typeface="+mn-lt"/>
                          <a:ea typeface="+mn-ea"/>
                          <a:cs typeface="+mn-cs"/>
                        </a:rPr>
                        <a:t>)</a:t>
                      </a:r>
                      <a:endParaRPr lang="en-GB" sz="1800" b="0" i="0" u="none" strike="noStrike" kern="1200" baseline="0" dirty="0" smtClean="0">
                        <a:solidFill>
                          <a:schemeClr val="dk1"/>
                        </a:solidFill>
                        <a:latin typeface="+mn-lt"/>
                        <a:ea typeface="+mn-ea"/>
                        <a:cs typeface="+mn-cs"/>
                      </a:endParaRPr>
                    </a:p>
                  </a:txBody>
                  <a:tcPr/>
                </a:tc>
              </a:tr>
              <a:tr h="370840">
                <a:tc>
                  <a:txBody>
                    <a:bodyPr/>
                    <a:lstStyle/>
                    <a:p>
                      <a:r>
                        <a:rPr lang="en-IN" sz="1800" b="1" i="1" u="none" strike="noStrike" kern="1200" baseline="0" dirty="0" smtClean="0">
                          <a:solidFill>
                            <a:schemeClr val="dk1"/>
                          </a:solidFill>
                          <a:latin typeface="+mn-lt"/>
                          <a:ea typeface="+mn-ea"/>
                          <a:cs typeface="+mn-cs"/>
                        </a:rPr>
                        <a:t>Ethical obligation</a:t>
                      </a:r>
                      <a:r>
                        <a:rPr lang="en-IN" sz="1800" b="1" i="0" u="none" strike="noStrike" kern="1200" baseline="0" dirty="0" smtClean="0">
                          <a:solidFill>
                            <a:schemeClr val="dk1"/>
                          </a:solidFill>
                          <a:latin typeface="+mn-lt"/>
                          <a:ea typeface="+mn-ea"/>
                          <a:cs typeface="+mn-cs"/>
                        </a:rPr>
                        <a:t> </a:t>
                      </a:r>
                      <a:r>
                        <a:rPr lang="en-IN" sz="1800" b="0" i="0" u="none" strike="noStrike" kern="1200" baseline="0" dirty="0" smtClean="0">
                          <a:solidFill>
                            <a:schemeClr val="dk1"/>
                          </a:solidFill>
                          <a:latin typeface="+mn-lt"/>
                          <a:ea typeface="+mn-ea"/>
                          <a:cs typeface="+mn-cs"/>
                        </a:rPr>
                        <a:t>(</a:t>
                      </a:r>
                      <a:r>
                        <a:rPr lang="en-GB" sz="1800" b="0" i="0" u="none" strike="noStrike" kern="1200" baseline="0" dirty="0" smtClean="0">
                          <a:solidFill>
                            <a:schemeClr val="dk1"/>
                          </a:solidFill>
                          <a:latin typeface="+mn-lt"/>
                          <a:ea typeface="+mn-ea"/>
                          <a:cs typeface="+mn-cs"/>
                        </a:rPr>
                        <a:t>Businesses should be socially responsible because responsible actions are the right thing to do</a:t>
                      </a:r>
                      <a:r>
                        <a:rPr lang="en-IN" sz="1800" b="0" i="0" u="none" strike="noStrike" kern="1200" baseline="0" dirty="0" smtClean="0">
                          <a:solidFill>
                            <a:schemeClr val="dk1"/>
                          </a:solidFill>
                          <a:latin typeface="+mn-lt"/>
                          <a:ea typeface="+mn-ea"/>
                          <a:cs typeface="+mn-cs"/>
                        </a:rPr>
                        <a:t>)</a:t>
                      </a:r>
                      <a:endParaRPr lang="en-GB" sz="1800" b="0" i="0" u="none" strike="noStrike" kern="1200" baseline="0" dirty="0" smtClean="0">
                        <a:solidFill>
                          <a:schemeClr val="dk1"/>
                        </a:solidFill>
                        <a:latin typeface="+mn-lt"/>
                        <a:ea typeface="+mn-ea"/>
                        <a:cs typeface="+mn-cs"/>
                      </a:endParaRPr>
                    </a:p>
                  </a:txBody>
                  <a:tcPr/>
                </a:tc>
                <a:tc>
                  <a:txBody>
                    <a:bodyPr/>
                    <a:lstStyle/>
                    <a:p>
                      <a:r>
                        <a:rPr lang="en-IN" sz="1800" b="1" i="1" u="none" strike="noStrike" kern="1200" baseline="0" dirty="0" smtClean="0">
                          <a:solidFill>
                            <a:schemeClr val="dk1"/>
                          </a:solidFill>
                          <a:latin typeface="+mn-lt"/>
                          <a:ea typeface="+mn-ea"/>
                          <a:cs typeface="+mn-cs"/>
                        </a:rPr>
                        <a:t>Costs</a:t>
                      </a:r>
                      <a:r>
                        <a:rPr lang="en-IN" sz="1800" b="0" i="0" u="none" strike="noStrike" kern="1200" baseline="0" dirty="0" smtClean="0">
                          <a:solidFill>
                            <a:schemeClr val="dk1"/>
                          </a:solidFill>
                          <a:latin typeface="+mn-lt"/>
                          <a:ea typeface="+mn-ea"/>
                          <a:cs typeface="+mn-cs"/>
                        </a:rPr>
                        <a:t> (</a:t>
                      </a:r>
                      <a:r>
                        <a:rPr lang="en-GB" sz="1800" b="0" i="0" u="none" strike="noStrike" kern="1200" baseline="0" dirty="0" smtClean="0">
                          <a:solidFill>
                            <a:schemeClr val="dk1"/>
                          </a:solidFill>
                          <a:latin typeface="+mn-lt"/>
                          <a:ea typeface="+mn-ea"/>
                          <a:cs typeface="+mn-cs"/>
                        </a:rPr>
                        <a:t>Many socially responsible actions do not cover their costs and someone must pay those costs</a:t>
                      </a:r>
                      <a:r>
                        <a:rPr lang="en-IN" sz="1800" b="0" i="0" u="none" strike="noStrike" kern="1200" baseline="0" dirty="0" smtClean="0">
                          <a:solidFill>
                            <a:schemeClr val="dk1"/>
                          </a:solidFill>
                          <a:latin typeface="+mn-lt"/>
                          <a:ea typeface="+mn-ea"/>
                          <a:cs typeface="+mn-cs"/>
                        </a:rPr>
                        <a:t>)</a:t>
                      </a:r>
                      <a:endParaRPr lang="en-GB" sz="1800" b="0" i="0" u="none" strike="noStrike" kern="1200" baseline="0" dirty="0" smtClean="0">
                        <a:solidFill>
                          <a:schemeClr val="dk1"/>
                        </a:solidFill>
                        <a:latin typeface="+mn-lt"/>
                        <a:ea typeface="+mn-ea"/>
                        <a:cs typeface="+mn-cs"/>
                      </a:endParaRPr>
                    </a:p>
                  </a:txBody>
                  <a:tcPr/>
                </a:tc>
              </a:tr>
              <a:tr h="370840">
                <a:tc>
                  <a:txBody>
                    <a:bodyPr/>
                    <a:lstStyle/>
                    <a:p>
                      <a:r>
                        <a:rPr lang="en-IN" sz="1800" b="1" i="1" u="none" strike="noStrike" kern="1200" baseline="0" dirty="0" smtClean="0">
                          <a:solidFill>
                            <a:schemeClr val="dk1"/>
                          </a:solidFill>
                          <a:latin typeface="+mn-lt"/>
                          <a:ea typeface="+mn-ea"/>
                          <a:cs typeface="+mn-cs"/>
                        </a:rPr>
                        <a:t>Public image</a:t>
                      </a:r>
                      <a:r>
                        <a:rPr lang="en-IN" sz="1800" b="1" i="0" u="none" strike="noStrike" kern="1200" baseline="0" dirty="0" smtClean="0">
                          <a:solidFill>
                            <a:schemeClr val="dk1"/>
                          </a:solidFill>
                          <a:latin typeface="+mn-lt"/>
                          <a:ea typeface="+mn-ea"/>
                          <a:cs typeface="+mn-cs"/>
                        </a:rPr>
                        <a:t> </a:t>
                      </a:r>
                      <a:r>
                        <a:rPr lang="en-IN" sz="1800" b="0" i="0" u="none" strike="noStrike" kern="1200" baseline="0" dirty="0" smtClean="0">
                          <a:solidFill>
                            <a:schemeClr val="dk1"/>
                          </a:solidFill>
                          <a:latin typeface="+mn-lt"/>
                          <a:ea typeface="+mn-ea"/>
                          <a:cs typeface="+mn-cs"/>
                        </a:rPr>
                        <a:t>(</a:t>
                      </a:r>
                      <a:r>
                        <a:rPr lang="en-GB" sz="1800" b="0" i="0" u="none" strike="noStrike" kern="1200" baseline="0" dirty="0" smtClean="0">
                          <a:solidFill>
                            <a:schemeClr val="dk1"/>
                          </a:solidFill>
                          <a:latin typeface="+mn-lt"/>
                          <a:ea typeface="+mn-ea"/>
                          <a:cs typeface="+mn-cs"/>
                        </a:rPr>
                        <a:t>Businesses can create a </a:t>
                      </a:r>
                      <a:r>
                        <a:rPr lang="en-GB" sz="1800" b="0" i="0" u="none" strike="noStrike" kern="1200" baseline="0" dirty="0" err="1" smtClean="0">
                          <a:solidFill>
                            <a:schemeClr val="dk1"/>
                          </a:solidFill>
                          <a:latin typeface="+mn-lt"/>
                          <a:ea typeface="+mn-ea"/>
                          <a:cs typeface="+mn-cs"/>
                        </a:rPr>
                        <a:t>favorable</a:t>
                      </a:r>
                      <a:r>
                        <a:rPr lang="en-GB" sz="1800" b="0" i="0" u="none" strike="noStrike" kern="1200" baseline="0" dirty="0" smtClean="0">
                          <a:solidFill>
                            <a:schemeClr val="dk1"/>
                          </a:solidFill>
                          <a:latin typeface="+mn-lt"/>
                          <a:ea typeface="+mn-ea"/>
                          <a:cs typeface="+mn-cs"/>
                        </a:rPr>
                        <a:t> public image by pursuing social goals</a:t>
                      </a:r>
                      <a:r>
                        <a:rPr lang="en-IN" sz="1800" b="0" i="0" u="none" strike="noStrike" kern="1200" baseline="0" dirty="0" smtClean="0">
                          <a:solidFill>
                            <a:schemeClr val="dk1"/>
                          </a:solidFill>
                          <a:latin typeface="+mn-lt"/>
                          <a:ea typeface="+mn-ea"/>
                          <a:cs typeface="+mn-cs"/>
                        </a:rPr>
                        <a:t>)</a:t>
                      </a:r>
                      <a:endParaRPr lang="en-GB" sz="1800" b="0" i="0" u="none" strike="noStrike" kern="1200" baseline="0" dirty="0" smtClean="0">
                        <a:solidFill>
                          <a:schemeClr val="dk1"/>
                        </a:solidFill>
                        <a:latin typeface="+mn-lt"/>
                        <a:ea typeface="+mn-ea"/>
                        <a:cs typeface="+mn-cs"/>
                      </a:endParaRPr>
                    </a:p>
                  </a:txBody>
                  <a:tcPr/>
                </a:tc>
                <a:tc>
                  <a:txBody>
                    <a:bodyPr/>
                    <a:lstStyle/>
                    <a:p>
                      <a:r>
                        <a:rPr lang="en-IN" sz="1800" b="1" i="1" u="none" strike="noStrike" kern="1200" baseline="0" dirty="0" smtClean="0">
                          <a:solidFill>
                            <a:schemeClr val="dk1"/>
                          </a:solidFill>
                          <a:latin typeface="+mn-lt"/>
                          <a:ea typeface="+mn-ea"/>
                          <a:cs typeface="+mn-cs"/>
                        </a:rPr>
                        <a:t>Too much power</a:t>
                      </a:r>
                      <a:r>
                        <a:rPr lang="en-IN" sz="1800" b="0" i="0" u="none" strike="noStrike" kern="1200" baseline="0" dirty="0" smtClean="0">
                          <a:solidFill>
                            <a:schemeClr val="dk1"/>
                          </a:solidFill>
                          <a:latin typeface="+mn-lt"/>
                          <a:ea typeface="+mn-ea"/>
                          <a:cs typeface="+mn-cs"/>
                        </a:rPr>
                        <a:t> (</a:t>
                      </a:r>
                      <a:r>
                        <a:rPr lang="en-GB" sz="1800" b="0" i="0" u="none" strike="noStrike" kern="1200" baseline="0" dirty="0" smtClean="0">
                          <a:solidFill>
                            <a:schemeClr val="dk1"/>
                          </a:solidFill>
                          <a:latin typeface="+mn-lt"/>
                          <a:ea typeface="+mn-ea"/>
                          <a:cs typeface="+mn-cs"/>
                        </a:rPr>
                        <a:t>Businesses have a lot of power already and if they pursue social goals they will have even more</a:t>
                      </a:r>
                      <a:r>
                        <a:rPr lang="en-IN" sz="1800" b="0" i="0" u="none" strike="noStrike" kern="1200" baseline="0" dirty="0" smtClean="0">
                          <a:solidFill>
                            <a:schemeClr val="dk1"/>
                          </a:solidFill>
                          <a:latin typeface="+mn-lt"/>
                          <a:ea typeface="+mn-ea"/>
                          <a:cs typeface="+mn-cs"/>
                        </a:rPr>
                        <a:t>)</a:t>
                      </a:r>
                      <a:endParaRPr lang="en-GB" sz="1800" b="0" i="0" u="none" strike="noStrike" kern="1200" baseline="0" dirty="0" smtClean="0">
                        <a:solidFill>
                          <a:schemeClr val="dk1"/>
                        </a:solidFill>
                        <a:latin typeface="+mn-lt"/>
                        <a:ea typeface="+mn-ea"/>
                        <a:cs typeface="+mn-cs"/>
                      </a:endParaRPr>
                    </a:p>
                  </a:txBody>
                  <a:tcPr/>
                </a:tc>
              </a:tr>
              <a:tr h="370840">
                <a:tc>
                  <a:txBody>
                    <a:bodyPr/>
                    <a:lstStyle/>
                    <a:p>
                      <a:r>
                        <a:rPr lang="en-IN" sz="1800" b="1" i="1" u="none" strike="noStrike" kern="1200" baseline="0" dirty="0" smtClean="0">
                          <a:solidFill>
                            <a:schemeClr val="dk1"/>
                          </a:solidFill>
                          <a:latin typeface="+mn-lt"/>
                          <a:ea typeface="+mn-ea"/>
                          <a:cs typeface="+mn-cs"/>
                        </a:rPr>
                        <a:t>Better environment</a:t>
                      </a:r>
                      <a:r>
                        <a:rPr lang="en-IN" sz="1800" b="1" i="0" u="none" strike="noStrike" kern="1200" baseline="0" dirty="0" smtClean="0">
                          <a:solidFill>
                            <a:schemeClr val="dk1"/>
                          </a:solidFill>
                          <a:latin typeface="+mn-lt"/>
                          <a:ea typeface="+mn-ea"/>
                          <a:cs typeface="+mn-cs"/>
                        </a:rPr>
                        <a:t> </a:t>
                      </a:r>
                      <a:r>
                        <a:rPr lang="en-IN" sz="1800" b="0" i="0" u="none" strike="noStrike" kern="1200" baseline="0" dirty="0" smtClean="0">
                          <a:solidFill>
                            <a:schemeClr val="dk1"/>
                          </a:solidFill>
                          <a:latin typeface="+mn-lt"/>
                          <a:ea typeface="+mn-ea"/>
                          <a:cs typeface="+mn-cs"/>
                        </a:rPr>
                        <a:t>(</a:t>
                      </a:r>
                      <a:r>
                        <a:rPr lang="en-GB" sz="1800" b="0" i="0" u="none" strike="noStrike" kern="1200" baseline="0" dirty="0" smtClean="0">
                          <a:solidFill>
                            <a:schemeClr val="dk1"/>
                          </a:solidFill>
                          <a:latin typeface="+mn-lt"/>
                          <a:ea typeface="+mn-ea"/>
                          <a:cs typeface="+mn-cs"/>
                        </a:rPr>
                        <a:t>Business involvement can help solve difficult social problems</a:t>
                      </a:r>
                      <a:r>
                        <a:rPr lang="en-IN" sz="1800" b="0" i="0" u="none" strike="noStrike" kern="1200" baseline="0" dirty="0" smtClean="0">
                          <a:solidFill>
                            <a:schemeClr val="dk1"/>
                          </a:solidFill>
                          <a:latin typeface="+mn-lt"/>
                          <a:ea typeface="+mn-ea"/>
                          <a:cs typeface="+mn-cs"/>
                        </a:rPr>
                        <a:t>)</a:t>
                      </a:r>
                      <a:endParaRPr lang="en-GB" sz="1800" b="0" i="0" u="none" strike="noStrike" kern="1200" baseline="0" dirty="0" smtClean="0">
                        <a:solidFill>
                          <a:schemeClr val="dk1"/>
                        </a:solidFill>
                        <a:latin typeface="+mn-lt"/>
                        <a:ea typeface="+mn-ea"/>
                        <a:cs typeface="+mn-cs"/>
                      </a:endParaRPr>
                    </a:p>
                  </a:txBody>
                  <a:tcPr/>
                </a:tc>
                <a:tc>
                  <a:txBody>
                    <a:bodyPr/>
                    <a:lstStyle/>
                    <a:p>
                      <a:r>
                        <a:rPr lang="en-IN" sz="1800" b="1" i="1" u="none" strike="noStrike" kern="1200" baseline="0" dirty="0" smtClean="0">
                          <a:solidFill>
                            <a:schemeClr val="dk1"/>
                          </a:solidFill>
                          <a:latin typeface="+mn-lt"/>
                          <a:ea typeface="+mn-ea"/>
                          <a:cs typeface="+mn-cs"/>
                        </a:rPr>
                        <a:t>Lack of skills</a:t>
                      </a:r>
                      <a:r>
                        <a:rPr lang="en-IN" sz="1800" b="1" i="0" u="none" strike="noStrike" kern="1200" baseline="0" dirty="0" smtClean="0">
                          <a:solidFill>
                            <a:schemeClr val="dk1"/>
                          </a:solidFill>
                          <a:latin typeface="+mn-lt"/>
                          <a:ea typeface="+mn-ea"/>
                          <a:cs typeface="+mn-cs"/>
                        </a:rPr>
                        <a:t> </a:t>
                      </a:r>
                      <a:r>
                        <a:rPr lang="en-IN" sz="1800" b="0" i="0" u="none" strike="noStrike" kern="1200" baseline="0" dirty="0" smtClean="0">
                          <a:solidFill>
                            <a:schemeClr val="dk1"/>
                          </a:solidFill>
                          <a:latin typeface="+mn-lt"/>
                          <a:ea typeface="+mn-ea"/>
                          <a:cs typeface="+mn-cs"/>
                        </a:rPr>
                        <a:t>(</a:t>
                      </a:r>
                      <a:r>
                        <a:rPr lang="en-GB" sz="1800" b="0" i="0" u="none" strike="noStrike" kern="1200" baseline="0" dirty="0" smtClean="0">
                          <a:solidFill>
                            <a:schemeClr val="dk1"/>
                          </a:solidFill>
                          <a:latin typeface="+mn-lt"/>
                          <a:ea typeface="+mn-ea"/>
                          <a:cs typeface="+mn-cs"/>
                        </a:rPr>
                        <a:t>Business leaders lack the necessary skills to address social issues</a:t>
                      </a:r>
                      <a:r>
                        <a:rPr lang="en-IN" sz="1800" b="0" i="0" u="none" strike="noStrike" kern="1200" baseline="0" dirty="0" smtClean="0">
                          <a:solidFill>
                            <a:schemeClr val="dk1"/>
                          </a:solidFill>
                          <a:latin typeface="+mn-lt"/>
                          <a:ea typeface="+mn-ea"/>
                          <a:cs typeface="+mn-cs"/>
                        </a:rPr>
                        <a:t>)</a:t>
                      </a:r>
                      <a:endParaRPr lang="en-GB" sz="1800" b="0" i="0" u="none" strike="noStrike" kern="1200" baseline="0" dirty="0" smtClean="0">
                        <a:solidFill>
                          <a:schemeClr val="dk1"/>
                        </a:solidFill>
                        <a:latin typeface="+mn-lt"/>
                        <a:ea typeface="+mn-ea"/>
                        <a:cs typeface="+mn-cs"/>
                      </a:endParaRPr>
                    </a:p>
                  </a:txBody>
                  <a:tcPr/>
                </a:tc>
              </a:tr>
            </a:tbl>
          </a:graphicData>
        </a:graphic>
      </p:graphicFrame>
    </p:spTree>
    <p:extLst>
      <p:ext uri="{BB962C8B-B14F-4D97-AF65-F5344CB8AC3E}">
        <p14:creationId xmlns:p14="http://schemas.microsoft.com/office/powerpoint/2010/main" val="3473176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1371855662"/>
              </p:ext>
            </p:extLst>
          </p:nvPr>
        </p:nvGraphicFramePr>
        <p:xfrm>
          <a:off x="228600" y="990601"/>
          <a:ext cx="8763000" cy="5678656"/>
        </p:xfrm>
        <a:graphic>
          <a:graphicData uri="http://schemas.openxmlformats.org/drawingml/2006/table">
            <a:tbl>
              <a:tblPr firstRow="1" bandRow="1">
                <a:tableStyleId>{5C22544A-7EE6-4342-B048-85BDC9FD1C3A}</a:tableStyleId>
              </a:tblPr>
              <a:tblGrid>
                <a:gridCol w="5943600"/>
                <a:gridCol w="2819400"/>
              </a:tblGrid>
              <a:tr h="386006">
                <a:tc>
                  <a:txBody>
                    <a:bodyPr/>
                    <a:lstStyle/>
                    <a:p>
                      <a:r>
                        <a:rPr lang="en-GB" dirty="0" smtClean="0"/>
                        <a:t>For</a:t>
                      </a:r>
                      <a:endParaRPr lang="en-IN" dirty="0"/>
                    </a:p>
                  </a:txBody>
                  <a:tcPr/>
                </a:tc>
                <a:tc>
                  <a:txBody>
                    <a:bodyPr/>
                    <a:lstStyle/>
                    <a:p>
                      <a:r>
                        <a:rPr lang="en-GB" dirty="0" smtClean="0"/>
                        <a:t>Against</a:t>
                      </a:r>
                      <a:endParaRPr lang="en-IN" dirty="0"/>
                    </a:p>
                  </a:txBody>
                  <a:tcPr/>
                </a:tc>
              </a:tr>
              <a:tr h="1237331">
                <a:tc>
                  <a:txBody>
                    <a:bodyPr/>
                    <a:lstStyle/>
                    <a:p>
                      <a:r>
                        <a:rPr lang="en-GB" sz="1800" b="1" i="1" u="none" strike="noStrike" kern="1200" baseline="0" dirty="0" smtClean="0">
                          <a:solidFill>
                            <a:schemeClr val="dk1"/>
                          </a:solidFill>
                          <a:latin typeface="+mn-lt"/>
                          <a:ea typeface="+mn-ea"/>
                          <a:cs typeface="+mn-cs"/>
                        </a:rPr>
                        <a:t>Discouragement of further governmental regulation</a:t>
                      </a:r>
                      <a:r>
                        <a:rPr lang="en-IN" sz="1800" b="1" i="0" u="none" strike="noStrike" kern="1200" baseline="0" dirty="0" smtClean="0">
                          <a:solidFill>
                            <a:schemeClr val="dk1"/>
                          </a:solidFill>
                          <a:latin typeface="+mn-lt"/>
                          <a:ea typeface="+mn-ea"/>
                          <a:cs typeface="+mn-cs"/>
                        </a:rPr>
                        <a:t> </a:t>
                      </a:r>
                      <a:r>
                        <a:rPr lang="en-IN" sz="1800" b="0" i="0" u="none" strike="noStrike" kern="1200" baseline="0" dirty="0" smtClean="0">
                          <a:solidFill>
                            <a:schemeClr val="dk1"/>
                          </a:solidFill>
                          <a:latin typeface="+mn-lt"/>
                          <a:ea typeface="+mn-ea"/>
                          <a:cs typeface="+mn-cs"/>
                        </a:rPr>
                        <a:t>(</a:t>
                      </a:r>
                      <a:r>
                        <a:rPr lang="en-GB" sz="1800" b="0" i="0" u="none" strike="noStrike" kern="1200" baseline="0" dirty="0" smtClean="0">
                          <a:solidFill>
                            <a:schemeClr val="dk1"/>
                          </a:solidFill>
                          <a:latin typeface="+mn-lt"/>
                          <a:ea typeface="+mn-ea"/>
                          <a:cs typeface="+mn-cs"/>
                        </a:rPr>
                        <a:t>By becoming socially responsible, businesses can expect less government regulation</a:t>
                      </a:r>
                      <a:r>
                        <a:rPr lang="en-IN" sz="1800" b="0" i="0" u="none" strike="noStrike" kern="1200" baseline="0" dirty="0" smtClean="0">
                          <a:solidFill>
                            <a:schemeClr val="dk1"/>
                          </a:solidFill>
                          <a:latin typeface="+mn-lt"/>
                          <a:ea typeface="+mn-ea"/>
                          <a:cs typeface="+mn-cs"/>
                        </a:rPr>
                        <a:t>)</a:t>
                      </a:r>
                      <a:endParaRPr lang="en-GB" sz="1800" b="0" i="0" u="none" strike="noStrike" kern="1200" baseline="0" dirty="0" smtClean="0">
                        <a:solidFill>
                          <a:schemeClr val="dk1"/>
                        </a:solidFill>
                        <a:latin typeface="+mn-lt"/>
                        <a:ea typeface="+mn-ea"/>
                        <a:cs typeface="+mn-cs"/>
                      </a:endParaRPr>
                    </a:p>
                  </a:txBody>
                  <a:tcPr/>
                </a:tc>
                <a:tc>
                  <a:txBody>
                    <a:bodyPr/>
                    <a:lstStyle/>
                    <a:p>
                      <a:r>
                        <a:rPr lang="en-IN" sz="1800" b="1" i="1" u="none" strike="noStrike" kern="1200" baseline="0" dirty="0" smtClean="0">
                          <a:solidFill>
                            <a:schemeClr val="dk1"/>
                          </a:solidFill>
                          <a:latin typeface="+mn-lt"/>
                          <a:ea typeface="+mn-ea"/>
                          <a:cs typeface="+mn-cs"/>
                        </a:rPr>
                        <a:t>Lack of accountability</a:t>
                      </a:r>
                      <a:r>
                        <a:rPr lang="en-IN" sz="1800" b="1" i="0" u="none" strike="noStrike" kern="1200" baseline="0" dirty="0" smtClean="0">
                          <a:solidFill>
                            <a:schemeClr val="dk1"/>
                          </a:solidFill>
                          <a:latin typeface="+mn-lt"/>
                          <a:ea typeface="+mn-ea"/>
                          <a:cs typeface="+mn-cs"/>
                        </a:rPr>
                        <a:t> </a:t>
                      </a:r>
                      <a:r>
                        <a:rPr lang="en-IN" sz="1800" b="0" i="0" u="none" strike="noStrike" kern="1200" baseline="0" dirty="0" smtClean="0">
                          <a:solidFill>
                            <a:schemeClr val="dk1"/>
                          </a:solidFill>
                          <a:latin typeface="+mn-lt"/>
                          <a:ea typeface="+mn-ea"/>
                          <a:cs typeface="+mn-cs"/>
                        </a:rPr>
                        <a:t>(</a:t>
                      </a:r>
                      <a:r>
                        <a:rPr lang="en-GB" sz="1800" b="0" i="0" u="none" strike="noStrike" kern="1200" baseline="0" dirty="0" smtClean="0">
                          <a:solidFill>
                            <a:schemeClr val="dk1"/>
                          </a:solidFill>
                          <a:latin typeface="+mn-lt"/>
                          <a:ea typeface="+mn-ea"/>
                          <a:cs typeface="+mn-cs"/>
                        </a:rPr>
                        <a:t>There are no direct lines of accountability for social actions</a:t>
                      </a:r>
                      <a:r>
                        <a:rPr lang="en-IN" sz="1800" b="0" i="0" u="none" strike="noStrike" kern="1200" baseline="0" dirty="0" smtClean="0">
                          <a:solidFill>
                            <a:schemeClr val="dk1"/>
                          </a:solidFill>
                          <a:latin typeface="+mn-lt"/>
                          <a:ea typeface="+mn-ea"/>
                          <a:cs typeface="+mn-cs"/>
                        </a:rPr>
                        <a:t>)</a:t>
                      </a:r>
                      <a:endParaRPr lang="en-GB" sz="1800" b="0" i="0" u="none" strike="noStrike" kern="1200" baseline="0" dirty="0" smtClean="0">
                        <a:solidFill>
                          <a:schemeClr val="dk1"/>
                        </a:solidFill>
                        <a:latin typeface="+mn-lt"/>
                        <a:ea typeface="+mn-ea"/>
                        <a:cs typeface="+mn-cs"/>
                      </a:endParaRPr>
                    </a:p>
                  </a:txBody>
                  <a:tcPr/>
                </a:tc>
              </a:tr>
              <a:tr h="1237331">
                <a:tc>
                  <a:txBody>
                    <a:bodyPr/>
                    <a:lstStyle/>
                    <a:p>
                      <a:r>
                        <a:rPr lang="en-GB" sz="1800" b="1" i="1" u="none" strike="noStrike" kern="1200" baseline="0" dirty="0" smtClean="0">
                          <a:solidFill>
                            <a:schemeClr val="dk1"/>
                          </a:solidFill>
                          <a:latin typeface="+mn-lt"/>
                          <a:ea typeface="+mn-ea"/>
                          <a:cs typeface="+mn-cs"/>
                        </a:rPr>
                        <a:t>Balance of responsibility and power </a:t>
                      </a:r>
                      <a:r>
                        <a:rPr lang="en-IN" sz="1800" b="0" i="0" u="none" strike="noStrike" kern="1200" baseline="0" dirty="0" smtClean="0">
                          <a:solidFill>
                            <a:schemeClr val="dk1"/>
                          </a:solidFill>
                          <a:latin typeface="+mn-lt"/>
                          <a:ea typeface="+mn-ea"/>
                          <a:cs typeface="+mn-cs"/>
                        </a:rPr>
                        <a:t>(</a:t>
                      </a:r>
                      <a:r>
                        <a:rPr lang="en-GB" sz="1800" b="0" i="0" u="none" strike="noStrike" kern="1200" baseline="0" dirty="0" smtClean="0">
                          <a:solidFill>
                            <a:schemeClr val="dk1"/>
                          </a:solidFill>
                          <a:latin typeface="+mn-lt"/>
                          <a:ea typeface="+mn-ea"/>
                          <a:cs typeface="+mn-cs"/>
                        </a:rPr>
                        <a:t>Businesses have a lot of power and an equally large amount of responsibility is needed to balance against that power)</a:t>
                      </a:r>
                    </a:p>
                  </a:txBody>
                  <a:tcPr/>
                </a:tc>
                <a:tc>
                  <a:txBody>
                    <a:bodyPr/>
                    <a:lstStyle/>
                    <a:p>
                      <a:endParaRPr lang="en-GB" sz="1800" b="0" i="0" u="none" strike="noStrike" kern="1200" baseline="0" dirty="0" smtClean="0">
                        <a:solidFill>
                          <a:schemeClr val="dk1"/>
                        </a:solidFill>
                        <a:latin typeface="+mn-lt"/>
                        <a:ea typeface="+mn-ea"/>
                        <a:cs typeface="+mn-cs"/>
                      </a:endParaRPr>
                    </a:p>
                  </a:txBody>
                  <a:tcPr/>
                </a:tc>
              </a:tr>
              <a:tr h="951794">
                <a:tc>
                  <a:txBody>
                    <a:bodyPr/>
                    <a:lstStyle/>
                    <a:p>
                      <a:r>
                        <a:rPr lang="en-IN" sz="1800" b="1" i="1" u="none" strike="noStrike" kern="1200" baseline="0" dirty="0" smtClean="0">
                          <a:solidFill>
                            <a:schemeClr val="dk1"/>
                          </a:solidFill>
                          <a:latin typeface="+mn-lt"/>
                          <a:ea typeface="+mn-ea"/>
                          <a:cs typeface="+mn-cs"/>
                        </a:rPr>
                        <a:t>Stockholder interests</a:t>
                      </a:r>
                      <a:r>
                        <a:rPr lang="en-IN" sz="1800" b="0" i="1" u="none" strike="noStrike" kern="1200" baseline="0" dirty="0" smtClean="0">
                          <a:solidFill>
                            <a:schemeClr val="dk1"/>
                          </a:solidFill>
                          <a:latin typeface="+mn-lt"/>
                          <a:ea typeface="+mn-ea"/>
                          <a:cs typeface="+mn-cs"/>
                        </a:rPr>
                        <a:t> </a:t>
                      </a:r>
                      <a:r>
                        <a:rPr lang="en-IN" sz="1800" b="0" i="0" u="none" strike="noStrike" kern="1200" baseline="0" dirty="0" smtClean="0">
                          <a:solidFill>
                            <a:schemeClr val="dk1"/>
                          </a:solidFill>
                          <a:latin typeface="+mn-lt"/>
                          <a:ea typeface="+mn-ea"/>
                          <a:cs typeface="+mn-cs"/>
                        </a:rPr>
                        <a:t>(</a:t>
                      </a:r>
                      <a:r>
                        <a:rPr lang="en-GB" sz="1800" b="0" i="0" u="none" strike="noStrike" kern="1200" baseline="0" dirty="0" smtClean="0">
                          <a:solidFill>
                            <a:schemeClr val="dk1"/>
                          </a:solidFill>
                          <a:latin typeface="+mn-lt"/>
                          <a:ea typeface="+mn-ea"/>
                          <a:cs typeface="+mn-cs"/>
                        </a:rPr>
                        <a:t>Social responsibility will improve a business's stock price in the long run)</a:t>
                      </a:r>
                    </a:p>
                  </a:txBody>
                  <a:tcPr/>
                </a:tc>
                <a:tc>
                  <a:txBody>
                    <a:bodyPr/>
                    <a:lstStyle/>
                    <a:p>
                      <a:endParaRPr lang="en-GB" sz="1800" b="0" i="0" u="none" strike="noStrike" kern="1200" baseline="0" dirty="0" smtClean="0">
                        <a:solidFill>
                          <a:schemeClr val="dk1"/>
                        </a:solidFill>
                        <a:latin typeface="+mn-lt"/>
                        <a:ea typeface="+mn-ea"/>
                        <a:cs typeface="+mn-cs"/>
                      </a:endParaRPr>
                    </a:p>
                  </a:txBody>
                  <a:tcPr/>
                </a:tc>
              </a:tr>
              <a:tr h="951794">
                <a:tc>
                  <a:txBody>
                    <a:bodyPr/>
                    <a:lstStyle/>
                    <a:p>
                      <a:r>
                        <a:rPr lang="en-IN" sz="1800" b="0" i="1" u="none" strike="noStrike" kern="1200" baseline="0" dirty="0" smtClean="0">
                          <a:solidFill>
                            <a:schemeClr val="dk1"/>
                          </a:solidFill>
                          <a:latin typeface="+mn-lt"/>
                          <a:ea typeface="+mn-ea"/>
                          <a:cs typeface="+mn-cs"/>
                        </a:rPr>
                        <a:t>Possession of resources </a:t>
                      </a:r>
                      <a:r>
                        <a:rPr lang="en-IN" sz="1800" b="0" i="0" u="none" strike="noStrike" kern="1200" baseline="0" dirty="0" smtClean="0">
                          <a:solidFill>
                            <a:schemeClr val="dk1"/>
                          </a:solidFill>
                          <a:latin typeface="+mn-lt"/>
                          <a:ea typeface="+mn-ea"/>
                          <a:cs typeface="+mn-cs"/>
                        </a:rPr>
                        <a:t>(</a:t>
                      </a:r>
                      <a:r>
                        <a:rPr lang="en-GB" sz="1800" b="0" i="0" u="none" strike="noStrike" kern="1200" baseline="0" dirty="0" smtClean="0">
                          <a:solidFill>
                            <a:schemeClr val="dk1"/>
                          </a:solidFill>
                          <a:latin typeface="+mn-lt"/>
                          <a:ea typeface="+mn-ea"/>
                          <a:cs typeface="+mn-cs"/>
                        </a:rPr>
                        <a:t>Businesses have the resources to support public and charitable projects that need assistance)</a:t>
                      </a:r>
                    </a:p>
                  </a:txBody>
                  <a:tcPr/>
                </a:tc>
                <a:tc>
                  <a:txBody>
                    <a:bodyPr/>
                    <a:lstStyle/>
                    <a:p>
                      <a:endParaRPr lang="en-GB" sz="1800" b="0" i="0" u="none" strike="noStrike" kern="1200" baseline="0" dirty="0" smtClean="0">
                        <a:solidFill>
                          <a:schemeClr val="dk1"/>
                        </a:solidFill>
                        <a:latin typeface="+mn-lt"/>
                        <a:ea typeface="+mn-ea"/>
                        <a:cs typeface="+mn-cs"/>
                      </a:endParaRPr>
                    </a:p>
                  </a:txBody>
                  <a:tcPr/>
                </a:tc>
              </a:tr>
              <a:tr h="874543">
                <a:tc>
                  <a:txBody>
                    <a:bodyPr/>
                    <a:lstStyle/>
                    <a:p>
                      <a:r>
                        <a:rPr lang="en-GB" sz="1800" b="0" i="1" u="none" strike="noStrike" kern="1200" baseline="0" dirty="0" smtClean="0">
                          <a:solidFill>
                            <a:schemeClr val="dk1"/>
                          </a:solidFill>
                          <a:latin typeface="+mn-lt"/>
                          <a:ea typeface="+mn-ea"/>
                          <a:cs typeface="+mn-cs"/>
                        </a:rPr>
                        <a:t>Superiority of prevention over cures </a:t>
                      </a:r>
                      <a:r>
                        <a:rPr lang="en-IN" sz="1800" b="0" i="0" u="none" strike="noStrike" kern="1200" baseline="0" dirty="0" smtClean="0">
                          <a:solidFill>
                            <a:schemeClr val="dk1"/>
                          </a:solidFill>
                          <a:latin typeface="+mn-lt"/>
                          <a:ea typeface="+mn-ea"/>
                          <a:cs typeface="+mn-cs"/>
                        </a:rPr>
                        <a:t>(</a:t>
                      </a:r>
                      <a:r>
                        <a:rPr lang="en-GB" sz="1800" b="0" i="0" u="none" strike="noStrike" kern="1200" baseline="0" dirty="0" smtClean="0">
                          <a:solidFill>
                            <a:schemeClr val="dk1"/>
                          </a:solidFill>
                          <a:latin typeface="+mn-lt"/>
                          <a:ea typeface="+mn-ea"/>
                          <a:cs typeface="+mn-cs"/>
                        </a:rPr>
                        <a:t>Businesses should address social problems before they become serious and costly to correct)</a:t>
                      </a:r>
                    </a:p>
                  </a:txBody>
                  <a:tcPr/>
                </a:tc>
                <a:tc>
                  <a:txBody>
                    <a:bodyPr/>
                    <a:lstStyle/>
                    <a:p>
                      <a:endParaRPr lang="en-GB" sz="1800" b="0" i="0" u="none" strike="noStrike" kern="1200" baseline="0" dirty="0" smtClean="0">
                        <a:solidFill>
                          <a:schemeClr val="dk1"/>
                        </a:solidFill>
                        <a:latin typeface="+mn-lt"/>
                        <a:ea typeface="+mn-ea"/>
                        <a:cs typeface="+mn-cs"/>
                      </a:endParaRPr>
                    </a:p>
                  </a:txBody>
                  <a:tcPr/>
                </a:tc>
              </a:tr>
            </a:tbl>
          </a:graphicData>
        </a:graphic>
      </p:graphicFrame>
      <p:sp>
        <p:nvSpPr>
          <p:cNvPr id="4" name="Title 1"/>
          <p:cNvSpPr>
            <a:spLocks noGrp="1"/>
          </p:cNvSpPr>
          <p:nvPr>
            <p:ph type="title"/>
          </p:nvPr>
        </p:nvSpPr>
        <p:spPr>
          <a:xfrm>
            <a:off x="457200" y="274638"/>
            <a:ext cx="8229600" cy="563562"/>
          </a:xfrm>
        </p:spPr>
        <p:txBody>
          <a:bodyPr>
            <a:normAutofit/>
          </a:bodyPr>
          <a:lstStyle/>
          <a:p>
            <a:r>
              <a:rPr lang="en-GB" sz="2800" dirty="0" smtClean="0"/>
              <a:t>Arguments for and against Social Responsibility</a:t>
            </a:r>
            <a:endParaRPr lang="en-IN" sz="2800" dirty="0"/>
          </a:p>
        </p:txBody>
      </p:sp>
    </p:spTree>
    <p:extLst>
      <p:ext uri="{BB962C8B-B14F-4D97-AF65-F5344CB8AC3E}">
        <p14:creationId xmlns:p14="http://schemas.microsoft.com/office/powerpoint/2010/main" val="2296364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0"/>
            <a:ext cx="8229600" cy="1143000"/>
          </a:xfrm>
        </p:spPr>
        <p:txBody>
          <a:bodyPr/>
          <a:lstStyle/>
          <a:p>
            <a:r>
              <a:rPr lang="en-GB" dirty="0" smtClean="0"/>
              <a:t>Definition of Social Responsibility</a:t>
            </a:r>
            <a:endParaRPr lang="en-IN" dirty="0"/>
          </a:p>
        </p:txBody>
      </p:sp>
      <p:sp>
        <p:nvSpPr>
          <p:cNvPr id="3" name="Content Placeholder 2"/>
          <p:cNvSpPr>
            <a:spLocks noGrp="1"/>
          </p:cNvSpPr>
          <p:nvPr>
            <p:ph idx="1"/>
          </p:nvPr>
        </p:nvSpPr>
        <p:spPr>
          <a:xfrm>
            <a:off x="457200" y="3200400"/>
            <a:ext cx="8229600" cy="2925763"/>
          </a:xfrm>
        </p:spPr>
        <p:txBody>
          <a:bodyPr/>
          <a:lstStyle/>
          <a:p>
            <a:pPr marL="0" indent="0" algn="ctr">
              <a:buNone/>
            </a:pPr>
            <a:r>
              <a:rPr lang="en-GB" sz="4000" b="1" dirty="0"/>
              <a:t>A</a:t>
            </a:r>
            <a:r>
              <a:rPr lang="en-GB" sz="4000" b="1" dirty="0" smtClean="0"/>
              <a:t> </a:t>
            </a:r>
            <a:r>
              <a:rPr lang="en-GB" sz="4000" b="1" dirty="0"/>
              <a:t>business firm's obligation, beyond that required by law and economics, to pursue long-term goals that are good for </a:t>
            </a:r>
            <a:r>
              <a:rPr lang="en-GB" sz="4000" b="1" dirty="0" smtClean="0"/>
              <a:t>society</a:t>
            </a:r>
            <a:r>
              <a:rPr lang="en-IN" sz="4000" b="1" dirty="0" smtClean="0"/>
              <a:t>  </a:t>
            </a:r>
            <a:endParaRPr lang="en-IN" sz="4000" b="1" dirty="0"/>
          </a:p>
          <a:p>
            <a:endParaRPr lang="en-IN" dirty="0"/>
          </a:p>
        </p:txBody>
      </p:sp>
    </p:spTree>
    <p:extLst>
      <p:ext uri="{BB962C8B-B14F-4D97-AF65-F5344CB8AC3E}">
        <p14:creationId xmlns:p14="http://schemas.microsoft.com/office/powerpoint/2010/main" val="2371804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Definition of Social Responsiveness</a:t>
            </a:r>
            <a:endParaRPr lang="en-IN" dirty="0"/>
          </a:p>
        </p:txBody>
      </p:sp>
      <p:sp>
        <p:nvSpPr>
          <p:cNvPr id="3" name="Content Placeholder 2"/>
          <p:cNvSpPr>
            <a:spLocks noGrp="1"/>
          </p:cNvSpPr>
          <p:nvPr>
            <p:ph idx="1"/>
          </p:nvPr>
        </p:nvSpPr>
        <p:spPr>
          <a:xfrm>
            <a:off x="457200" y="2895600"/>
            <a:ext cx="8229600" cy="3230563"/>
          </a:xfrm>
        </p:spPr>
        <p:txBody>
          <a:bodyPr>
            <a:normAutofit/>
          </a:bodyPr>
          <a:lstStyle/>
          <a:p>
            <a:pPr marL="0" indent="0" algn="ctr">
              <a:buNone/>
            </a:pPr>
            <a:r>
              <a:rPr lang="en-GB" sz="4000" b="1" dirty="0"/>
              <a:t>the capacity of a firm to adapt to changing societal conditions </a:t>
            </a:r>
            <a:r>
              <a:rPr lang="en-IN" sz="4000" b="1" dirty="0" smtClean="0"/>
              <a:t>addressing the societal need/s</a:t>
            </a:r>
            <a:endParaRPr lang="en-GB" sz="4000" b="1" dirty="0"/>
          </a:p>
        </p:txBody>
      </p:sp>
    </p:spTree>
    <p:extLst>
      <p:ext uri="{BB962C8B-B14F-4D97-AF65-F5344CB8AC3E}">
        <p14:creationId xmlns:p14="http://schemas.microsoft.com/office/powerpoint/2010/main" val="831190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Social Responsibility and Economic Performance</a:t>
            </a:r>
            <a:endParaRPr lang="en-IN" dirty="0"/>
          </a:p>
        </p:txBody>
      </p:sp>
      <p:sp>
        <p:nvSpPr>
          <p:cNvPr id="3" name="Content Placeholder 2"/>
          <p:cNvSpPr>
            <a:spLocks noGrp="1"/>
          </p:cNvSpPr>
          <p:nvPr>
            <p:ph idx="1"/>
          </p:nvPr>
        </p:nvSpPr>
        <p:spPr/>
        <p:txBody>
          <a:bodyPr/>
          <a:lstStyle/>
          <a:p>
            <a:r>
              <a:rPr lang="en-GB" dirty="0"/>
              <a:t>F</a:t>
            </a:r>
            <a:r>
              <a:rPr lang="en-GB" dirty="0" smtClean="0"/>
              <a:t>irms</a:t>
            </a:r>
            <a:r>
              <a:rPr lang="en-GB" dirty="0"/>
              <a:t>' corporate social performance </a:t>
            </a:r>
            <a:r>
              <a:rPr lang="en-GB" dirty="0" smtClean="0"/>
              <a:t>is </a:t>
            </a:r>
            <a:r>
              <a:rPr lang="en-GB" dirty="0"/>
              <a:t>positively associated with both </a:t>
            </a:r>
            <a:r>
              <a:rPr lang="en-GB" i="1" dirty="0"/>
              <a:t>prior </a:t>
            </a:r>
            <a:r>
              <a:rPr lang="en-GB" dirty="0"/>
              <a:t>and </a:t>
            </a:r>
            <a:r>
              <a:rPr lang="en-GB" i="1" dirty="0"/>
              <a:t>future </a:t>
            </a:r>
            <a:r>
              <a:rPr lang="en-GB" dirty="0"/>
              <a:t>financial performance</a:t>
            </a:r>
          </a:p>
          <a:p>
            <a:r>
              <a:rPr lang="en-GB" dirty="0"/>
              <a:t>H</a:t>
            </a:r>
            <a:r>
              <a:rPr lang="en-GB" dirty="0" smtClean="0"/>
              <a:t>igh </a:t>
            </a:r>
            <a:r>
              <a:rPr lang="en-GB" dirty="0"/>
              <a:t>profits afforded companies the luxury of being socially </a:t>
            </a:r>
            <a:r>
              <a:rPr lang="en-GB" dirty="0" smtClean="0"/>
              <a:t>involved</a:t>
            </a:r>
            <a:endParaRPr lang="en-IN" dirty="0"/>
          </a:p>
          <a:p>
            <a:endParaRPr lang="en-IN" dirty="0"/>
          </a:p>
        </p:txBody>
      </p:sp>
    </p:spTree>
    <p:extLst>
      <p:ext uri="{BB962C8B-B14F-4D97-AF65-F5344CB8AC3E}">
        <p14:creationId xmlns:p14="http://schemas.microsoft.com/office/powerpoint/2010/main" val="3040005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Values-based management</a:t>
            </a:r>
            <a:endParaRPr lang="en-IN" dirty="0"/>
          </a:p>
        </p:txBody>
      </p:sp>
      <p:sp>
        <p:nvSpPr>
          <p:cNvPr id="3" name="Content Placeholder 2"/>
          <p:cNvSpPr>
            <a:spLocks noGrp="1"/>
          </p:cNvSpPr>
          <p:nvPr>
            <p:ph idx="1"/>
          </p:nvPr>
        </p:nvSpPr>
        <p:spPr/>
        <p:txBody>
          <a:bodyPr/>
          <a:lstStyle/>
          <a:p>
            <a:r>
              <a:rPr lang="en-GB" dirty="0"/>
              <a:t>A</a:t>
            </a:r>
            <a:r>
              <a:rPr lang="en-GB" dirty="0" smtClean="0"/>
              <a:t>n </a:t>
            </a:r>
            <a:r>
              <a:rPr lang="en-GB" dirty="0"/>
              <a:t>approach to managing in which managers establish, promote, and practice an organization's shared values </a:t>
            </a:r>
          </a:p>
          <a:p>
            <a:r>
              <a:rPr lang="en-GB" dirty="0"/>
              <a:t>An organization's values reflect what it stands for and what it believes </a:t>
            </a:r>
            <a:r>
              <a:rPr lang="en-GB" dirty="0" smtClean="0"/>
              <a:t>in</a:t>
            </a:r>
            <a:endParaRPr lang="en-IN" dirty="0"/>
          </a:p>
          <a:p>
            <a:endParaRPr lang="en-IN" dirty="0"/>
          </a:p>
        </p:txBody>
      </p:sp>
    </p:spTree>
    <p:extLst>
      <p:ext uri="{BB962C8B-B14F-4D97-AF65-F5344CB8AC3E}">
        <p14:creationId xmlns:p14="http://schemas.microsoft.com/office/powerpoint/2010/main" val="685603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Values-based management</a:t>
            </a:r>
            <a:endParaRPr lang="en-IN" dirty="0"/>
          </a:p>
        </p:txBody>
      </p:sp>
      <p:sp>
        <p:nvSpPr>
          <p:cNvPr id="3" name="Content Placeholder 2"/>
          <p:cNvSpPr>
            <a:spLocks noGrp="1"/>
          </p:cNvSpPr>
          <p:nvPr>
            <p:ph idx="1"/>
          </p:nvPr>
        </p:nvSpPr>
        <p:spPr/>
        <p:txBody>
          <a:bodyPr/>
          <a:lstStyle/>
          <a:p>
            <a:r>
              <a:rPr lang="en-GB" dirty="0" smtClean="0"/>
              <a:t>Purposes of shared organizational values:</a:t>
            </a:r>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331451175"/>
              </p:ext>
            </p:extLst>
          </p:nvPr>
        </p:nvGraphicFramePr>
        <p:xfrm>
          <a:off x="1447800" y="2362200"/>
          <a:ext cx="6096000" cy="1483360"/>
        </p:xfrm>
        <a:graphic>
          <a:graphicData uri="http://schemas.openxmlformats.org/drawingml/2006/table">
            <a:tbl>
              <a:tblPr firstRow="1" bandRow="1">
                <a:tableStyleId>{5C22544A-7EE6-4342-B048-85BDC9FD1C3A}</a:tableStyleId>
              </a:tblPr>
              <a:tblGrid>
                <a:gridCol w="6096000"/>
              </a:tblGrid>
              <a:tr h="370840">
                <a:tc>
                  <a:txBody>
                    <a:bodyPr/>
                    <a:lstStyle/>
                    <a:p>
                      <a:r>
                        <a:rPr lang="en-GB" dirty="0" smtClean="0"/>
                        <a:t>Guide manager’s decisions and actions</a:t>
                      </a:r>
                      <a:endParaRPr lang="en-IN" dirty="0"/>
                    </a:p>
                  </a:txBody>
                  <a:tcPr/>
                </a:tc>
              </a:tr>
              <a:tr h="370840">
                <a:tc>
                  <a:txBody>
                    <a:bodyPr/>
                    <a:lstStyle/>
                    <a:p>
                      <a:r>
                        <a:rPr lang="en-GB" dirty="0" smtClean="0"/>
                        <a:t>Shape employee </a:t>
                      </a:r>
                      <a:r>
                        <a:rPr lang="en-GB" dirty="0" err="1" smtClean="0"/>
                        <a:t>behavior</a:t>
                      </a:r>
                      <a:endParaRPr lang="en-IN" dirty="0"/>
                    </a:p>
                  </a:txBody>
                  <a:tcPr/>
                </a:tc>
              </a:tr>
              <a:tr h="370840">
                <a:tc>
                  <a:txBody>
                    <a:bodyPr/>
                    <a:lstStyle/>
                    <a:p>
                      <a:r>
                        <a:rPr lang="en-GB" dirty="0" smtClean="0"/>
                        <a:t>Influence marketing efforts</a:t>
                      </a:r>
                      <a:endParaRPr lang="en-IN" dirty="0"/>
                    </a:p>
                  </a:txBody>
                  <a:tcPr/>
                </a:tc>
              </a:tr>
              <a:tr h="370840">
                <a:tc>
                  <a:txBody>
                    <a:bodyPr/>
                    <a:lstStyle/>
                    <a:p>
                      <a:r>
                        <a:rPr lang="en-GB" dirty="0" smtClean="0"/>
                        <a:t>Build team spirit</a:t>
                      </a:r>
                      <a:endParaRPr lang="en-IN" dirty="0"/>
                    </a:p>
                  </a:txBody>
                  <a:tcPr/>
                </a:tc>
              </a:tr>
            </a:tbl>
          </a:graphicData>
        </a:graphic>
      </p:graphicFrame>
    </p:spTree>
    <p:extLst>
      <p:ext uri="{BB962C8B-B14F-4D97-AF65-F5344CB8AC3E}">
        <p14:creationId xmlns:p14="http://schemas.microsoft.com/office/powerpoint/2010/main" val="3291521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Developing Shared Values</a:t>
            </a:r>
            <a:endParaRPr lang="en-IN" dirty="0"/>
          </a:p>
        </p:txBody>
      </p:sp>
      <p:sp>
        <p:nvSpPr>
          <p:cNvPr id="3" name="Content Placeholder 2"/>
          <p:cNvSpPr>
            <a:spLocks noGrp="1"/>
          </p:cNvSpPr>
          <p:nvPr>
            <p:ph idx="1"/>
          </p:nvPr>
        </p:nvSpPr>
        <p:spPr/>
        <p:txBody>
          <a:bodyPr>
            <a:normAutofit fontScale="92500" lnSpcReduction="20000"/>
          </a:bodyPr>
          <a:lstStyle/>
          <a:p>
            <a:endParaRPr lang="en-IN" dirty="0"/>
          </a:p>
          <a:p>
            <a:pPr>
              <a:buFont typeface="Wingdings" pitchFamily="2" charset="2"/>
              <a:buChar char="ü"/>
            </a:pPr>
            <a:r>
              <a:rPr lang="en-GB" dirty="0"/>
              <a:t>Involve everyone in the company.</a:t>
            </a:r>
          </a:p>
          <a:p>
            <a:pPr>
              <a:buFont typeface="Wingdings" pitchFamily="2" charset="2"/>
              <a:buChar char="ü"/>
            </a:pPr>
            <a:r>
              <a:rPr lang="en-GB" dirty="0"/>
              <a:t>Allow customizing of the values by individual departments or units.</a:t>
            </a:r>
          </a:p>
          <a:p>
            <a:pPr>
              <a:buFont typeface="Wingdings" pitchFamily="2" charset="2"/>
              <a:buChar char="ü"/>
            </a:pPr>
            <a:r>
              <a:rPr lang="en-GB" dirty="0"/>
              <a:t>Expect and accept employee resistance.</a:t>
            </a:r>
          </a:p>
          <a:p>
            <a:pPr>
              <a:buFont typeface="Wingdings" pitchFamily="2" charset="2"/>
              <a:buChar char="ü"/>
            </a:pPr>
            <a:r>
              <a:rPr lang="en-IN" dirty="0"/>
              <a:t>Keep the statement short.</a:t>
            </a:r>
          </a:p>
          <a:p>
            <a:pPr>
              <a:buFont typeface="Wingdings" pitchFamily="2" charset="2"/>
              <a:buChar char="ü"/>
            </a:pPr>
            <a:r>
              <a:rPr lang="en-IN" dirty="0"/>
              <a:t>Avoid trivial statements.</a:t>
            </a:r>
          </a:p>
          <a:p>
            <a:pPr>
              <a:buFont typeface="Wingdings" pitchFamily="2" charset="2"/>
              <a:buChar char="ü"/>
            </a:pPr>
            <a:r>
              <a:rPr lang="en-IN" dirty="0"/>
              <a:t>Leave out religious references.</a:t>
            </a:r>
          </a:p>
          <a:p>
            <a:pPr>
              <a:buFont typeface="Wingdings" pitchFamily="2" charset="2"/>
              <a:buChar char="ü"/>
            </a:pPr>
            <a:r>
              <a:rPr lang="en-IN" dirty="0"/>
              <a:t>Challenge it.</a:t>
            </a:r>
          </a:p>
          <a:p>
            <a:pPr>
              <a:buFont typeface="Wingdings" pitchFamily="2" charset="2"/>
              <a:buChar char="ü"/>
            </a:pPr>
            <a:r>
              <a:rPr lang="en-IN" dirty="0"/>
              <a:t>Live it</a:t>
            </a:r>
            <a:r>
              <a:rPr lang="en-IN" dirty="0" smtClean="0"/>
              <a:t>.</a:t>
            </a:r>
            <a:endParaRPr lang="en-IN" dirty="0"/>
          </a:p>
        </p:txBody>
      </p:sp>
    </p:spTree>
    <p:extLst>
      <p:ext uri="{BB962C8B-B14F-4D97-AF65-F5344CB8AC3E}">
        <p14:creationId xmlns:p14="http://schemas.microsoft.com/office/powerpoint/2010/main" val="3455836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Green Management</a:t>
            </a:r>
            <a:endParaRPr lang="en-IN" dirty="0"/>
          </a:p>
        </p:txBody>
      </p:sp>
      <p:sp>
        <p:nvSpPr>
          <p:cNvPr id="3" name="Content Placeholder 2"/>
          <p:cNvSpPr>
            <a:spLocks noGrp="1"/>
          </p:cNvSpPr>
          <p:nvPr>
            <p:ph idx="1"/>
          </p:nvPr>
        </p:nvSpPr>
        <p:spPr/>
        <p:txBody>
          <a:bodyPr>
            <a:normAutofit lnSpcReduction="10000"/>
          </a:bodyPr>
          <a:lstStyle/>
          <a:p>
            <a:r>
              <a:rPr lang="en-GB" dirty="0" smtClean="0"/>
              <a:t>Paying </a:t>
            </a:r>
            <a:r>
              <a:rPr lang="en-GB" dirty="0"/>
              <a:t>attention to the environmental consequences of their decisions and actions</a:t>
            </a:r>
          </a:p>
          <a:p>
            <a:r>
              <a:rPr lang="en-IN" dirty="0"/>
              <a:t>O</a:t>
            </a:r>
            <a:r>
              <a:rPr lang="en-GB" dirty="0" err="1" smtClean="0"/>
              <a:t>rganization's</a:t>
            </a:r>
            <a:r>
              <a:rPr lang="en-GB" dirty="0" smtClean="0"/>
              <a:t> </a:t>
            </a:r>
            <a:r>
              <a:rPr lang="en-GB" dirty="0"/>
              <a:t>impact on the natural </a:t>
            </a:r>
            <a:r>
              <a:rPr lang="en-GB" dirty="0" smtClean="0"/>
              <a:t>environment</a:t>
            </a:r>
          </a:p>
          <a:p>
            <a:r>
              <a:rPr lang="en-GB" dirty="0"/>
              <a:t>R</a:t>
            </a:r>
            <a:r>
              <a:rPr lang="en-GB" dirty="0" smtClean="0"/>
              <a:t>ecognizing </a:t>
            </a:r>
            <a:r>
              <a:rPr lang="en-GB" dirty="0"/>
              <a:t>the key global environmental problems and how these problems are </a:t>
            </a:r>
            <a:r>
              <a:rPr lang="en-GB" dirty="0" smtClean="0"/>
              <a:t>changing: </a:t>
            </a:r>
            <a:r>
              <a:rPr lang="en-GB" dirty="0"/>
              <a:t>natural resource depletion, global warming, pollution (air, water, and soil), industrial accidents, and toxic wastes </a:t>
            </a:r>
          </a:p>
        </p:txBody>
      </p:sp>
    </p:spTree>
    <p:extLst>
      <p:ext uri="{BB962C8B-B14F-4D97-AF65-F5344CB8AC3E}">
        <p14:creationId xmlns:p14="http://schemas.microsoft.com/office/powerpoint/2010/main" val="1302704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dirty="0" smtClean="0"/>
              <a:t>Approaches taken by the organizations for green management (Freeman, Pierce &amp; Dodd, 1995)</a:t>
            </a:r>
            <a:endParaRPr lang="en-IN" sz="3200" dirty="0"/>
          </a:p>
        </p:txBody>
      </p:sp>
      <p:sp>
        <p:nvSpPr>
          <p:cNvPr id="3" name="Content Placeholder 2"/>
          <p:cNvSpPr>
            <a:spLocks noGrp="1"/>
          </p:cNvSpPr>
          <p:nvPr>
            <p:ph idx="1"/>
          </p:nvPr>
        </p:nvSpPr>
        <p:spPr/>
        <p:txBody>
          <a:bodyPr>
            <a:normAutofit fontScale="92500" lnSpcReduction="20000"/>
          </a:bodyPr>
          <a:lstStyle/>
          <a:p>
            <a:pPr marL="514350" indent="-514350">
              <a:buAutoNum type="arabicPeriod"/>
            </a:pPr>
            <a:r>
              <a:rPr lang="en-GB" b="1" dirty="0" smtClean="0"/>
              <a:t>Legal/Light green approach: </a:t>
            </a:r>
            <a:r>
              <a:rPr lang="en-GB" dirty="0"/>
              <a:t>organizations exhibit little environmental sensitivity. They obey laws, rules, and regulations willingly and without legal challenge, and they may even try to use the law to their own advantage, but that's the extent of their being green </a:t>
            </a:r>
            <a:endParaRPr lang="en-GB" dirty="0" smtClean="0"/>
          </a:p>
          <a:p>
            <a:pPr marL="514350" indent="-514350">
              <a:buAutoNum type="arabicPeriod"/>
            </a:pPr>
            <a:r>
              <a:rPr lang="en-GB" b="1" dirty="0" smtClean="0"/>
              <a:t>Market approach:</a:t>
            </a:r>
            <a:r>
              <a:rPr lang="en-GB" dirty="0" smtClean="0"/>
              <a:t> </a:t>
            </a:r>
            <a:r>
              <a:rPr lang="en-GB" dirty="0"/>
              <a:t>organizations respond to the environmental preferences of their customers. Whatever customers demand in terms of environmentally friendly products will be what the organization provides </a:t>
            </a:r>
          </a:p>
        </p:txBody>
      </p:sp>
    </p:spTree>
    <p:extLst>
      <p:ext uri="{BB962C8B-B14F-4D97-AF65-F5344CB8AC3E}">
        <p14:creationId xmlns:p14="http://schemas.microsoft.com/office/powerpoint/2010/main" val="924522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GB" dirty="0" smtClean="0"/>
              <a:t>3. </a:t>
            </a:r>
            <a:r>
              <a:rPr lang="en-GB" b="1" dirty="0" smtClean="0"/>
              <a:t>Stakeholder approach: </a:t>
            </a:r>
            <a:r>
              <a:rPr lang="en-GB" dirty="0"/>
              <a:t>the organization chooses to respond to multiple demands made by </a:t>
            </a:r>
            <a:r>
              <a:rPr lang="en-GB" dirty="0" smtClean="0"/>
              <a:t>stakeholders: </a:t>
            </a:r>
            <a:r>
              <a:rPr lang="en-GB" dirty="0"/>
              <a:t>employees, suppliers, or the community </a:t>
            </a:r>
            <a:endParaRPr lang="en-GB" dirty="0" smtClean="0"/>
          </a:p>
          <a:p>
            <a:pPr marL="0" indent="0">
              <a:buNone/>
            </a:pPr>
            <a:r>
              <a:rPr lang="en-GB" dirty="0" smtClean="0"/>
              <a:t>4. </a:t>
            </a:r>
            <a:r>
              <a:rPr lang="en-GB" b="1" dirty="0" smtClean="0"/>
              <a:t>Activity/Dark green approach: </a:t>
            </a:r>
            <a:r>
              <a:rPr lang="en-GB" dirty="0" smtClean="0"/>
              <a:t>the organization looks </a:t>
            </a:r>
            <a:r>
              <a:rPr lang="en-GB" dirty="0"/>
              <a:t>for ways to respect and preserve the earth and its natural </a:t>
            </a:r>
            <a:r>
              <a:rPr lang="en-GB" dirty="0" smtClean="0"/>
              <a:t>resources</a:t>
            </a:r>
            <a:r>
              <a:rPr lang="en-IN" dirty="0" smtClean="0"/>
              <a:t> </a:t>
            </a:r>
            <a:endParaRPr lang="en-IN" dirty="0"/>
          </a:p>
          <a:p>
            <a:pPr marL="0" indent="0">
              <a:buNone/>
            </a:pPr>
            <a:endParaRPr lang="en-GB" dirty="0"/>
          </a:p>
          <a:p>
            <a:endParaRPr lang="en-IN" dirty="0"/>
          </a:p>
        </p:txBody>
      </p:sp>
      <p:sp>
        <p:nvSpPr>
          <p:cNvPr id="4" name="Title 1"/>
          <p:cNvSpPr>
            <a:spLocks noGrp="1"/>
          </p:cNvSpPr>
          <p:nvPr>
            <p:ph type="title"/>
          </p:nvPr>
        </p:nvSpPr>
        <p:spPr/>
        <p:txBody>
          <a:bodyPr>
            <a:normAutofit fontScale="90000"/>
          </a:bodyPr>
          <a:lstStyle/>
          <a:p>
            <a:r>
              <a:rPr lang="en-GB" dirty="0" smtClean="0"/>
              <a:t>Approaches taken by the organizations for green management</a:t>
            </a:r>
            <a:endParaRPr lang="en-IN" dirty="0"/>
          </a:p>
        </p:txBody>
      </p:sp>
    </p:spTree>
    <p:extLst>
      <p:ext uri="{BB962C8B-B14F-4D97-AF65-F5344CB8AC3E}">
        <p14:creationId xmlns:p14="http://schemas.microsoft.com/office/powerpoint/2010/main" val="1700371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To whom is management responsible?</a:t>
            </a:r>
            <a:endParaRPr lang="en-IN" dirty="0"/>
          </a:p>
        </p:txBody>
      </p:sp>
      <p:sp>
        <p:nvSpPr>
          <p:cNvPr id="3" name="Content Placeholder 2"/>
          <p:cNvSpPr>
            <a:spLocks noGrp="1"/>
          </p:cNvSpPr>
          <p:nvPr>
            <p:ph idx="1"/>
          </p:nvPr>
        </p:nvSpPr>
        <p:spPr/>
        <p:txBody>
          <a:bodyPr>
            <a:normAutofit fontScale="85000" lnSpcReduction="20000"/>
          </a:bodyPr>
          <a:lstStyle/>
          <a:p>
            <a:r>
              <a:rPr lang="en-GB" b="1" dirty="0" smtClean="0"/>
              <a:t>Stage 1:</a:t>
            </a:r>
            <a:r>
              <a:rPr lang="en-GB" dirty="0" smtClean="0"/>
              <a:t> Owners and management (</a:t>
            </a:r>
            <a:r>
              <a:rPr lang="en-GB" dirty="0"/>
              <a:t>manager will promote stockholders' interests by seeking to minimize costs and maximize </a:t>
            </a:r>
            <a:r>
              <a:rPr lang="en-GB" dirty="0" smtClean="0"/>
              <a:t>profits)</a:t>
            </a:r>
          </a:p>
          <a:p>
            <a:r>
              <a:rPr lang="en-GB" b="1" dirty="0" smtClean="0"/>
              <a:t>Stage 2:</a:t>
            </a:r>
            <a:r>
              <a:rPr lang="en-GB" dirty="0" smtClean="0"/>
              <a:t> Employees (</a:t>
            </a:r>
            <a:r>
              <a:rPr lang="en-GB" dirty="0"/>
              <a:t>managers will accept their responsibility to employees and focus on human resource </a:t>
            </a:r>
            <a:r>
              <a:rPr lang="en-GB" dirty="0" smtClean="0"/>
              <a:t>concerns)</a:t>
            </a:r>
          </a:p>
          <a:p>
            <a:r>
              <a:rPr lang="en-GB" b="1" dirty="0" smtClean="0"/>
              <a:t>Stage 3:</a:t>
            </a:r>
            <a:r>
              <a:rPr lang="en-GB" dirty="0" smtClean="0"/>
              <a:t> Constituents in the specific environment, i.e. customers and suppliers (</a:t>
            </a:r>
            <a:r>
              <a:rPr lang="en-GB" dirty="0"/>
              <a:t>managers include fair prices, high-quality products and services, safe products, good supplier </a:t>
            </a:r>
            <a:r>
              <a:rPr lang="en-GB" dirty="0" smtClean="0"/>
              <a:t>relations)</a:t>
            </a:r>
          </a:p>
          <a:p>
            <a:r>
              <a:rPr lang="en-GB" b="1" dirty="0" smtClean="0"/>
              <a:t>Stage 4:</a:t>
            </a:r>
            <a:r>
              <a:rPr lang="en-GB" dirty="0" smtClean="0"/>
              <a:t> Broader society (</a:t>
            </a:r>
            <a:r>
              <a:rPr lang="en-GB" dirty="0"/>
              <a:t>managers feel a responsibility to society as a </a:t>
            </a:r>
            <a:r>
              <a:rPr lang="en-GB" dirty="0" smtClean="0"/>
              <a:t>whole and advance the public good)</a:t>
            </a:r>
            <a:endParaRPr lang="en-GB" dirty="0"/>
          </a:p>
        </p:txBody>
      </p:sp>
    </p:spTree>
    <p:extLst>
      <p:ext uri="{BB962C8B-B14F-4D97-AF65-F5344CB8AC3E}">
        <p14:creationId xmlns:p14="http://schemas.microsoft.com/office/powerpoint/2010/main" val="39421515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Managerial Ethics</a:t>
            </a:r>
            <a:endParaRPr lang="en-IN" b="1" dirty="0"/>
          </a:p>
        </p:txBody>
      </p:sp>
      <p:sp>
        <p:nvSpPr>
          <p:cNvPr id="3" name="Content Placeholder 2"/>
          <p:cNvSpPr>
            <a:spLocks noGrp="1"/>
          </p:cNvSpPr>
          <p:nvPr>
            <p:ph idx="1"/>
          </p:nvPr>
        </p:nvSpPr>
        <p:spPr>
          <a:xfrm>
            <a:off x="457200" y="3200400"/>
            <a:ext cx="8229600" cy="2925763"/>
          </a:xfrm>
        </p:spPr>
        <p:txBody>
          <a:bodyPr>
            <a:normAutofit/>
          </a:bodyPr>
          <a:lstStyle/>
          <a:p>
            <a:pPr marL="0" indent="0" algn="ctr">
              <a:buNone/>
            </a:pPr>
            <a:r>
              <a:rPr lang="en-GB" sz="4800" dirty="0"/>
              <a:t>R</a:t>
            </a:r>
            <a:r>
              <a:rPr lang="en-GB" sz="4800" dirty="0" smtClean="0"/>
              <a:t>ules </a:t>
            </a:r>
            <a:r>
              <a:rPr lang="en-GB" sz="4800" dirty="0"/>
              <a:t>and principles that define right and wrong </a:t>
            </a:r>
            <a:r>
              <a:rPr lang="en-GB" sz="4800" dirty="0" smtClean="0"/>
              <a:t>conduct</a:t>
            </a:r>
          </a:p>
          <a:p>
            <a:endParaRPr lang="en-GB" sz="4800" dirty="0"/>
          </a:p>
        </p:txBody>
      </p:sp>
    </p:spTree>
    <p:extLst>
      <p:ext uri="{BB962C8B-B14F-4D97-AF65-F5344CB8AC3E}">
        <p14:creationId xmlns:p14="http://schemas.microsoft.com/office/powerpoint/2010/main" val="239709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4 Views of Managerial Ethics</a:t>
            </a:r>
            <a:endParaRPr lang="en-IN" dirty="0"/>
          </a:p>
        </p:txBody>
      </p:sp>
      <p:sp>
        <p:nvSpPr>
          <p:cNvPr id="3" name="Content Placeholder 2"/>
          <p:cNvSpPr>
            <a:spLocks noGrp="1"/>
          </p:cNvSpPr>
          <p:nvPr>
            <p:ph idx="1"/>
          </p:nvPr>
        </p:nvSpPr>
        <p:spPr>
          <a:xfrm>
            <a:off x="457200" y="1295400"/>
            <a:ext cx="8229600" cy="4830763"/>
          </a:xfrm>
        </p:spPr>
        <p:txBody>
          <a:bodyPr>
            <a:normAutofit fontScale="85000" lnSpcReduction="10000"/>
          </a:bodyPr>
          <a:lstStyle/>
          <a:p>
            <a:r>
              <a:rPr lang="en-GB" b="1" dirty="0" smtClean="0"/>
              <a:t>Utilitarian View of Ethics: </a:t>
            </a:r>
          </a:p>
          <a:p>
            <a:r>
              <a:rPr lang="en-GB" dirty="0" smtClean="0"/>
              <a:t>Ethical </a:t>
            </a:r>
            <a:r>
              <a:rPr lang="en-GB" dirty="0"/>
              <a:t>decisions are made solely on the basis of their outcomes or consequences. </a:t>
            </a:r>
            <a:endParaRPr lang="en-GB" dirty="0" smtClean="0"/>
          </a:p>
          <a:p>
            <a:r>
              <a:rPr lang="en-GB" dirty="0" smtClean="0"/>
              <a:t>Utilitarian </a:t>
            </a:r>
            <a:r>
              <a:rPr lang="en-GB" dirty="0"/>
              <a:t>theory uses a quantitative method for making ethical decisions by looking at how to provide the greatest good for the greatest number. </a:t>
            </a:r>
          </a:p>
          <a:p>
            <a:r>
              <a:rPr lang="en-GB" dirty="0"/>
              <a:t>Utilitarianism encourages efficiency and productivity and is consistent with the goal of profit </a:t>
            </a:r>
            <a:r>
              <a:rPr lang="en-GB" dirty="0" smtClean="0"/>
              <a:t>maximization. </a:t>
            </a:r>
            <a:endParaRPr lang="en-GB" dirty="0"/>
          </a:p>
          <a:p>
            <a:r>
              <a:rPr lang="en-GB" dirty="0"/>
              <a:t>Utilitarianism can also result in the rights of some stakeholders being </a:t>
            </a:r>
            <a:r>
              <a:rPr lang="en-GB" dirty="0" smtClean="0"/>
              <a:t>ignored.</a:t>
            </a:r>
            <a:r>
              <a:rPr lang="en-IN" dirty="0" smtClean="0"/>
              <a:t>  </a:t>
            </a:r>
            <a:endParaRPr lang="en-IN" dirty="0"/>
          </a:p>
          <a:p>
            <a:endParaRPr lang="en-IN" dirty="0"/>
          </a:p>
          <a:p>
            <a:endParaRPr lang="en-IN" dirty="0"/>
          </a:p>
        </p:txBody>
      </p:sp>
    </p:spTree>
    <p:extLst>
      <p:ext uri="{BB962C8B-B14F-4D97-AF65-F5344CB8AC3E}">
        <p14:creationId xmlns:p14="http://schemas.microsoft.com/office/powerpoint/2010/main" val="41454140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GB" b="1" dirty="0" smtClean="0"/>
              <a:t>Rights view of ethics:</a:t>
            </a:r>
          </a:p>
          <a:p>
            <a:r>
              <a:rPr lang="en-GB" dirty="0"/>
              <a:t>R</a:t>
            </a:r>
            <a:r>
              <a:rPr lang="en-GB" dirty="0" smtClean="0"/>
              <a:t>especting </a:t>
            </a:r>
            <a:r>
              <a:rPr lang="en-GB" dirty="0"/>
              <a:t>and protecting individual liberties and privileges such as the rights to privacy, freedom of conscience, free speech, life and safety, and due process </a:t>
            </a:r>
          </a:p>
          <a:p>
            <a:r>
              <a:rPr lang="en-GB" dirty="0"/>
              <a:t>P</a:t>
            </a:r>
            <a:r>
              <a:rPr lang="en-GB" dirty="0" smtClean="0"/>
              <a:t>rotecting </a:t>
            </a:r>
            <a:r>
              <a:rPr lang="en-GB" dirty="0"/>
              <a:t>the free speech rights of employees who report legal violations by their </a:t>
            </a:r>
            <a:r>
              <a:rPr lang="en-GB" dirty="0" smtClean="0"/>
              <a:t>employers</a:t>
            </a:r>
          </a:p>
          <a:p>
            <a:r>
              <a:rPr lang="en-GB" dirty="0"/>
              <a:t>It can present obstacles to high productivity and efficiency by creating a work climate that is more concerned with protecting individuals' rights than with getting the job </a:t>
            </a:r>
            <a:r>
              <a:rPr lang="en-GB" dirty="0" smtClean="0"/>
              <a:t>done</a:t>
            </a:r>
            <a:r>
              <a:rPr lang="en-IN" dirty="0" smtClean="0"/>
              <a:t>  </a:t>
            </a:r>
            <a:endParaRPr lang="en-IN" dirty="0"/>
          </a:p>
          <a:p>
            <a:endParaRPr lang="en-IN" dirty="0"/>
          </a:p>
        </p:txBody>
      </p:sp>
      <p:sp>
        <p:nvSpPr>
          <p:cNvPr id="4" name="Title 1"/>
          <p:cNvSpPr>
            <a:spLocks noGrp="1"/>
          </p:cNvSpPr>
          <p:nvPr>
            <p:ph type="title"/>
          </p:nvPr>
        </p:nvSpPr>
        <p:spPr/>
        <p:txBody>
          <a:bodyPr/>
          <a:lstStyle/>
          <a:p>
            <a:r>
              <a:rPr lang="en-GB" dirty="0" smtClean="0"/>
              <a:t>4 Views of Managerial Ethics</a:t>
            </a:r>
            <a:endParaRPr lang="en-IN" dirty="0"/>
          </a:p>
        </p:txBody>
      </p:sp>
    </p:spTree>
    <p:extLst>
      <p:ext uri="{BB962C8B-B14F-4D97-AF65-F5344CB8AC3E}">
        <p14:creationId xmlns:p14="http://schemas.microsoft.com/office/powerpoint/2010/main" val="852966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GB" b="1" dirty="0" smtClean="0"/>
              <a:t>Justice view of ethics:</a:t>
            </a:r>
          </a:p>
          <a:p>
            <a:r>
              <a:rPr lang="en-GB" dirty="0"/>
              <a:t>M</a:t>
            </a:r>
            <a:r>
              <a:rPr lang="en-GB" dirty="0" smtClean="0"/>
              <a:t>anagers </a:t>
            </a:r>
            <a:r>
              <a:rPr lang="en-GB" dirty="0"/>
              <a:t>are to impose and enforce rules fairly and impartially and do so by following all legal rules and regulations. </a:t>
            </a:r>
            <a:endParaRPr lang="en-GB" dirty="0" smtClean="0"/>
          </a:p>
          <a:p>
            <a:r>
              <a:rPr lang="en-GB" dirty="0" smtClean="0"/>
              <a:t>A </a:t>
            </a:r>
            <a:r>
              <a:rPr lang="en-GB" dirty="0"/>
              <a:t>manager would be using the theory of justice perspective by deciding to provide the same rate of pay to individuals who are similar in their levels of skills, performance, or responsibility and not basing that decision on arbitrary differences such as gender, personality, race, or personal </a:t>
            </a:r>
            <a:r>
              <a:rPr lang="en-GB" dirty="0" err="1"/>
              <a:t>favorites</a:t>
            </a:r>
            <a:r>
              <a:rPr lang="en-GB" dirty="0"/>
              <a:t> </a:t>
            </a:r>
          </a:p>
          <a:p>
            <a:r>
              <a:rPr lang="en-GB" dirty="0"/>
              <a:t>B</a:t>
            </a:r>
            <a:r>
              <a:rPr lang="en-GB" dirty="0" smtClean="0"/>
              <a:t>ut </a:t>
            </a:r>
            <a:r>
              <a:rPr lang="en-GB" dirty="0"/>
              <a:t>it can encourage a sense of entitlement that might make employees reduce risk taking, innovation, and </a:t>
            </a:r>
            <a:r>
              <a:rPr lang="en-GB" dirty="0" smtClean="0"/>
              <a:t>productivity</a:t>
            </a:r>
            <a:r>
              <a:rPr lang="en-IN" dirty="0" smtClean="0"/>
              <a:t>  </a:t>
            </a:r>
            <a:endParaRPr lang="en-IN" dirty="0"/>
          </a:p>
          <a:p>
            <a:endParaRPr lang="en-IN" dirty="0"/>
          </a:p>
        </p:txBody>
      </p:sp>
      <p:sp>
        <p:nvSpPr>
          <p:cNvPr id="4" name="Title 1"/>
          <p:cNvSpPr>
            <a:spLocks noGrp="1"/>
          </p:cNvSpPr>
          <p:nvPr>
            <p:ph type="title"/>
          </p:nvPr>
        </p:nvSpPr>
        <p:spPr/>
        <p:txBody>
          <a:bodyPr/>
          <a:lstStyle/>
          <a:p>
            <a:r>
              <a:rPr lang="en-GB" dirty="0" smtClean="0"/>
              <a:t>4 Views of Managerial Ethics</a:t>
            </a:r>
            <a:endParaRPr lang="en-IN" dirty="0"/>
          </a:p>
        </p:txBody>
      </p:sp>
    </p:spTree>
    <p:extLst>
      <p:ext uri="{BB962C8B-B14F-4D97-AF65-F5344CB8AC3E}">
        <p14:creationId xmlns:p14="http://schemas.microsoft.com/office/powerpoint/2010/main" val="1844012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GB" b="1" dirty="0" smtClean="0"/>
              <a:t>Integrative Social Contracts Theory:</a:t>
            </a:r>
          </a:p>
          <a:p>
            <a:r>
              <a:rPr lang="en-GB" dirty="0"/>
              <a:t>E</a:t>
            </a:r>
            <a:r>
              <a:rPr lang="en-GB" dirty="0" smtClean="0"/>
              <a:t>thical </a:t>
            </a:r>
            <a:r>
              <a:rPr lang="en-GB" dirty="0"/>
              <a:t>decisions should be based on empirical (what is) and normative (what should be) factors </a:t>
            </a:r>
          </a:p>
          <a:p>
            <a:r>
              <a:rPr lang="en-IN" dirty="0"/>
              <a:t> </a:t>
            </a:r>
            <a:r>
              <a:rPr lang="en-GB" dirty="0"/>
              <a:t>This view of ethics is based on the integration of </a:t>
            </a:r>
            <a:r>
              <a:rPr lang="en-GB" b="1" dirty="0"/>
              <a:t>two "contracts"</a:t>
            </a:r>
            <a:r>
              <a:rPr lang="en-GB" dirty="0"/>
              <a:t>: the </a:t>
            </a:r>
            <a:r>
              <a:rPr lang="en-GB" u="sng" dirty="0"/>
              <a:t>general social contract </a:t>
            </a:r>
            <a:r>
              <a:rPr lang="en-GB" dirty="0"/>
              <a:t>that allows businesses to operate and defines the acceptable ground rules, and a more </a:t>
            </a:r>
            <a:r>
              <a:rPr lang="en-GB" u="sng" dirty="0"/>
              <a:t>specific contract</a:t>
            </a:r>
            <a:r>
              <a:rPr lang="en-GB" dirty="0"/>
              <a:t> among members of a community that addresses acceptable ways of behaving </a:t>
            </a:r>
            <a:r>
              <a:rPr lang="en-IN" dirty="0" smtClean="0"/>
              <a:t> </a:t>
            </a:r>
            <a:endParaRPr lang="en-IN" dirty="0"/>
          </a:p>
          <a:p>
            <a:endParaRPr lang="en-IN" dirty="0"/>
          </a:p>
        </p:txBody>
      </p:sp>
      <p:sp>
        <p:nvSpPr>
          <p:cNvPr id="4" name="Title 1"/>
          <p:cNvSpPr>
            <a:spLocks noGrp="1"/>
          </p:cNvSpPr>
          <p:nvPr>
            <p:ph type="title"/>
          </p:nvPr>
        </p:nvSpPr>
        <p:spPr/>
        <p:txBody>
          <a:bodyPr/>
          <a:lstStyle/>
          <a:p>
            <a:r>
              <a:rPr lang="en-GB" dirty="0" smtClean="0"/>
              <a:t>4 Views of Managerial Ethics</a:t>
            </a:r>
            <a:endParaRPr lang="en-IN" dirty="0"/>
          </a:p>
        </p:txBody>
      </p:sp>
    </p:spTree>
    <p:extLst>
      <p:ext uri="{BB962C8B-B14F-4D97-AF65-F5344CB8AC3E}">
        <p14:creationId xmlns:p14="http://schemas.microsoft.com/office/powerpoint/2010/main" val="3540328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Factors affecting managerial ethics</a:t>
            </a:r>
            <a:endParaRPr lang="en-IN" dirty="0"/>
          </a:p>
        </p:txBody>
      </p:sp>
      <p:sp>
        <p:nvSpPr>
          <p:cNvPr id="3" name="Content Placeholder 2"/>
          <p:cNvSpPr>
            <a:spLocks noGrp="1"/>
          </p:cNvSpPr>
          <p:nvPr>
            <p:ph idx="1"/>
          </p:nvPr>
        </p:nvSpPr>
        <p:spPr/>
        <p:txBody>
          <a:bodyPr/>
          <a:lstStyle/>
          <a:p>
            <a:r>
              <a:rPr lang="en-GB" dirty="0"/>
              <a:t>Organizational culture and leadership</a:t>
            </a:r>
          </a:p>
          <a:p>
            <a:r>
              <a:rPr lang="en-GB" dirty="0"/>
              <a:t>Risk management and compliance</a:t>
            </a:r>
          </a:p>
          <a:p>
            <a:r>
              <a:rPr lang="en-GB" dirty="0"/>
              <a:t>Social responsibility and stakeholder engagement</a:t>
            </a:r>
          </a:p>
          <a:p>
            <a:r>
              <a:rPr lang="en-GB" dirty="0"/>
              <a:t>Ethical decision-making processes</a:t>
            </a:r>
          </a:p>
          <a:p>
            <a:r>
              <a:rPr lang="en-GB" dirty="0"/>
              <a:t>Corporate governance and board oversight</a:t>
            </a:r>
          </a:p>
          <a:p>
            <a:r>
              <a:rPr lang="en-GB" dirty="0"/>
              <a:t>Transparency and disclosure practices</a:t>
            </a:r>
            <a:endParaRPr lang="en-IN" dirty="0"/>
          </a:p>
        </p:txBody>
      </p:sp>
    </p:spTree>
    <p:extLst>
      <p:ext uri="{BB962C8B-B14F-4D97-AF65-F5344CB8AC3E}">
        <p14:creationId xmlns:p14="http://schemas.microsoft.com/office/powerpoint/2010/main" val="1995218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Stages of moral development (Kohlberg, 1976)</a:t>
            </a:r>
            <a:endParaRPr lang="en-IN" dirty="0"/>
          </a:p>
        </p:txBody>
      </p:sp>
      <p:sp>
        <p:nvSpPr>
          <p:cNvPr id="3" name="Content Placeholder 2"/>
          <p:cNvSpPr>
            <a:spLocks noGrp="1"/>
          </p:cNvSpPr>
          <p:nvPr>
            <p:ph idx="1"/>
          </p:nvPr>
        </p:nvSpPr>
        <p:spPr/>
        <p:txBody>
          <a:bodyPr>
            <a:normAutofit fontScale="92500" lnSpcReduction="20000"/>
          </a:bodyPr>
          <a:lstStyle/>
          <a:p>
            <a:r>
              <a:rPr lang="en-GB" b="1" dirty="0" err="1" smtClean="0"/>
              <a:t>Preconventional</a:t>
            </a:r>
            <a:r>
              <a:rPr lang="en-GB" b="1" dirty="0" smtClean="0"/>
              <a:t> level: </a:t>
            </a:r>
            <a:r>
              <a:rPr lang="en-GB" dirty="0"/>
              <a:t>Sticking to rules to avoid physical punishment; Following rules only when doing so is in your immediate interest</a:t>
            </a:r>
            <a:endParaRPr lang="en-GB" dirty="0"/>
          </a:p>
          <a:p>
            <a:r>
              <a:rPr lang="en-IN" b="1" dirty="0" smtClean="0"/>
              <a:t>Conventional level:</a:t>
            </a:r>
            <a:r>
              <a:rPr lang="en-IN" dirty="0" smtClean="0"/>
              <a:t> </a:t>
            </a:r>
            <a:r>
              <a:rPr lang="en-GB" dirty="0"/>
              <a:t>Living up to what is expected by people close to you; Maintaining conventional order by fulfilling obligations to which you have agreed</a:t>
            </a:r>
            <a:endParaRPr lang="en-GB" dirty="0"/>
          </a:p>
          <a:p>
            <a:r>
              <a:rPr lang="en-IN" b="1" dirty="0" smtClean="0"/>
              <a:t>Principled level: </a:t>
            </a:r>
            <a:r>
              <a:rPr lang="en-GB" dirty="0"/>
              <a:t>Valuing rights of others and upholding absolute values and rights regardless of the majority's opinion; Following self-chosen ethical principles even if they violate the law</a:t>
            </a:r>
            <a:r>
              <a:rPr lang="en-IN" dirty="0" smtClean="0"/>
              <a:t> </a:t>
            </a:r>
            <a:endParaRPr lang="en-IN" dirty="0"/>
          </a:p>
          <a:p>
            <a:endParaRPr lang="en-IN" dirty="0"/>
          </a:p>
        </p:txBody>
      </p:sp>
    </p:spTree>
    <p:extLst>
      <p:ext uri="{BB962C8B-B14F-4D97-AF65-F5344CB8AC3E}">
        <p14:creationId xmlns:p14="http://schemas.microsoft.com/office/powerpoint/2010/main" val="20992915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Individual characteristics</a:t>
            </a:r>
            <a:endParaRPr lang="en-IN" dirty="0"/>
          </a:p>
        </p:txBody>
      </p:sp>
      <p:sp>
        <p:nvSpPr>
          <p:cNvPr id="3" name="Content Placeholder 2"/>
          <p:cNvSpPr>
            <a:spLocks noGrp="1"/>
          </p:cNvSpPr>
          <p:nvPr>
            <p:ph idx="1"/>
          </p:nvPr>
        </p:nvSpPr>
        <p:spPr>
          <a:xfrm>
            <a:off x="457200" y="1295400"/>
            <a:ext cx="8229600" cy="4830763"/>
          </a:xfrm>
        </p:spPr>
        <p:txBody>
          <a:bodyPr>
            <a:normAutofit fontScale="85000" lnSpcReduction="10000"/>
          </a:bodyPr>
          <a:lstStyle/>
          <a:p>
            <a:r>
              <a:rPr lang="en-GB" b="1" dirty="0" smtClean="0"/>
              <a:t>Ego strength: </a:t>
            </a:r>
            <a:r>
              <a:rPr lang="en-GB" dirty="0"/>
              <a:t>a personality measure of the strength of a person's convictions. People who score high on ego strength are likely to resist impulses to act unethically and instead follow their convictions. That is, individuals high in ego strength are more likely to do what they think is right </a:t>
            </a:r>
            <a:endParaRPr lang="en-GB" dirty="0"/>
          </a:p>
          <a:p>
            <a:r>
              <a:rPr lang="en-GB" b="1" dirty="0" smtClean="0"/>
              <a:t>Locus of control: </a:t>
            </a:r>
            <a:r>
              <a:rPr lang="en-GB" dirty="0"/>
              <a:t>a personality attribute that measures the degree to which people believe they control their own fate. People with an </a:t>
            </a:r>
            <a:r>
              <a:rPr lang="en-GB" i="1" dirty="0"/>
              <a:t>internal </a:t>
            </a:r>
            <a:r>
              <a:rPr lang="en-GB" dirty="0"/>
              <a:t>locus of control believe that they control their own destinies; those with an </a:t>
            </a:r>
            <a:r>
              <a:rPr lang="en-GB" i="1" dirty="0"/>
              <a:t>external </a:t>
            </a:r>
            <a:r>
              <a:rPr lang="en-GB" dirty="0"/>
              <a:t>locus believe that what happens to them is due to luck or chance. </a:t>
            </a:r>
          </a:p>
          <a:p>
            <a:endParaRPr lang="en-IN" dirty="0"/>
          </a:p>
        </p:txBody>
      </p:sp>
    </p:spTree>
    <p:extLst>
      <p:ext uri="{BB962C8B-B14F-4D97-AF65-F5344CB8AC3E}">
        <p14:creationId xmlns:p14="http://schemas.microsoft.com/office/powerpoint/2010/main" val="3192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Structural variables</a:t>
            </a:r>
            <a:endParaRPr lang="en-IN" dirty="0"/>
          </a:p>
        </p:txBody>
      </p:sp>
      <p:sp>
        <p:nvSpPr>
          <p:cNvPr id="3" name="Content Placeholder 2"/>
          <p:cNvSpPr>
            <a:spLocks noGrp="1"/>
          </p:cNvSpPr>
          <p:nvPr>
            <p:ph idx="1"/>
          </p:nvPr>
        </p:nvSpPr>
        <p:spPr/>
        <p:txBody>
          <a:bodyPr>
            <a:normAutofit fontScale="92500" lnSpcReduction="10000"/>
          </a:bodyPr>
          <a:lstStyle/>
          <a:p>
            <a:r>
              <a:rPr lang="en-GB" dirty="0"/>
              <a:t>An organization's structural design helps shape whether managers behave ethically. Some structures provide strong guidance, whereas others only create ambiguity and uncertainty for managers. Structural designs that minimize ambiguity and uncertainty and continuously remind managers of what is ethical are more likely to encourage ethical </a:t>
            </a:r>
            <a:r>
              <a:rPr lang="en-GB" dirty="0" err="1" smtClean="0"/>
              <a:t>behavior</a:t>
            </a:r>
            <a:endParaRPr lang="en-GB" dirty="0" smtClean="0"/>
          </a:p>
          <a:p>
            <a:r>
              <a:rPr lang="en-GB" dirty="0"/>
              <a:t>Formal rules and regulations reduce ambiguity. Job descriptions and written codes of ethics </a:t>
            </a:r>
            <a:endParaRPr lang="en-IN" dirty="0"/>
          </a:p>
          <a:p>
            <a:endParaRPr lang="en-GB" dirty="0"/>
          </a:p>
        </p:txBody>
      </p:sp>
    </p:spTree>
    <p:extLst>
      <p:ext uri="{BB962C8B-B14F-4D97-AF65-F5344CB8AC3E}">
        <p14:creationId xmlns:p14="http://schemas.microsoft.com/office/powerpoint/2010/main" val="26193842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Organizational culture</a:t>
            </a:r>
            <a:endParaRPr lang="en-IN" dirty="0"/>
          </a:p>
        </p:txBody>
      </p:sp>
      <p:sp>
        <p:nvSpPr>
          <p:cNvPr id="3" name="Content Placeholder 2"/>
          <p:cNvSpPr>
            <a:spLocks noGrp="1"/>
          </p:cNvSpPr>
          <p:nvPr>
            <p:ph idx="1"/>
          </p:nvPr>
        </p:nvSpPr>
        <p:spPr/>
        <p:txBody>
          <a:bodyPr>
            <a:normAutofit fontScale="92500" lnSpcReduction="20000"/>
          </a:bodyPr>
          <a:lstStyle/>
          <a:p>
            <a:r>
              <a:rPr lang="en-GB" dirty="0"/>
              <a:t>An organizational culture most likely to encourage high ethical standards is one that is high in risk tolerance, control, and conflict tolerance </a:t>
            </a:r>
          </a:p>
          <a:p>
            <a:r>
              <a:rPr lang="en-GB" dirty="0"/>
              <a:t>If the culture is strong and supports high ethical standards, it should have a very powerful and positive influence on managers' decision to act ethically or unethically. </a:t>
            </a:r>
          </a:p>
          <a:p>
            <a:r>
              <a:rPr lang="en-GB" dirty="0"/>
              <a:t>In a weak organizational culture, however, managers are more likely to rely on work group and departmental norms as a </a:t>
            </a:r>
            <a:r>
              <a:rPr lang="en-GB" dirty="0" err="1"/>
              <a:t>behavioral</a:t>
            </a:r>
            <a:r>
              <a:rPr lang="en-GB" dirty="0"/>
              <a:t> </a:t>
            </a:r>
            <a:r>
              <a:rPr lang="en-GB" dirty="0" smtClean="0"/>
              <a:t>guide</a:t>
            </a:r>
            <a:endParaRPr lang="en-IN" dirty="0"/>
          </a:p>
          <a:p>
            <a:endParaRPr lang="en-IN" dirty="0"/>
          </a:p>
        </p:txBody>
      </p:sp>
    </p:spTree>
    <p:extLst>
      <p:ext uri="{BB962C8B-B14F-4D97-AF65-F5344CB8AC3E}">
        <p14:creationId xmlns:p14="http://schemas.microsoft.com/office/powerpoint/2010/main" val="2342065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Issue intensity (how severe is the issue)</a:t>
            </a:r>
            <a:endParaRPr lang="en-IN" dirty="0"/>
          </a:p>
        </p:txBody>
      </p:sp>
      <p:sp>
        <p:nvSpPr>
          <p:cNvPr id="3" name="Content Placeholder 2"/>
          <p:cNvSpPr>
            <a:spLocks noGrp="1"/>
          </p:cNvSpPr>
          <p:nvPr>
            <p:ph idx="1"/>
          </p:nvPr>
        </p:nvSpPr>
        <p:spPr/>
        <p:txBody>
          <a:bodyPr>
            <a:normAutofit fontScale="85000" lnSpcReduction="20000"/>
          </a:bodyPr>
          <a:lstStyle/>
          <a:p>
            <a:r>
              <a:rPr lang="en-GB" b="1" dirty="0"/>
              <a:t>greatness of </a:t>
            </a:r>
            <a:r>
              <a:rPr lang="en-GB" b="1" dirty="0" smtClean="0"/>
              <a:t>harm: </a:t>
            </a:r>
            <a:r>
              <a:rPr lang="en-GB" dirty="0" smtClean="0"/>
              <a:t>How many people will be harmed?</a:t>
            </a:r>
          </a:p>
          <a:p>
            <a:r>
              <a:rPr lang="en-GB" b="1" dirty="0" smtClean="0"/>
              <a:t>consensus </a:t>
            </a:r>
            <a:r>
              <a:rPr lang="en-GB" b="1" dirty="0"/>
              <a:t>of </a:t>
            </a:r>
            <a:r>
              <a:rPr lang="en-GB" b="1" dirty="0" smtClean="0"/>
              <a:t>wrong: </a:t>
            </a:r>
            <a:r>
              <a:rPr lang="en-GB" dirty="0" smtClean="0"/>
              <a:t>How much agreement is there that this action is wrong?</a:t>
            </a:r>
          </a:p>
          <a:p>
            <a:r>
              <a:rPr lang="en-GB" b="1" dirty="0" smtClean="0"/>
              <a:t>probability </a:t>
            </a:r>
            <a:r>
              <a:rPr lang="en-GB" b="1" dirty="0"/>
              <a:t>of </a:t>
            </a:r>
            <a:r>
              <a:rPr lang="en-GB" b="1" dirty="0" smtClean="0"/>
              <a:t>harm: </a:t>
            </a:r>
            <a:r>
              <a:rPr lang="en-GB" dirty="0" smtClean="0"/>
              <a:t>How likely is it that this action will cause harm?</a:t>
            </a:r>
          </a:p>
          <a:p>
            <a:r>
              <a:rPr lang="en-GB" b="1" dirty="0" smtClean="0"/>
              <a:t>immediacy </a:t>
            </a:r>
            <a:r>
              <a:rPr lang="en-GB" b="1" dirty="0"/>
              <a:t>of </a:t>
            </a:r>
            <a:r>
              <a:rPr lang="en-GB" b="1" dirty="0" smtClean="0"/>
              <a:t>consequences: </a:t>
            </a:r>
            <a:r>
              <a:rPr lang="en-GB" dirty="0" smtClean="0"/>
              <a:t>Will harm be felt immediately? </a:t>
            </a:r>
          </a:p>
          <a:p>
            <a:r>
              <a:rPr lang="en-GB" b="1" dirty="0" smtClean="0"/>
              <a:t>proximity </a:t>
            </a:r>
            <a:r>
              <a:rPr lang="en-GB" b="1" dirty="0"/>
              <a:t>to victim(s</a:t>
            </a:r>
            <a:r>
              <a:rPr lang="en-GB" b="1" dirty="0" smtClean="0"/>
              <a:t>): </a:t>
            </a:r>
            <a:r>
              <a:rPr lang="en-GB" dirty="0" smtClean="0"/>
              <a:t>How close are the potential victims? </a:t>
            </a:r>
          </a:p>
          <a:p>
            <a:r>
              <a:rPr lang="en-GB" b="1" dirty="0" smtClean="0"/>
              <a:t>concentration </a:t>
            </a:r>
            <a:r>
              <a:rPr lang="en-GB" b="1" dirty="0"/>
              <a:t>of </a:t>
            </a:r>
            <a:r>
              <a:rPr lang="en-GB" b="1" dirty="0" smtClean="0"/>
              <a:t>effect</a:t>
            </a:r>
            <a:r>
              <a:rPr lang="en-IN" b="1" dirty="0" smtClean="0"/>
              <a:t>: </a:t>
            </a:r>
            <a:r>
              <a:rPr lang="en-IN" dirty="0" smtClean="0"/>
              <a:t>How concentrated is the effect of the action on the victim/s? </a:t>
            </a:r>
            <a:endParaRPr lang="en-IN" dirty="0"/>
          </a:p>
          <a:p>
            <a:endParaRPr lang="en-IN" dirty="0"/>
          </a:p>
        </p:txBody>
      </p:sp>
    </p:spTree>
    <p:extLst>
      <p:ext uri="{BB962C8B-B14F-4D97-AF65-F5344CB8AC3E}">
        <p14:creationId xmlns:p14="http://schemas.microsoft.com/office/powerpoint/2010/main" val="29431662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GB" dirty="0" smtClean="0"/>
              <a:t>Ethics in an international context</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89064871"/>
              </p:ext>
            </p:extLst>
          </p:nvPr>
        </p:nvGraphicFramePr>
        <p:xfrm>
          <a:off x="609600" y="1295400"/>
          <a:ext cx="8229601" cy="5281283"/>
        </p:xfrm>
        <a:graphic>
          <a:graphicData uri="http://schemas.openxmlformats.org/drawingml/2006/table">
            <a:tbl>
              <a:tblPr firstRow="1" bandRow="1">
                <a:tableStyleId>{5C22544A-7EE6-4342-B048-85BDC9FD1C3A}</a:tableStyleId>
              </a:tblPr>
              <a:tblGrid>
                <a:gridCol w="2362200"/>
                <a:gridCol w="5867401"/>
              </a:tblGrid>
              <a:tr h="972999">
                <a:tc>
                  <a:txBody>
                    <a:bodyPr/>
                    <a:lstStyle/>
                    <a:p>
                      <a:r>
                        <a:rPr lang="en-GB" dirty="0" smtClean="0"/>
                        <a:t>Human rights</a:t>
                      </a:r>
                      <a:endParaRPr lang="en-IN" dirty="0"/>
                    </a:p>
                  </a:txBody>
                  <a:tcPr/>
                </a:tc>
                <a:tc>
                  <a:txBody>
                    <a:bodyPr/>
                    <a:lstStyle/>
                    <a:p>
                      <a:r>
                        <a:rPr lang="en-GB" sz="1800" b="0" i="0" u="none" strike="noStrike" kern="1200" baseline="0" dirty="0" smtClean="0">
                          <a:solidFill>
                            <a:schemeClr val="lt1"/>
                          </a:solidFill>
                          <a:latin typeface="+mn-lt"/>
                          <a:ea typeface="+mn-ea"/>
                          <a:cs typeface="+mn-cs"/>
                        </a:rPr>
                        <a:t>Support and respect the protection of international human rights within their sphere of influence</a:t>
                      </a:r>
                      <a:endParaRPr lang="en-IN" sz="1800" b="0" i="0" u="none" strike="noStrike" kern="1200" baseline="0" dirty="0" smtClean="0">
                        <a:solidFill>
                          <a:schemeClr val="lt1"/>
                        </a:solidFill>
                        <a:latin typeface="+mn-lt"/>
                        <a:ea typeface="+mn-ea"/>
                        <a:cs typeface="+mn-cs"/>
                      </a:endParaRPr>
                    </a:p>
                    <a:p>
                      <a:r>
                        <a:rPr lang="en-GB" sz="1800" b="0" i="0" u="none" strike="noStrike" kern="1200" baseline="0" dirty="0" smtClean="0">
                          <a:solidFill>
                            <a:schemeClr val="lt1"/>
                          </a:solidFill>
                          <a:latin typeface="+mn-lt"/>
                          <a:ea typeface="+mn-ea"/>
                          <a:cs typeface="+mn-cs"/>
                        </a:rPr>
                        <a:t>Make sure business corporations are not complicit in human rights abuses</a:t>
                      </a:r>
                    </a:p>
                  </a:txBody>
                  <a:tcPr/>
                </a:tc>
              </a:tr>
              <a:tr h="2234686">
                <a:tc>
                  <a:txBody>
                    <a:bodyPr/>
                    <a:lstStyle/>
                    <a:p>
                      <a:r>
                        <a:rPr lang="en-GB" dirty="0" err="1" smtClean="0"/>
                        <a:t>Labor</a:t>
                      </a:r>
                      <a:r>
                        <a:rPr lang="en-GB" dirty="0" smtClean="0"/>
                        <a:t> standards</a:t>
                      </a:r>
                      <a:endParaRPr lang="en-IN" dirty="0"/>
                    </a:p>
                  </a:txBody>
                  <a:tcPr/>
                </a:tc>
                <a:tc>
                  <a:txBody>
                    <a:bodyPr/>
                    <a:lstStyle/>
                    <a:p>
                      <a:r>
                        <a:rPr lang="en-GB" sz="1800" b="0" i="0" u="none" strike="noStrike" kern="1200" baseline="0" dirty="0" smtClean="0">
                          <a:solidFill>
                            <a:schemeClr val="dk1"/>
                          </a:solidFill>
                          <a:latin typeface="+mn-lt"/>
                          <a:ea typeface="+mn-ea"/>
                          <a:cs typeface="+mn-cs"/>
                        </a:rPr>
                        <a:t>Freedom of association and the effective recognition of the right to collective bargaining</a:t>
                      </a:r>
                      <a:endParaRPr lang="en-IN" sz="1800" b="0" i="0" u="none" strike="noStrike" kern="1200" baseline="0" dirty="0" smtClean="0">
                        <a:solidFill>
                          <a:schemeClr val="dk1"/>
                        </a:solidFill>
                        <a:latin typeface="+mn-lt"/>
                        <a:ea typeface="+mn-ea"/>
                        <a:cs typeface="+mn-cs"/>
                      </a:endParaRPr>
                    </a:p>
                    <a:p>
                      <a:r>
                        <a:rPr lang="en-GB" sz="1800" b="0" i="0" u="none" strike="noStrike" kern="1200" baseline="0" dirty="0" smtClean="0">
                          <a:solidFill>
                            <a:schemeClr val="dk1"/>
                          </a:solidFill>
                          <a:latin typeface="+mn-lt"/>
                          <a:ea typeface="+mn-ea"/>
                          <a:cs typeface="+mn-cs"/>
                        </a:rPr>
                        <a:t>The elimination of all forms of forced and compulsory </a:t>
                      </a:r>
                      <a:r>
                        <a:rPr lang="en-GB" sz="1800" b="0" i="0" u="none" strike="noStrike" kern="1200" baseline="0" dirty="0" err="1" smtClean="0">
                          <a:solidFill>
                            <a:schemeClr val="dk1"/>
                          </a:solidFill>
                          <a:latin typeface="+mn-lt"/>
                          <a:ea typeface="+mn-ea"/>
                          <a:cs typeface="+mn-cs"/>
                        </a:rPr>
                        <a:t>labor</a:t>
                      </a:r>
                      <a:endParaRPr lang="en-GB" sz="1800" b="0" i="0" u="none" strike="noStrike" kern="1200" baseline="0" dirty="0" smtClean="0">
                        <a:solidFill>
                          <a:schemeClr val="dk1"/>
                        </a:solidFill>
                        <a:latin typeface="+mn-lt"/>
                        <a:ea typeface="+mn-ea"/>
                        <a:cs typeface="+mn-cs"/>
                      </a:endParaRPr>
                    </a:p>
                    <a:p>
                      <a:r>
                        <a:rPr lang="en-IN" sz="1800" b="0" i="0" u="none" strike="noStrike" kern="1200" baseline="0" dirty="0" smtClean="0">
                          <a:solidFill>
                            <a:schemeClr val="dk1"/>
                          </a:solidFill>
                          <a:latin typeface="+mn-lt"/>
                          <a:ea typeface="+mn-ea"/>
                          <a:cs typeface="+mn-cs"/>
                        </a:rPr>
                        <a:t> </a:t>
                      </a:r>
                      <a:r>
                        <a:rPr lang="en-GB" sz="1800" b="0" i="0" u="none" strike="noStrike" kern="1200" baseline="0" dirty="0" smtClean="0">
                          <a:solidFill>
                            <a:schemeClr val="dk1"/>
                          </a:solidFill>
                          <a:latin typeface="+mn-lt"/>
                          <a:ea typeface="+mn-ea"/>
                          <a:cs typeface="+mn-cs"/>
                        </a:rPr>
                        <a:t>The effective abolition of child </a:t>
                      </a:r>
                      <a:r>
                        <a:rPr lang="en-GB" sz="1800" b="0" i="0" u="none" strike="noStrike" kern="1200" baseline="0" dirty="0" err="1" smtClean="0">
                          <a:solidFill>
                            <a:schemeClr val="dk1"/>
                          </a:solidFill>
                          <a:latin typeface="+mn-lt"/>
                          <a:ea typeface="+mn-ea"/>
                          <a:cs typeface="+mn-cs"/>
                        </a:rPr>
                        <a:t>labor</a:t>
                      </a:r>
                      <a:endParaRPr lang="en-GB" sz="1800" b="0" i="0" u="none" strike="noStrike" kern="1200" baseline="0" dirty="0" smtClean="0">
                        <a:solidFill>
                          <a:schemeClr val="dk1"/>
                        </a:solidFill>
                        <a:latin typeface="+mn-lt"/>
                        <a:ea typeface="+mn-ea"/>
                        <a:cs typeface="+mn-cs"/>
                      </a:endParaRPr>
                    </a:p>
                    <a:p>
                      <a:r>
                        <a:rPr lang="en-IN" sz="1800" b="0" i="0" u="none" strike="noStrike" kern="1200" baseline="0" dirty="0" smtClean="0">
                          <a:solidFill>
                            <a:schemeClr val="dk1"/>
                          </a:solidFill>
                          <a:latin typeface="+mn-lt"/>
                          <a:ea typeface="+mn-ea"/>
                          <a:cs typeface="+mn-cs"/>
                        </a:rPr>
                        <a:t> </a:t>
                      </a:r>
                      <a:r>
                        <a:rPr lang="en-GB" sz="1800" b="0" i="0" u="none" strike="noStrike" kern="1200" baseline="0" dirty="0" smtClean="0">
                          <a:solidFill>
                            <a:schemeClr val="dk1"/>
                          </a:solidFill>
                          <a:latin typeface="+mn-lt"/>
                          <a:ea typeface="+mn-ea"/>
                          <a:cs typeface="+mn-cs"/>
                        </a:rPr>
                        <a:t>The elimination of discrimination in respect of employment and occupation</a:t>
                      </a:r>
                    </a:p>
                  </a:txBody>
                  <a:tcPr/>
                </a:tc>
              </a:tr>
              <a:tr h="1857877">
                <a:tc>
                  <a:txBody>
                    <a:bodyPr/>
                    <a:lstStyle/>
                    <a:p>
                      <a:r>
                        <a:rPr lang="en-GB" dirty="0" smtClean="0"/>
                        <a:t>Environment</a:t>
                      </a:r>
                      <a:endParaRPr lang="en-IN" dirty="0"/>
                    </a:p>
                  </a:txBody>
                  <a:tcPr/>
                </a:tc>
                <a:tc>
                  <a:txBody>
                    <a:bodyPr/>
                    <a:lstStyle/>
                    <a:p>
                      <a:r>
                        <a:rPr lang="en-GB" sz="1800" b="0" i="0" u="none" strike="noStrike" kern="1200" baseline="0" dirty="0" smtClean="0">
                          <a:solidFill>
                            <a:schemeClr val="dk1"/>
                          </a:solidFill>
                          <a:latin typeface="+mn-lt"/>
                          <a:ea typeface="+mn-ea"/>
                          <a:cs typeface="+mn-cs"/>
                        </a:rPr>
                        <a:t>Support a precautionary approach to environmental challenges</a:t>
                      </a:r>
                    </a:p>
                    <a:p>
                      <a:r>
                        <a:rPr lang="en-IN" sz="1800" b="0" i="0" u="none" strike="noStrike" kern="1200" baseline="0" dirty="0" smtClean="0">
                          <a:solidFill>
                            <a:schemeClr val="dk1"/>
                          </a:solidFill>
                          <a:latin typeface="+mn-lt"/>
                          <a:ea typeface="+mn-ea"/>
                          <a:cs typeface="+mn-cs"/>
                        </a:rPr>
                        <a:t> </a:t>
                      </a:r>
                      <a:r>
                        <a:rPr lang="en-GB" sz="1800" b="0" i="0" u="none" strike="noStrike" kern="1200" baseline="0" dirty="0" smtClean="0">
                          <a:solidFill>
                            <a:schemeClr val="dk1"/>
                          </a:solidFill>
                          <a:latin typeface="+mn-lt"/>
                          <a:ea typeface="+mn-ea"/>
                          <a:cs typeface="+mn-cs"/>
                        </a:rPr>
                        <a:t>Undertake initiatives to promote greater environmental responsibility</a:t>
                      </a:r>
                    </a:p>
                    <a:p>
                      <a:r>
                        <a:rPr lang="en-IN" sz="1800" b="0" i="0" u="none" strike="noStrike" kern="1200" baseline="0" dirty="0" smtClean="0">
                          <a:solidFill>
                            <a:schemeClr val="dk1"/>
                          </a:solidFill>
                          <a:latin typeface="+mn-lt"/>
                          <a:ea typeface="+mn-ea"/>
                          <a:cs typeface="+mn-cs"/>
                        </a:rPr>
                        <a:t> </a:t>
                      </a:r>
                      <a:r>
                        <a:rPr lang="en-GB" sz="1800" b="0" i="0" u="none" strike="noStrike" kern="1200" baseline="0" dirty="0" smtClean="0">
                          <a:solidFill>
                            <a:schemeClr val="dk1"/>
                          </a:solidFill>
                          <a:latin typeface="+mn-lt"/>
                          <a:ea typeface="+mn-ea"/>
                          <a:cs typeface="+mn-cs"/>
                        </a:rPr>
                        <a:t>Encourage the development and diffusion of environmentally friendly technologies</a:t>
                      </a:r>
                    </a:p>
                  </a:txBody>
                  <a:tcPr/>
                </a:tc>
              </a:tr>
            </a:tbl>
          </a:graphicData>
        </a:graphic>
      </p:graphicFrame>
    </p:spTree>
    <p:extLst>
      <p:ext uri="{BB962C8B-B14F-4D97-AF65-F5344CB8AC3E}">
        <p14:creationId xmlns:p14="http://schemas.microsoft.com/office/powerpoint/2010/main" val="8329443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Toward improving ethical </a:t>
            </a:r>
            <a:r>
              <a:rPr lang="en-GB" dirty="0" err="1" smtClean="0"/>
              <a:t>behavior</a:t>
            </a:r>
            <a:endParaRPr lang="en-IN" dirty="0"/>
          </a:p>
        </p:txBody>
      </p:sp>
      <p:sp>
        <p:nvSpPr>
          <p:cNvPr id="3" name="Content Placeholder 2"/>
          <p:cNvSpPr>
            <a:spLocks noGrp="1"/>
          </p:cNvSpPr>
          <p:nvPr>
            <p:ph idx="1"/>
          </p:nvPr>
        </p:nvSpPr>
        <p:spPr/>
        <p:txBody>
          <a:bodyPr/>
          <a:lstStyle/>
          <a:p>
            <a:r>
              <a:rPr lang="en-GB" dirty="0" smtClean="0"/>
              <a:t>Employee selection</a:t>
            </a:r>
          </a:p>
          <a:p>
            <a:r>
              <a:rPr lang="en-GB" dirty="0" smtClean="0"/>
              <a:t>Code of ethics and decision rules</a:t>
            </a:r>
          </a:p>
          <a:p>
            <a:r>
              <a:rPr lang="en-GB" dirty="0" smtClean="0"/>
              <a:t>Job goals and performance appraisal</a:t>
            </a:r>
          </a:p>
          <a:p>
            <a:r>
              <a:rPr lang="en-GB" dirty="0" smtClean="0"/>
              <a:t>Ethics training</a:t>
            </a:r>
          </a:p>
          <a:p>
            <a:r>
              <a:rPr lang="en-GB" dirty="0" smtClean="0"/>
              <a:t>Independent social audits</a:t>
            </a:r>
          </a:p>
          <a:p>
            <a:r>
              <a:rPr lang="en-GB" dirty="0" smtClean="0"/>
              <a:t>Formal measures to protect </a:t>
            </a:r>
            <a:r>
              <a:rPr lang="en-GB" smtClean="0"/>
              <a:t>the employees</a:t>
            </a:r>
            <a:endParaRPr lang="en-IN"/>
          </a:p>
        </p:txBody>
      </p:sp>
    </p:spTree>
    <p:extLst>
      <p:ext uri="{BB962C8B-B14F-4D97-AF65-F5344CB8AC3E}">
        <p14:creationId xmlns:p14="http://schemas.microsoft.com/office/powerpoint/2010/main" val="2159542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TotalTime>
  <Words>1856</Words>
  <Application>Microsoft Office PowerPoint</Application>
  <PresentationFormat>On-screen Show (4:3)</PresentationFormat>
  <Paragraphs>150</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Sustainability and Ethics</vt:lpstr>
      <vt:lpstr>Social Responsibility</vt:lpstr>
      <vt:lpstr>Classical approach to Social Responsibility</vt:lpstr>
      <vt:lpstr>Socio-economic approach to Social Responsibility</vt:lpstr>
      <vt:lpstr>Arguments for and against Social Responsibility</vt:lpstr>
      <vt:lpstr>Arguments for and against Social Responsibility</vt:lpstr>
      <vt:lpstr>Definition of Social Responsibility</vt:lpstr>
      <vt:lpstr>Definition of Social Responsiveness</vt:lpstr>
      <vt:lpstr>Social Responsibility and Economic Performance</vt:lpstr>
      <vt:lpstr>Values-based management</vt:lpstr>
      <vt:lpstr>Values-based management</vt:lpstr>
      <vt:lpstr>Developing Shared Values</vt:lpstr>
      <vt:lpstr>Green Management</vt:lpstr>
      <vt:lpstr>Approaches taken by the organizations for green management (Freeman, Pierce &amp; Dodd, 1995)</vt:lpstr>
      <vt:lpstr>Approaches taken by the organizations for green management</vt:lpstr>
      <vt:lpstr>To whom is management responsible?</vt:lpstr>
      <vt:lpstr>Managerial Ethics</vt:lpstr>
      <vt:lpstr>4 Views of Managerial Ethics</vt:lpstr>
      <vt:lpstr>4 Views of Managerial Ethics</vt:lpstr>
      <vt:lpstr>4 Views of Managerial Ethics</vt:lpstr>
      <vt:lpstr>4 Views of Managerial Ethics</vt:lpstr>
      <vt:lpstr>Factors affecting managerial ethics</vt:lpstr>
      <vt:lpstr>Stages of moral development (Kohlberg, 1976)</vt:lpstr>
      <vt:lpstr>Individual characteristics</vt:lpstr>
      <vt:lpstr>Structural variables</vt:lpstr>
      <vt:lpstr>Organizational culture</vt:lpstr>
      <vt:lpstr>Issue intensity (how severe is the issue)</vt:lpstr>
      <vt:lpstr>Ethics in an international context</vt:lpstr>
      <vt:lpstr>Toward improving ethical behavior</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Sustainability and Ethics</dc:title>
  <dc:creator>HP</dc:creator>
  <cp:lastModifiedBy>HP</cp:lastModifiedBy>
  <cp:revision>10</cp:revision>
  <dcterms:created xsi:type="dcterms:W3CDTF">2006-08-16T00:00:00Z</dcterms:created>
  <dcterms:modified xsi:type="dcterms:W3CDTF">2026-02-21T14:49:14Z</dcterms:modified>
</cp:coreProperties>
</file>