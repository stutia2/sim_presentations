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Managerial Communication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Session 13</a:t>
            </a:r>
          </a:p>
          <a:p>
            <a:r>
              <a:rPr lang="en-GB" dirty="0" smtClean="0"/>
              <a:t>7</a:t>
            </a:r>
            <a:r>
              <a:rPr lang="en-GB" baseline="30000" dirty="0" smtClean="0"/>
              <a:t>th</a:t>
            </a:r>
            <a:r>
              <a:rPr lang="en-GB" dirty="0" smtClean="0"/>
              <a:t> July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70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Communication</a:t>
            </a:r>
            <a:r>
              <a:rPr lang="en-IN" b="1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Communication is the </a:t>
            </a:r>
            <a:r>
              <a:rPr lang="en-GB" b="1" dirty="0"/>
              <a:t>transfer</a:t>
            </a:r>
            <a:r>
              <a:rPr lang="en-GB" dirty="0"/>
              <a:t> and </a:t>
            </a:r>
            <a:r>
              <a:rPr lang="en-GB" b="1" dirty="0"/>
              <a:t>understanding</a:t>
            </a:r>
            <a:r>
              <a:rPr lang="en-GB" dirty="0"/>
              <a:t> of meaning. </a:t>
            </a:r>
          </a:p>
          <a:p>
            <a:r>
              <a:rPr lang="en-GB" dirty="0"/>
              <a:t>This means that if no </a:t>
            </a:r>
            <a:r>
              <a:rPr lang="en-GB" u="sng" dirty="0"/>
              <a:t>information or ideas have been conveyed</a:t>
            </a:r>
            <a:r>
              <a:rPr lang="en-GB" dirty="0"/>
              <a:t>, communication hasn't taken place. </a:t>
            </a:r>
          </a:p>
          <a:p>
            <a:r>
              <a:rPr lang="en-GB" dirty="0"/>
              <a:t>For communication to be successful, the </a:t>
            </a:r>
            <a:r>
              <a:rPr lang="en-GB" u="sng" dirty="0"/>
              <a:t>meaning must be imparted and understood</a:t>
            </a:r>
            <a:r>
              <a:rPr lang="en-GB" dirty="0" smtClean="0"/>
              <a:t>.</a:t>
            </a:r>
          </a:p>
          <a:p>
            <a:r>
              <a:rPr lang="en-GB" dirty="0" smtClean="0"/>
              <a:t>Managerial communication includes: </a:t>
            </a:r>
            <a:r>
              <a:rPr lang="en-GB" i="1" dirty="0"/>
              <a:t>interpersonal communication</a:t>
            </a:r>
            <a:r>
              <a:rPr lang="en-GB" dirty="0"/>
              <a:t>—</a:t>
            </a:r>
            <a:r>
              <a:rPr lang="en-GB" u="sng" dirty="0"/>
              <a:t>communication between two or more people</a:t>
            </a:r>
            <a:r>
              <a:rPr lang="en-GB" dirty="0"/>
              <a:t>—and </a:t>
            </a:r>
            <a:r>
              <a:rPr lang="en-GB" i="1" dirty="0"/>
              <a:t>organizational </a:t>
            </a:r>
            <a:r>
              <a:rPr lang="en-GB" i="1" u="sng" dirty="0"/>
              <a:t>communication</a:t>
            </a:r>
            <a:r>
              <a:rPr lang="en-GB" u="sng" dirty="0"/>
              <a:t>—all the patterns, networks, and systems of communication within an organization </a:t>
            </a:r>
            <a:r>
              <a:rPr lang="en-GB" dirty="0" smtClean="0"/>
              <a:t> </a:t>
            </a:r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782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The Process of Interpersonal </a:t>
            </a:r>
            <a:r>
              <a:rPr lang="en-GB" b="1" dirty="0" smtClean="0"/>
              <a:t>Communication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543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32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Before communication can take place, a </a:t>
            </a:r>
            <a:r>
              <a:rPr lang="en-GB" u="sng" dirty="0"/>
              <a:t>purpose</a:t>
            </a:r>
            <a:r>
              <a:rPr lang="en-GB" dirty="0"/>
              <a:t>, expressed as a </a:t>
            </a:r>
            <a:r>
              <a:rPr lang="en-GB" b="1" dirty="0"/>
              <a:t>message</a:t>
            </a:r>
            <a:r>
              <a:rPr lang="en-GB" dirty="0"/>
              <a:t> to be conveyed, must exist. It passes between a </a:t>
            </a:r>
            <a:r>
              <a:rPr lang="en-GB" u="sng" dirty="0"/>
              <a:t>source</a:t>
            </a:r>
            <a:r>
              <a:rPr lang="en-GB" dirty="0"/>
              <a:t> (</a:t>
            </a:r>
            <a:r>
              <a:rPr lang="en-GB" i="1" dirty="0"/>
              <a:t>the sender</a:t>
            </a:r>
            <a:r>
              <a:rPr lang="en-GB" dirty="0"/>
              <a:t>) and a </a:t>
            </a:r>
            <a:r>
              <a:rPr lang="en-GB" u="sng" dirty="0"/>
              <a:t>receiver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message is converted to </a:t>
            </a:r>
            <a:r>
              <a:rPr lang="en-GB" u="sng" dirty="0"/>
              <a:t>symbolic form </a:t>
            </a:r>
            <a:r>
              <a:rPr lang="en-GB" dirty="0"/>
              <a:t>(called </a:t>
            </a:r>
            <a:r>
              <a:rPr lang="en-GB" i="1" dirty="0"/>
              <a:t>encoding</a:t>
            </a:r>
            <a:r>
              <a:rPr lang="en-GB" dirty="0"/>
              <a:t>) and passed by way of some </a:t>
            </a:r>
            <a:r>
              <a:rPr lang="en-GB" u="sng" dirty="0"/>
              <a:t>medium</a:t>
            </a:r>
            <a:r>
              <a:rPr lang="en-GB" dirty="0"/>
              <a:t> (</a:t>
            </a:r>
            <a:r>
              <a:rPr lang="en-GB" i="1" dirty="0"/>
              <a:t>channel</a:t>
            </a:r>
            <a:r>
              <a:rPr lang="en-GB" dirty="0"/>
              <a:t>) to the receiver, who retranslates the sender's message (called </a:t>
            </a:r>
            <a:r>
              <a:rPr lang="en-GB" i="1" dirty="0"/>
              <a:t>decoding</a:t>
            </a:r>
            <a:r>
              <a:rPr lang="en-GB" dirty="0"/>
              <a:t>).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result is the </a:t>
            </a:r>
            <a:r>
              <a:rPr lang="en-GB" u="sng" dirty="0"/>
              <a:t>transfer of meaning </a:t>
            </a:r>
            <a:r>
              <a:rPr lang="en-GB" dirty="0"/>
              <a:t>from one person to </a:t>
            </a:r>
            <a:r>
              <a:rPr lang="en-GB" dirty="0" smtClean="0"/>
              <a:t>another</a:t>
            </a:r>
          </a:p>
          <a:p>
            <a:r>
              <a:rPr lang="en-GB" b="1" dirty="0" smtClean="0"/>
              <a:t>Noise:</a:t>
            </a:r>
            <a:r>
              <a:rPr lang="en-GB" dirty="0" smtClean="0"/>
              <a:t> </a:t>
            </a:r>
            <a:r>
              <a:rPr lang="en-GB" dirty="0"/>
              <a:t>the entire </a:t>
            </a:r>
            <a:r>
              <a:rPr lang="en-GB" dirty="0" smtClean="0"/>
              <a:t>communication process </a:t>
            </a:r>
            <a:r>
              <a:rPr lang="en-GB" dirty="0"/>
              <a:t>is susceptible to noise—</a:t>
            </a:r>
            <a:r>
              <a:rPr lang="en-GB" u="sng" dirty="0"/>
              <a:t>disturbances that interfere with the transmission, receipt, or feedback of a message</a:t>
            </a:r>
            <a:r>
              <a:rPr lang="en-GB" dirty="0"/>
              <a:t>. Typical examples of noise include </a:t>
            </a:r>
            <a:r>
              <a:rPr lang="en-GB" u="sng" dirty="0"/>
              <a:t>illegible print</a:t>
            </a:r>
            <a:r>
              <a:rPr lang="en-GB" dirty="0"/>
              <a:t>, </a:t>
            </a:r>
            <a:r>
              <a:rPr lang="en-GB" u="sng" dirty="0"/>
              <a:t>phone static</a:t>
            </a:r>
            <a:r>
              <a:rPr lang="en-GB" dirty="0"/>
              <a:t>, </a:t>
            </a:r>
            <a:r>
              <a:rPr lang="en-GB" u="sng" dirty="0"/>
              <a:t>inattention by the receiver</a:t>
            </a:r>
            <a:r>
              <a:rPr lang="en-GB" dirty="0"/>
              <a:t>, or </a:t>
            </a:r>
            <a:r>
              <a:rPr lang="en-GB" u="sng" dirty="0"/>
              <a:t>background sounds of machinery or co-workers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605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GB" dirty="0"/>
              <a:t>A </a:t>
            </a:r>
            <a:r>
              <a:rPr lang="en-GB" i="1" dirty="0"/>
              <a:t>sender </a:t>
            </a:r>
            <a:r>
              <a:rPr lang="en-GB" dirty="0"/>
              <a:t>initiates a message by </a:t>
            </a:r>
            <a:r>
              <a:rPr lang="en-GB" i="1" dirty="0"/>
              <a:t>encoding </a:t>
            </a:r>
            <a:r>
              <a:rPr lang="en-GB" dirty="0"/>
              <a:t>a thought. </a:t>
            </a:r>
            <a:endParaRPr lang="en-GB" dirty="0" smtClean="0"/>
          </a:p>
          <a:p>
            <a:r>
              <a:rPr lang="en-GB" u="sng" dirty="0" smtClean="0"/>
              <a:t>Four </a:t>
            </a:r>
            <a:r>
              <a:rPr lang="en-GB" u="sng" dirty="0"/>
              <a:t>conditions </a:t>
            </a:r>
            <a:r>
              <a:rPr lang="en-GB" dirty="0"/>
              <a:t>influence the effectiveness of that encoded message: 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</a:t>
            </a:r>
            <a:r>
              <a:rPr lang="en-GB" dirty="0"/>
              <a:t>skills, 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attitudes</a:t>
            </a:r>
            <a:r>
              <a:rPr lang="en-GB" dirty="0"/>
              <a:t>, and 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knowledge </a:t>
            </a:r>
            <a:r>
              <a:rPr lang="en-GB" dirty="0"/>
              <a:t>of the sender, and </a:t>
            </a:r>
            <a:endParaRPr lang="en-GB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</a:t>
            </a:r>
            <a:r>
              <a:rPr lang="en-GB" dirty="0"/>
              <a:t>sociocultural system </a:t>
            </a:r>
          </a:p>
        </p:txBody>
      </p:sp>
    </p:spTree>
    <p:extLst>
      <p:ext uri="{BB962C8B-B14F-4D97-AF65-F5344CB8AC3E}">
        <p14:creationId xmlns:p14="http://schemas.microsoft.com/office/powerpoint/2010/main" val="11117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u="sng" dirty="0"/>
              <a:t>message</a:t>
            </a:r>
            <a:r>
              <a:rPr lang="en-GB" dirty="0"/>
              <a:t> is the </a:t>
            </a:r>
            <a:r>
              <a:rPr lang="en-GB" i="1" dirty="0"/>
              <a:t>actual physical product encoded by the source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can be the </a:t>
            </a:r>
            <a:r>
              <a:rPr lang="en-GB" i="1" dirty="0"/>
              <a:t>written document</a:t>
            </a:r>
            <a:r>
              <a:rPr lang="en-GB" dirty="0"/>
              <a:t>, the </a:t>
            </a:r>
            <a:r>
              <a:rPr lang="en-GB" i="1" dirty="0"/>
              <a:t>oral speech</a:t>
            </a:r>
            <a:r>
              <a:rPr lang="en-GB" dirty="0"/>
              <a:t>, and even the </a:t>
            </a:r>
            <a:r>
              <a:rPr lang="en-GB" i="1" dirty="0"/>
              <a:t>gestures and facial expressions we use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message is affected by the </a:t>
            </a:r>
            <a:r>
              <a:rPr lang="en-GB" u="sng" dirty="0"/>
              <a:t>symbols used to transfer meaning</a:t>
            </a:r>
            <a:r>
              <a:rPr lang="en-GB" dirty="0"/>
              <a:t> (words, pictures, numbers, etc.), the </a:t>
            </a:r>
            <a:r>
              <a:rPr lang="en-GB" u="sng" dirty="0"/>
              <a:t>content of the message itself</a:t>
            </a:r>
            <a:r>
              <a:rPr lang="en-GB" dirty="0"/>
              <a:t>, and the </a:t>
            </a:r>
            <a:r>
              <a:rPr lang="en-GB" u="sng" dirty="0"/>
              <a:t>decisions that the sender makes in selecting and arranging both the symbols and the content</a:t>
            </a:r>
            <a:r>
              <a:rPr lang="en-GB" dirty="0"/>
              <a:t>.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61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marL="0" indent="0" algn="ctr">
              <a:buNone/>
            </a:pPr>
            <a:endParaRPr lang="en-GB" dirty="0" smtClean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/>
              <a:t>The </a:t>
            </a:r>
            <a:r>
              <a:rPr lang="en-GB" i="1" dirty="0"/>
              <a:t>channel </a:t>
            </a:r>
            <a:r>
              <a:rPr lang="en-GB" dirty="0"/>
              <a:t>chosen to communicate the message also has the potential to be affected by noise. Whether it's a </a:t>
            </a:r>
            <a:r>
              <a:rPr lang="en-GB" u="sng" dirty="0"/>
              <a:t>face-to-face conversation</a:t>
            </a:r>
            <a:r>
              <a:rPr lang="en-GB" dirty="0"/>
              <a:t>, an </a:t>
            </a:r>
            <a:r>
              <a:rPr lang="en-GB" u="sng" dirty="0"/>
              <a:t>e-mail message</a:t>
            </a:r>
            <a:r>
              <a:rPr lang="en-GB" dirty="0"/>
              <a:t>, or a </a:t>
            </a:r>
            <a:r>
              <a:rPr lang="en-GB" u="sng" dirty="0"/>
              <a:t>company-wide memorandum</a:t>
            </a:r>
            <a:r>
              <a:rPr lang="en-GB" dirty="0"/>
              <a:t>, distortions can and do occur</a:t>
            </a:r>
            <a:r>
              <a:rPr lang="en-GB" dirty="0" smtClean="0"/>
              <a:t>.</a:t>
            </a:r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157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</a:t>
            </a:r>
            <a:r>
              <a:rPr lang="en-GB" i="1" dirty="0"/>
              <a:t>receiver </a:t>
            </a:r>
            <a:r>
              <a:rPr lang="en-GB" dirty="0"/>
              <a:t>is the individual to whom the message is directed. </a:t>
            </a:r>
            <a:endParaRPr lang="en-GB" dirty="0" smtClean="0"/>
          </a:p>
          <a:p>
            <a:r>
              <a:rPr lang="en-GB" dirty="0" smtClean="0"/>
              <a:t>Before </a:t>
            </a:r>
            <a:r>
              <a:rPr lang="en-GB" dirty="0"/>
              <a:t>the message can be received, however, the symbols in it must be translated into a form that the receiver can understand. This is the </a:t>
            </a:r>
            <a:r>
              <a:rPr lang="en-GB" i="1" dirty="0"/>
              <a:t>decoding </a:t>
            </a:r>
            <a:r>
              <a:rPr lang="en-GB" dirty="0"/>
              <a:t>of the message. </a:t>
            </a:r>
            <a:endParaRPr lang="en-GB" dirty="0" smtClean="0"/>
          </a:p>
          <a:p>
            <a:r>
              <a:rPr lang="en-GB" dirty="0" smtClean="0"/>
              <a:t>Just </a:t>
            </a:r>
            <a:r>
              <a:rPr lang="en-GB" dirty="0"/>
              <a:t>as the sender was limited by his or her skills, attitudes, knowledge, and sociocultural system, so is the receiver. </a:t>
            </a:r>
            <a:endParaRPr lang="en-GB" dirty="0" smtClean="0"/>
          </a:p>
          <a:p>
            <a:r>
              <a:rPr lang="en-GB" dirty="0" smtClean="0"/>
              <a:t>And </a:t>
            </a:r>
            <a:r>
              <a:rPr lang="en-GB" dirty="0"/>
              <a:t>just as the sender must be </a:t>
            </a:r>
            <a:r>
              <a:rPr lang="en-GB" dirty="0" err="1"/>
              <a:t>skillful</a:t>
            </a:r>
            <a:r>
              <a:rPr lang="en-GB" dirty="0"/>
              <a:t> in writing or speaking, the receiver must be </a:t>
            </a:r>
            <a:r>
              <a:rPr lang="en-GB" dirty="0" err="1"/>
              <a:t>skillful</a:t>
            </a:r>
            <a:r>
              <a:rPr lang="en-GB" dirty="0"/>
              <a:t> in reading or listening.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person's knowledge influences his or her ability to receive. </a:t>
            </a:r>
            <a:endParaRPr lang="en-GB" dirty="0" smtClean="0"/>
          </a:p>
          <a:p>
            <a:r>
              <a:rPr lang="en-GB" dirty="0" smtClean="0"/>
              <a:t>Moreover</a:t>
            </a:r>
            <a:r>
              <a:rPr lang="en-GB" dirty="0"/>
              <a:t>, the receiver's attitudes and sociocultural background can distort the message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1773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Methods of Communicating </a:t>
            </a:r>
            <a:r>
              <a:rPr lang="en-IN" b="1" dirty="0" smtClean="0"/>
              <a:t>Interpersonally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Feedback</a:t>
            </a:r>
            <a:r>
              <a:rPr lang="en-GB" dirty="0"/>
              <a:t>—how quickly can the receiver respond to the message</a:t>
            </a:r>
            <a:r>
              <a:rPr lang="en-GB" dirty="0" smtClean="0"/>
              <a:t>?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Complexity capacity</a:t>
            </a:r>
            <a:r>
              <a:rPr lang="en-GB" dirty="0"/>
              <a:t>—can the method effectively process complex messages?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Breadth potential</a:t>
            </a:r>
            <a:r>
              <a:rPr lang="en-GB" dirty="0"/>
              <a:t>—how many different messages can be transmitted using this method?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Confidentiality</a:t>
            </a:r>
            <a:r>
              <a:rPr lang="en-GB" dirty="0"/>
              <a:t>—can communicators be reasonably sure their messages are received only by those intended?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Encoding ease</a:t>
            </a:r>
            <a:r>
              <a:rPr lang="en-GB" dirty="0"/>
              <a:t>—can sender easily and quickly use this channel?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Decoding ease</a:t>
            </a:r>
            <a:r>
              <a:rPr lang="en-GB" dirty="0"/>
              <a:t>—can receiver easily and quickly decode messages?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Time-space constraint</a:t>
            </a:r>
            <a:r>
              <a:rPr lang="en-GB" dirty="0"/>
              <a:t>—do senders and receivers need to communicate at the same time and in the same space?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Cost</a:t>
            </a:r>
            <a:r>
              <a:rPr lang="en-GB" dirty="0"/>
              <a:t>—how much does it cost to use this method?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Interpersonal warmth</a:t>
            </a:r>
            <a:r>
              <a:rPr lang="en-GB" dirty="0"/>
              <a:t>—how well does this method convey interpersonal warmth?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Formality</a:t>
            </a:r>
            <a:r>
              <a:rPr lang="en-GB" dirty="0"/>
              <a:t>—does this method have the needed amount of formality?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 err="1"/>
              <a:t>Scanability</a:t>
            </a:r>
            <a:r>
              <a:rPr lang="en-GB" dirty="0"/>
              <a:t>—does this method allow the message to be easily browsed or scanned for relevant information?</a:t>
            </a:r>
          </a:p>
          <a:p>
            <a:pPr marL="514350" indent="-514350">
              <a:buFont typeface="+mj-lt"/>
              <a:buAutoNum type="arabicPeriod"/>
            </a:pPr>
            <a:r>
              <a:rPr lang="en-GB" u="sng" dirty="0"/>
              <a:t>Time of consumption</a:t>
            </a:r>
            <a:r>
              <a:rPr lang="en-GB" dirty="0"/>
              <a:t>—does the sender or receiver exercise the greater control over when to deal with the message</a:t>
            </a:r>
            <a:r>
              <a:rPr lang="en-GB" dirty="0" smtClean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5660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Non-verbal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r>
              <a:rPr lang="en-GB" u="sng" dirty="0"/>
              <a:t>C</a:t>
            </a:r>
            <a:r>
              <a:rPr lang="en-GB" u="sng" dirty="0" smtClean="0"/>
              <a:t>ommunication </a:t>
            </a:r>
            <a:r>
              <a:rPr lang="en-GB" u="sng" dirty="0"/>
              <a:t>transmitted without words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Some </a:t>
            </a:r>
            <a:r>
              <a:rPr lang="en-GB" dirty="0"/>
              <a:t>of the most meaningful communications are </a:t>
            </a:r>
            <a:r>
              <a:rPr lang="en-GB" u="sng" dirty="0"/>
              <a:t>neither spoken nor written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loud siren or a red light at an intersection tells you something without words </a:t>
            </a:r>
          </a:p>
        </p:txBody>
      </p:sp>
    </p:spTree>
    <p:extLst>
      <p:ext uri="{BB962C8B-B14F-4D97-AF65-F5344CB8AC3E}">
        <p14:creationId xmlns:p14="http://schemas.microsoft.com/office/powerpoint/2010/main" val="2480532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Body language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It refers to </a:t>
            </a:r>
            <a:r>
              <a:rPr lang="en-GB" u="sng" dirty="0"/>
              <a:t>gestures, facial expressions, and other body movements that convey meaning</a:t>
            </a:r>
            <a:r>
              <a:rPr lang="en-GB" dirty="0" smtClean="0"/>
              <a:t>.</a:t>
            </a:r>
          </a:p>
          <a:p>
            <a:r>
              <a:rPr lang="en-GB" dirty="0" smtClean="0"/>
              <a:t>A </a:t>
            </a:r>
            <a:r>
              <a:rPr lang="en-GB" dirty="0"/>
              <a:t>person frowning "says" something different from one who's smiling. </a:t>
            </a:r>
            <a:endParaRPr lang="en-GB" dirty="0" smtClean="0"/>
          </a:p>
          <a:p>
            <a:r>
              <a:rPr lang="en-GB" dirty="0" smtClean="0"/>
              <a:t>Hand </a:t>
            </a:r>
            <a:r>
              <a:rPr lang="en-GB" dirty="0"/>
              <a:t>motions, facial expressions, and other gestures can communicate emotions or temperaments such as aggression, fear, shyness, arrogance, joy, and anger </a:t>
            </a:r>
          </a:p>
        </p:txBody>
      </p:sp>
    </p:spTree>
    <p:extLst>
      <p:ext uri="{BB962C8B-B14F-4D97-AF65-F5344CB8AC3E}">
        <p14:creationId xmlns:p14="http://schemas.microsoft.com/office/powerpoint/2010/main" val="98811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Verbal intonation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/>
          <a:lstStyle/>
          <a:p>
            <a:r>
              <a:rPr lang="en-GB" dirty="0" smtClean="0"/>
              <a:t>It refers to </a:t>
            </a:r>
            <a:r>
              <a:rPr lang="en-GB" u="sng" dirty="0" smtClean="0"/>
              <a:t>the </a:t>
            </a:r>
            <a:r>
              <a:rPr lang="en-GB" u="sng" dirty="0"/>
              <a:t>emphasis someone gives to words or phrases that conveys </a:t>
            </a:r>
            <a:r>
              <a:rPr lang="en-GB" u="sng" dirty="0" smtClean="0"/>
              <a:t>meaning</a:t>
            </a:r>
          </a:p>
          <a:p>
            <a:r>
              <a:rPr lang="en-GB" dirty="0"/>
              <a:t>A </a:t>
            </a:r>
            <a:r>
              <a:rPr lang="en-GB" i="1" dirty="0"/>
              <a:t>soft, smooth vocal tone </a:t>
            </a:r>
            <a:r>
              <a:rPr lang="en-GB" dirty="0"/>
              <a:t>conveys interest and creates a different meaning from one that is </a:t>
            </a:r>
            <a:r>
              <a:rPr lang="en-GB" i="1" dirty="0"/>
              <a:t>abrasive</a:t>
            </a:r>
            <a:r>
              <a:rPr lang="en-GB" dirty="0"/>
              <a:t> and puts a strong emphasis on saying the last word </a:t>
            </a:r>
            <a:r>
              <a:rPr lang="en-GB" dirty="0" smtClean="0"/>
              <a:t> 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03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Barriers to Effective Interpersonal </a:t>
            </a:r>
            <a:r>
              <a:rPr lang="en-IN" b="1" dirty="0" smtClean="0"/>
              <a:t>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4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Filtering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Filtering is </a:t>
            </a:r>
            <a:r>
              <a:rPr lang="en-GB" u="sng" dirty="0"/>
              <a:t>the deliberate manipulation of information to make it appear more </a:t>
            </a:r>
            <a:r>
              <a:rPr lang="en-GB" u="sng" dirty="0" err="1"/>
              <a:t>favorable</a:t>
            </a:r>
            <a:r>
              <a:rPr lang="en-GB" u="sng" dirty="0"/>
              <a:t> to the receiver</a:t>
            </a:r>
            <a:r>
              <a:rPr lang="en-GB" dirty="0"/>
              <a:t>. For example, when a person tells his or her manager what the manager wants to hear, that individual is filtering information. </a:t>
            </a:r>
            <a:r>
              <a:rPr lang="en-GB" dirty="0" smtClean="0"/>
              <a:t>As </a:t>
            </a:r>
            <a:r>
              <a:rPr lang="en-GB" dirty="0"/>
              <a:t>information is communicated up through organizational levels, it's condensed and synthesized by senders so those on top don't become overloaded with information.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extent of filtering tends to be a function of the </a:t>
            </a:r>
            <a:r>
              <a:rPr lang="en-GB" u="sng" dirty="0"/>
              <a:t>number of vertical levels in the organization and the organizational culture</a:t>
            </a:r>
            <a:r>
              <a:rPr lang="en-GB" dirty="0"/>
              <a:t>. The more vertical levels there are in an organization, the more opportunities there are for filtering. </a:t>
            </a:r>
            <a:endParaRPr lang="en-GB" dirty="0" smtClean="0"/>
          </a:p>
          <a:p>
            <a:r>
              <a:rPr lang="en-GB" dirty="0" smtClean="0"/>
              <a:t>As </a:t>
            </a:r>
            <a:r>
              <a:rPr lang="en-GB" dirty="0"/>
              <a:t>organizations become less dependent on strict hierarchical arrangements and instead use </a:t>
            </a:r>
            <a:r>
              <a:rPr lang="en-GB" u="sng" dirty="0"/>
              <a:t>more collaborative, cooperative work arrangements</a:t>
            </a:r>
            <a:r>
              <a:rPr lang="en-GB" dirty="0"/>
              <a:t>, information filtering may become less of a problem. </a:t>
            </a:r>
            <a:endParaRPr lang="en-GB" dirty="0" smtClean="0"/>
          </a:p>
          <a:p>
            <a:r>
              <a:rPr lang="en-GB" dirty="0" smtClean="0"/>
              <a:t>Also, </a:t>
            </a:r>
            <a:r>
              <a:rPr lang="en-GB" dirty="0"/>
              <a:t>the ever-increasing </a:t>
            </a:r>
            <a:r>
              <a:rPr lang="en-GB" u="sng" dirty="0"/>
              <a:t>use of e-mail </a:t>
            </a:r>
            <a:r>
              <a:rPr lang="en-GB" dirty="0"/>
              <a:t>to communicate in organizations reduces filtering because communication is more direct as intermediaries are bypassed. </a:t>
            </a:r>
            <a:endParaRPr lang="en-GB" dirty="0" smtClean="0"/>
          </a:p>
          <a:p>
            <a:r>
              <a:rPr lang="en-GB" dirty="0" smtClean="0"/>
              <a:t>Also, the </a:t>
            </a:r>
            <a:r>
              <a:rPr lang="en-GB" dirty="0"/>
              <a:t>organizational culture encourages or discourages filtering by the type of </a:t>
            </a:r>
            <a:r>
              <a:rPr lang="en-GB" dirty="0" err="1"/>
              <a:t>behavior</a:t>
            </a:r>
            <a:r>
              <a:rPr lang="en-GB" dirty="0"/>
              <a:t> it rewards. The more that </a:t>
            </a:r>
            <a:r>
              <a:rPr lang="en-GB" u="sng" dirty="0"/>
              <a:t>organizational rewards emphasize style and appearance</a:t>
            </a:r>
            <a:r>
              <a:rPr lang="en-GB" dirty="0"/>
              <a:t>, the more that managers will be motivated to filter communications in their </a:t>
            </a:r>
            <a:r>
              <a:rPr lang="en-GB" dirty="0" err="1" smtClean="0"/>
              <a:t>favor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5399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Selective perception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Selective perception is </a:t>
            </a:r>
            <a:r>
              <a:rPr lang="en-GB" u="sng" dirty="0"/>
              <a:t>when people selectively interpret what they see or hear on the basis of their interests, background, experience, and attitudes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receiver in the communication process </a:t>
            </a:r>
            <a:r>
              <a:rPr lang="en-GB" i="1" dirty="0"/>
              <a:t>selectively sees and hears communications </a:t>
            </a:r>
            <a:r>
              <a:rPr lang="en-GB" dirty="0"/>
              <a:t>depending on </a:t>
            </a:r>
            <a:r>
              <a:rPr lang="en-GB" u="sng" dirty="0"/>
              <a:t>his or her needs, motivations, experience, background, and other personal characteristics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receiver also projects his or her interests and expectations into communications as they are decoded. </a:t>
            </a:r>
          </a:p>
        </p:txBody>
      </p:sp>
    </p:spTree>
    <p:extLst>
      <p:ext uri="{BB962C8B-B14F-4D97-AF65-F5344CB8AC3E}">
        <p14:creationId xmlns:p14="http://schemas.microsoft.com/office/powerpoint/2010/main" val="2200180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Emotions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How a receiver feels when a message is received influences how he or she interprets it. </a:t>
            </a:r>
            <a:endParaRPr lang="en-GB" dirty="0" smtClean="0"/>
          </a:p>
          <a:p>
            <a:r>
              <a:rPr lang="en-GB" dirty="0" smtClean="0"/>
              <a:t>You'll </a:t>
            </a:r>
            <a:r>
              <a:rPr lang="en-GB" dirty="0"/>
              <a:t>often interpret the same message differently, depending on whether you're happy or distressed. </a:t>
            </a:r>
            <a:endParaRPr lang="en-GB" dirty="0" smtClean="0"/>
          </a:p>
          <a:p>
            <a:r>
              <a:rPr lang="en-GB" u="sng" dirty="0" smtClean="0"/>
              <a:t>Extreme </a:t>
            </a:r>
            <a:r>
              <a:rPr lang="en-GB" u="sng" dirty="0"/>
              <a:t>emotions </a:t>
            </a:r>
            <a:r>
              <a:rPr lang="en-GB" dirty="0"/>
              <a:t>are most likely to hinder effective communication. In such instances, </a:t>
            </a:r>
            <a:r>
              <a:rPr lang="en-GB" i="1" dirty="0"/>
              <a:t>we</a:t>
            </a:r>
            <a:r>
              <a:rPr lang="en-GB" dirty="0"/>
              <a:t> </a:t>
            </a:r>
            <a:r>
              <a:rPr lang="en-GB" i="1" dirty="0"/>
              <a:t>often disregard our rational and objective thinking processes and substitute emotional judgments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It's </a:t>
            </a:r>
            <a:r>
              <a:rPr lang="en-GB" dirty="0"/>
              <a:t>best to avoid reacting to a message when you're upset because you're not likely to be thinking clearly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5356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Information Overload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</a:t>
            </a:r>
            <a:r>
              <a:rPr lang="en-GB" dirty="0" smtClean="0"/>
              <a:t>hen </a:t>
            </a:r>
            <a:r>
              <a:rPr lang="en-GB" dirty="0"/>
              <a:t>the information we have to work with exceeds our processing capacity. </a:t>
            </a:r>
          </a:p>
          <a:p>
            <a:r>
              <a:rPr lang="en-IN" i="1" dirty="0"/>
              <a:t>What happens when individuals </a:t>
            </a:r>
            <a:r>
              <a:rPr lang="en-GB" i="1" dirty="0"/>
              <a:t>have more information than they can sort and use? </a:t>
            </a:r>
            <a:r>
              <a:rPr lang="en-GB" dirty="0"/>
              <a:t>They tend to </a:t>
            </a:r>
            <a:r>
              <a:rPr lang="en-GB" u="sng" dirty="0"/>
              <a:t>select out, ignore, pass over, or forget information</a:t>
            </a:r>
            <a:r>
              <a:rPr lang="en-GB" dirty="0"/>
              <a:t>. Or they may </a:t>
            </a:r>
            <a:r>
              <a:rPr lang="en-GB" u="sng" dirty="0"/>
              <a:t>put off further processing</a:t>
            </a:r>
            <a:r>
              <a:rPr lang="en-GB" dirty="0"/>
              <a:t> until the overload situation is over. </a:t>
            </a:r>
            <a:endParaRPr lang="en-GB" dirty="0" smtClean="0"/>
          </a:p>
          <a:p>
            <a:r>
              <a:rPr lang="en-GB" dirty="0" smtClean="0"/>
              <a:t>Regardless</a:t>
            </a:r>
            <a:r>
              <a:rPr lang="en-GB" dirty="0"/>
              <a:t>, the </a:t>
            </a:r>
            <a:r>
              <a:rPr lang="en-GB" u="sng" dirty="0"/>
              <a:t>result </a:t>
            </a:r>
            <a:r>
              <a:rPr lang="en-GB" dirty="0"/>
              <a:t>is </a:t>
            </a:r>
            <a:r>
              <a:rPr lang="en-GB" i="1" dirty="0"/>
              <a:t>lost information and less effective communication</a:t>
            </a:r>
            <a:r>
              <a:rPr lang="en-GB" dirty="0" smtClean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828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Defensiveness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When people feel that they're being threatened, they tend to react in ways that reduce their ability to achieve mutual understanding. </a:t>
            </a:r>
            <a:endParaRPr lang="en-GB" dirty="0" smtClean="0"/>
          </a:p>
          <a:p>
            <a:r>
              <a:rPr lang="en-GB" dirty="0" smtClean="0"/>
              <a:t>That </a:t>
            </a:r>
            <a:r>
              <a:rPr lang="en-GB" dirty="0"/>
              <a:t>is, they become </a:t>
            </a:r>
            <a:r>
              <a:rPr lang="en-GB" i="1" dirty="0"/>
              <a:t>defensive</a:t>
            </a:r>
            <a:r>
              <a:rPr lang="en-GB" dirty="0"/>
              <a:t>—engaging in </a:t>
            </a:r>
            <a:r>
              <a:rPr lang="en-GB" dirty="0" err="1"/>
              <a:t>behaviors</a:t>
            </a:r>
            <a:r>
              <a:rPr lang="en-GB" dirty="0"/>
              <a:t> such as </a:t>
            </a:r>
            <a:r>
              <a:rPr lang="en-GB" u="sng" dirty="0"/>
              <a:t>verbally attacking others</a:t>
            </a:r>
            <a:r>
              <a:rPr lang="en-GB" dirty="0"/>
              <a:t>, </a:t>
            </a:r>
            <a:r>
              <a:rPr lang="en-GB" u="sng" dirty="0"/>
              <a:t>making sarcastic remarks</a:t>
            </a:r>
            <a:r>
              <a:rPr lang="en-GB" dirty="0"/>
              <a:t>, </a:t>
            </a:r>
            <a:r>
              <a:rPr lang="en-GB" u="sng" dirty="0"/>
              <a:t>being overly judgmental</a:t>
            </a:r>
            <a:r>
              <a:rPr lang="en-GB" dirty="0"/>
              <a:t>, and </a:t>
            </a:r>
            <a:r>
              <a:rPr lang="en-GB" u="sng" dirty="0"/>
              <a:t>questioning others' </a:t>
            </a:r>
            <a:r>
              <a:rPr lang="en-GB" u="sng" dirty="0" smtClean="0"/>
              <a:t>motives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149503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Language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63963"/>
          </a:xfrm>
        </p:spPr>
        <p:txBody>
          <a:bodyPr/>
          <a:lstStyle/>
          <a:p>
            <a:r>
              <a:rPr lang="en-GB" dirty="0"/>
              <a:t>Words mean different things to different people. </a:t>
            </a:r>
            <a:endParaRPr lang="en-GB" dirty="0" smtClean="0"/>
          </a:p>
          <a:p>
            <a:r>
              <a:rPr lang="en-GB" i="1" dirty="0" smtClean="0"/>
              <a:t>Age</a:t>
            </a:r>
            <a:r>
              <a:rPr lang="en-GB" i="1" dirty="0"/>
              <a:t>, education, and cultural background </a:t>
            </a:r>
            <a:r>
              <a:rPr lang="en-GB" dirty="0"/>
              <a:t>are three of the more obvious variables that influence the language a person uses and the definitions he or she gives to words. </a:t>
            </a:r>
          </a:p>
        </p:txBody>
      </p:sp>
    </p:spTree>
    <p:extLst>
      <p:ext uri="{BB962C8B-B14F-4D97-AF65-F5344CB8AC3E}">
        <p14:creationId xmlns:p14="http://schemas.microsoft.com/office/powerpoint/2010/main" val="3385850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National culture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</a:t>
            </a:r>
            <a:r>
              <a:rPr lang="en-GB" dirty="0" err="1" smtClean="0"/>
              <a:t>ommunication</a:t>
            </a:r>
            <a:r>
              <a:rPr lang="en-GB" dirty="0" smtClean="0"/>
              <a:t> </a:t>
            </a:r>
            <a:r>
              <a:rPr lang="en-GB" dirty="0"/>
              <a:t>differences can also arise from the </a:t>
            </a:r>
            <a:r>
              <a:rPr lang="en-GB" i="1" dirty="0"/>
              <a:t>different languages </a:t>
            </a:r>
            <a:r>
              <a:rPr lang="en-GB" dirty="0"/>
              <a:t>that individuals use to communicate and the </a:t>
            </a:r>
            <a:r>
              <a:rPr lang="en-GB" i="1" dirty="0"/>
              <a:t>national culture </a:t>
            </a:r>
            <a:r>
              <a:rPr lang="en-GB" dirty="0"/>
              <a:t>of which they are a part. </a:t>
            </a:r>
            <a:endParaRPr lang="en-GB" dirty="0" smtClean="0"/>
          </a:p>
          <a:p>
            <a:r>
              <a:rPr lang="en-GB" dirty="0" smtClean="0"/>
              <a:t>Interpersonal </a:t>
            </a:r>
            <a:r>
              <a:rPr lang="en-GB" dirty="0"/>
              <a:t>communication isn't conducted the same way around the world. For example, let's compare countries that place a high value on </a:t>
            </a:r>
            <a:r>
              <a:rPr lang="en-GB" u="sng" dirty="0"/>
              <a:t>individualism</a:t>
            </a:r>
            <a:r>
              <a:rPr lang="en-GB" dirty="0"/>
              <a:t> (such as the United States) with countries where the emphasis is on </a:t>
            </a:r>
            <a:r>
              <a:rPr lang="en-GB" u="sng" dirty="0"/>
              <a:t>collectivism</a:t>
            </a:r>
            <a:r>
              <a:rPr lang="en-GB" dirty="0"/>
              <a:t> (such as Japan</a:t>
            </a:r>
            <a:r>
              <a:rPr lang="en-GB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4408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Overcoming the Barriers to Effective Interpersonal </a:t>
            </a:r>
            <a:r>
              <a:rPr lang="en-GB" b="1" dirty="0" smtClean="0"/>
              <a:t>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855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Use </a:t>
            </a:r>
            <a:r>
              <a:rPr lang="en-IN" b="1" dirty="0" smtClean="0"/>
              <a:t>Feedback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r>
              <a:rPr lang="en-GB" dirty="0" smtClean="0"/>
              <a:t>Many </a:t>
            </a:r>
            <a:r>
              <a:rPr lang="en-GB" dirty="0"/>
              <a:t>communication problems can be directly attributed to misunderstandings and inaccuracies. </a:t>
            </a:r>
            <a:endParaRPr lang="en-GB" dirty="0" smtClean="0"/>
          </a:p>
          <a:p>
            <a:r>
              <a:rPr lang="en-GB" dirty="0" smtClean="0"/>
              <a:t>These </a:t>
            </a:r>
            <a:r>
              <a:rPr lang="en-GB" dirty="0"/>
              <a:t>problems are less likely to occur if the manager uses the feedback loop in the communication process.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dirty="0"/>
              <a:t>feedback can be verbal or nonverbal</a:t>
            </a:r>
            <a:r>
              <a:rPr lang="en-GB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882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Simplify language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Because language can be a barrier, managers should choose words and structure their messages in ways that will make those messages clear and understandable to the receiver.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manager needs to </a:t>
            </a:r>
            <a:r>
              <a:rPr lang="en-GB" u="sng" dirty="0"/>
              <a:t>simplify his or her language</a:t>
            </a:r>
            <a:r>
              <a:rPr lang="en-GB" dirty="0"/>
              <a:t> and </a:t>
            </a:r>
            <a:r>
              <a:rPr lang="en-GB" u="sng" dirty="0"/>
              <a:t>consider the audience to whom the message is directed</a:t>
            </a:r>
            <a:r>
              <a:rPr lang="en-GB" dirty="0"/>
              <a:t> so that the language can be tailored to the receivers. </a:t>
            </a:r>
            <a:endParaRPr lang="en-GB" dirty="0" smtClean="0"/>
          </a:p>
          <a:p>
            <a:r>
              <a:rPr lang="en-GB" dirty="0" smtClean="0"/>
              <a:t>Effective </a:t>
            </a:r>
            <a:r>
              <a:rPr lang="en-GB" dirty="0"/>
              <a:t>communication is achieved when a message is both received and </a:t>
            </a:r>
            <a:r>
              <a:rPr lang="en-GB" i="1" dirty="0"/>
              <a:t>understood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Understanding </a:t>
            </a:r>
            <a:r>
              <a:rPr lang="en-GB" dirty="0"/>
              <a:t>is improved by simplifying the language used in relation to the audience intended. </a:t>
            </a:r>
          </a:p>
        </p:txBody>
      </p:sp>
    </p:spTree>
    <p:extLst>
      <p:ext uri="{BB962C8B-B14F-4D97-AF65-F5344CB8AC3E}">
        <p14:creationId xmlns:p14="http://schemas.microsoft.com/office/powerpoint/2010/main" val="4268639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Listen actively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Listening </a:t>
            </a:r>
            <a:r>
              <a:rPr lang="en-GB" dirty="0"/>
              <a:t>is an </a:t>
            </a:r>
            <a:r>
              <a:rPr lang="en-GB" u="sng" dirty="0"/>
              <a:t>active search for meaning</a:t>
            </a:r>
            <a:r>
              <a:rPr lang="en-GB" dirty="0"/>
              <a:t>, whereas hearing is passive.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listening, two people are engaged in thinking: the sender </a:t>
            </a:r>
            <a:r>
              <a:rPr lang="en-GB" i="1" dirty="0"/>
              <a:t>and </a:t>
            </a:r>
            <a:r>
              <a:rPr lang="en-GB" dirty="0"/>
              <a:t>the receiver.</a:t>
            </a:r>
          </a:p>
          <a:p>
            <a:r>
              <a:rPr lang="en-GB" dirty="0" smtClean="0"/>
              <a:t>Listening demands </a:t>
            </a:r>
            <a:r>
              <a:rPr lang="en-GB" u="sng" dirty="0"/>
              <a:t>intellectual effort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i="1" dirty="0"/>
              <a:t>A</a:t>
            </a:r>
            <a:r>
              <a:rPr lang="en-GB" i="1" dirty="0" smtClean="0"/>
              <a:t>ctive listening</a:t>
            </a:r>
            <a:r>
              <a:rPr lang="en-GB" dirty="0" smtClean="0"/>
              <a:t> </a:t>
            </a:r>
            <a:r>
              <a:rPr lang="en-GB" dirty="0"/>
              <a:t>is listening for full meaning without making premature judgments or interpretations, demands total concentration. </a:t>
            </a:r>
          </a:p>
          <a:p>
            <a:r>
              <a:rPr lang="en-GB" i="1" dirty="0"/>
              <a:t>Active listening </a:t>
            </a:r>
            <a:r>
              <a:rPr lang="en-GB" dirty="0"/>
              <a:t>is enhanced by developing </a:t>
            </a:r>
            <a:r>
              <a:rPr lang="en-GB" u="sng" dirty="0"/>
              <a:t>empathy with the sender</a:t>
            </a:r>
            <a:r>
              <a:rPr lang="en-GB" dirty="0"/>
              <a:t>—that is, by placing yourself in the sender's position. </a:t>
            </a:r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573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Constrain emotions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GB" dirty="0"/>
              <a:t>We know that emotions can severely cloud and distort the transference of meaning. </a:t>
            </a:r>
            <a:endParaRPr lang="en-GB" dirty="0" smtClean="0"/>
          </a:p>
          <a:p>
            <a:r>
              <a:rPr lang="en-GB" dirty="0" smtClean="0"/>
              <a:t>A </a:t>
            </a:r>
            <a:r>
              <a:rPr lang="en-GB" dirty="0"/>
              <a:t>manager who is </a:t>
            </a:r>
            <a:r>
              <a:rPr lang="en-GB" u="sng" dirty="0"/>
              <a:t>emotionally upset </a:t>
            </a:r>
            <a:r>
              <a:rPr lang="en-GB" dirty="0"/>
              <a:t>over an issue is more likely to misconstrue incoming messages and fail to communicate his or her outgoing messages clearly and accurately</a:t>
            </a:r>
            <a:r>
              <a:rPr lang="en-GB" dirty="0" smtClean="0"/>
              <a:t>.</a:t>
            </a:r>
          </a:p>
          <a:p>
            <a:r>
              <a:rPr lang="en-GB" dirty="0" smtClean="0"/>
              <a:t>In such case, the manager should refrain </a:t>
            </a:r>
            <a:r>
              <a:rPr lang="en-GB" dirty="0"/>
              <a:t>from communicating until he or she has regained </a:t>
            </a:r>
            <a:r>
              <a:rPr lang="en-GB" dirty="0" smtClean="0"/>
              <a:t>composure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152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Watch nonverbal cues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actions speak louder than words, then it's important to </a:t>
            </a:r>
            <a:r>
              <a:rPr lang="en-GB" u="sng" dirty="0"/>
              <a:t>watch your actions </a:t>
            </a:r>
            <a:r>
              <a:rPr lang="en-GB" dirty="0"/>
              <a:t>to make sure they align with and reinforce the words that go along with them.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effective communicator </a:t>
            </a:r>
            <a:r>
              <a:rPr lang="en-GB" u="sng" dirty="0"/>
              <a:t>watches his or her nonverbal cues</a:t>
            </a:r>
            <a:r>
              <a:rPr lang="en-GB" dirty="0"/>
              <a:t> to ensure that they convey the desired message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7251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8400"/>
            <a:ext cx="8229600" cy="1143000"/>
          </a:xfrm>
        </p:spPr>
        <p:txBody>
          <a:bodyPr/>
          <a:lstStyle/>
          <a:p>
            <a:r>
              <a:rPr lang="en-GB" b="1" dirty="0" smtClean="0"/>
              <a:t>Organizational communication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5388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Formal Versus Informal </a:t>
            </a:r>
            <a:r>
              <a:rPr lang="en-IN" b="1" dirty="0" smtClean="0"/>
              <a:t>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Formal communication refers to communication that follows the </a:t>
            </a:r>
            <a:r>
              <a:rPr lang="en-GB" i="1" dirty="0"/>
              <a:t>official chain of command</a:t>
            </a:r>
            <a:r>
              <a:rPr lang="en-GB" dirty="0"/>
              <a:t> or is </a:t>
            </a:r>
            <a:r>
              <a:rPr lang="en-GB" i="1" dirty="0"/>
              <a:t>part of the communication required to do one's job</a:t>
            </a:r>
            <a:r>
              <a:rPr lang="en-GB" dirty="0"/>
              <a:t>. Any communication that takes place within </a:t>
            </a:r>
            <a:r>
              <a:rPr lang="en-GB" i="1" dirty="0"/>
              <a:t>prescribed organizational work arrangements </a:t>
            </a:r>
            <a:r>
              <a:rPr lang="en-GB" dirty="0"/>
              <a:t>would be classified as </a:t>
            </a:r>
            <a:r>
              <a:rPr lang="en-GB" dirty="0" smtClean="0"/>
              <a:t>formal</a:t>
            </a:r>
          </a:p>
          <a:p>
            <a:r>
              <a:rPr lang="en-GB" dirty="0"/>
              <a:t>Informal communication is organizational communication that is </a:t>
            </a:r>
            <a:r>
              <a:rPr lang="en-GB" i="1" dirty="0"/>
              <a:t>not defined by the organization's structural </a:t>
            </a:r>
            <a:r>
              <a:rPr lang="en-GB" i="1" dirty="0" smtClean="0"/>
              <a:t>hierarchy</a:t>
            </a:r>
            <a:r>
              <a:rPr lang="en-GB" dirty="0" smtClean="0"/>
              <a:t>. </a:t>
            </a:r>
            <a:r>
              <a:rPr lang="en-GB" dirty="0"/>
              <a:t>It permits employees to satisfy their need for </a:t>
            </a:r>
            <a:r>
              <a:rPr lang="en-GB" i="1" dirty="0"/>
              <a:t>social interaction</a:t>
            </a:r>
            <a:r>
              <a:rPr lang="en-GB" dirty="0"/>
              <a:t>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091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Direction of Communication </a:t>
            </a:r>
            <a:r>
              <a:rPr lang="en-IN" b="1" dirty="0" smtClean="0"/>
              <a:t>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Any communication that flows downward from a manager to employees is </a:t>
            </a:r>
            <a:r>
              <a:rPr lang="en-GB" i="1" dirty="0"/>
              <a:t>downward communication</a:t>
            </a:r>
            <a:r>
              <a:rPr lang="en-GB" dirty="0"/>
              <a:t>. Downward communication is used to </a:t>
            </a:r>
            <a:r>
              <a:rPr lang="en-GB" u="sng" dirty="0"/>
              <a:t>inform, direct, coordinate, and evaluate</a:t>
            </a:r>
            <a:r>
              <a:rPr lang="en-GB" dirty="0"/>
              <a:t> employees. </a:t>
            </a: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r>
              <a:rPr lang="en-IN" dirty="0"/>
              <a:t>Upward communication is communication </a:t>
            </a:r>
            <a:r>
              <a:rPr lang="en-GB" dirty="0"/>
              <a:t>that flows </a:t>
            </a:r>
            <a:r>
              <a:rPr lang="en-GB" i="1" dirty="0"/>
              <a:t>upward from employees to managers</a:t>
            </a:r>
            <a:r>
              <a:rPr lang="en-GB" dirty="0"/>
              <a:t>. It keeps managers aware of how employees feel about their jobs, their co-workers, and the organization in general. Managers also rely on upward communication for ideas on how things can be improved. </a:t>
            </a:r>
          </a:p>
        </p:txBody>
      </p:sp>
    </p:spTree>
    <p:extLst>
      <p:ext uri="{BB962C8B-B14F-4D97-AF65-F5344CB8AC3E}">
        <p14:creationId xmlns:p14="http://schemas.microsoft.com/office/powerpoint/2010/main" val="2937952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r>
              <a:rPr lang="en-GB" u="sng" dirty="0" smtClean="0"/>
              <a:t>Lateral communication: </a:t>
            </a:r>
            <a:r>
              <a:rPr lang="en-GB" dirty="0"/>
              <a:t>Communication that takes place among any employees on the </a:t>
            </a:r>
            <a:r>
              <a:rPr lang="en-GB" i="1" dirty="0"/>
              <a:t>same organizational level </a:t>
            </a:r>
            <a:r>
              <a:rPr lang="en-GB" dirty="0"/>
              <a:t>is called lateral communication. </a:t>
            </a:r>
            <a:r>
              <a:rPr lang="en-GB" b="1" dirty="0" smtClean="0"/>
              <a:t>Example:</a:t>
            </a:r>
            <a:r>
              <a:rPr lang="en-GB" dirty="0" smtClean="0"/>
              <a:t> Cross-functional teams</a:t>
            </a:r>
            <a:endParaRPr lang="en-GB" dirty="0"/>
          </a:p>
          <a:p>
            <a:r>
              <a:rPr lang="en-GB" u="sng" dirty="0"/>
              <a:t>Diagonal communication </a:t>
            </a:r>
            <a:r>
              <a:rPr lang="en-GB" dirty="0"/>
              <a:t>is communication that cuts across both work areas </a:t>
            </a:r>
            <a:r>
              <a:rPr lang="en-GB" i="1" dirty="0"/>
              <a:t>and </a:t>
            </a:r>
            <a:r>
              <a:rPr lang="en-GB" dirty="0"/>
              <a:t>organizational levels. </a:t>
            </a:r>
          </a:p>
        </p:txBody>
      </p:sp>
    </p:spTree>
    <p:extLst>
      <p:ext uri="{BB962C8B-B14F-4D97-AF65-F5344CB8AC3E}">
        <p14:creationId xmlns:p14="http://schemas.microsoft.com/office/powerpoint/2010/main" val="3713143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Organizational communication networks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7724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072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943600"/>
          </a:xfrm>
        </p:spPr>
        <p:txBody>
          <a:bodyPr>
            <a:normAutofit/>
          </a:bodyPr>
          <a:lstStyle/>
          <a:p>
            <a:r>
              <a:rPr lang="en-GB" dirty="0"/>
              <a:t>In the </a:t>
            </a:r>
            <a:r>
              <a:rPr lang="en-GB" i="1" dirty="0"/>
              <a:t>chain </a:t>
            </a:r>
            <a:r>
              <a:rPr lang="en-GB" dirty="0"/>
              <a:t>network, communication flows according to the </a:t>
            </a:r>
            <a:r>
              <a:rPr lang="en-GB" i="1" dirty="0"/>
              <a:t>formal chain of command, both downward and upward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i="1" dirty="0"/>
              <a:t>wheel </a:t>
            </a:r>
            <a:r>
              <a:rPr lang="en-GB" dirty="0"/>
              <a:t>network represents </a:t>
            </a:r>
            <a:r>
              <a:rPr lang="en-GB" i="1" dirty="0"/>
              <a:t>communication flowing between a clearly identifiable and strong leader and others in a work group or team</a:t>
            </a:r>
            <a:r>
              <a:rPr lang="en-GB" dirty="0"/>
              <a:t>. The leader serves as the hub through whom all communication passes. </a:t>
            </a:r>
            <a:endParaRPr lang="en-GB" dirty="0" smtClean="0"/>
          </a:p>
          <a:p>
            <a:r>
              <a:rPr lang="en-GB" dirty="0" smtClean="0"/>
              <a:t>Finally</a:t>
            </a:r>
            <a:r>
              <a:rPr lang="en-GB" dirty="0"/>
              <a:t>, in the </a:t>
            </a:r>
            <a:r>
              <a:rPr lang="en-GB" i="1" dirty="0"/>
              <a:t>all-channel </a:t>
            </a:r>
            <a:r>
              <a:rPr lang="en-GB" dirty="0"/>
              <a:t>network, communication </a:t>
            </a:r>
            <a:r>
              <a:rPr lang="en-GB" i="1" dirty="0"/>
              <a:t>flows freely among all members of a work </a:t>
            </a:r>
            <a:r>
              <a:rPr lang="en-GB" i="1" dirty="0" smtClean="0"/>
              <a:t>team</a:t>
            </a:r>
            <a:r>
              <a:rPr lang="en-IN" i="1" dirty="0" smtClean="0"/>
              <a:t>  </a:t>
            </a:r>
            <a:endParaRPr lang="en-IN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6668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Grapevine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239236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T</a:t>
            </a:r>
            <a:r>
              <a:rPr lang="en-GB" dirty="0" smtClean="0"/>
              <a:t>he </a:t>
            </a:r>
            <a:r>
              <a:rPr lang="en-GB" dirty="0"/>
              <a:t>informal organizational communication </a:t>
            </a:r>
            <a:r>
              <a:rPr lang="en-GB" dirty="0" smtClean="0"/>
              <a:t>network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 smtClean="0"/>
              <a:t>Example:</a:t>
            </a:r>
            <a:r>
              <a:rPr lang="en-GB" dirty="0" smtClean="0"/>
              <a:t> Rumours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0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1951</Words>
  <Application>Microsoft Office PowerPoint</Application>
  <PresentationFormat>On-screen Show (4:3)</PresentationFormat>
  <Paragraphs>127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Managerial Communication</vt:lpstr>
      <vt:lpstr>What is Communication?</vt:lpstr>
      <vt:lpstr>The Process of Interpersonal Communication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 of Communicating Interpersonally</vt:lpstr>
      <vt:lpstr>Non-verbal communication</vt:lpstr>
      <vt:lpstr>Body language</vt:lpstr>
      <vt:lpstr>Verbal intonation</vt:lpstr>
      <vt:lpstr>Barriers to Effective Interpersonal Communication</vt:lpstr>
      <vt:lpstr>Filtering</vt:lpstr>
      <vt:lpstr>Selective perception</vt:lpstr>
      <vt:lpstr>Emotions</vt:lpstr>
      <vt:lpstr>Information Overload</vt:lpstr>
      <vt:lpstr>Defensiveness</vt:lpstr>
      <vt:lpstr>Language</vt:lpstr>
      <vt:lpstr>National culture</vt:lpstr>
      <vt:lpstr>Overcoming the Barriers to Effective Interpersonal Communication</vt:lpstr>
      <vt:lpstr>Use Feedback</vt:lpstr>
      <vt:lpstr>Simplify language</vt:lpstr>
      <vt:lpstr>Listen actively</vt:lpstr>
      <vt:lpstr>Constrain emotions</vt:lpstr>
      <vt:lpstr>Watch nonverbal cues</vt:lpstr>
      <vt:lpstr>Organizational communication</vt:lpstr>
      <vt:lpstr>Formal Versus Informal Communication</vt:lpstr>
      <vt:lpstr>Direction of Communication Flow</vt:lpstr>
      <vt:lpstr>PowerPoint Presentation</vt:lpstr>
      <vt:lpstr>Organizational communication networks</vt:lpstr>
      <vt:lpstr>PowerPoint Presentation</vt:lpstr>
      <vt:lpstr>Grapevine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Managerial Communication</dc:title>
  <dc:creator>HP</dc:creator>
  <cp:lastModifiedBy>HP</cp:lastModifiedBy>
  <cp:revision>22</cp:revision>
  <dcterms:created xsi:type="dcterms:W3CDTF">2006-08-16T00:00:00Z</dcterms:created>
  <dcterms:modified xsi:type="dcterms:W3CDTF">2026-02-27T10:58:11Z</dcterms:modified>
</cp:coreProperties>
</file>