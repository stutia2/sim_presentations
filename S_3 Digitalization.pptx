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Digitalization in Management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28</a:t>
            </a:r>
            <a:r>
              <a:rPr lang="en-GB" baseline="30000" dirty="0" smtClean="0"/>
              <a:t>th</a:t>
            </a:r>
            <a:r>
              <a:rPr lang="en-GB" dirty="0" smtClean="0"/>
              <a:t> April, 2026</a:t>
            </a:r>
          </a:p>
          <a:p>
            <a:r>
              <a:rPr lang="en-GB" dirty="0" smtClean="0"/>
              <a:t>Session-3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55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Artificial Intelligence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AI is defined as the ability of machines to </a:t>
            </a:r>
            <a:r>
              <a:rPr lang="en-GB" dirty="0" smtClean="0"/>
              <a:t>communicate with </a:t>
            </a:r>
            <a:r>
              <a:rPr lang="en-GB" dirty="0"/>
              <a:t>humans (using electronic output devices) without revealing the identity that they are not </a:t>
            </a:r>
            <a:r>
              <a:rPr lang="en-GB" dirty="0" smtClean="0"/>
              <a:t>humans</a:t>
            </a:r>
          </a:p>
          <a:p>
            <a:r>
              <a:rPr lang="en-IN" dirty="0"/>
              <a:t>E</a:t>
            </a:r>
            <a:r>
              <a:rPr lang="en-IN" dirty="0" smtClean="0"/>
              <a:t>nabling </a:t>
            </a:r>
            <a:r>
              <a:rPr lang="en-IN" dirty="0"/>
              <a:t>machines </a:t>
            </a:r>
            <a:r>
              <a:rPr lang="en-IN" dirty="0" smtClean="0"/>
              <a:t>to </a:t>
            </a:r>
            <a:r>
              <a:rPr lang="en-GB" dirty="0" smtClean="0"/>
              <a:t>do </a:t>
            </a:r>
            <a:r>
              <a:rPr lang="en-GB" dirty="0"/>
              <a:t>things that require human </a:t>
            </a:r>
            <a:r>
              <a:rPr lang="en-GB" dirty="0" smtClean="0"/>
              <a:t>intelligence</a:t>
            </a:r>
          </a:p>
          <a:p>
            <a:r>
              <a:rPr lang="en-GB" dirty="0"/>
              <a:t>The application fields of AI are extensive, covering (but not limited to) speech </a:t>
            </a:r>
            <a:r>
              <a:rPr lang="en-GB" dirty="0" smtClean="0"/>
              <a:t>recognition, </a:t>
            </a:r>
            <a:r>
              <a:rPr lang="en-IN" dirty="0" smtClean="0"/>
              <a:t>image processing, </a:t>
            </a:r>
            <a:r>
              <a:rPr lang="en-IN" dirty="0"/>
              <a:t>natural language </a:t>
            </a:r>
            <a:r>
              <a:rPr lang="en-IN" dirty="0" smtClean="0"/>
              <a:t>processing, </a:t>
            </a:r>
            <a:r>
              <a:rPr lang="en-IN" dirty="0"/>
              <a:t>smart </a:t>
            </a:r>
            <a:r>
              <a:rPr lang="en-IN" dirty="0" smtClean="0"/>
              <a:t>robots, </a:t>
            </a:r>
            <a:r>
              <a:rPr lang="en-IN" dirty="0"/>
              <a:t>autonomous </a:t>
            </a:r>
            <a:r>
              <a:rPr lang="en-IN" dirty="0" smtClean="0"/>
              <a:t>vehicles, energy </a:t>
            </a:r>
            <a:r>
              <a:rPr lang="en-GB" dirty="0" smtClean="0"/>
              <a:t>systems, healthcare, </a:t>
            </a:r>
            <a:r>
              <a:rPr lang="en-GB" dirty="0" err="1" smtClean="0"/>
              <a:t>Fintech</a:t>
            </a:r>
            <a:r>
              <a:rPr lang="en-GB" dirty="0" smtClean="0"/>
              <a:t>, </a:t>
            </a:r>
            <a:r>
              <a:rPr lang="en-GB" dirty="0"/>
              <a:t>etc</a:t>
            </a:r>
            <a:r>
              <a:rPr lang="en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835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Birth of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The period before the year 1956 is regarded as the incubation period of AI. Until that time, scientists and engineers </a:t>
            </a:r>
            <a:r>
              <a:rPr lang="en-GB" dirty="0" smtClean="0"/>
              <a:t>tried to </a:t>
            </a:r>
            <a:r>
              <a:rPr lang="en-GB" dirty="0"/>
              <a:t>replace part of their mental work with </a:t>
            </a:r>
            <a:r>
              <a:rPr lang="en-GB" dirty="0" smtClean="0"/>
              <a:t>machines</a:t>
            </a:r>
          </a:p>
          <a:p>
            <a:r>
              <a:rPr lang="en-GB" dirty="0"/>
              <a:t>In 1936, mathematician Alan Turing proposed a mathematical </a:t>
            </a:r>
            <a:r>
              <a:rPr lang="en-GB" dirty="0" smtClean="0"/>
              <a:t>model of </a:t>
            </a:r>
            <a:r>
              <a:rPr lang="en-GB" dirty="0"/>
              <a:t>an ideal computer, which laid the theoretical foundation for later to come electronic </a:t>
            </a:r>
            <a:r>
              <a:rPr lang="en-GB" dirty="0" smtClean="0"/>
              <a:t>computers</a:t>
            </a:r>
          </a:p>
          <a:p>
            <a:r>
              <a:rPr lang="en-IN" dirty="0" smtClean="0"/>
              <a:t>Neurophysiologists </a:t>
            </a:r>
            <a:r>
              <a:rPr lang="en-GB" dirty="0" smtClean="0"/>
              <a:t>W</a:t>
            </a:r>
            <a:r>
              <a:rPr lang="en-GB" dirty="0"/>
              <a:t>. McCulloch and W. Pitts built the first neural network model (M-P model) in 1943 [19]. The M-P model is the first </a:t>
            </a:r>
            <a:r>
              <a:rPr lang="en-GB" dirty="0" smtClean="0"/>
              <a:t>mathematical model </a:t>
            </a:r>
            <a:r>
              <a:rPr lang="en-GB" dirty="0"/>
              <a:t>constructed to mimic the structure and the working principle of biological neurons</a:t>
            </a:r>
            <a:r>
              <a:rPr lang="en-GB" dirty="0" smtClean="0"/>
              <a:t>.</a:t>
            </a:r>
          </a:p>
          <a:p>
            <a:r>
              <a:rPr lang="en-GB" dirty="0"/>
              <a:t>John McCarthy </a:t>
            </a:r>
            <a:r>
              <a:rPr lang="en-GB" dirty="0" smtClean="0"/>
              <a:t>originally </a:t>
            </a:r>
            <a:r>
              <a:rPr lang="en-GB" dirty="0"/>
              <a:t>coined the term AI at the 1956 Dartmouth Summer Research Project on </a:t>
            </a:r>
            <a:r>
              <a:rPr lang="en-GB" dirty="0" smtClean="0"/>
              <a:t>Artificial Intelligence. </a:t>
            </a:r>
            <a:r>
              <a:rPr lang="en-GB" dirty="0"/>
              <a:t>He is therefore considered to be the father of artificial </a:t>
            </a:r>
            <a:r>
              <a:rPr lang="en-GB" dirty="0" smtClean="0"/>
              <a:t>intelligence</a:t>
            </a:r>
          </a:p>
          <a:p>
            <a:r>
              <a:rPr lang="en-GB" dirty="0"/>
              <a:t>In 1957, American psychologist Frank Rosenblatt introduced the “Perceptron” </a:t>
            </a:r>
            <a:r>
              <a:rPr lang="en-GB" dirty="0" smtClean="0"/>
              <a:t>model. </a:t>
            </a:r>
            <a:r>
              <a:rPr lang="en-GB" dirty="0"/>
              <a:t>It can be used to build </a:t>
            </a:r>
            <a:r>
              <a:rPr lang="en-GB" dirty="0" smtClean="0"/>
              <a:t>a system </a:t>
            </a:r>
            <a:r>
              <a:rPr lang="en-GB" dirty="0"/>
              <a:t>that uses “neurons” for recognition—the capability of learning profoundly impacted the subsequent design </a:t>
            </a:r>
            <a:r>
              <a:rPr lang="en-GB" dirty="0" smtClean="0"/>
              <a:t>of neural </a:t>
            </a:r>
            <a:r>
              <a:rPr lang="en-GB" dirty="0"/>
              <a:t>networks and the connection mechanisms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54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AI Winters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AI winters refer to the periods when the funding of AI significantly decreased due to </a:t>
            </a:r>
            <a:r>
              <a:rPr lang="en-GB" dirty="0" smtClean="0"/>
              <a:t>disillusionments</a:t>
            </a:r>
          </a:p>
          <a:p>
            <a:r>
              <a:rPr lang="en-GB" dirty="0"/>
              <a:t>In 1966, the Automatic Language Processing </a:t>
            </a:r>
            <a:r>
              <a:rPr lang="en-GB" dirty="0" smtClean="0"/>
              <a:t>Advisory Committee </a:t>
            </a:r>
            <a:r>
              <a:rPr lang="en-GB" dirty="0"/>
              <a:t>(ALPAC) submitted the report “Language and Machines” to the US government and refuted the feasibility </a:t>
            </a:r>
            <a:r>
              <a:rPr lang="en-GB" dirty="0" smtClean="0"/>
              <a:t>of </a:t>
            </a:r>
            <a:r>
              <a:rPr lang="en-IN" dirty="0" smtClean="0"/>
              <a:t>machine translation</a:t>
            </a:r>
          </a:p>
          <a:p>
            <a:r>
              <a:rPr lang="en-IN" dirty="0"/>
              <a:t>In 1984, John </a:t>
            </a:r>
            <a:r>
              <a:rPr lang="en-IN" dirty="0" smtClean="0"/>
              <a:t>McCarthy </a:t>
            </a:r>
            <a:r>
              <a:rPr lang="en-GB" dirty="0" smtClean="0"/>
              <a:t>commented </a:t>
            </a:r>
            <a:r>
              <a:rPr lang="en-GB" dirty="0"/>
              <a:t>that a critical defect of expert systems lies in the lack of knowledge about their </a:t>
            </a:r>
            <a:r>
              <a:rPr lang="en-GB" dirty="0" smtClean="0"/>
              <a:t>limitations </a:t>
            </a:r>
          </a:p>
          <a:p>
            <a:r>
              <a:rPr lang="en-GB" dirty="0" smtClean="0"/>
              <a:t>In </a:t>
            </a:r>
            <a:r>
              <a:rPr lang="en-GB" dirty="0"/>
              <a:t>the </a:t>
            </a:r>
            <a:r>
              <a:rPr lang="en-GB" dirty="0" smtClean="0"/>
              <a:t>late 1980s</a:t>
            </a:r>
            <a:r>
              <a:rPr lang="en-GB" dirty="0"/>
              <a:t>, another trough in AI development was experienced, accompanied by the withdrawal of funds and the shift </a:t>
            </a:r>
            <a:r>
              <a:rPr lang="en-GB" dirty="0" smtClean="0"/>
              <a:t>of interest </a:t>
            </a:r>
            <a:r>
              <a:rPr lang="en-GB" dirty="0"/>
              <a:t>to other rising technologies such as general-purpose </a:t>
            </a:r>
            <a:r>
              <a:rPr lang="en-GB" dirty="0" smtClean="0"/>
              <a:t>computers</a:t>
            </a:r>
          </a:p>
          <a:p>
            <a:r>
              <a:rPr lang="en-GB" dirty="0" smtClean="0"/>
              <a:t>There were </a:t>
            </a:r>
            <a:r>
              <a:rPr lang="en-GB" dirty="0"/>
              <a:t>underdeveloped tools from </a:t>
            </a:r>
            <a:r>
              <a:rPr lang="en-GB" dirty="0" smtClean="0"/>
              <a:t>the related </a:t>
            </a:r>
            <a:r>
              <a:rPr lang="en-GB" dirty="0"/>
              <a:t>disciplines, such as the unavailability of algorithmic approaches (mathematics), information resources (</a:t>
            </a:r>
            <a:r>
              <a:rPr lang="en-GB" dirty="0" smtClean="0"/>
              <a:t>electrical engineering</a:t>
            </a:r>
            <a:r>
              <a:rPr lang="en-GB" dirty="0"/>
              <a:t>), and computing power and information infrastructure (computer science).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490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Rise of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First, the success of machine learning is one of the initial and base drives. Since late 1980s, a series of important </a:t>
            </a:r>
            <a:r>
              <a:rPr lang="en-GB" dirty="0" smtClean="0"/>
              <a:t>ML theories </a:t>
            </a:r>
            <a:r>
              <a:rPr lang="en-GB" dirty="0"/>
              <a:t>and techniques have been </a:t>
            </a:r>
            <a:r>
              <a:rPr lang="en-GB" dirty="0" smtClean="0"/>
              <a:t>proposed</a:t>
            </a:r>
          </a:p>
          <a:p>
            <a:r>
              <a:rPr lang="en-GB" dirty="0"/>
              <a:t>Second, colossal amounts of data are available as the fuels for model </a:t>
            </a:r>
            <a:r>
              <a:rPr lang="en-GB" dirty="0" smtClean="0"/>
              <a:t>training. </a:t>
            </a:r>
            <a:r>
              <a:rPr lang="en-GB" dirty="0"/>
              <a:t>The quality and the scale of </a:t>
            </a:r>
            <a:r>
              <a:rPr lang="en-GB" dirty="0" smtClean="0"/>
              <a:t>the datasets </a:t>
            </a:r>
            <a:r>
              <a:rPr lang="en-GB" dirty="0"/>
              <a:t>are the determinants of the robust performance of </a:t>
            </a:r>
            <a:r>
              <a:rPr lang="en-GB" dirty="0" smtClean="0"/>
              <a:t>prediction/classification</a:t>
            </a:r>
          </a:p>
          <a:p>
            <a:r>
              <a:rPr lang="en-GB" dirty="0"/>
              <a:t>Third, the rise of AI is associated with a significant increase in computing </a:t>
            </a:r>
            <a:r>
              <a:rPr lang="en-GB" dirty="0" smtClean="0"/>
              <a:t>power. </a:t>
            </a:r>
            <a:r>
              <a:rPr lang="en-GB" dirty="0"/>
              <a:t>The expansion in the </a:t>
            </a:r>
            <a:r>
              <a:rPr lang="en-GB" dirty="0" smtClean="0"/>
              <a:t>physical scales </a:t>
            </a:r>
            <a:r>
              <a:rPr lang="en-GB" dirty="0"/>
              <a:t>of the AI-based machines enables them to deal with highly complicated </a:t>
            </a:r>
            <a:r>
              <a:rPr lang="en-GB" dirty="0" smtClean="0"/>
              <a:t>tasks</a:t>
            </a:r>
          </a:p>
          <a:p>
            <a:r>
              <a:rPr lang="en-GB" dirty="0"/>
              <a:t>Fourth, several AI systems that outperformed top human players in contests and competitions impressed the </a:t>
            </a:r>
            <a:r>
              <a:rPr lang="en-GB" dirty="0" err="1" smtClean="0"/>
              <a:t>publicand</a:t>
            </a:r>
            <a:r>
              <a:rPr lang="en-GB" dirty="0" smtClean="0"/>
              <a:t> </a:t>
            </a:r>
            <a:r>
              <a:rPr lang="en-GB" dirty="0"/>
              <a:t>rebuilt confidence in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730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Present-AI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Machine learning (ML) helps to analyse the colossal amounts of structured data.</a:t>
            </a:r>
          </a:p>
          <a:p>
            <a:r>
              <a:rPr lang="en-IN" dirty="0"/>
              <a:t>Second, </a:t>
            </a:r>
            <a:r>
              <a:rPr lang="en-IN" dirty="0" smtClean="0"/>
              <a:t>having </a:t>
            </a:r>
            <a:r>
              <a:rPr lang="en-GB" dirty="0" smtClean="0"/>
              <a:t>“</a:t>
            </a:r>
            <a:r>
              <a:rPr lang="en-GB" dirty="0"/>
              <a:t>seen” an adequate number of training samples, the ML solutions obtained show good generalization capability. </a:t>
            </a:r>
            <a:endParaRPr lang="en-GB" dirty="0" smtClean="0"/>
          </a:p>
          <a:p>
            <a:r>
              <a:rPr lang="en-GB" dirty="0" smtClean="0"/>
              <a:t>Third, each </a:t>
            </a:r>
            <a:r>
              <a:rPr lang="en-GB" dirty="0"/>
              <a:t>newly available data contributes to adjusting the input–output </a:t>
            </a:r>
            <a:r>
              <a:rPr lang="en-GB" dirty="0" smtClean="0"/>
              <a:t>projections</a:t>
            </a:r>
          </a:p>
          <a:p>
            <a:r>
              <a:rPr lang="en-GB" dirty="0"/>
              <a:t>S</a:t>
            </a:r>
            <a:r>
              <a:rPr lang="en-GB" dirty="0" smtClean="0"/>
              <a:t>everal </a:t>
            </a:r>
            <a:r>
              <a:rPr lang="en-GB" dirty="0"/>
              <a:t>researchers </a:t>
            </a:r>
            <a:r>
              <a:rPr lang="en-GB" dirty="0" smtClean="0"/>
              <a:t>have </a:t>
            </a:r>
            <a:r>
              <a:rPr lang="en-GB" dirty="0"/>
              <a:t>experimented with techniques from </a:t>
            </a:r>
            <a:r>
              <a:rPr lang="en-GB" dirty="0" smtClean="0"/>
              <a:t>a wide </a:t>
            </a:r>
            <a:r>
              <a:rPr lang="en-GB" dirty="0"/>
              <a:t>spectrum, ranging from (pure) knowledge-driven solutions to data-driven approaches, more recently </a:t>
            </a:r>
            <a:r>
              <a:rPr lang="en-GB" dirty="0" smtClean="0"/>
              <a:t>expanding the </a:t>
            </a:r>
            <a:r>
              <a:rPr lang="en-GB" dirty="0"/>
              <a:t>range to include the </a:t>
            </a:r>
            <a:r>
              <a:rPr lang="en-GB" dirty="0" smtClean="0"/>
              <a:t>ML/DL (Deep Learning)-based </a:t>
            </a:r>
            <a:r>
              <a:rPr lang="en-GB" dirty="0"/>
              <a:t>techniques with supports of big data and knowledge-based work </a:t>
            </a:r>
            <a:r>
              <a:rPr lang="en-GB" dirty="0" smtClean="0"/>
              <a:t>automation </a:t>
            </a:r>
            <a:r>
              <a:rPr lang="en-IN" dirty="0" smtClean="0"/>
              <a:t>techniques</a:t>
            </a:r>
            <a:r>
              <a:rPr lang="en-IN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709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Artificial Narrow Intelligence (ANI)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Most of the existing AI systems are </a:t>
            </a:r>
            <a:r>
              <a:rPr lang="en-GB" dirty="0" smtClean="0"/>
              <a:t>dedicatedly designed </a:t>
            </a:r>
            <a:r>
              <a:rPr lang="en-GB" dirty="0"/>
              <a:t>for a limited range of predefined tasks. In this context, they are called artificial narrow intelligence (ANI) or </a:t>
            </a:r>
            <a:r>
              <a:rPr lang="en-GB" dirty="0" smtClean="0"/>
              <a:t>weak </a:t>
            </a:r>
            <a:r>
              <a:rPr lang="en-IN" dirty="0" smtClean="0"/>
              <a:t>AI</a:t>
            </a:r>
          </a:p>
          <a:p>
            <a:r>
              <a:rPr lang="en-GB" dirty="0"/>
              <a:t>In the domain of knowledge work automation, ANI systems have widely been applied to Q&amp;A robots, serving banks</a:t>
            </a:r>
            <a:r>
              <a:rPr lang="en-GB" dirty="0" smtClean="0"/>
              <a:t>, airline </a:t>
            </a:r>
            <a:r>
              <a:rPr lang="en-GB" dirty="0"/>
              <a:t>hotlines, and online </a:t>
            </a:r>
            <a:r>
              <a:rPr lang="en-GB" dirty="0" smtClean="0"/>
              <a:t>consultation</a:t>
            </a:r>
          </a:p>
          <a:p>
            <a:r>
              <a:rPr lang="en-GB" dirty="0"/>
              <a:t>The key feature of these applications is a precise categorization of </a:t>
            </a:r>
            <a:r>
              <a:rPr lang="en-GB" dirty="0" smtClean="0"/>
              <a:t>the domain </a:t>
            </a:r>
            <a:r>
              <a:rPr lang="en-GB" dirty="0"/>
              <a:t>knowledge and a minimal range of frequently asked questions. </a:t>
            </a:r>
            <a:endParaRPr lang="en-GB" dirty="0" smtClean="0"/>
          </a:p>
          <a:p>
            <a:r>
              <a:rPr lang="en-GB" dirty="0" smtClean="0"/>
              <a:t>From </a:t>
            </a:r>
            <a:r>
              <a:rPr lang="en-GB" dirty="0"/>
              <a:t>a domain-specific perspective, ANI </a:t>
            </a:r>
            <a:r>
              <a:rPr lang="en-GB" dirty="0" smtClean="0"/>
              <a:t>tools have </a:t>
            </a:r>
            <a:r>
              <a:rPr lang="en-GB" dirty="0"/>
              <a:t>been or are being developed for education, medication, transportation, marketing, and game </a:t>
            </a:r>
            <a:r>
              <a:rPr lang="en-GB" dirty="0" smtClean="0"/>
              <a:t>production</a:t>
            </a:r>
          </a:p>
          <a:p>
            <a:r>
              <a:rPr lang="en-GB" dirty="0"/>
              <a:t>ANI becomes insufficient for highly complex tasks such as the optimization problems for process </a:t>
            </a:r>
            <a:r>
              <a:rPr lang="en-GB" dirty="0" smtClean="0"/>
              <a:t>industry and </a:t>
            </a:r>
            <a:r>
              <a:rPr lang="en-GB" dirty="0"/>
              <a:t>would lead to unsatisfactory performance in terms of decision-making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9124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Autonomous systems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An autonomous system is a group of components forming a unified whole with the power of acting independently </a:t>
            </a:r>
            <a:r>
              <a:rPr lang="en-GB" dirty="0" smtClean="0"/>
              <a:t>from the </a:t>
            </a:r>
            <a:r>
              <a:rPr lang="en-GB" dirty="0"/>
              <a:t>external environment </a:t>
            </a:r>
            <a:r>
              <a:rPr lang="en-GB" dirty="0" smtClean="0"/>
              <a:t>. </a:t>
            </a:r>
          </a:p>
          <a:p>
            <a:r>
              <a:rPr lang="en-GB" dirty="0" smtClean="0"/>
              <a:t>Today</a:t>
            </a:r>
            <a:r>
              <a:rPr lang="en-GB" dirty="0"/>
              <a:t>, autonomous vehicles and autonomous drones have become typical </a:t>
            </a:r>
            <a:r>
              <a:rPr lang="en-GB" dirty="0" smtClean="0"/>
              <a:t>applications of </a:t>
            </a:r>
            <a:r>
              <a:rPr lang="en-GB" dirty="0"/>
              <a:t>such. </a:t>
            </a:r>
            <a:endParaRPr lang="en-GB" dirty="0" smtClean="0"/>
          </a:p>
          <a:p>
            <a:r>
              <a:rPr lang="en-GB" dirty="0" smtClean="0"/>
              <a:t>They </a:t>
            </a:r>
            <a:r>
              <a:rPr lang="en-GB" dirty="0"/>
              <a:t>are targeted to perceive the surroundings, get aware of the real-time status, make plans and decisions</a:t>
            </a:r>
            <a:r>
              <a:rPr lang="en-GB" dirty="0" smtClean="0"/>
              <a:t>, and </a:t>
            </a:r>
            <a:r>
              <a:rPr lang="en-GB" dirty="0"/>
              <a:t>take actions, all of which are achieved by </a:t>
            </a:r>
            <a:r>
              <a:rPr lang="en-GB" dirty="0" err="1"/>
              <a:t>onboard</a:t>
            </a:r>
            <a:r>
              <a:rPr lang="en-GB" dirty="0"/>
              <a:t> devices and/or with the aid of resources on the cloud and </a:t>
            </a:r>
            <a:r>
              <a:rPr lang="en-GB" dirty="0" smtClean="0"/>
              <a:t>the edge </a:t>
            </a:r>
            <a:r>
              <a:rPr lang="en-GB" dirty="0"/>
              <a:t>side, with little human intervention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072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Symbiotic systems and human‑in‑the‑loop systems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Human-AI </a:t>
            </a:r>
            <a:r>
              <a:rPr lang="en-GB" dirty="0" err="1"/>
              <a:t>symbiotes</a:t>
            </a:r>
            <a:r>
              <a:rPr lang="en-GB" dirty="0"/>
              <a:t> are considered as a possible form of harmonic co-existence of human beings and AI. </a:t>
            </a:r>
            <a:endParaRPr lang="en-GB" dirty="0" smtClean="0"/>
          </a:p>
          <a:p>
            <a:r>
              <a:rPr lang="en-GB" dirty="0" smtClean="0"/>
              <a:t>With the aid </a:t>
            </a:r>
            <a:r>
              <a:rPr lang="en-GB" dirty="0"/>
              <a:t>of the brain-machine interfaces (BMIs), AI acts as a kind of digital expansion of the central nervous systems. </a:t>
            </a:r>
            <a:endParaRPr lang="en-GB" dirty="0" smtClean="0"/>
          </a:p>
          <a:p>
            <a:r>
              <a:rPr lang="en-GB" dirty="0" smtClean="0"/>
              <a:t>In such context</a:t>
            </a:r>
            <a:r>
              <a:rPr lang="en-GB" dirty="0"/>
              <a:t>, the boundary of the biological and the artificial minds is blurred. </a:t>
            </a:r>
            <a:endParaRPr lang="en-GB" dirty="0" smtClean="0"/>
          </a:p>
          <a:p>
            <a:r>
              <a:rPr lang="en-GB" dirty="0"/>
              <a:t>According to the forms of information representation, machines can receive human instructions by means of </a:t>
            </a:r>
            <a:r>
              <a:rPr lang="en-GB" b="1" dirty="0" err="1" smtClean="0"/>
              <a:t>biosignal</a:t>
            </a:r>
            <a:r>
              <a:rPr lang="en-GB" b="1" dirty="0" smtClean="0"/>
              <a:t> recognition </a:t>
            </a:r>
            <a:r>
              <a:rPr lang="en-GB" dirty="0"/>
              <a:t>and </a:t>
            </a:r>
            <a:r>
              <a:rPr lang="en-GB" b="1" dirty="0" err="1"/>
              <a:t>behavior</a:t>
            </a:r>
            <a:r>
              <a:rPr lang="en-GB" b="1" dirty="0"/>
              <a:t> recognition</a:t>
            </a:r>
            <a:r>
              <a:rPr lang="en-GB" dirty="0"/>
              <a:t>. The former takes EEG </a:t>
            </a:r>
            <a:r>
              <a:rPr lang="en-GB" dirty="0" smtClean="0"/>
              <a:t> (</a:t>
            </a:r>
            <a:r>
              <a:rPr lang="en-GB" dirty="0"/>
              <a:t>electroencephalography) signals, thermal </a:t>
            </a:r>
            <a:r>
              <a:rPr lang="en-GB" dirty="0" smtClean="0"/>
              <a:t>signals, and </a:t>
            </a:r>
            <a:r>
              <a:rPr lang="en-GB" dirty="0"/>
              <a:t>even chemical signals and interprets them using signal processing/pattern recognition approaches. The latter </a:t>
            </a:r>
            <a:r>
              <a:rPr lang="en-GB" dirty="0" smtClean="0"/>
              <a:t>takes optical </a:t>
            </a:r>
            <a:r>
              <a:rPr lang="en-GB" dirty="0"/>
              <a:t>signals and audio signals and interprets them with machine vision techniques and speech recognition techniques</a:t>
            </a:r>
            <a:r>
              <a:rPr lang="en-GB" dirty="0" smtClean="0"/>
              <a:t>.</a:t>
            </a:r>
          </a:p>
          <a:p>
            <a:r>
              <a:rPr lang="en-GB" dirty="0"/>
              <a:t>F</a:t>
            </a:r>
            <a:r>
              <a:rPr lang="en-GB" dirty="0" smtClean="0"/>
              <a:t>urther </a:t>
            </a:r>
            <a:r>
              <a:rPr lang="en-GB" dirty="0"/>
              <a:t>advancements in BMI (or </a:t>
            </a:r>
            <a:r>
              <a:rPr lang="en-GB" dirty="0" err="1" smtClean="0"/>
              <a:t>braincomputer</a:t>
            </a:r>
            <a:r>
              <a:rPr lang="en-GB" dirty="0" smtClean="0"/>
              <a:t> interface</a:t>
            </a:r>
            <a:r>
              <a:rPr lang="en-GB" dirty="0"/>
              <a:t>, BCI) technologies are necessary [89]. The main tasks include capturing, amplifying, </a:t>
            </a:r>
            <a:r>
              <a:rPr lang="en-GB" dirty="0" err="1"/>
              <a:t>analyzing</a:t>
            </a:r>
            <a:r>
              <a:rPr lang="en-GB" dirty="0"/>
              <a:t>, </a:t>
            </a:r>
            <a:r>
              <a:rPr lang="en-GB" dirty="0" smtClean="0"/>
              <a:t>and interpreting </a:t>
            </a:r>
            <a:r>
              <a:rPr lang="en-GB" dirty="0"/>
              <a:t>the brain wave signals, and based on which to control the connected machines/computers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675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Driving forces of AI development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The development</a:t>
            </a:r>
            <a:r>
              <a:rPr lang="en-GB" dirty="0" smtClean="0"/>
              <a:t>of </a:t>
            </a:r>
            <a:r>
              <a:rPr lang="en-GB" dirty="0"/>
              <a:t>AI is to a large extent driven by dominant stakeholders, especially with support from major investments </a:t>
            </a:r>
            <a:r>
              <a:rPr lang="en-GB" dirty="0" smtClean="0"/>
              <a:t>and </a:t>
            </a:r>
            <a:r>
              <a:rPr lang="en-IN" dirty="0" smtClean="0"/>
              <a:t>governmental </a:t>
            </a:r>
            <a:r>
              <a:rPr lang="en-IN" dirty="0"/>
              <a:t>strategic </a:t>
            </a:r>
            <a:r>
              <a:rPr lang="en-IN" dirty="0" smtClean="0"/>
              <a:t>planning</a:t>
            </a:r>
          </a:p>
          <a:p>
            <a:r>
              <a:rPr lang="en-GB" dirty="0"/>
              <a:t>AI plays a key role in establishing novel norms of modern hospitals towards one-stop medical services and new </a:t>
            </a:r>
            <a:r>
              <a:rPr lang="en-GB" dirty="0" smtClean="0"/>
              <a:t>business </a:t>
            </a:r>
            <a:r>
              <a:rPr lang="en-IN" dirty="0" smtClean="0"/>
              <a:t>models</a:t>
            </a:r>
          </a:p>
          <a:p>
            <a:r>
              <a:rPr lang="en-GB" dirty="0"/>
              <a:t>Another driving force behind the advancement of AI is related to intelligent transportation applications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513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Future of AI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AI will play important roles in symbiotic systems in the future. In the narrow sense</a:t>
            </a:r>
            <a:r>
              <a:rPr lang="en-GB" dirty="0" smtClean="0"/>
              <a:t>, human–machine </a:t>
            </a:r>
            <a:r>
              <a:rPr lang="en-GB" dirty="0" err="1"/>
              <a:t>symbiotes</a:t>
            </a:r>
            <a:r>
              <a:rPr lang="en-GB" dirty="0"/>
              <a:t> would bring benefits in terms of overcoming disabilities or making humans stronger (</a:t>
            </a:r>
            <a:r>
              <a:rPr lang="en-GB" dirty="0" smtClean="0"/>
              <a:t>also referred </a:t>
            </a:r>
            <a:r>
              <a:rPr lang="en-GB" dirty="0"/>
              <a:t>to as “human augmentation”) and getting more </a:t>
            </a:r>
            <a:r>
              <a:rPr lang="en-GB" dirty="0" smtClean="0"/>
              <a:t>knowledgeable</a:t>
            </a:r>
          </a:p>
          <a:p>
            <a:r>
              <a:rPr lang="en-GB" dirty="0"/>
              <a:t>On the other hand, can humans understand the </a:t>
            </a:r>
            <a:r>
              <a:rPr lang="en-GB" dirty="0" err="1"/>
              <a:t>behavior</a:t>
            </a:r>
            <a:r>
              <a:rPr lang="en-GB" dirty="0"/>
              <a:t> of AI systems and trust their decisions? </a:t>
            </a:r>
          </a:p>
          <a:p>
            <a:r>
              <a:rPr lang="en-GB" dirty="0"/>
              <a:t>XAI (or interpretable AI) is the key towards extensive and generic application of AI systems for reliability-critical </a:t>
            </a:r>
            <a:r>
              <a:rPr lang="en-GB" dirty="0" smtClean="0"/>
              <a:t>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791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Artificial general intelligence (AGI)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</a:t>
            </a:r>
            <a:r>
              <a:rPr lang="en-GB" dirty="0" smtClean="0"/>
              <a:t>t </a:t>
            </a:r>
            <a:r>
              <a:rPr lang="en-GB" dirty="0"/>
              <a:t>stage I of AI, i.e., ANI (the current era), humans create AI systems and </a:t>
            </a:r>
            <a:r>
              <a:rPr lang="en-GB" dirty="0" smtClean="0"/>
              <a:t>use them </a:t>
            </a:r>
            <a:r>
              <a:rPr lang="en-GB" dirty="0"/>
              <a:t>as tools. </a:t>
            </a:r>
            <a:endParaRPr lang="en-GB" dirty="0" smtClean="0"/>
          </a:p>
          <a:p>
            <a:r>
              <a:rPr lang="en-GB" dirty="0" smtClean="0"/>
              <a:t>At </a:t>
            </a:r>
            <a:r>
              <a:rPr lang="en-GB" dirty="0"/>
              <a:t>stage II of AI, i.e., Artificial General Intelligence (AGI), humans interact with AI systems and treat </a:t>
            </a:r>
            <a:r>
              <a:rPr lang="en-GB" dirty="0" smtClean="0"/>
              <a:t>them as </a:t>
            </a:r>
            <a:r>
              <a:rPr lang="en-GB" dirty="0"/>
              <a:t>omnipotent helpers. </a:t>
            </a:r>
            <a:endParaRPr lang="en-GB" dirty="0" smtClean="0"/>
          </a:p>
          <a:p>
            <a:r>
              <a:rPr lang="en-GB" dirty="0" smtClean="0"/>
              <a:t>At </a:t>
            </a:r>
            <a:r>
              <a:rPr lang="en-GB" dirty="0"/>
              <a:t>stage III, named Artificial Super-Intelligence (ASI), AI may be able to create better AI </a:t>
            </a:r>
            <a:r>
              <a:rPr lang="en-GB" dirty="0" smtClean="0"/>
              <a:t>systems than </a:t>
            </a:r>
            <a:r>
              <a:rPr lang="en-GB" dirty="0"/>
              <a:t>humans, in which sense they may be considered a novel form of life.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951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Singularity and artificial super intelligence (ASI)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S</a:t>
            </a:r>
            <a:r>
              <a:rPr lang="en-IN" dirty="0" smtClean="0"/>
              <a:t>ingularity </a:t>
            </a:r>
            <a:r>
              <a:rPr lang="en-IN" dirty="0"/>
              <a:t>refers </a:t>
            </a:r>
            <a:r>
              <a:rPr lang="en-IN" dirty="0" smtClean="0"/>
              <a:t>to </a:t>
            </a:r>
            <a:r>
              <a:rPr lang="en-GB" dirty="0" smtClean="0"/>
              <a:t>the </a:t>
            </a:r>
            <a:r>
              <a:rPr lang="en-GB" dirty="0"/>
              <a:t>time when AI has the ability to design AGI systems better than humans. </a:t>
            </a:r>
            <a:endParaRPr lang="en-GB" dirty="0" smtClean="0"/>
          </a:p>
          <a:p>
            <a:r>
              <a:rPr lang="en-GB" dirty="0" smtClean="0"/>
              <a:t>In </a:t>
            </a:r>
            <a:r>
              <a:rPr lang="en-GB" dirty="0"/>
              <a:t>addition to its supercomputing ability, </a:t>
            </a:r>
            <a:r>
              <a:rPr lang="en-GB" dirty="0" smtClean="0"/>
              <a:t>AI outperforms </a:t>
            </a:r>
            <a:r>
              <a:rPr lang="en-GB" dirty="0"/>
              <a:t>mankind in learning, prediction, creativity, productivity, decision-making, organization, management, </a:t>
            </a:r>
            <a:r>
              <a:rPr lang="en-GB" dirty="0" smtClean="0"/>
              <a:t>as </a:t>
            </a:r>
            <a:r>
              <a:rPr lang="en-IN" dirty="0" smtClean="0"/>
              <a:t>well </a:t>
            </a:r>
            <a:r>
              <a:rPr lang="en-IN" dirty="0"/>
              <a:t>as survival</a:t>
            </a:r>
            <a:r>
              <a:rPr lang="en-IN" dirty="0" smtClean="0"/>
              <a:t>.</a:t>
            </a:r>
          </a:p>
          <a:p>
            <a:r>
              <a:rPr lang="en-GB" dirty="0"/>
              <a:t>ASI learn from experience, adapt to new situations, handle abstract concepts, and use knowledge to manipulate </a:t>
            </a:r>
            <a:r>
              <a:rPr lang="en-GB" dirty="0" smtClean="0"/>
              <a:t>the surrounding </a:t>
            </a:r>
            <a:r>
              <a:rPr lang="en-GB" dirty="0"/>
              <a:t>environment. </a:t>
            </a:r>
            <a:endParaRPr lang="en-GB" dirty="0" smtClean="0"/>
          </a:p>
          <a:p>
            <a:r>
              <a:rPr lang="en-GB" dirty="0" smtClean="0"/>
              <a:t>ASI </a:t>
            </a:r>
            <a:r>
              <a:rPr lang="en-GB" dirty="0"/>
              <a:t>can do everything (and does better) that humans can do—logic reasoning, thinking</a:t>
            </a:r>
            <a:r>
              <a:rPr lang="en-GB" dirty="0" smtClean="0"/>
              <a:t>, creativity</a:t>
            </a:r>
            <a:r>
              <a:rPr lang="en-GB" dirty="0"/>
              <a:t>, strategy, learning a skill on its own, identifying knowledge resources on its own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6358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Internet of Things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Internet of things (</a:t>
            </a:r>
            <a:r>
              <a:rPr lang="en-GB" dirty="0" err="1"/>
              <a:t>IoT</a:t>
            </a:r>
            <a:r>
              <a:rPr lang="en-GB" dirty="0"/>
              <a:t>) is a </a:t>
            </a:r>
            <a:r>
              <a:rPr lang="en-GB" dirty="0" smtClean="0"/>
              <a:t>things-connected network</a:t>
            </a:r>
            <a:r>
              <a:rPr lang="en-GB" dirty="0"/>
              <a:t>, where things are wirelessly connected </a:t>
            </a:r>
            <a:r>
              <a:rPr lang="en-GB" dirty="0" smtClean="0"/>
              <a:t>via </a:t>
            </a:r>
            <a:r>
              <a:rPr lang="en-IN" dirty="0" smtClean="0"/>
              <a:t>smart sensors</a:t>
            </a:r>
          </a:p>
          <a:p>
            <a:r>
              <a:rPr lang="en-GB" dirty="0" err="1"/>
              <a:t>IoT</a:t>
            </a:r>
            <a:r>
              <a:rPr lang="en-GB" dirty="0"/>
              <a:t> is able to interact </a:t>
            </a:r>
            <a:r>
              <a:rPr lang="en-GB" dirty="0" smtClean="0"/>
              <a:t>without </a:t>
            </a:r>
            <a:r>
              <a:rPr lang="en-IN" dirty="0" smtClean="0"/>
              <a:t>human intervention</a:t>
            </a:r>
          </a:p>
          <a:p>
            <a:r>
              <a:rPr lang="en-GB" dirty="0"/>
              <a:t>Some preliminary </a:t>
            </a:r>
            <a:r>
              <a:rPr lang="en-GB" dirty="0" err="1"/>
              <a:t>IoT</a:t>
            </a:r>
            <a:r>
              <a:rPr lang="en-GB" dirty="0"/>
              <a:t> applications </a:t>
            </a:r>
            <a:r>
              <a:rPr lang="en-GB" dirty="0" smtClean="0"/>
              <a:t>have been </a:t>
            </a:r>
            <a:r>
              <a:rPr lang="en-GB" dirty="0"/>
              <a:t>already developed in healthcare, transportation, and </a:t>
            </a:r>
            <a:r>
              <a:rPr lang="en-GB" dirty="0" smtClean="0"/>
              <a:t>automotive </a:t>
            </a:r>
            <a:r>
              <a:rPr lang="en-IN" dirty="0" smtClean="0"/>
              <a:t>industries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588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IoT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Kevin Ashton firstly proposed the concept of </a:t>
            </a:r>
            <a:r>
              <a:rPr lang="en-GB" dirty="0" err="1"/>
              <a:t>IoT</a:t>
            </a:r>
            <a:r>
              <a:rPr lang="en-GB" dirty="0"/>
              <a:t> in 1999, </a:t>
            </a:r>
            <a:r>
              <a:rPr lang="en-GB" dirty="0" smtClean="0"/>
              <a:t>and he </a:t>
            </a:r>
            <a:r>
              <a:rPr lang="en-GB" dirty="0"/>
              <a:t>referred the </a:t>
            </a:r>
            <a:r>
              <a:rPr lang="en-GB" dirty="0" err="1"/>
              <a:t>IoT</a:t>
            </a:r>
            <a:r>
              <a:rPr lang="en-GB" dirty="0"/>
              <a:t> as uniquely identifiable interoperable </a:t>
            </a:r>
            <a:r>
              <a:rPr lang="en-GB" dirty="0" smtClean="0"/>
              <a:t>connected objects </a:t>
            </a:r>
            <a:r>
              <a:rPr lang="en-GB" dirty="0"/>
              <a:t>with radio-frequency identification (RFID</a:t>
            </a:r>
            <a:r>
              <a:rPr lang="en-GB" dirty="0" smtClean="0"/>
              <a:t>) </a:t>
            </a:r>
            <a:r>
              <a:rPr lang="en-IN" dirty="0" smtClean="0"/>
              <a:t>technology</a:t>
            </a:r>
          </a:p>
          <a:p>
            <a:r>
              <a:rPr lang="en-IN" dirty="0" err="1"/>
              <a:t>IoT</a:t>
            </a:r>
            <a:r>
              <a:rPr lang="en-IN" dirty="0"/>
              <a:t> </a:t>
            </a:r>
            <a:r>
              <a:rPr lang="en-IN" dirty="0" smtClean="0"/>
              <a:t>was </a:t>
            </a:r>
            <a:r>
              <a:rPr lang="en-GB" dirty="0" smtClean="0"/>
              <a:t>generally </a:t>
            </a:r>
            <a:r>
              <a:rPr lang="en-GB" dirty="0"/>
              <a:t>defined as “dynamic global network </a:t>
            </a:r>
            <a:r>
              <a:rPr lang="en-GB" dirty="0" smtClean="0"/>
              <a:t>infrastructure with </a:t>
            </a:r>
            <a:r>
              <a:rPr lang="en-GB" dirty="0"/>
              <a:t>self-configuring capabilities based on standards and </a:t>
            </a:r>
            <a:r>
              <a:rPr lang="en-GB" dirty="0" smtClean="0"/>
              <a:t>interoperable communication </a:t>
            </a:r>
            <a:r>
              <a:rPr lang="en-GB" dirty="0"/>
              <a:t>protocols; physical and </a:t>
            </a:r>
            <a:r>
              <a:rPr lang="en-GB" dirty="0" smtClean="0"/>
              <a:t>virtual ‘</a:t>
            </a:r>
            <a:r>
              <a:rPr lang="en-GB" dirty="0"/>
              <a:t>things’ in an </a:t>
            </a:r>
            <a:r>
              <a:rPr lang="en-GB" dirty="0" err="1"/>
              <a:t>IoT</a:t>
            </a:r>
            <a:r>
              <a:rPr lang="en-GB" dirty="0"/>
              <a:t> have identities and attributes and are </a:t>
            </a:r>
            <a:r>
              <a:rPr lang="en-GB" dirty="0" smtClean="0"/>
              <a:t>capable of </a:t>
            </a:r>
            <a:r>
              <a:rPr lang="en-GB" dirty="0"/>
              <a:t>using intelligent interfaces and being integrated as </a:t>
            </a:r>
            <a:r>
              <a:rPr lang="en-GB" dirty="0" smtClean="0"/>
              <a:t>an </a:t>
            </a:r>
            <a:r>
              <a:rPr lang="en-IN" dirty="0" smtClean="0"/>
              <a:t>information </a:t>
            </a:r>
            <a:r>
              <a:rPr lang="en-IN" dirty="0"/>
              <a:t>network</a:t>
            </a:r>
            <a:r>
              <a:rPr lang="en-IN" dirty="0" smtClean="0"/>
              <a:t>”</a:t>
            </a:r>
          </a:p>
          <a:p>
            <a:r>
              <a:rPr lang="en-IN" dirty="0" smtClean="0"/>
              <a:t>The </a:t>
            </a:r>
            <a:r>
              <a:rPr lang="en-GB" dirty="0" smtClean="0"/>
              <a:t>words </a:t>
            </a:r>
            <a:r>
              <a:rPr lang="en-GB" dirty="0"/>
              <a:t>“Internet” and “Things” mean an </a:t>
            </a:r>
            <a:r>
              <a:rPr lang="en-GB" dirty="0" smtClean="0"/>
              <a:t>inter-connected world-wide </a:t>
            </a:r>
            <a:r>
              <a:rPr lang="en-GB" dirty="0"/>
              <a:t>network based on sensory, communication, networking</a:t>
            </a:r>
            <a:r>
              <a:rPr lang="en-GB" dirty="0" smtClean="0"/>
              <a:t>, and </a:t>
            </a:r>
            <a:r>
              <a:rPr lang="en-GB" dirty="0"/>
              <a:t>information processing technologies, </a:t>
            </a:r>
            <a:r>
              <a:rPr lang="en-GB" dirty="0" smtClean="0"/>
              <a:t>which might </a:t>
            </a:r>
            <a:r>
              <a:rPr lang="en-GB" dirty="0"/>
              <a:t>be the new version of information and </a:t>
            </a:r>
            <a:r>
              <a:rPr lang="en-GB" dirty="0" smtClean="0"/>
              <a:t>communications </a:t>
            </a:r>
            <a:r>
              <a:rPr lang="en-IN" dirty="0" smtClean="0"/>
              <a:t>technology </a:t>
            </a:r>
            <a:r>
              <a:rPr lang="en-IN" dirty="0"/>
              <a:t>(ICT</a:t>
            </a:r>
            <a:r>
              <a:rPr lang="en-IN" dirty="0" smtClean="0"/>
              <a:t>)</a:t>
            </a:r>
          </a:p>
          <a:p>
            <a:r>
              <a:rPr lang="en-IN" dirty="0"/>
              <a:t>A</a:t>
            </a:r>
            <a:r>
              <a:rPr lang="en-IN" dirty="0" smtClean="0"/>
              <a:t> </a:t>
            </a:r>
            <a:r>
              <a:rPr lang="en-IN" dirty="0"/>
              <a:t>number </a:t>
            </a:r>
            <a:r>
              <a:rPr lang="en-IN" dirty="0" smtClean="0"/>
              <a:t>of </a:t>
            </a:r>
            <a:r>
              <a:rPr lang="en-GB" dirty="0" smtClean="0"/>
              <a:t>technologies </a:t>
            </a:r>
            <a:r>
              <a:rPr lang="en-GB" dirty="0"/>
              <a:t>are involved in </a:t>
            </a:r>
            <a:r>
              <a:rPr lang="en-GB" dirty="0" err="1"/>
              <a:t>IoT</a:t>
            </a:r>
            <a:r>
              <a:rPr lang="en-GB" dirty="0"/>
              <a:t>, such as wireless </a:t>
            </a:r>
            <a:r>
              <a:rPr lang="en-GB" dirty="0" smtClean="0"/>
              <a:t>sensor </a:t>
            </a:r>
            <a:r>
              <a:rPr lang="en-IN" dirty="0" smtClean="0"/>
              <a:t>networks </a:t>
            </a:r>
            <a:r>
              <a:rPr lang="en-IN" dirty="0"/>
              <a:t>(WSNs), barcodes, intelligent sensing, </a:t>
            </a:r>
            <a:r>
              <a:rPr lang="en-IN" dirty="0" smtClean="0"/>
              <a:t>RFID, </a:t>
            </a:r>
            <a:r>
              <a:rPr lang="en-GB" dirty="0" smtClean="0"/>
              <a:t>low </a:t>
            </a:r>
            <a:r>
              <a:rPr lang="en-GB" dirty="0"/>
              <a:t>energy wireless communications, cloud computing</a:t>
            </a:r>
            <a:r>
              <a:rPr lang="en-GB" dirty="0" smtClean="0"/>
              <a:t>,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025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IoT</a:t>
            </a:r>
            <a:r>
              <a:rPr lang="en-IN" dirty="0" smtClean="0"/>
              <a:t> standards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research efforts include: (1) designing </a:t>
            </a:r>
            <a:r>
              <a:rPr lang="en-GB" dirty="0" smtClean="0"/>
              <a:t>policies and </a:t>
            </a:r>
            <a:r>
              <a:rPr lang="en-GB" dirty="0"/>
              <a:t>distributed architecture; (2) ensuring the privacy </a:t>
            </a:r>
            <a:r>
              <a:rPr lang="en-GB" dirty="0" smtClean="0"/>
              <a:t>and protecting </a:t>
            </a:r>
            <a:r>
              <a:rPr lang="en-GB" dirty="0"/>
              <a:t>users; (3) realizing the trustiness, acceptability, </a:t>
            </a:r>
            <a:r>
              <a:rPr lang="en-GB" dirty="0" smtClean="0"/>
              <a:t>and </a:t>
            </a:r>
            <a:r>
              <a:rPr lang="en-GB" dirty="0"/>
              <a:t>security of networks; (4) developing standards; (5) </a:t>
            </a:r>
            <a:r>
              <a:rPr lang="en-GB" dirty="0" smtClean="0"/>
              <a:t>exploring new </a:t>
            </a:r>
            <a:r>
              <a:rPr lang="en-GB" dirty="0"/>
              <a:t>enabling technologies such as </a:t>
            </a:r>
            <a:r>
              <a:rPr lang="en-GB" dirty="0" smtClean="0"/>
              <a:t>micro-electronic mechanical system </a:t>
            </a:r>
            <a:r>
              <a:rPr lang="en-GB" dirty="0"/>
              <a:t>(MEMS) devices and ubiquitous </a:t>
            </a:r>
            <a:r>
              <a:rPr lang="en-GB" dirty="0" smtClean="0"/>
              <a:t>localization</a:t>
            </a:r>
          </a:p>
          <a:p>
            <a:r>
              <a:rPr lang="en-IN" dirty="0" smtClean="0"/>
              <a:t>Internationally, the </a:t>
            </a:r>
            <a:r>
              <a:rPr lang="en-IN" dirty="0"/>
              <a:t>ITU</a:t>
            </a:r>
            <a:r>
              <a:rPr lang="en-IN" dirty="0" smtClean="0"/>
              <a:t>, </a:t>
            </a:r>
            <a:r>
              <a:rPr lang="en-GB" dirty="0" smtClean="0"/>
              <a:t>Electronic </a:t>
            </a:r>
            <a:r>
              <a:rPr lang="en-GB" dirty="0"/>
              <a:t>Product Code global (</a:t>
            </a:r>
            <a:r>
              <a:rPr lang="en-GB" dirty="0" err="1"/>
              <a:t>EPCglobal</a:t>
            </a:r>
            <a:r>
              <a:rPr lang="en-GB" dirty="0"/>
              <a:t>), </a:t>
            </a:r>
            <a:r>
              <a:rPr lang="en-GB" dirty="0" smtClean="0"/>
              <a:t>International </a:t>
            </a:r>
            <a:r>
              <a:rPr lang="en-IN" dirty="0" smtClean="0"/>
              <a:t>Electro-technical </a:t>
            </a:r>
            <a:r>
              <a:rPr lang="en-IN" dirty="0"/>
              <a:t>Commission (IEC), </a:t>
            </a:r>
            <a:r>
              <a:rPr lang="en-IN" dirty="0" smtClean="0"/>
              <a:t>International </a:t>
            </a:r>
            <a:r>
              <a:rPr lang="en-GB" dirty="0" smtClean="0"/>
              <a:t>Organization </a:t>
            </a:r>
            <a:r>
              <a:rPr lang="en-GB" dirty="0"/>
              <a:t>for Standardization (ISO), and IEEE have </a:t>
            </a:r>
            <a:r>
              <a:rPr lang="en-GB" dirty="0" smtClean="0"/>
              <a:t>provided a </a:t>
            </a:r>
            <a:r>
              <a:rPr lang="en-GB" dirty="0"/>
              <a:t>set of standards to identify, capture, and share </a:t>
            </a:r>
            <a:r>
              <a:rPr lang="en-GB" dirty="0" smtClean="0"/>
              <a:t>data </a:t>
            </a:r>
            <a:r>
              <a:rPr lang="en-IN" dirty="0" smtClean="0"/>
              <a:t>using </a:t>
            </a:r>
            <a:r>
              <a:rPr lang="en-IN" dirty="0"/>
              <a:t>RFID technologies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112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Components of Service-oriented Architecture (</a:t>
            </a:r>
            <a:r>
              <a:rPr lang="en-IN" dirty="0" err="1" smtClean="0"/>
              <a:t>SoA</a:t>
            </a:r>
            <a:r>
              <a:rPr lang="en-IN" dirty="0" smtClean="0"/>
              <a:t>) for </a:t>
            </a:r>
            <a:r>
              <a:rPr lang="en-IN" dirty="0" err="1" smtClean="0"/>
              <a:t>IoT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 smtClean="0"/>
              <a:t>Sensing layer</a:t>
            </a:r>
            <a:r>
              <a:rPr lang="en-IN" dirty="0" smtClean="0"/>
              <a:t>: </a:t>
            </a:r>
            <a:r>
              <a:rPr lang="en-IN" dirty="0"/>
              <a:t>the smart systems </a:t>
            </a:r>
            <a:r>
              <a:rPr lang="en-IN" dirty="0" smtClean="0"/>
              <a:t>on RFID, </a:t>
            </a:r>
            <a:r>
              <a:rPr lang="en-GB" dirty="0" smtClean="0"/>
              <a:t>tags </a:t>
            </a:r>
            <a:r>
              <a:rPr lang="en-GB" dirty="0"/>
              <a:t>or sensors are able to automatically sense the </a:t>
            </a:r>
            <a:r>
              <a:rPr lang="en-GB" dirty="0" smtClean="0"/>
              <a:t>environment and </a:t>
            </a:r>
            <a:r>
              <a:rPr lang="en-GB" dirty="0"/>
              <a:t>exchange data among </a:t>
            </a:r>
            <a:r>
              <a:rPr lang="en-GB" dirty="0" smtClean="0"/>
              <a:t>devices</a:t>
            </a:r>
          </a:p>
          <a:p>
            <a:r>
              <a:rPr lang="en-GB" b="1" dirty="0" smtClean="0"/>
              <a:t>Network layer</a:t>
            </a:r>
            <a:r>
              <a:rPr lang="en-GB" dirty="0" smtClean="0"/>
              <a:t>: </a:t>
            </a:r>
            <a:r>
              <a:rPr lang="en-GB" dirty="0"/>
              <a:t>The network layer in </a:t>
            </a:r>
            <a:r>
              <a:rPr lang="en-GB" dirty="0" err="1"/>
              <a:t>IoT</a:t>
            </a:r>
            <a:r>
              <a:rPr lang="en-GB" dirty="0"/>
              <a:t>, connects all things and allows </a:t>
            </a:r>
            <a:r>
              <a:rPr lang="en-GB" dirty="0" smtClean="0"/>
              <a:t>them be </a:t>
            </a:r>
            <a:r>
              <a:rPr lang="en-GB" dirty="0"/>
              <a:t>aware of their surroundings. Via the network layer, </a:t>
            </a:r>
            <a:r>
              <a:rPr lang="en-GB" dirty="0" smtClean="0"/>
              <a:t>things can </a:t>
            </a:r>
            <a:r>
              <a:rPr lang="en-GB" dirty="0"/>
              <a:t>share data with the connected things, which is crucial </a:t>
            </a:r>
            <a:r>
              <a:rPr lang="en-GB" dirty="0" smtClean="0"/>
              <a:t>to intelligent </a:t>
            </a:r>
            <a:r>
              <a:rPr lang="en-GB" dirty="0"/>
              <a:t>events management and processing in </a:t>
            </a:r>
            <a:r>
              <a:rPr lang="en-GB" dirty="0" err="1"/>
              <a:t>IoT</a:t>
            </a:r>
            <a:r>
              <a:rPr lang="en-GB" dirty="0" smtClean="0"/>
              <a:t>. Moreover</a:t>
            </a:r>
            <a:r>
              <a:rPr lang="en-GB" dirty="0"/>
              <a:t>, the networking layer is capable of aggregating </a:t>
            </a:r>
            <a:r>
              <a:rPr lang="en-GB" dirty="0" smtClean="0"/>
              <a:t>data from </a:t>
            </a:r>
            <a:r>
              <a:rPr lang="en-GB" dirty="0"/>
              <a:t>existing IT infrastructures; data can then be </a:t>
            </a:r>
            <a:r>
              <a:rPr lang="en-GB" dirty="0" smtClean="0"/>
              <a:t>transmitted to </a:t>
            </a:r>
            <a:r>
              <a:rPr lang="en-GB" dirty="0"/>
              <a:t>decision-making units for the high-level complex </a:t>
            </a:r>
            <a:r>
              <a:rPr lang="en-GB" dirty="0" smtClean="0"/>
              <a:t>services</a:t>
            </a:r>
          </a:p>
          <a:p>
            <a:r>
              <a:rPr lang="en-GB" b="1" dirty="0" smtClean="0"/>
              <a:t>Service layer</a:t>
            </a:r>
            <a:r>
              <a:rPr lang="en-GB" dirty="0" smtClean="0"/>
              <a:t>: </a:t>
            </a:r>
            <a:r>
              <a:rPr lang="en-GB" dirty="0"/>
              <a:t>Service layer relies on the middleware technology, which is </a:t>
            </a:r>
            <a:r>
              <a:rPr lang="en-GB" dirty="0" smtClean="0"/>
              <a:t>a key </a:t>
            </a:r>
            <a:r>
              <a:rPr lang="en-GB" dirty="0"/>
              <a:t>enabler of services and applications in </a:t>
            </a:r>
            <a:r>
              <a:rPr lang="en-GB" dirty="0" err="1"/>
              <a:t>IoT</a:t>
            </a:r>
            <a:r>
              <a:rPr lang="en-GB" dirty="0"/>
              <a:t>. </a:t>
            </a:r>
            <a:r>
              <a:rPr lang="en-IN" dirty="0"/>
              <a:t>A </a:t>
            </a:r>
            <a:r>
              <a:rPr lang="en-IN" dirty="0" smtClean="0"/>
              <a:t>practical </a:t>
            </a:r>
            <a:r>
              <a:rPr lang="en-GB" dirty="0" smtClean="0"/>
              <a:t>service </a:t>
            </a:r>
            <a:r>
              <a:rPr lang="en-GB" dirty="0"/>
              <a:t>layer consists of a minimum set of the </a:t>
            </a:r>
            <a:r>
              <a:rPr lang="en-GB" dirty="0" smtClean="0"/>
              <a:t>common requirements </a:t>
            </a:r>
            <a:r>
              <a:rPr lang="en-GB" dirty="0"/>
              <a:t>of applications, application programming </a:t>
            </a:r>
            <a:r>
              <a:rPr lang="en-GB" dirty="0" smtClean="0"/>
              <a:t>interfaces (</a:t>
            </a:r>
            <a:r>
              <a:rPr lang="en-GB" dirty="0"/>
              <a:t>APIs), and protocols supporting required </a:t>
            </a:r>
            <a:r>
              <a:rPr lang="en-GB" dirty="0" smtClean="0"/>
              <a:t>applications </a:t>
            </a:r>
            <a:r>
              <a:rPr lang="en-IN" dirty="0" smtClean="0"/>
              <a:t>and services</a:t>
            </a:r>
          </a:p>
          <a:p>
            <a:r>
              <a:rPr lang="en-IN" b="1" dirty="0" smtClean="0"/>
              <a:t>Interface layer: </a:t>
            </a:r>
            <a:r>
              <a:rPr lang="en-GB" dirty="0"/>
              <a:t>In </a:t>
            </a:r>
            <a:r>
              <a:rPr lang="en-GB" dirty="0" err="1"/>
              <a:t>IoT</a:t>
            </a:r>
            <a:r>
              <a:rPr lang="en-GB" dirty="0"/>
              <a:t>, a large number of devices are involved; those </a:t>
            </a:r>
            <a:r>
              <a:rPr lang="en-GB" dirty="0" smtClean="0"/>
              <a:t>devices can </a:t>
            </a:r>
            <a:r>
              <a:rPr lang="en-GB" dirty="0"/>
              <a:t>be provided by different vendors and hence do not </a:t>
            </a:r>
            <a:r>
              <a:rPr lang="en-GB" dirty="0" smtClean="0"/>
              <a:t>always </a:t>
            </a:r>
            <a:r>
              <a:rPr lang="en-IN" dirty="0" smtClean="0"/>
              <a:t>comply </a:t>
            </a:r>
            <a:r>
              <a:rPr lang="en-IN" dirty="0"/>
              <a:t>with same </a:t>
            </a:r>
            <a:r>
              <a:rPr lang="en-IN" dirty="0" smtClean="0"/>
              <a:t>standards . </a:t>
            </a:r>
            <a:r>
              <a:rPr lang="en-GB" dirty="0" smtClean="0"/>
              <a:t>An </a:t>
            </a:r>
            <a:r>
              <a:rPr lang="en-GB" dirty="0"/>
              <a:t>interface profile (IFP) can be seen as a subset of </a:t>
            </a:r>
            <a:r>
              <a:rPr lang="en-GB" dirty="0" smtClean="0"/>
              <a:t>service standards </a:t>
            </a:r>
            <a:r>
              <a:rPr lang="en-GB" dirty="0"/>
              <a:t>that allows a minimal interaction with the </a:t>
            </a:r>
            <a:r>
              <a:rPr lang="en-GB" dirty="0" smtClean="0"/>
              <a:t>applications running </a:t>
            </a:r>
            <a:r>
              <a:rPr lang="en-GB" dirty="0"/>
              <a:t>on application layers. The interface profiles </a:t>
            </a:r>
            <a:r>
              <a:rPr lang="en-GB" dirty="0" smtClean="0"/>
              <a:t>are used </a:t>
            </a:r>
            <a:r>
              <a:rPr lang="en-GB" dirty="0"/>
              <a:t>to describe the specifications between applications </a:t>
            </a:r>
            <a:r>
              <a:rPr lang="en-GB" dirty="0" smtClean="0"/>
              <a:t>and </a:t>
            </a:r>
            <a:r>
              <a:rPr lang="en-IN" dirty="0" smtClean="0"/>
              <a:t>services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44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Enabling technologies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Identification and tracking </a:t>
            </a:r>
            <a:r>
              <a:rPr lang="en-IN" b="1" dirty="0" smtClean="0"/>
              <a:t>technologies</a:t>
            </a:r>
            <a:r>
              <a:rPr lang="en-IN" dirty="0" smtClean="0"/>
              <a:t>: RFID. </a:t>
            </a:r>
            <a:r>
              <a:rPr lang="en-IN" dirty="0"/>
              <a:t>A basic RFID </a:t>
            </a:r>
            <a:r>
              <a:rPr lang="en-IN" dirty="0" smtClean="0"/>
              <a:t>system </a:t>
            </a:r>
            <a:r>
              <a:rPr lang="en-GB" dirty="0" smtClean="0"/>
              <a:t>is </a:t>
            </a:r>
            <a:r>
              <a:rPr lang="en-GB" dirty="0"/>
              <a:t>composed of an RFID reader and an RFID tag. Due to </a:t>
            </a:r>
            <a:r>
              <a:rPr lang="en-GB" dirty="0" smtClean="0"/>
              <a:t>its capability </a:t>
            </a:r>
            <a:r>
              <a:rPr lang="en-GB" dirty="0"/>
              <a:t>to identify, trace, and track, the RFID system </a:t>
            </a:r>
            <a:r>
              <a:rPr lang="en-GB" dirty="0" smtClean="0"/>
              <a:t>has been </a:t>
            </a:r>
            <a:r>
              <a:rPr lang="en-GB" dirty="0"/>
              <a:t>widely applied in logistics, such as package </a:t>
            </a:r>
            <a:r>
              <a:rPr lang="en-GB" dirty="0" smtClean="0"/>
              <a:t>tracking, </a:t>
            </a:r>
            <a:r>
              <a:rPr lang="en-IN" dirty="0" smtClean="0"/>
              <a:t>supply </a:t>
            </a:r>
            <a:r>
              <a:rPr lang="en-IN" dirty="0"/>
              <a:t>chain management, healthcare applications, etc</a:t>
            </a:r>
            <a:r>
              <a:rPr lang="en-IN" dirty="0" smtClean="0"/>
              <a:t>.</a:t>
            </a:r>
          </a:p>
          <a:p>
            <a:r>
              <a:rPr lang="en-IN" b="1" dirty="0" smtClean="0"/>
              <a:t>Integration of sensors and RFID</a:t>
            </a:r>
            <a:r>
              <a:rPr lang="en-IN" dirty="0" smtClean="0"/>
              <a:t>: </a:t>
            </a:r>
            <a:r>
              <a:rPr lang="en-GB" dirty="0"/>
              <a:t>Many types of intelligent sensors have been developed </a:t>
            </a:r>
            <a:r>
              <a:rPr lang="en-GB" dirty="0" smtClean="0"/>
              <a:t>based on </a:t>
            </a:r>
            <a:r>
              <a:rPr lang="en-GB" dirty="0"/>
              <a:t>physical principles of infrared, -ray, pressure, vibration</a:t>
            </a:r>
            <a:r>
              <a:rPr lang="en-GB" dirty="0" smtClean="0"/>
              <a:t>, electromagnetic</a:t>
            </a:r>
            <a:r>
              <a:rPr lang="en-GB" dirty="0"/>
              <a:t>, biosensor, and X-ray. Data from those </a:t>
            </a:r>
            <a:r>
              <a:rPr lang="en-GB" dirty="0" smtClean="0"/>
              <a:t>sensors in </a:t>
            </a:r>
            <a:r>
              <a:rPr lang="en-GB" dirty="0" err="1"/>
              <a:t>IoT</a:t>
            </a:r>
            <a:r>
              <a:rPr lang="en-GB" dirty="0"/>
              <a:t> can be acquired and integrated for analysis</a:t>
            </a:r>
            <a:r>
              <a:rPr lang="en-GB" dirty="0" smtClean="0"/>
              <a:t>, </a:t>
            </a:r>
            <a:r>
              <a:rPr lang="en-IN" dirty="0" smtClean="0"/>
              <a:t>decision-making</a:t>
            </a:r>
            <a:r>
              <a:rPr lang="en-IN" dirty="0"/>
              <a:t>, and storage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98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Enabling technologies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 smtClean="0"/>
              <a:t>Communication</a:t>
            </a:r>
            <a:r>
              <a:rPr lang="en-IN" dirty="0" smtClean="0"/>
              <a:t>: </a:t>
            </a:r>
            <a:r>
              <a:rPr lang="en-IN" dirty="0"/>
              <a:t>An </a:t>
            </a:r>
            <a:r>
              <a:rPr lang="en-IN" dirty="0" err="1"/>
              <a:t>IoT</a:t>
            </a:r>
            <a:r>
              <a:rPr lang="en-IN" dirty="0"/>
              <a:t> </a:t>
            </a:r>
            <a:r>
              <a:rPr lang="en-IN" dirty="0" smtClean="0"/>
              <a:t>application </a:t>
            </a:r>
            <a:r>
              <a:rPr lang="en-GB" dirty="0" smtClean="0"/>
              <a:t>consists </a:t>
            </a:r>
            <a:r>
              <a:rPr lang="en-GB" dirty="0"/>
              <a:t>of many types of devices. All types of </a:t>
            </a:r>
            <a:r>
              <a:rPr lang="en-GB" dirty="0" smtClean="0"/>
              <a:t>hardware devices </a:t>
            </a:r>
            <a:r>
              <a:rPr lang="en-GB" dirty="0"/>
              <a:t>should be well organized through the network and </a:t>
            </a:r>
            <a:r>
              <a:rPr lang="en-GB" dirty="0" smtClean="0"/>
              <a:t>be </a:t>
            </a:r>
            <a:r>
              <a:rPr lang="en-IN" dirty="0" smtClean="0"/>
              <a:t>accessible </a:t>
            </a:r>
            <a:r>
              <a:rPr lang="en-IN" dirty="0"/>
              <a:t>via available </a:t>
            </a:r>
            <a:r>
              <a:rPr lang="en-IN" dirty="0" smtClean="0"/>
              <a:t>communication</a:t>
            </a:r>
          </a:p>
          <a:p>
            <a:r>
              <a:rPr lang="en-IN" b="1" dirty="0" smtClean="0"/>
              <a:t>Service management</a:t>
            </a:r>
            <a:r>
              <a:rPr lang="en-IN" dirty="0" smtClean="0"/>
              <a:t>: </a:t>
            </a:r>
            <a:r>
              <a:rPr lang="en-GB" dirty="0"/>
              <a:t>Service management refers to the implementation and </a:t>
            </a:r>
            <a:r>
              <a:rPr lang="en-GB" dirty="0" smtClean="0"/>
              <a:t>management of </a:t>
            </a:r>
            <a:r>
              <a:rPr lang="en-GB" dirty="0"/>
              <a:t>the services that meet the needs of users </a:t>
            </a:r>
            <a:r>
              <a:rPr lang="en-GB" dirty="0" smtClean="0"/>
              <a:t>or </a:t>
            </a:r>
            <a:r>
              <a:rPr lang="en-IN" dirty="0" smtClean="0"/>
              <a:t>applications.</a:t>
            </a:r>
          </a:p>
          <a:p>
            <a:r>
              <a:rPr lang="en-IN" b="1" dirty="0" smtClean="0"/>
              <a:t>Recognizing and performing services</a:t>
            </a:r>
            <a:r>
              <a:rPr lang="en-IN" dirty="0" smtClean="0"/>
              <a:t>: </a:t>
            </a:r>
            <a:r>
              <a:rPr lang="en-GB" dirty="0" err="1"/>
              <a:t>IoT</a:t>
            </a:r>
            <a:r>
              <a:rPr lang="en-GB" dirty="0"/>
              <a:t> is service-oriented and the mandatory subset of the </a:t>
            </a:r>
            <a:r>
              <a:rPr lang="en-GB" dirty="0" smtClean="0"/>
              <a:t>future Internet </a:t>
            </a:r>
            <a:r>
              <a:rPr lang="en-GB" dirty="0"/>
              <a:t>– every virtual and physical object can </a:t>
            </a:r>
            <a:r>
              <a:rPr lang="en-GB" dirty="0" smtClean="0"/>
              <a:t>communicate with </a:t>
            </a:r>
            <a:r>
              <a:rPr lang="en-GB" dirty="0"/>
              <a:t>other objects providing seamless services to other objects</a:t>
            </a:r>
            <a:r>
              <a:rPr lang="en-GB" dirty="0" smtClean="0"/>
              <a:t>. Millions </a:t>
            </a:r>
            <a:r>
              <a:rPr lang="en-GB" dirty="0"/>
              <a:t>of devices in </a:t>
            </a:r>
            <a:r>
              <a:rPr lang="en-GB" dirty="0" err="1"/>
              <a:t>IoT</a:t>
            </a:r>
            <a:r>
              <a:rPr lang="en-GB" dirty="0"/>
              <a:t> need to be mutually interoperable.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124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IoT</a:t>
            </a:r>
            <a:r>
              <a:rPr lang="en-IN" dirty="0" smtClean="0"/>
              <a:t> 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Industrial applications: </a:t>
            </a:r>
            <a:r>
              <a:rPr lang="en-GB" dirty="0" err="1"/>
              <a:t>IoT</a:t>
            </a:r>
            <a:r>
              <a:rPr lang="en-GB" dirty="0"/>
              <a:t> is able to improve the business transactions with </a:t>
            </a:r>
            <a:r>
              <a:rPr lang="en-GB" dirty="0" smtClean="0"/>
              <a:t>smarter service </a:t>
            </a:r>
            <a:r>
              <a:rPr lang="en-GB" dirty="0"/>
              <a:t>networks, which will significantly improve the </a:t>
            </a:r>
            <a:r>
              <a:rPr lang="en-GB" dirty="0" smtClean="0"/>
              <a:t>efficiency of </a:t>
            </a:r>
            <a:r>
              <a:rPr lang="en-GB" dirty="0"/>
              <a:t>real-time information processing and manage </a:t>
            </a:r>
            <a:r>
              <a:rPr lang="en-GB" dirty="0" smtClean="0"/>
              <a:t>fine-grained applications</a:t>
            </a:r>
            <a:r>
              <a:rPr lang="en-GB" dirty="0"/>
              <a:t>, such as online-payment, critical </a:t>
            </a:r>
            <a:r>
              <a:rPr lang="en-GB" dirty="0" smtClean="0"/>
              <a:t>data storage</a:t>
            </a:r>
            <a:r>
              <a:rPr lang="en-GB" dirty="0"/>
              <a:t>, </a:t>
            </a:r>
            <a:r>
              <a:rPr lang="en-GB" dirty="0" smtClean="0"/>
              <a:t>and </a:t>
            </a:r>
            <a:r>
              <a:rPr lang="en-GB" dirty="0"/>
              <a:t>associated </a:t>
            </a:r>
            <a:r>
              <a:rPr lang="en-GB" dirty="0" smtClean="0"/>
              <a:t>performance </a:t>
            </a:r>
            <a:r>
              <a:rPr lang="en-IN" dirty="0" smtClean="0"/>
              <a:t>indicators.</a:t>
            </a:r>
          </a:p>
          <a:p>
            <a:r>
              <a:rPr lang="en-IN" dirty="0" smtClean="0"/>
              <a:t>Social </a:t>
            </a:r>
            <a:r>
              <a:rPr lang="en-IN" dirty="0" err="1" smtClean="0"/>
              <a:t>IoT</a:t>
            </a:r>
            <a:r>
              <a:rPr lang="en-IN" dirty="0" smtClean="0"/>
              <a:t>: </a:t>
            </a:r>
            <a:r>
              <a:rPr lang="en-GB" dirty="0"/>
              <a:t>“Social Internet of Things (</a:t>
            </a:r>
            <a:r>
              <a:rPr lang="en-GB" dirty="0" err="1"/>
              <a:t>SIoT</a:t>
            </a:r>
            <a:r>
              <a:rPr lang="en-GB" dirty="0"/>
              <a:t>)” is proposed to describe </a:t>
            </a:r>
            <a:r>
              <a:rPr lang="en-GB" dirty="0" smtClean="0"/>
              <a:t>a world </a:t>
            </a:r>
            <a:r>
              <a:rPr lang="en-GB" dirty="0"/>
              <a:t>where things around human being can be </a:t>
            </a:r>
            <a:r>
              <a:rPr lang="en-GB" dirty="0" smtClean="0"/>
              <a:t>intelligently </a:t>
            </a:r>
            <a:r>
              <a:rPr lang="en-IN" dirty="0" smtClean="0"/>
              <a:t>sensed </a:t>
            </a:r>
            <a:r>
              <a:rPr lang="en-IN" dirty="0"/>
              <a:t>and networked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300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IoT</a:t>
            </a:r>
            <a:r>
              <a:rPr lang="en-IN" dirty="0" smtClean="0"/>
              <a:t> 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 smtClean="0"/>
              <a:t>Healthcare</a:t>
            </a:r>
            <a:r>
              <a:rPr lang="en-IN" dirty="0" smtClean="0"/>
              <a:t>: </a:t>
            </a:r>
            <a:r>
              <a:rPr lang="en-GB" dirty="0" err="1"/>
              <a:t>IoT</a:t>
            </a:r>
            <a:r>
              <a:rPr lang="en-GB" dirty="0"/>
              <a:t> is adopted to enhance service quality </a:t>
            </a:r>
            <a:r>
              <a:rPr lang="en-GB" dirty="0" smtClean="0"/>
              <a:t>and reduce </a:t>
            </a:r>
            <a:r>
              <a:rPr lang="en-GB" dirty="0"/>
              <a:t>costs. A number of medical sensors or devices are </a:t>
            </a:r>
            <a:r>
              <a:rPr lang="en-GB" dirty="0" smtClean="0"/>
              <a:t>used to </a:t>
            </a:r>
            <a:r>
              <a:rPr lang="en-GB" dirty="0"/>
              <a:t>monitor medical parameters such as body temperature</a:t>
            </a:r>
            <a:r>
              <a:rPr lang="en-GB" dirty="0" smtClean="0"/>
              <a:t>, blood </a:t>
            </a:r>
            <a:r>
              <a:rPr lang="en-GB" dirty="0"/>
              <a:t>glucose level, and blood </a:t>
            </a:r>
            <a:r>
              <a:rPr lang="en-GB" dirty="0" smtClean="0"/>
              <a:t>pressure. </a:t>
            </a:r>
            <a:r>
              <a:rPr lang="en-GB" dirty="0"/>
              <a:t>The emerging wearable body sensor networks (WBSNs) </a:t>
            </a:r>
            <a:r>
              <a:rPr lang="en-GB" dirty="0" smtClean="0"/>
              <a:t>were developed </a:t>
            </a:r>
            <a:r>
              <a:rPr lang="en-GB" dirty="0"/>
              <a:t>to monitor patient activities or medical </a:t>
            </a:r>
            <a:r>
              <a:rPr lang="en-GB" dirty="0" smtClean="0"/>
              <a:t>parameters </a:t>
            </a:r>
            <a:r>
              <a:rPr lang="en-IN" dirty="0" smtClean="0"/>
              <a:t>continuously</a:t>
            </a:r>
          </a:p>
          <a:p>
            <a:r>
              <a:rPr lang="en-IN" b="1" dirty="0" smtClean="0"/>
              <a:t>Infrastructure</a:t>
            </a:r>
            <a:r>
              <a:rPr lang="en-IN" dirty="0" smtClean="0"/>
              <a:t>: </a:t>
            </a:r>
            <a:r>
              <a:rPr lang="en-GB" dirty="0" err="1"/>
              <a:t>IoT</a:t>
            </a:r>
            <a:r>
              <a:rPr lang="en-GB" dirty="0"/>
              <a:t> has also been developed in many infrastructure areas</a:t>
            </a:r>
            <a:r>
              <a:rPr lang="en-GB" dirty="0" smtClean="0"/>
              <a:t>: smart </a:t>
            </a:r>
            <a:r>
              <a:rPr lang="en-GB" dirty="0"/>
              <a:t>cities, environmental monitoring, and smart </a:t>
            </a:r>
            <a:r>
              <a:rPr lang="en-GB" dirty="0" smtClean="0"/>
              <a:t>homes and </a:t>
            </a:r>
            <a:r>
              <a:rPr lang="en-GB" dirty="0"/>
              <a:t>building. In smart buildings, </a:t>
            </a:r>
            <a:r>
              <a:rPr lang="en-GB" dirty="0" err="1"/>
              <a:t>IoT</a:t>
            </a:r>
            <a:r>
              <a:rPr lang="en-GB" dirty="0"/>
              <a:t> is used to improve </a:t>
            </a:r>
            <a:r>
              <a:rPr lang="en-GB" dirty="0" smtClean="0"/>
              <a:t>the quality </a:t>
            </a:r>
            <a:r>
              <a:rPr lang="en-GB" dirty="0"/>
              <a:t>of building and reduce wastes.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0465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Blockchain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IN" sz="1600" dirty="0" smtClean="0"/>
              <a:t>Mostly applicable in financial sector</a:t>
            </a:r>
          </a:p>
          <a:p>
            <a:r>
              <a:rPr lang="en-GB" sz="1600" dirty="0"/>
              <a:t>A </a:t>
            </a:r>
            <a:r>
              <a:rPr lang="en-GB" sz="1600" dirty="0" err="1"/>
              <a:t>blockchain</a:t>
            </a:r>
            <a:r>
              <a:rPr lang="en-GB" sz="1600" dirty="0"/>
              <a:t> consists of data sets which are composed of </a:t>
            </a:r>
            <a:r>
              <a:rPr lang="en-GB" sz="1600" dirty="0" smtClean="0"/>
              <a:t>a chain </a:t>
            </a:r>
            <a:r>
              <a:rPr lang="en-GB" sz="1600" dirty="0"/>
              <a:t>of data packages (blocks) where a block </a:t>
            </a:r>
            <a:r>
              <a:rPr lang="en-GB" sz="1600" dirty="0" smtClean="0"/>
              <a:t>comprises </a:t>
            </a:r>
            <a:r>
              <a:rPr lang="en-IN" sz="1600" dirty="0" smtClean="0"/>
              <a:t>multiple transactions</a:t>
            </a:r>
          </a:p>
          <a:p>
            <a:r>
              <a:rPr lang="en-IN" sz="1600" dirty="0"/>
              <a:t>The </a:t>
            </a:r>
            <a:r>
              <a:rPr lang="en-IN" sz="1600" dirty="0" err="1" smtClean="0"/>
              <a:t>blockchain</a:t>
            </a:r>
            <a:r>
              <a:rPr lang="en-IN" sz="1600" dirty="0" smtClean="0"/>
              <a:t> </a:t>
            </a:r>
            <a:r>
              <a:rPr lang="en-GB" sz="1600" dirty="0" smtClean="0"/>
              <a:t>is </a:t>
            </a:r>
            <a:r>
              <a:rPr lang="en-GB" sz="1600" dirty="0"/>
              <a:t>extended by each additional block and hence represents </a:t>
            </a:r>
            <a:r>
              <a:rPr lang="en-GB" sz="1600" dirty="0" smtClean="0"/>
              <a:t>a complete </a:t>
            </a:r>
            <a:r>
              <a:rPr lang="en-GB" sz="1600" dirty="0"/>
              <a:t>ledger of the transaction </a:t>
            </a:r>
            <a:r>
              <a:rPr lang="en-GB" sz="1600" dirty="0" smtClean="0"/>
              <a:t>history</a:t>
            </a:r>
          </a:p>
          <a:p>
            <a:r>
              <a:rPr lang="en-GB" sz="1600" dirty="0" smtClean="0"/>
              <a:t>Blocks can be </a:t>
            </a:r>
            <a:r>
              <a:rPr lang="en-GB" sz="1600" dirty="0"/>
              <a:t>validated by the network using cryptographic </a:t>
            </a:r>
            <a:r>
              <a:rPr lang="en-GB" sz="1600" dirty="0" smtClean="0"/>
              <a:t>means</a:t>
            </a:r>
          </a:p>
          <a:p>
            <a:r>
              <a:rPr lang="en-IN" sz="1600" dirty="0" smtClean="0"/>
              <a:t>In </a:t>
            </a:r>
            <a:r>
              <a:rPr lang="en-GB" sz="1600" dirty="0" smtClean="0"/>
              <a:t>addition </a:t>
            </a:r>
            <a:r>
              <a:rPr lang="en-GB" sz="1600" dirty="0"/>
              <a:t>to the transactions, each block contains a timestamp</a:t>
            </a:r>
            <a:r>
              <a:rPr lang="en-GB" sz="1600" dirty="0" smtClean="0"/>
              <a:t>, the </a:t>
            </a:r>
            <a:r>
              <a:rPr lang="en-GB" sz="1600" dirty="0"/>
              <a:t>hash value of the previous block (‘‘parent’’), </a:t>
            </a:r>
            <a:r>
              <a:rPr lang="en-GB" sz="1600" dirty="0" smtClean="0"/>
              <a:t>and a </a:t>
            </a:r>
            <a:r>
              <a:rPr lang="en-GB" sz="1600" dirty="0"/>
              <a:t>nonce, which is a random number for verifying the hash.</a:t>
            </a:r>
          </a:p>
          <a:p>
            <a:r>
              <a:rPr lang="en-GB" sz="1600" dirty="0"/>
              <a:t>This concept ensures the integrity of the entire </a:t>
            </a:r>
            <a:r>
              <a:rPr lang="en-GB" sz="1600" dirty="0" err="1" smtClean="0"/>
              <a:t>blockchain</a:t>
            </a:r>
            <a:r>
              <a:rPr lang="en-GB" sz="1600" dirty="0" smtClean="0"/>
              <a:t> through </a:t>
            </a:r>
            <a:r>
              <a:rPr lang="en-GB" sz="1600" dirty="0"/>
              <a:t>to the first block (‘‘genesis block’’). Hash </a:t>
            </a:r>
            <a:r>
              <a:rPr lang="en-GB" sz="1600" dirty="0" smtClean="0"/>
              <a:t>values are </a:t>
            </a:r>
            <a:r>
              <a:rPr lang="en-GB" sz="1600" dirty="0"/>
              <a:t>unique and fraud can be effectively prevented </a:t>
            </a:r>
            <a:r>
              <a:rPr lang="en-GB" sz="1600" dirty="0" smtClean="0"/>
              <a:t>since changes </a:t>
            </a:r>
            <a:r>
              <a:rPr lang="en-GB" sz="1600" dirty="0"/>
              <a:t>of a block in the chain would immediately </a:t>
            </a:r>
            <a:r>
              <a:rPr lang="en-GB" sz="1600" dirty="0" smtClean="0"/>
              <a:t>change the </a:t>
            </a:r>
            <a:r>
              <a:rPr lang="en-GB" sz="1600" dirty="0"/>
              <a:t>respective hash value. </a:t>
            </a:r>
            <a:endParaRPr lang="en-GB" sz="1600" dirty="0" smtClean="0"/>
          </a:p>
          <a:p>
            <a:r>
              <a:rPr lang="en-GB" sz="1600" dirty="0" smtClean="0"/>
              <a:t>If </a:t>
            </a:r>
            <a:r>
              <a:rPr lang="en-GB" sz="1600" dirty="0"/>
              <a:t>the majority of nodes in </a:t>
            </a:r>
            <a:r>
              <a:rPr lang="en-GB" sz="1600" dirty="0" smtClean="0"/>
              <a:t>the network </a:t>
            </a:r>
            <a:r>
              <a:rPr lang="en-GB" sz="1600" dirty="0"/>
              <a:t>agree by a consensus mechanism on the validity </a:t>
            </a:r>
            <a:r>
              <a:rPr lang="en-GB" sz="1600" dirty="0" smtClean="0"/>
              <a:t>of transactions </a:t>
            </a:r>
            <a:r>
              <a:rPr lang="en-GB" sz="1600" dirty="0"/>
              <a:t>in a block and on the validity of the </a:t>
            </a:r>
            <a:r>
              <a:rPr lang="en-GB" sz="1600" dirty="0" smtClean="0"/>
              <a:t>block itself</a:t>
            </a:r>
            <a:r>
              <a:rPr lang="en-GB" sz="1600" dirty="0"/>
              <a:t>, the block can be added to the </a:t>
            </a:r>
            <a:r>
              <a:rPr lang="en-GB" sz="1600" dirty="0" smtClean="0"/>
              <a:t>chain new </a:t>
            </a:r>
            <a:r>
              <a:rPr lang="en-GB" sz="1600" dirty="0"/>
              <a:t>transactions are not automatically added </a:t>
            </a:r>
            <a:r>
              <a:rPr lang="en-GB" sz="1600" dirty="0" smtClean="0"/>
              <a:t>to the </a:t>
            </a:r>
            <a:r>
              <a:rPr lang="en-GB" sz="1600" dirty="0"/>
              <a:t>ledger. </a:t>
            </a:r>
            <a:endParaRPr lang="en-GB" sz="1600" dirty="0" smtClean="0"/>
          </a:p>
          <a:p>
            <a:r>
              <a:rPr lang="en-GB" sz="1600" dirty="0" smtClean="0"/>
              <a:t>Rather</a:t>
            </a:r>
            <a:r>
              <a:rPr lang="en-GB" sz="1600" dirty="0"/>
              <a:t>, the consensus process ensures that </a:t>
            </a:r>
            <a:r>
              <a:rPr lang="en-GB" sz="1600" dirty="0" smtClean="0"/>
              <a:t>these transactions </a:t>
            </a:r>
            <a:r>
              <a:rPr lang="en-GB" sz="1600" dirty="0"/>
              <a:t>are stored in a block for a certain time (e.g</a:t>
            </a:r>
            <a:r>
              <a:rPr lang="en-GB" sz="1600" dirty="0" smtClean="0"/>
              <a:t>., 10 </a:t>
            </a:r>
            <a:r>
              <a:rPr lang="en-GB" sz="1600" dirty="0"/>
              <a:t>min in the </a:t>
            </a:r>
            <a:r>
              <a:rPr lang="en-GB" sz="1600" dirty="0" err="1"/>
              <a:t>Bitcoin</a:t>
            </a:r>
            <a:r>
              <a:rPr lang="en-GB" sz="1600" dirty="0"/>
              <a:t> </a:t>
            </a:r>
            <a:r>
              <a:rPr lang="en-GB" sz="1600" dirty="0" err="1"/>
              <a:t>blockchain</a:t>
            </a:r>
            <a:r>
              <a:rPr lang="en-GB" sz="1600" dirty="0"/>
              <a:t>) before being </a:t>
            </a:r>
            <a:r>
              <a:rPr lang="en-GB" sz="1600" dirty="0" smtClean="0"/>
              <a:t>transferred to </a:t>
            </a:r>
            <a:r>
              <a:rPr lang="en-GB" sz="1600" dirty="0"/>
              <a:t>the ledger. Afterwards, the information in the </a:t>
            </a:r>
            <a:r>
              <a:rPr lang="en-GB" sz="1600" dirty="0" err="1" smtClean="0"/>
              <a:t>blockchain</a:t>
            </a:r>
            <a:r>
              <a:rPr lang="en-GB" sz="1600" dirty="0" smtClean="0"/>
              <a:t> can </a:t>
            </a:r>
            <a:r>
              <a:rPr lang="en-GB" sz="1600" dirty="0"/>
              <a:t>no longer be changed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2200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Blockchain</a:t>
            </a:r>
            <a:r>
              <a:rPr lang="en-IN" dirty="0" smtClean="0"/>
              <a:t> and Smart contracts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 err="1"/>
              <a:t>Szabo</a:t>
            </a:r>
            <a:r>
              <a:rPr lang="en-GB" dirty="0"/>
              <a:t> (1997) introduced the concept of ‘‘</a:t>
            </a:r>
            <a:r>
              <a:rPr lang="en-GB" dirty="0" smtClean="0"/>
              <a:t>Smart Contracts</a:t>
            </a:r>
            <a:r>
              <a:rPr lang="en-GB" dirty="0"/>
              <a:t>’’, which combine computer protocols with </a:t>
            </a:r>
            <a:r>
              <a:rPr lang="en-GB" dirty="0" smtClean="0"/>
              <a:t>user interfaces </a:t>
            </a:r>
            <a:r>
              <a:rPr lang="en-GB" dirty="0"/>
              <a:t>to execute the terms of a </a:t>
            </a:r>
            <a:r>
              <a:rPr lang="en-GB" dirty="0" smtClean="0"/>
              <a:t>contract</a:t>
            </a:r>
          </a:p>
          <a:p>
            <a:r>
              <a:rPr lang="en-IN" dirty="0" smtClean="0"/>
              <a:t>Smart </a:t>
            </a:r>
            <a:r>
              <a:rPr lang="en-GB" dirty="0" smtClean="0"/>
              <a:t>Contracts </a:t>
            </a:r>
            <a:r>
              <a:rPr lang="en-GB" dirty="0"/>
              <a:t>can also be used to control the ownership </a:t>
            </a:r>
            <a:r>
              <a:rPr lang="en-GB" dirty="0" smtClean="0"/>
              <a:t>of properties</a:t>
            </a:r>
            <a:r>
              <a:rPr lang="en-GB" dirty="0"/>
              <a:t>. These properties might be tangible (e.g., houses</a:t>
            </a:r>
            <a:r>
              <a:rPr lang="en-GB" dirty="0" smtClean="0"/>
              <a:t>, automobiles</a:t>
            </a:r>
            <a:r>
              <a:rPr lang="en-GB" dirty="0"/>
              <a:t>) or intangible (e.g., shares, access </a:t>
            </a:r>
            <a:r>
              <a:rPr lang="en-GB" dirty="0" smtClean="0"/>
              <a:t>rights</a:t>
            </a:r>
          </a:p>
          <a:p>
            <a:r>
              <a:rPr lang="en-IN" dirty="0"/>
              <a:t>Thus, </a:t>
            </a:r>
            <a:r>
              <a:rPr lang="en-IN" dirty="0" err="1"/>
              <a:t>blockchain</a:t>
            </a:r>
            <a:r>
              <a:rPr lang="en-IN" dirty="0"/>
              <a:t> </a:t>
            </a:r>
            <a:r>
              <a:rPr lang="en-IN" dirty="0" smtClean="0"/>
              <a:t>technology </a:t>
            </a:r>
            <a:r>
              <a:rPr lang="en-GB" smtClean="0"/>
              <a:t>allows </a:t>
            </a:r>
            <a:r>
              <a:rPr lang="en-GB" dirty="0"/>
              <a:t>to establish contracts using cryptography </a:t>
            </a:r>
            <a:r>
              <a:rPr lang="en-GB"/>
              <a:t>and </a:t>
            </a:r>
            <a:r>
              <a:rPr lang="en-GB" smtClean="0"/>
              <a:t>to replace </a:t>
            </a:r>
            <a:r>
              <a:rPr lang="en-GB" dirty="0"/>
              <a:t>third parties (e.g., a notary) that have </a:t>
            </a:r>
            <a:r>
              <a:rPr lang="en-GB"/>
              <a:t>been </a:t>
            </a:r>
            <a:r>
              <a:rPr lang="en-GB" smtClean="0"/>
              <a:t>necessary to </a:t>
            </a:r>
            <a:r>
              <a:rPr lang="en-GB" dirty="0"/>
              <a:t>establish trust in the past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198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2631</Words>
  <Application>Microsoft Office PowerPoint</Application>
  <PresentationFormat>On-screen Show (4:3)</PresentationFormat>
  <Paragraphs>105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Digitalization in Management</vt:lpstr>
      <vt:lpstr>Artificial Intelligence</vt:lpstr>
      <vt:lpstr>Birth of AI</vt:lpstr>
      <vt:lpstr>AI Winters</vt:lpstr>
      <vt:lpstr>Rise of AI</vt:lpstr>
      <vt:lpstr>Present-AI</vt:lpstr>
      <vt:lpstr>Artificial Narrow Intelligence (ANI)</vt:lpstr>
      <vt:lpstr>Autonomous systems</vt:lpstr>
      <vt:lpstr>Symbiotic systems and human‑in‑the‑loop systems</vt:lpstr>
      <vt:lpstr>Driving forces of AI development</vt:lpstr>
      <vt:lpstr>Future of AI</vt:lpstr>
      <vt:lpstr>Artificial general intelligence (AGI)</vt:lpstr>
      <vt:lpstr>Singularity and artificial super intelligence (ASI)</vt:lpstr>
      <vt:lpstr>Internet of Things</vt:lpstr>
      <vt:lpstr>IoT</vt:lpstr>
      <vt:lpstr>IoT standards</vt:lpstr>
      <vt:lpstr>Components of Service-oriented Architecture (SoA) for IoT</vt:lpstr>
      <vt:lpstr>Enabling technologies</vt:lpstr>
      <vt:lpstr>Enabling technologies</vt:lpstr>
      <vt:lpstr>IoT Applications</vt:lpstr>
      <vt:lpstr>IoT Applications</vt:lpstr>
      <vt:lpstr>Blockchain</vt:lpstr>
      <vt:lpstr>Blockchain and Smart contracts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Digitalization in Management</dc:title>
  <dc:creator>HP</dc:creator>
  <cp:lastModifiedBy>HP</cp:lastModifiedBy>
  <cp:revision>14</cp:revision>
  <dcterms:created xsi:type="dcterms:W3CDTF">2006-08-16T00:00:00Z</dcterms:created>
  <dcterms:modified xsi:type="dcterms:W3CDTF">2026-02-22T11:18:46Z</dcterms:modified>
</cp:coreProperties>
</file>