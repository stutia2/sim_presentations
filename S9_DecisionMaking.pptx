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Decision Making</a:t>
            </a:r>
            <a:endParaRPr lang="en-IN" dirty="0"/>
          </a:p>
        </p:txBody>
      </p:sp>
      <p:sp>
        <p:nvSpPr>
          <p:cNvPr id="3" name="Subtitle 2"/>
          <p:cNvSpPr>
            <a:spLocks noGrp="1"/>
          </p:cNvSpPr>
          <p:nvPr>
            <p:ph type="subTitle" idx="1"/>
          </p:nvPr>
        </p:nvSpPr>
        <p:spPr/>
        <p:txBody>
          <a:bodyPr/>
          <a:lstStyle/>
          <a:p>
            <a:r>
              <a:rPr lang="en-GB" dirty="0" smtClean="0"/>
              <a:t>Session 9</a:t>
            </a:r>
          </a:p>
          <a:p>
            <a:r>
              <a:rPr lang="en-GB" dirty="0" smtClean="0"/>
              <a:t>9</a:t>
            </a:r>
            <a:r>
              <a:rPr lang="en-GB" baseline="30000" dirty="0" smtClean="0"/>
              <a:t>th</a:t>
            </a:r>
            <a:r>
              <a:rPr lang="en-GB" dirty="0" smtClean="0"/>
              <a:t> June, 2026</a:t>
            </a:r>
            <a:endParaRPr lang="en-IN" dirty="0"/>
          </a:p>
        </p:txBody>
      </p:sp>
    </p:spTree>
    <p:extLst>
      <p:ext uri="{BB962C8B-B14F-4D97-AF65-F5344CB8AC3E}">
        <p14:creationId xmlns:p14="http://schemas.microsoft.com/office/powerpoint/2010/main" val="4185973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Decision-Making Process</a:t>
            </a:r>
            <a:endParaRPr lang="en-IN" dirty="0"/>
          </a:p>
        </p:txBody>
      </p:sp>
      <p:sp>
        <p:nvSpPr>
          <p:cNvPr id="3" name="Content Placeholder 2"/>
          <p:cNvSpPr>
            <a:spLocks noGrp="1"/>
          </p:cNvSpPr>
          <p:nvPr>
            <p:ph idx="1"/>
          </p:nvPr>
        </p:nvSpPr>
        <p:spPr/>
        <p:txBody>
          <a:bodyPr>
            <a:normAutofit fontScale="77500" lnSpcReduction="20000"/>
          </a:bodyPr>
          <a:lstStyle/>
          <a:p>
            <a:r>
              <a:rPr lang="en-GB" dirty="0"/>
              <a:t>Individuals at all levels and in all areas of organizations make decisions. </a:t>
            </a:r>
            <a:endParaRPr lang="en-GB" dirty="0" smtClean="0"/>
          </a:p>
          <a:p>
            <a:r>
              <a:rPr lang="en-GB" dirty="0" smtClean="0"/>
              <a:t>That </a:t>
            </a:r>
            <a:r>
              <a:rPr lang="en-GB" dirty="0"/>
              <a:t>is, they </a:t>
            </a:r>
            <a:r>
              <a:rPr lang="en-GB" b="1" dirty="0"/>
              <a:t>make choices from two or more alternatives</a:t>
            </a:r>
            <a:r>
              <a:rPr lang="en-GB" dirty="0"/>
              <a:t>. </a:t>
            </a:r>
            <a:endParaRPr lang="en-GB" dirty="0" smtClean="0"/>
          </a:p>
          <a:p>
            <a:r>
              <a:rPr lang="en-GB" dirty="0" smtClean="0"/>
              <a:t>For </a:t>
            </a:r>
            <a:r>
              <a:rPr lang="en-GB" dirty="0"/>
              <a:t>instance, </a:t>
            </a:r>
            <a:r>
              <a:rPr lang="en-GB" b="1" dirty="0"/>
              <a:t>top-level managers</a:t>
            </a:r>
            <a:r>
              <a:rPr lang="en-GB" dirty="0"/>
              <a:t> make decisions about their organization's goals, where to locate manufacturing facilities, what new markets to move into, and what products or services to offer. </a:t>
            </a:r>
            <a:endParaRPr lang="en-GB" dirty="0" smtClean="0"/>
          </a:p>
          <a:p>
            <a:r>
              <a:rPr lang="en-GB" b="1" dirty="0" smtClean="0"/>
              <a:t>Middle </a:t>
            </a:r>
            <a:r>
              <a:rPr lang="en-GB" b="1" dirty="0"/>
              <a:t>and lower-level managers </a:t>
            </a:r>
            <a:r>
              <a:rPr lang="en-GB" dirty="0"/>
              <a:t>make decisions about setting weekly or monthly production schedules, handling problems that arise, allocating pay raises, and selecting or disciplining employees. </a:t>
            </a:r>
          </a:p>
          <a:p>
            <a:r>
              <a:rPr lang="en-IN" dirty="0" smtClean="0"/>
              <a:t>Therefore, Decision-Making is </a:t>
            </a:r>
            <a:r>
              <a:rPr lang="en-IN" dirty="0"/>
              <a:t>"</a:t>
            </a:r>
            <a:r>
              <a:rPr lang="en-IN" b="1" dirty="0"/>
              <a:t>choosing among </a:t>
            </a:r>
            <a:r>
              <a:rPr lang="en-IN" b="1" dirty="0" smtClean="0"/>
              <a:t>alternatives</a:t>
            </a:r>
            <a:r>
              <a:rPr lang="en-IN" dirty="0" smtClean="0"/>
              <a:t>”  </a:t>
            </a:r>
            <a:endParaRPr lang="en-IN" dirty="0"/>
          </a:p>
          <a:p>
            <a:endParaRPr lang="en-IN" dirty="0"/>
          </a:p>
        </p:txBody>
      </p:sp>
    </p:spTree>
    <p:extLst>
      <p:ext uri="{BB962C8B-B14F-4D97-AF65-F5344CB8AC3E}">
        <p14:creationId xmlns:p14="http://schemas.microsoft.com/office/powerpoint/2010/main" val="4169575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Steps in Decision-Making Process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9906099"/>
              </p:ext>
            </p:extLst>
          </p:nvPr>
        </p:nvGraphicFramePr>
        <p:xfrm>
          <a:off x="457200" y="2514600"/>
          <a:ext cx="8229600" cy="2966720"/>
        </p:xfrm>
        <a:graphic>
          <a:graphicData uri="http://schemas.openxmlformats.org/drawingml/2006/table">
            <a:tbl>
              <a:tblPr firstRow="1" bandRow="1">
                <a:tableStyleId>{5C22544A-7EE6-4342-B048-85BDC9FD1C3A}</a:tableStyleId>
              </a:tblPr>
              <a:tblGrid>
                <a:gridCol w="8229600"/>
              </a:tblGrid>
              <a:tr h="370840">
                <a:tc>
                  <a:txBody>
                    <a:bodyPr/>
                    <a:lstStyle/>
                    <a:p>
                      <a:pPr algn="ctr"/>
                      <a:r>
                        <a:rPr lang="en-GB" b="1" dirty="0" smtClean="0"/>
                        <a:t>IDENTIFYING THE PROBLEM</a:t>
                      </a:r>
                      <a:endParaRPr lang="en-IN" b="1" dirty="0"/>
                    </a:p>
                  </a:txBody>
                  <a:tcPr/>
                </a:tc>
              </a:tr>
              <a:tr h="370840">
                <a:tc>
                  <a:txBody>
                    <a:bodyPr/>
                    <a:lstStyle/>
                    <a:p>
                      <a:pPr algn="ctr"/>
                      <a:r>
                        <a:rPr lang="en-GB" b="1" dirty="0" smtClean="0"/>
                        <a:t>IDENTIFYING DECISION CRITERIA</a:t>
                      </a:r>
                      <a:endParaRPr lang="en-IN" b="1" dirty="0"/>
                    </a:p>
                  </a:txBody>
                  <a:tcPr/>
                </a:tc>
              </a:tr>
              <a:tr h="370840">
                <a:tc>
                  <a:txBody>
                    <a:bodyPr/>
                    <a:lstStyle/>
                    <a:p>
                      <a:pPr algn="ctr"/>
                      <a:r>
                        <a:rPr lang="en-GB" b="1" dirty="0" smtClean="0"/>
                        <a:t>ALLOCATING WEIGHTS TO THE CRITERIA</a:t>
                      </a:r>
                      <a:endParaRPr lang="en-IN" b="1" dirty="0"/>
                    </a:p>
                  </a:txBody>
                  <a:tcPr/>
                </a:tc>
              </a:tr>
              <a:tr h="370840">
                <a:tc>
                  <a:txBody>
                    <a:bodyPr/>
                    <a:lstStyle/>
                    <a:p>
                      <a:pPr algn="ctr"/>
                      <a:r>
                        <a:rPr lang="en-GB" b="1" dirty="0" smtClean="0"/>
                        <a:t>DEVELOPING ALTERNATIVES</a:t>
                      </a:r>
                      <a:endParaRPr lang="en-IN" b="1" dirty="0"/>
                    </a:p>
                  </a:txBody>
                  <a:tcPr/>
                </a:tc>
              </a:tr>
              <a:tr h="370840">
                <a:tc>
                  <a:txBody>
                    <a:bodyPr/>
                    <a:lstStyle/>
                    <a:p>
                      <a:pPr algn="ctr"/>
                      <a:r>
                        <a:rPr lang="en-GB" b="1" dirty="0" smtClean="0"/>
                        <a:t>ANALYZING ALTERNATIVES</a:t>
                      </a:r>
                      <a:endParaRPr lang="en-IN" b="1" dirty="0"/>
                    </a:p>
                  </a:txBody>
                  <a:tcPr/>
                </a:tc>
              </a:tr>
              <a:tr h="370840">
                <a:tc>
                  <a:txBody>
                    <a:bodyPr/>
                    <a:lstStyle/>
                    <a:p>
                      <a:pPr algn="ctr"/>
                      <a:r>
                        <a:rPr lang="en-GB" b="1" dirty="0" smtClean="0"/>
                        <a:t>SELECTING AN ALTERNATIVE</a:t>
                      </a:r>
                      <a:endParaRPr lang="en-IN" b="1" dirty="0"/>
                    </a:p>
                  </a:txBody>
                  <a:tcPr/>
                </a:tc>
              </a:tr>
              <a:tr h="370840">
                <a:tc>
                  <a:txBody>
                    <a:bodyPr/>
                    <a:lstStyle/>
                    <a:p>
                      <a:pPr algn="ctr"/>
                      <a:r>
                        <a:rPr lang="en-GB" b="1" dirty="0" smtClean="0"/>
                        <a:t>IMPLEMENTING THE ALTERNATIVE</a:t>
                      </a:r>
                      <a:endParaRPr lang="en-IN" b="1" dirty="0"/>
                    </a:p>
                  </a:txBody>
                  <a:tcPr/>
                </a:tc>
              </a:tr>
              <a:tr h="370840">
                <a:tc>
                  <a:txBody>
                    <a:bodyPr/>
                    <a:lstStyle/>
                    <a:p>
                      <a:pPr algn="ctr"/>
                      <a:r>
                        <a:rPr lang="en-GB" b="1" dirty="0" smtClean="0"/>
                        <a:t>EVALUATING DECISION EFFECTIVENESS</a:t>
                      </a:r>
                      <a:endParaRPr lang="en-IN" b="1" dirty="0"/>
                    </a:p>
                  </a:txBody>
                  <a:tcPr/>
                </a:tc>
              </a:tr>
            </a:tbl>
          </a:graphicData>
        </a:graphic>
      </p:graphicFrame>
    </p:spTree>
    <p:extLst>
      <p:ext uri="{BB962C8B-B14F-4D97-AF65-F5344CB8AC3E}">
        <p14:creationId xmlns:p14="http://schemas.microsoft.com/office/powerpoint/2010/main" val="70645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Identifying the problem</a:t>
            </a:r>
            <a:endParaRPr lang="en-IN" dirty="0"/>
          </a:p>
        </p:txBody>
      </p:sp>
      <p:sp>
        <p:nvSpPr>
          <p:cNvPr id="3" name="Content Placeholder 2"/>
          <p:cNvSpPr>
            <a:spLocks noGrp="1"/>
          </p:cNvSpPr>
          <p:nvPr>
            <p:ph idx="1"/>
          </p:nvPr>
        </p:nvSpPr>
        <p:spPr>
          <a:xfrm>
            <a:off x="457200" y="1600200"/>
            <a:ext cx="8229600" cy="4724400"/>
          </a:xfrm>
        </p:spPr>
        <p:txBody>
          <a:bodyPr>
            <a:normAutofit fontScale="70000" lnSpcReduction="20000"/>
          </a:bodyPr>
          <a:lstStyle/>
          <a:p>
            <a:r>
              <a:rPr lang="en-GB" dirty="0"/>
              <a:t>The decision-making process begins with the existence of a problem or, more specifically, a discrepancy between an existing and a desired state of affairs</a:t>
            </a:r>
          </a:p>
          <a:p>
            <a:r>
              <a:rPr lang="en-IN" dirty="0"/>
              <a:t>Problem identification is </a:t>
            </a:r>
            <a:r>
              <a:rPr lang="en-IN" dirty="0" smtClean="0"/>
              <a:t>subjective</a:t>
            </a:r>
            <a:endParaRPr lang="en-IN" dirty="0"/>
          </a:p>
          <a:p>
            <a:r>
              <a:rPr lang="en-IN" dirty="0" smtClean="0"/>
              <a:t>Managers should be aware of the problem</a:t>
            </a:r>
          </a:p>
          <a:p>
            <a:r>
              <a:rPr lang="en-GB" dirty="0"/>
              <a:t>To initiate the decision process, </a:t>
            </a:r>
            <a:r>
              <a:rPr lang="en-GB" dirty="0" smtClean="0"/>
              <a:t>the </a:t>
            </a:r>
            <a:r>
              <a:rPr lang="en-GB" dirty="0"/>
              <a:t>problem must be such that it exerts </a:t>
            </a:r>
            <a:r>
              <a:rPr lang="en-GB" b="1" dirty="0"/>
              <a:t>some type of pressure on the manager to act</a:t>
            </a:r>
            <a:r>
              <a:rPr lang="en-GB" dirty="0"/>
              <a:t>. Pressure might come from </a:t>
            </a:r>
            <a:r>
              <a:rPr lang="en-GB" u="sng" dirty="0"/>
              <a:t>organizational policies, deadlines, financial crises, competitor actions </a:t>
            </a:r>
            <a:r>
              <a:rPr lang="en-GB" dirty="0" smtClean="0"/>
              <a:t>, </a:t>
            </a:r>
            <a:r>
              <a:rPr lang="en-GB" u="sng" dirty="0"/>
              <a:t>complaints from customers or subordinates, expectations from the boss, or an upcoming performance evaluation</a:t>
            </a:r>
          </a:p>
          <a:p>
            <a:r>
              <a:rPr lang="en-IN" dirty="0" smtClean="0"/>
              <a:t>M</a:t>
            </a:r>
            <a:r>
              <a:rPr lang="en-GB" dirty="0" err="1" smtClean="0"/>
              <a:t>anagers</a:t>
            </a:r>
            <a:r>
              <a:rPr lang="en-GB" dirty="0" smtClean="0"/>
              <a:t> </a:t>
            </a:r>
            <a:r>
              <a:rPr lang="en-GB" dirty="0"/>
              <a:t>aren't likely to characterize something as a problem if they perceive that they don't have the authority, budget, information, or other resources necessary to act on it </a:t>
            </a:r>
          </a:p>
        </p:txBody>
      </p:sp>
    </p:spTree>
    <p:extLst>
      <p:ext uri="{BB962C8B-B14F-4D97-AF65-F5344CB8AC3E}">
        <p14:creationId xmlns:p14="http://schemas.microsoft.com/office/powerpoint/2010/main" val="3354556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Identifying decision criteria</a:t>
            </a:r>
            <a:endParaRPr lang="en-IN" dirty="0"/>
          </a:p>
        </p:txBody>
      </p:sp>
      <p:sp>
        <p:nvSpPr>
          <p:cNvPr id="3" name="Content Placeholder 2"/>
          <p:cNvSpPr>
            <a:spLocks noGrp="1"/>
          </p:cNvSpPr>
          <p:nvPr>
            <p:ph idx="1"/>
          </p:nvPr>
        </p:nvSpPr>
        <p:spPr>
          <a:xfrm>
            <a:off x="457200" y="3124200"/>
            <a:ext cx="8229600" cy="3001963"/>
          </a:xfrm>
        </p:spPr>
        <p:txBody>
          <a:bodyPr/>
          <a:lstStyle/>
          <a:p>
            <a:r>
              <a:rPr lang="en-GB" dirty="0" smtClean="0"/>
              <a:t>Managers </a:t>
            </a:r>
            <a:r>
              <a:rPr lang="en-GB" dirty="0"/>
              <a:t>must determine what's relevant in making a decision </a:t>
            </a:r>
          </a:p>
          <a:p>
            <a:r>
              <a:rPr lang="en-GB" dirty="0" smtClean="0"/>
              <a:t>Manager has </a:t>
            </a:r>
            <a:r>
              <a:rPr lang="en-GB" dirty="0"/>
              <a:t>to assess what factors are relevant to </a:t>
            </a:r>
            <a:r>
              <a:rPr lang="en-GB" dirty="0" smtClean="0"/>
              <a:t>his </a:t>
            </a:r>
            <a:r>
              <a:rPr lang="en-GB" dirty="0"/>
              <a:t>decision </a:t>
            </a:r>
            <a:endParaRPr lang="en-IN" dirty="0"/>
          </a:p>
          <a:p>
            <a:endParaRPr lang="en-IN" dirty="0"/>
          </a:p>
        </p:txBody>
      </p:sp>
    </p:spTree>
    <p:extLst>
      <p:ext uri="{BB962C8B-B14F-4D97-AF65-F5344CB8AC3E}">
        <p14:creationId xmlns:p14="http://schemas.microsoft.com/office/powerpoint/2010/main" val="1417210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Allocating weights to the criteria</a:t>
            </a:r>
            <a:endParaRPr lang="en-IN" dirty="0"/>
          </a:p>
        </p:txBody>
      </p:sp>
      <p:sp>
        <p:nvSpPr>
          <p:cNvPr id="3" name="Content Placeholder 2"/>
          <p:cNvSpPr>
            <a:spLocks noGrp="1"/>
          </p:cNvSpPr>
          <p:nvPr>
            <p:ph idx="1"/>
          </p:nvPr>
        </p:nvSpPr>
        <p:spPr/>
        <p:txBody>
          <a:bodyPr/>
          <a:lstStyle/>
          <a:p>
            <a:r>
              <a:rPr lang="en-GB" dirty="0"/>
              <a:t>T</a:t>
            </a:r>
            <a:r>
              <a:rPr lang="en-GB" dirty="0" smtClean="0"/>
              <a:t>he </a:t>
            </a:r>
            <a:r>
              <a:rPr lang="en-GB" dirty="0"/>
              <a:t>decision maker must weight the items in order to give them the correct priority in the decision </a:t>
            </a:r>
          </a:p>
          <a:p>
            <a:r>
              <a:rPr lang="en-IN" dirty="0"/>
              <a:t> </a:t>
            </a:r>
            <a:r>
              <a:rPr lang="en-GB" dirty="0"/>
              <a:t>The idea is to use your personal preferences to prioritize the criteria you identified in Step 2 by assigning a weight to </a:t>
            </a:r>
            <a:r>
              <a:rPr lang="en-GB" dirty="0" smtClean="0"/>
              <a:t>each</a:t>
            </a:r>
          </a:p>
          <a:p>
            <a:r>
              <a:rPr lang="en-GB" dirty="0" smtClean="0"/>
              <a:t>In other words, you prioritize things</a:t>
            </a:r>
            <a:r>
              <a:rPr lang="en-IN" dirty="0" smtClean="0"/>
              <a:t> </a:t>
            </a:r>
            <a:endParaRPr lang="en-IN" dirty="0"/>
          </a:p>
          <a:p>
            <a:endParaRPr lang="en-IN" dirty="0"/>
          </a:p>
        </p:txBody>
      </p:sp>
    </p:spTree>
    <p:extLst>
      <p:ext uri="{BB962C8B-B14F-4D97-AF65-F5344CB8AC3E}">
        <p14:creationId xmlns:p14="http://schemas.microsoft.com/office/powerpoint/2010/main" val="284464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Developing alternatives</a:t>
            </a:r>
            <a:endParaRPr lang="en-IN" dirty="0"/>
          </a:p>
        </p:txBody>
      </p:sp>
      <p:sp>
        <p:nvSpPr>
          <p:cNvPr id="3" name="Content Placeholder 2"/>
          <p:cNvSpPr>
            <a:spLocks noGrp="1"/>
          </p:cNvSpPr>
          <p:nvPr>
            <p:ph idx="1"/>
          </p:nvPr>
        </p:nvSpPr>
        <p:spPr/>
        <p:txBody>
          <a:bodyPr/>
          <a:lstStyle/>
          <a:p>
            <a:r>
              <a:rPr lang="en-GB" dirty="0"/>
              <a:t>The fourth step requires the decision maker to list the viable alternatives that could resolve the problem. </a:t>
            </a:r>
            <a:endParaRPr lang="en-GB" dirty="0" smtClean="0"/>
          </a:p>
          <a:p>
            <a:r>
              <a:rPr lang="en-GB" dirty="0" smtClean="0"/>
              <a:t>No </a:t>
            </a:r>
            <a:r>
              <a:rPr lang="en-GB" dirty="0"/>
              <a:t>attempt is made in this step to evaluate the alternatives, only to list them. </a:t>
            </a:r>
            <a:r>
              <a:rPr lang="en-IN" dirty="0" smtClean="0"/>
              <a:t>  </a:t>
            </a:r>
            <a:endParaRPr lang="en-IN" dirty="0"/>
          </a:p>
          <a:p>
            <a:endParaRPr lang="en-IN" dirty="0"/>
          </a:p>
        </p:txBody>
      </p:sp>
    </p:spTree>
    <p:extLst>
      <p:ext uri="{BB962C8B-B14F-4D97-AF65-F5344CB8AC3E}">
        <p14:creationId xmlns:p14="http://schemas.microsoft.com/office/powerpoint/2010/main" val="2350287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Analyzing</a:t>
            </a:r>
            <a:r>
              <a:rPr lang="en-GB" dirty="0" smtClean="0"/>
              <a:t> Alternatives</a:t>
            </a:r>
            <a:endParaRPr lang="en-IN" dirty="0"/>
          </a:p>
        </p:txBody>
      </p:sp>
      <p:sp>
        <p:nvSpPr>
          <p:cNvPr id="3" name="Content Placeholder 2"/>
          <p:cNvSpPr>
            <a:spLocks noGrp="1"/>
          </p:cNvSpPr>
          <p:nvPr>
            <p:ph idx="1"/>
          </p:nvPr>
        </p:nvSpPr>
        <p:spPr/>
        <p:txBody>
          <a:bodyPr>
            <a:normAutofit fontScale="92500"/>
          </a:bodyPr>
          <a:lstStyle/>
          <a:p>
            <a:r>
              <a:rPr lang="en-GB" dirty="0"/>
              <a:t>Once the alternatives have been identified, the decision maker must critically </a:t>
            </a:r>
            <a:r>
              <a:rPr lang="en-GB" dirty="0" err="1"/>
              <a:t>analyze</a:t>
            </a:r>
            <a:r>
              <a:rPr lang="en-GB" dirty="0"/>
              <a:t> each one. </a:t>
            </a:r>
            <a:endParaRPr lang="en-GB" dirty="0" smtClean="0"/>
          </a:p>
          <a:p>
            <a:endParaRPr lang="en-GB" dirty="0"/>
          </a:p>
          <a:p>
            <a:r>
              <a:rPr lang="en-GB" dirty="0" smtClean="0"/>
              <a:t>Each </a:t>
            </a:r>
            <a:r>
              <a:rPr lang="en-GB" dirty="0"/>
              <a:t>alternative is evaluated by appraising it against the criteria established in Steps 2 and 3</a:t>
            </a:r>
            <a:r>
              <a:rPr lang="en-GB" dirty="0" smtClean="0"/>
              <a:t>.</a:t>
            </a:r>
          </a:p>
          <a:p>
            <a:endParaRPr lang="en-GB" dirty="0" smtClean="0"/>
          </a:p>
          <a:p>
            <a:r>
              <a:rPr lang="en-GB" dirty="0" smtClean="0"/>
              <a:t>From </a:t>
            </a:r>
            <a:r>
              <a:rPr lang="en-GB" dirty="0"/>
              <a:t>this comparison, the strengths and weaknesses of each alternative become evident. </a:t>
            </a:r>
            <a:endParaRPr lang="en-IN" dirty="0"/>
          </a:p>
          <a:p>
            <a:endParaRPr lang="en-IN" dirty="0"/>
          </a:p>
        </p:txBody>
      </p:sp>
    </p:spTree>
    <p:extLst>
      <p:ext uri="{BB962C8B-B14F-4D97-AF65-F5344CB8AC3E}">
        <p14:creationId xmlns:p14="http://schemas.microsoft.com/office/powerpoint/2010/main" val="655993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Selecting an alternative</a:t>
            </a:r>
            <a:endParaRPr lang="en-IN" dirty="0"/>
          </a:p>
        </p:txBody>
      </p:sp>
      <p:sp>
        <p:nvSpPr>
          <p:cNvPr id="3" name="Content Placeholder 2"/>
          <p:cNvSpPr>
            <a:spLocks noGrp="1"/>
          </p:cNvSpPr>
          <p:nvPr>
            <p:ph idx="1"/>
          </p:nvPr>
        </p:nvSpPr>
        <p:spPr/>
        <p:txBody>
          <a:bodyPr>
            <a:normAutofit/>
          </a:bodyPr>
          <a:lstStyle/>
          <a:p>
            <a:r>
              <a:rPr lang="en-GB" dirty="0"/>
              <a:t>The sixth step is the important act of choosing the best alternative from among those considered. </a:t>
            </a:r>
            <a:endParaRPr lang="en-GB" dirty="0" smtClean="0"/>
          </a:p>
          <a:p>
            <a:r>
              <a:rPr lang="en-GB" dirty="0" smtClean="0"/>
              <a:t>We </a:t>
            </a:r>
            <a:r>
              <a:rPr lang="en-GB" dirty="0"/>
              <a:t>have determined all the pertinent criteria in the decision, weighted them, and identified and </a:t>
            </a:r>
            <a:r>
              <a:rPr lang="en-GB" dirty="0" err="1"/>
              <a:t>analyzed</a:t>
            </a:r>
            <a:r>
              <a:rPr lang="en-GB" dirty="0"/>
              <a:t> viable alternatives. </a:t>
            </a:r>
            <a:endParaRPr lang="en-GB" dirty="0" smtClean="0"/>
          </a:p>
          <a:p>
            <a:r>
              <a:rPr lang="en-GB" dirty="0" smtClean="0"/>
              <a:t>Now </a:t>
            </a:r>
            <a:r>
              <a:rPr lang="en-GB" dirty="0"/>
              <a:t>we merely have to choose the alternative that generated the highest score in Step 5 </a:t>
            </a:r>
            <a:r>
              <a:rPr lang="en-IN" dirty="0" smtClean="0"/>
              <a:t>  </a:t>
            </a:r>
            <a:endParaRPr lang="en-IN" dirty="0"/>
          </a:p>
          <a:p>
            <a:endParaRPr lang="en-IN" dirty="0"/>
          </a:p>
        </p:txBody>
      </p:sp>
    </p:spTree>
    <p:extLst>
      <p:ext uri="{BB962C8B-B14F-4D97-AF65-F5344CB8AC3E}">
        <p14:creationId xmlns:p14="http://schemas.microsoft.com/office/powerpoint/2010/main" val="809220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Implementing the alternative</a:t>
            </a:r>
            <a:endParaRPr lang="en-IN" dirty="0"/>
          </a:p>
        </p:txBody>
      </p:sp>
      <p:sp>
        <p:nvSpPr>
          <p:cNvPr id="3" name="Content Placeholder 2"/>
          <p:cNvSpPr>
            <a:spLocks noGrp="1"/>
          </p:cNvSpPr>
          <p:nvPr>
            <p:ph idx="1"/>
          </p:nvPr>
        </p:nvSpPr>
        <p:spPr/>
        <p:txBody>
          <a:bodyPr>
            <a:normAutofit/>
          </a:bodyPr>
          <a:lstStyle/>
          <a:p>
            <a:r>
              <a:rPr lang="en-GB" dirty="0"/>
              <a:t>Implementation involves conveying the decision to those affected by it and getting their commitment to it </a:t>
            </a:r>
          </a:p>
          <a:p>
            <a:r>
              <a:rPr lang="en-GB" dirty="0"/>
              <a:t>If the people who must carry out a decision participate in the process, they're more likely to enthusiastically support the outcome than if they are just told what to </a:t>
            </a:r>
            <a:r>
              <a:rPr lang="en-GB" dirty="0" smtClean="0"/>
              <a:t>do</a:t>
            </a:r>
            <a:r>
              <a:rPr lang="en-IN" dirty="0" smtClean="0"/>
              <a:t>  </a:t>
            </a:r>
            <a:endParaRPr lang="en-IN" dirty="0"/>
          </a:p>
          <a:p>
            <a:endParaRPr lang="en-IN" dirty="0"/>
          </a:p>
        </p:txBody>
      </p:sp>
    </p:spTree>
    <p:extLst>
      <p:ext uri="{BB962C8B-B14F-4D97-AF65-F5344CB8AC3E}">
        <p14:creationId xmlns:p14="http://schemas.microsoft.com/office/powerpoint/2010/main" val="2427758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Evaluating decision effectiveness</a:t>
            </a:r>
            <a:endParaRPr lang="en-IN" dirty="0"/>
          </a:p>
        </p:txBody>
      </p:sp>
      <p:sp>
        <p:nvSpPr>
          <p:cNvPr id="3" name="Content Placeholder 2"/>
          <p:cNvSpPr>
            <a:spLocks noGrp="1"/>
          </p:cNvSpPr>
          <p:nvPr>
            <p:ph idx="1"/>
          </p:nvPr>
        </p:nvSpPr>
        <p:spPr/>
        <p:txBody>
          <a:bodyPr>
            <a:normAutofit fontScale="70000" lnSpcReduction="20000"/>
          </a:bodyPr>
          <a:lstStyle/>
          <a:p>
            <a:r>
              <a:rPr lang="en-GB" dirty="0"/>
              <a:t>The last step in the decision-making process involves </a:t>
            </a:r>
            <a:r>
              <a:rPr lang="en-GB" i="1" dirty="0"/>
              <a:t>appraising the outcome of the decision to see if the problem has been resolved</a:t>
            </a:r>
            <a:r>
              <a:rPr lang="en-GB" dirty="0"/>
              <a:t>. </a:t>
            </a:r>
            <a:endParaRPr lang="en-GB" dirty="0" smtClean="0"/>
          </a:p>
          <a:p>
            <a:r>
              <a:rPr lang="en-GB" u="sng" dirty="0" smtClean="0"/>
              <a:t>Did </a:t>
            </a:r>
            <a:r>
              <a:rPr lang="en-GB" u="sng" dirty="0"/>
              <a:t>the alternative chosen in Step 6 and implemented in Step 7 accomplish the desired result</a:t>
            </a:r>
            <a:r>
              <a:rPr lang="en-GB" dirty="0"/>
              <a:t>?</a:t>
            </a:r>
          </a:p>
          <a:p>
            <a:r>
              <a:rPr lang="en-GB" u="sng" dirty="0"/>
              <a:t>What would happen if, as a result of this evaluation, the problem still existed</a:t>
            </a:r>
            <a:r>
              <a:rPr lang="en-GB" dirty="0"/>
              <a:t>? The manager would then need to carefully assess what went wrong. </a:t>
            </a:r>
            <a:endParaRPr lang="en-GB" dirty="0" smtClean="0"/>
          </a:p>
          <a:p>
            <a:r>
              <a:rPr lang="en-GB" u="sng" dirty="0" smtClean="0"/>
              <a:t>Was </a:t>
            </a:r>
            <a:r>
              <a:rPr lang="en-GB" u="sng" dirty="0"/>
              <a:t>the problem incorrectly defined? </a:t>
            </a:r>
            <a:endParaRPr lang="en-GB" u="sng" dirty="0" smtClean="0"/>
          </a:p>
          <a:p>
            <a:r>
              <a:rPr lang="en-GB" u="sng" dirty="0" smtClean="0"/>
              <a:t>Were </a:t>
            </a:r>
            <a:r>
              <a:rPr lang="en-GB" u="sng" dirty="0"/>
              <a:t>errors made in the evaluation of the various alternatives? </a:t>
            </a:r>
            <a:endParaRPr lang="en-GB" u="sng" dirty="0" smtClean="0"/>
          </a:p>
          <a:p>
            <a:r>
              <a:rPr lang="en-GB" u="sng" dirty="0" smtClean="0"/>
              <a:t>Was </a:t>
            </a:r>
            <a:r>
              <a:rPr lang="en-GB" u="sng" dirty="0"/>
              <a:t>the right alternative selected but poorly implemented? </a:t>
            </a:r>
            <a:endParaRPr lang="en-GB" u="sng" dirty="0" smtClean="0"/>
          </a:p>
          <a:p>
            <a:r>
              <a:rPr lang="en-GB" dirty="0" smtClean="0"/>
              <a:t>Answers </a:t>
            </a:r>
            <a:r>
              <a:rPr lang="en-GB" dirty="0"/>
              <a:t>to questions such as these might send the manager back to one of the earlier steps. It might even require starting the whole decision process over</a:t>
            </a:r>
            <a:r>
              <a:rPr lang="en-GB" dirty="0" smtClean="0"/>
              <a:t>.</a:t>
            </a:r>
            <a:endParaRPr lang="en-GB" dirty="0"/>
          </a:p>
        </p:txBody>
      </p:sp>
    </p:spTree>
    <p:extLst>
      <p:ext uri="{BB962C8B-B14F-4D97-AF65-F5344CB8AC3E}">
        <p14:creationId xmlns:p14="http://schemas.microsoft.com/office/powerpoint/2010/main" val="1534731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GB" dirty="0" smtClean="0"/>
              <a:t>The pervasiveness of decision-making</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41619545"/>
              </p:ext>
            </p:extLst>
          </p:nvPr>
        </p:nvGraphicFramePr>
        <p:xfrm>
          <a:off x="228600" y="990600"/>
          <a:ext cx="8458200" cy="5669280"/>
        </p:xfrm>
        <a:graphic>
          <a:graphicData uri="http://schemas.openxmlformats.org/drawingml/2006/table">
            <a:tbl>
              <a:tblPr firstRow="1" bandRow="1">
                <a:tableStyleId>{5C22544A-7EE6-4342-B048-85BDC9FD1C3A}</a:tableStyleId>
              </a:tblPr>
              <a:tblGrid>
                <a:gridCol w="4229100"/>
                <a:gridCol w="4229100"/>
              </a:tblGrid>
              <a:tr h="370840">
                <a:tc>
                  <a:txBody>
                    <a:bodyPr/>
                    <a:lstStyle/>
                    <a:p>
                      <a:r>
                        <a:rPr lang="en-GB" dirty="0" smtClean="0"/>
                        <a:t>PLANNING</a:t>
                      </a:r>
                    </a:p>
                    <a:p>
                      <a:endParaRPr lang="en-IN" sz="1800" b="0" i="0" u="none" strike="noStrike" kern="1200" baseline="0" dirty="0" smtClean="0">
                        <a:solidFill>
                          <a:schemeClr val="lt1"/>
                        </a:solidFill>
                        <a:latin typeface="+mn-lt"/>
                        <a:ea typeface="+mn-ea"/>
                        <a:cs typeface="+mn-cs"/>
                      </a:endParaRP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What are the organization's long-term objectives?</a:t>
                      </a: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What strategies will best achieve those objectives?</a:t>
                      </a: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What should the organization's short-term objectives be?</a:t>
                      </a: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How difficult should individual goals be?</a:t>
                      </a:r>
                    </a:p>
                  </a:txBody>
                  <a:tcPr/>
                </a:tc>
                <a:tc>
                  <a:txBody>
                    <a:bodyPr/>
                    <a:lstStyle/>
                    <a:p>
                      <a:r>
                        <a:rPr lang="en-GB" dirty="0" smtClean="0"/>
                        <a:t>LEADING</a:t>
                      </a:r>
                    </a:p>
                    <a:p>
                      <a:endParaRPr lang="en-GB" dirty="0" smtClean="0"/>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How do I handle employees who appear to be low in motivation?</a:t>
                      </a: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What is the most effective leadership style in a given situation?</a:t>
                      </a: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How will a specific change affect worker productivity?</a:t>
                      </a:r>
                    </a:p>
                    <a:p>
                      <a:pPr marL="285750" indent="-285750">
                        <a:buFont typeface="Arial" pitchFamily="34" charset="0"/>
                        <a:buChar char="•"/>
                      </a:pPr>
                      <a:r>
                        <a:rPr lang="en-GB" sz="1800" b="0" i="0" u="none" strike="noStrike" kern="1200" baseline="0" dirty="0" smtClean="0">
                          <a:solidFill>
                            <a:schemeClr val="lt1"/>
                          </a:solidFill>
                          <a:latin typeface="+mn-lt"/>
                          <a:ea typeface="+mn-ea"/>
                          <a:cs typeface="+mn-cs"/>
                        </a:rPr>
                        <a:t>When is the right time to stimulate conflict?</a:t>
                      </a:r>
                    </a:p>
                  </a:txBody>
                  <a:tcPr/>
                </a:tc>
              </a:tr>
              <a:tr h="370840">
                <a:tc>
                  <a:txBody>
                    <a:bodyPr/>
                    <a:lstStyle/>
                    <a:p>
                      <a:r>
                        <a:rPr lang="en-GB" b="1" dirty="0" smtClean="0"/>
                        <a:t>ORGANIZING</a:t>
                      </a:r>
                    </a:p>
                    <a:p>
                      <a:endParaRPr lang="en-IN" sz="1800" b="0" i="0" u="none" strike="noStrike" kern="1200" baseline="0" dirty="0" smtClean="0">
                        <a:solidFill>
                          <a:schemeClr val="dk1"/>
                        </a:solidFill>
                        <a:latin typeface="+mn-lt"/>
                        <a:ea typeface="+mn-ea"/>
                        <a:cs typeface="+mn-cs"/>
                      </a:endParaRP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How many employees should I have report directly to me?</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How much centralization should there be in the organization?</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How should jobs be designed?</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When should the organization implement a different structure?</a:t>
                      </a:r>
                    </a:p>
                  </a:txBody>
                  <a:tcPr/>
                </a:tc>
                <a:tc>
                  <a:txBody>
                    <a:bodyPr/>
                    <a:lstStyle/>
                    <a:p>
                      <a:r>
                        <a:rPr lang="en-GB" b="1" dirty="0" smtClean="0"/>
                        <a:t>CONTROLLING</a:t>
                      </a:r>
                    </a:p>
                    <a:p>
                      <a:endParaRPr lang="en-IN" sz="1800" b="0" i="0" u="none" strike="noStrike" kern="1200" baseline="0" dirty="0" smtClean="0">
                        <a:solidFill>
                          <a:schemeClr val="dk1"/>
                        </a:solidFill>
                        <a:latin typeface="+mn-lt"/>
                        <a:ea typeface="+mn-ea"/>
                        <a:cs typeface="+mn-cs"/>
                      </a:endParaRP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What activities in the organization need to be controlled?</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How should those activities be controlled?</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When is a performance deviation significant?</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What type of management information system should the organization have?</a:t>
                      </a:r>
                    </a:p>
                  </a:txBody>
                  <a:tcPr/>
                </a:tc>
              </a:tr>
            </a:tbl>
          </a:graphicData>
        </a:graphic>
      </p:graphicFrame>
    </p:spTree>
    <p:extLst>
      <p:ext uri="{BB962C8B-B14F-4D97-AF65-F5344CB8AC3E}">
        <p14:creationId xmlns:p14="http://schemas.microsoft.com/office/powerpoint/2010/main" val="1604765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RATIONALITY IN DECISION-MAKING</a:t>
            </a:r>
            <a:endParaRPr lang="en-IN" dirty="0"/>
          </a:p>
        </p:txBody>
      </p:sp>
      <p:sp>
        <p:nvSpPr>
          <p:cNvPr id="3" name="Content Placeholder 2"/>
          <p:cNvSpPr>
            <a:spLocks noGrp="1"/>
          </p:cNvSpPr>
          <p:nvPr>
            <p:ph idx="1"/>
          </p:nvPr>
        </p:nvSpPr>
        <p:spPr/>
        <p:txBody>
          <a:bodyPr>
            <a:normAutofit fontScale="70000" lnSpcReduction="20000"/>
          </a:bodyPr>
          <a:lstStyle/>
          <a:p>
            <a:r>
              <a:rPr lang="en-GB" dirty="0"/>
              <a:t>Managerial decision making is assumed to be </a:t>
            </a:r>
            <a:r>
              <a:rPr lang="en-GB" b="1" dirty="0"/>
              <a:t>rational</a:t>
            </a:r>
            <a:r>
              <a:rPr lang="en-GB" dirty="0"/>
              <a:t>. By that we mean that managers make consistent, value-maximizing choices within specified constraints</a:t>
            </a:r>
          </a:p>
          <a:p>
            <a:r>
              <a:rPr lang="en-GB" dirty="0"/>
              <a:t>A decision maker who was perfectly rational would be fully </a:t>
            </a:r>
            <a:r>
              <a:rPr lang="en-GB" b="1" dirty="0"/>
              <a:t>objective</a:t>
            </a:r>
            <a:r>
              <a:rPr lang="en-GB" dirty="0"/>
              <a:t> and </a:t>
            </a:r>
            <a:r>
              <a:rPr lang="en-GB" b="1" dirty="0"/>
              <a:t>logical</a:t>
            </a:r>
            <a:r>
              <a:rPr lang="en-GB" dirty="0"/>
              <a:t>. </a:t>
            </a:r>
            <a:endParaRPr lang="en-GB" dirty="0" smtClean="0"/>
          </a:p>
          <a:p>
            <a:r>
              <a:rPr lang="en-GB" dirty="0" smtClean="0"/>
              <a:t>He </a:t>
            </a:r>
            <a:r>
              <a:rPr lang="en-GB" dirty="0"/>
              <a:t>would carefully define a problem and would have a clear and specific goal. </a:t>
            </a:r>
            <a:endParaRPr lang="en-GB" dirty="0" smtClean="0"/>
          </a:p>
          <a:p>
            <a:r>
              <a:rPr lang="en-GB" dirty="0" smtClean="0"/>
              <a:t>Moreover</a:t>
            </a:r>
            <a:r>
              <a:rPr lang="en-GB" dirty="0"/>
              <a:t>, making decisions using rationality would consistently lead toward selecting the alternative that maximizes the likelihood of achieving that goal. </a:t>
            </a:r>
            <a:endParaRPr lang="en-GB" dirty="0" smtClean="0"/>
          </a:p>
          <a:p>
            <a:r>
              <a:rPr lang="en-GB" dirty="0"/>
              <a:t>Rational managerial decision making assumes that decisions are made in the best </a:t>
            </a:r>
            <a:r>
              <a:rPr lang="en-GB" b="1" i="1" dirty="0"/>
              <a:t>economic</a:t>
            </a:r>
            <a:r>
              <a:rPr lang="en-GB" i="1" dirty="0"/>
              <a:t> </a:t>
            </a:r>
            <a:r>
              <a:rPr lang="en-GB" dirty="0"/>
              <a:t>interests of the organization. That is, the decision maker is assumed to be maximizing the organization's interests, not his or her own interests</a:t>
            </a:r>
            <a:r>
              <a:rPr lang="en-GB" dirty="0" smtClean="0"/>
              <a:t>.</a:t>
            </a:r>
            <a:endParaRPr lang="en-IN" dirty="0"/>
          </a:p>
          <a:p>
            <a:endParaRPr lang="en-IN" dirty="0"/>
          </a:p>
        </p:txBody>
      </p:sp>
    </p:spTree>
    <p:extLst>
      <p:ext uri="{BB962C8B-B14F-4D97-AF65-F5344CB8AC3E}">
        <p14:creationId xmlns:p14="http://schemas.microsoft.com/office/powerpoint/2010/main" val="2058151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Assumptions of Rationality</a:t>
            </a:r>
            <a:endParaRPr lang="en-IN" dirty="0"/>
          </a:p>
        </p:txBody>
      </p:sp>
      <p:sp>
        <p:nvSpPr>
          <p:cNvPr id="3" name="Content Placeholder 2"/>
          <p:cNvSpPr>
            <a:spLocks noGrp="1"/>
          </p:cNvSpPr>
          <p:nvPr>
            <p:ph idx="1"/>
          </p:nvPr>
        </p:nvSpPr>
        <p:spPr/>
        <p:txBody>
          <a:bodyPr/>
          <a:lstStyle/>
          <a:p>
            <a:r>
              <a:rPr lang="en-GB" dirty="0"/>
              <a:t>The problem is clear and unambiguous</a:t>
            </a:r>
          </a:p>
          <a:p>
            <a:r>
              <a:rPr lang="en-GB" dirty="0"/>
              <a:t>A single, well-defined goal is to be achieved</a:t>
            </a:r>
          </a:p>
          <a:p>
            <a:r>
              <a:rPr lang="en-GB" dirty="0"/>
              <a:t>All alternatives and consequences are known</a:t>
            </a:r>
          </a:p>
          <a:p>
            <a:r>
              <a:rPr lang="en-GB" dirty="0"/>
              <a:t>Preferences are clear</a:t>
            </a:r>
          </a:p>
          <a:p>
            <a:r>
              <a:rPr lang="en-GB" dirty="0"/>
              <a:t>No time or cost constraints exist</a:t>
            </a:r>
          </a:p>
          <a:p>
            <a:r>
              <a:rPr lang="en-GB" dirty="0"/>
              <a:t>Final choice will maximize </a:t>
            </a:r>
            <a:r>
              <a:rPr lang="en-GB" dirty="0" smtClean="0"/>
              <a:t>payoff</a:t>
            </a:r>
            <a:endParaRPr lang="en-GB" dirty="0"/>
          </a:p>
        </p:txBody>
      </p:sp>
    </p:spTree>
    <p:extLst>
      <p:ext uri="{BB962C8B-B14F-4D97-AF65-F5344CB8AC3E}">
        <p14:creationId xmlns:p14="http://schemas.microsoft.com/office/powerpoint/2010/main" val="796112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How realistic are these assumptions about rationality? </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GB" dirty="0"/>
              <a:t>Managerial decision making can follow rational assumptions if the following conditions are met: The manager is faced with a simple problem in which </a:t>
            </a:r>
            <a:r>
              <a:rPr lang="en-GB" dirty="0" smtClean="0"/>
              <a:t>the</a:t>
            </a:r>
          </a:p>
          <a:p>
            <a:r>
              <a:rPr lang="en-GB" dirty="0" smtClean="0"/>
              <a:t>goals </a:t>
            </a:r>
            <a:r>
              <a:rPr lang="en-GB" dirty="0"/>
              <a:t>are clear and the alternatives limited, </a:t>
            </a:r>
            <a:endParaRPr lang="en-GB" dirty="0" smtClean="0"/>
          </a:p>
          <a:p>
            <a:r>
              <a:rPr lang="en-GB" dirty="0" smtClean="0"/>
              <a:t>in </a:t>
            </a:r>
            <a:r>
              <a:rPr lang="en-GB" dirty="0"/>
              <a:t>which the time pressures are minimal and </a:t>
            </a:r>
            <a:endParaRPr lang="en-GB" dirty="0" smtClean="0"/>
          </a:p>
          <a:p>
            <a:r>
              <a:rPr lang="en-GB" dirty="0" smtClean="0"/>
              <a:t>the </a:t>
            </a:r>
            <a:r>
              <a:rPr lang="en-GB" dirty="0"/>
              <a:t>cost of seeking out and evaluating alternatives is low, </a:t>
            </a:r>
            <a:endParaRPr lang="en-GB" dirty="0" smtClean="0"/>
          </a:p>
          <a:p>
            <a:r>
              <a:rPr lang="en-GB" dirty="0" smtClean="0"/>
              <a:t>for </a:t>
            </a:r>
            <a:r>
              <a:rPr lang="en-GB" dirty="0"/>
              <a:t>which the organizational culture supports innovation and risk taking, and </a:t>
            </a:r>
            <a:endParaRPr lang="en-GB" dirty="0" smtClean="0"/>
          </a:p>
          <a:p>
            <a:r>
              <a:rPr lang="en-GB" dirty="0" smtClean="0"/>
              <a:t>in </a:t>
            </a:r>
            <a:r>
              <a:rPr lang="en-GB" dirty="0"/>
              <a:t>which the outcomes are relatively concrete and </a:t>
            </a:r>
            <a:r>
              <a:rPr lang="en-GB" dirty="0" smtClean="0"/>
              <a:t>measurable</a:t>
            </a:r>
            <a:endParaRPr lang="en-GB" dirty="0"/>
          </a:p>
        </p:txBody>
      </p:sp>
    </p:spTree>
    <p:extLst>
      <p:ext uri="{BB962C8B-B14F-4D97-AF65-F5344CB8AC3E}">
        <p14:creationId xmlns:p14="http://schemas.microsoft.com/office/powerpoint/2010/main" val="3209882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Bounded rationality</a:t>
            </a:r>
            <a:endParaRPr lang="en-IN" dirty="0"/>
          </a:p>
        </p:txBody>
      </p:sp>
      <p:sp>
        <p:nvSpPr>
          <p:cNvPr id="3" name="Content Placeholder 2"/>
          <p:cNvSpPr>
            <a:spLocks noGrp="1"/>
          </p:cNvSpPr>
          <p:nvPr>
            <p:ph idx="1"/>
          </p:nvPr>
        </p:nvSpPr>
        <p:spPr/>
        <p:txBody>
          <a:bodyPr>
            <a:normAutofit fontScale="92500" lnSpcReduction="20000"/>
          </a:bodyPr>
          <a:lstStyle/>
          <a:p>
            <a:r>
              <a:rPr lang="en-GB" dirty="0" smtClean="0"/>
              <a:t>Managers </a:t>
            </a:r>
            <a:r>
              <a:rPr lang="en-GB" dirty="0"/>
              <a:t>behave rationally within the parameters of a simplified decision-making process that is </a:t>
            </a:r>
            <a:r>
              <a:rPr lang="en-GB" u="sng" dirty="0"/>
              <a:t>limited (or bounded) </a:t>
            </a:r>
            <a:r>
              <a:rPr lang="en-GB" dirty="0"/>
              <a:t>by an individual's ability to process </a:t>
            </a:r>
            <a:r>
              <a:rPr lang="en-GB" dirty="0" smtClean="0"/>
              <a:t>information.</a:t>
            </a:r>
          </a:p>
          <a:p>
            <a:r>
              <a:rPr lang="en-GB" dirty="0" smtClean="0"/>
              <a:t>Because </a:t>
            </a:r>
            <a:r>
              <a:rPr lang="en-GB" dirty="0"/>
              <a:t>they can't possibly </a:t>
            </a:r>
            <a:r>
              <a:rPr lang="en-GB" dirty="0" err="1"/>
              <a:t>analyze</a:t>
            </a:r>
            <a:r>
              <a:rPr lang="en-GB" dirty="0"/>
              <a:t> all information on all alternatives, managers </a:t>
            </a:r>
            <a:r>
              <a:rPr lang="en-GB" b="1" dirty="0"/>
              <a:t>satisfice</a:t>
            </a:r>
            <a:r>
              <a:rPr lang="en-GB" dirty="0"/>
              <a:t> rather than maximize. </a:t>
            </a:r>
            <a:endParaRPr lang="en-GB" dirty="0" smtClean="0"/>
          </a:p>
          <a:p>
            <a:r>
              <a:rPr lang="en-GB" dirty="0" smtClean="0"/>
              <a:t>That </a:t>
            </a:r>
            <a:r>
              <a:rPr lang="en-GB" dirty="0"/>
              <a:t>is, they accept </a:t>
            </a:r>
            <a:r>
              <a:rPr lang="en-GB" i="1" dirty="0"/>
              <a:t>solutions that are "good enough."</a:t>
            </a:r>
            <a:r>
              <a:rPr lang="en-GB" dirty="0"/>
              <a:t> </a:t>
            </a:r>
            <a:endParaRPr lang="en-GB" dirty="0" smtClean="0"/>
          </a:p>
          <a:p>
            <a:r>
              <a:rPr lang="en-GB" dirty="0" smtClean="0"/>
              <a:t>They </a:t>
            </a:r>
            <a:r>
              <a:rPr lang="en-GB" dirty="0"/>
              <a:t>are being rational within the limits (bounds) of their information processing ability. </a:t>
            </a:r>
            <a:endParaRPr lang="en-IN" dirty="0"/>
          </a:p>
          <a:p>
            <a:endParaRPr lang="en-IN" dirty="0"/>
          </a:p>
        </p:txBody>
      </p:sp>
    </p:spTree>
    <p:extLst>
      <p:ext uri="{BB962C8B-B14F-4D97-AF65-F5344CB8AC3E}">
        <p14:creationId xmlns:p14="http://schemas.microsoft.com/office/powerpoint/2010/main" val="3148726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Bounded rationality in decisions</a:t>
            </a:r>
            <a:endParaRPr lang="en-IN" dirty="0"/>
          </a:p>
        </p:txBody>
      </p:sp>
      <p:sp>
        <p:nvSpPr>
          <p:cNvPr id="3" name="Content Placeholder 2"/>
          <p:cNvSpPr>
            <a:spLocks noGrp="1"/>
          </p:cNvSpPr>
          <p:nvPr>
            <p:ph idx="1"/>
          </p:nvPr>
        </p:nvSpPr>
        <p:spPr/>
        <p:txBody>
          <a:bodyPr>
            <a:normAutofit fontScale="85000" lnSpcReduction="10000"/>
          </a:bodyPr>
          <a:lstStyle/>
          <a:p>
            <a:r>
              <a:rPr lang="en-GB" dirty="0"/>
              <a:t>Since most decisions that managers make don't fit the assumptions of perfect rationality, they instead make those decisions using a </a:t>
            </a:r>
            <a:r>
              <a:rPr lang="en-GB" dirty="0" err="1"/>
              <a:t>boundedly</a:t>
            </a:r>
            <a:r>
              <a:rPr lang="en-GB" dirty="0"/>
              <a:t> rational approach. </a:t>
            </a:r>
            <a:endParaRPr lang="en-GB" dirty="0" smtClean="0"/>
          </a:p>
          <a:p>
            <a:r>
              <a:rPr lang="en-GB" dirty="0" smtClean="0"/>
              <a:t>That </a:t>
            </a:r>
            <a:r>
              <a:rPr lang="en-GB" dirty="0"/>
              <a:t>is, they make decisions based on alternatives that are satisfactory. </a:t>
            </a:r>
            <a:endParaRPr lang="en-GB" dirty="0" smtClean="0"/>
          </a:p>
          <a:p>
            <a:r>
              <a:rPr lang="en-GB" dirty="0" smtClean="0"/>
              <a:t>However</a:t>
            </a:r>
            <a:r>
              <a:rPr lang="en-GB" dirty="0"/>
              <a:t>, </a:t>
            </a:r>
            <a:r>
              <a:rPr lang="en-GB" dirty="0" smtClean="0"/>
              <a:t>decision </a:t>
            </a:r>
            <a:r>
              <a:rPr lang="en-GB" dirty="0"/>
              <a:t>making also may be strongly influenced by the </a:t>
            </a:r>
            <a:r>
              <a:rPr lang="en-GB" u="sng" dirty="0"/>
              <a:t>organization's culture</a:t>
            </a:r>
            <a:r>
              <a:rPr lang="en-GB" dirty="0"/>
              <a:t>, </a:t>
            </a:r>
            <a:r>
              <a:rPr lang="en-GB" u="sng" dirty="0"/>
              <a:t>internal politics</a:t>
            </a:r>
            <a:r>
              <a:rPr lang="en-GB" dirty="0"/>
              <a:t>, </a:t>
            </a:r>
            <a:r>
              <a:rPr lang="en-GB" u="sng" dirty="0"/>
              <a:t>power considerations</a:t>
            </a:r>
            <a:r>
              <a:rPr lang="en-GB" dirty="0"/>
              <a:t>, and by a phenomenon called </a:t>
            </a:r>
            <a:r>
              <a:rPr lang="en-GB" b="1" dirty="0"/>
              <a:t>escalation of commitment</a:t>
            </a:r>
            <a:r>
              <a:rPr lang="en-GB" dirty="0"/>
              <a:t>, which is an increased commitment to a previous decision despite evidence that it may have been </a:t>
            </a:r>
            <a:r>
              <a:rPr lang="en-GB" dirty="0" smtClean="0"/>
              <a:t>wrong</a:t>
            </a:r>
            <a:endParaRPr lang="en-IN" dirty="0"/>
          </a:p>
          <a:p>
            <a:endParaRPr lang="en-IN" dirty="0"/>
          </a:p>
        </p:txBody>
      </p:sp>
    </p:spTree>
    <p:extLst>
      <p:ext uri="{BB962C8B-B14F-4D97-AF65-F5344CB8AC3E}">
        <p14:creationId xmlns:p14="http://schemas.microsoft.com/office/powerpoint/2010/main" val="510661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 of Intuition</a:t>
            </a:r>
            <a:endParaRPr lang="en-IN" dirty="0"/>
          </a:p>
        </p:txBody>
      </p:sp>
      <p:sp>
        <p:nvSpPr>
          <p:cNvPr id="3" name="Content Placeholder 2"/>
          <p:cNvSpPr>
            <a:spLocks noGrp="1"/>
          </p:cNvSpPr>
          <p:nvPr>
            <p:ph idx="1"/>
          </p:nvPr>
        </p:nvSpPr>
        <p:spPr/>
        <p:txBody>
          <a:bodyPr/>
          <a:lstStyle/>
          <a:p>
            <a:r>
              <a:rPr lang="en-GB" dirty="0"/>
              <a:t>Managers regularly use their intuition and it may actually help improve their decision </a:t>
            </a:r>
            <a:r>
              <a:rPr lang="en-GB" dirty="0" smtClean="0"/>
              <a:t>making.</a:t>
            </a:r>
          </a:p>
          <a:p>
            <a:r>
              <a:rPr lang="en-GB" i="1" dirty="0" smtClean="0"/>
              <a:t>What </a:t>
            </a:r>
            <a:r>
              <a:rPr lang="en-GB" i="1" dirty="0"/>
              <a:t>is intuitive decision making? </a:t>
            </a:r>
            <a:r>
              <a:rPr lang="en-GB" u="sng" dirty="0"/>
              <a:t>It's a subconscious process of making decisions on the basis of experience and accumulated judgment</a:t>
            </a:r>
            <a:r>
              <a:rPr lang="en-GB" dirty="0"/>
              <a:t> </a:t>
            </a:r>
            <a:r>
              <a:rPr lang="en-IN" dirty="0" smtClean="0"/>
              <a:t>  </a:t>
            </a:r>
            <a:endParaRPr lang="en-IN" dirty="0"/>
          </a:p>
          <a:p>
            <a:endParaRPr lang="en-IN" dirty="0"/>
          </a:p>
        </p:txBody>
      </p:sp>
    </p:spTree>
    <p:extLst>
      <p:ext uri="{BB962C8B-B14F-4D97-AF65-F5344CB8AC3E}">
        <p14:creationId xmlns:p14="http://schemas.microsoft.com/office/powerpoint/2010/main" val="12839677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Intuition?</a:t>
            </a:r>
            <a:endParaRPr lang="en-IN" dirty="0"/>
          </a:p>
        </p:txBody>
      </p:sp>
      <p:sp>
        <p:nvSpPr>
          <p:cNvPr id="3" name="Content Placeholder 2"/>
          <p:cNvSpPr>
            <a:spLocks noGrp="1"/>
          </p:cNvSpPr>
          <p:nvPr>
            <p:ph idx="1"/>
          </p:nvPr>
        </p:nvSpPr>
        <p:spPr/>
        <p:txBody>
          <a:bodyPr>
            <a:normAutofit fontScale="85000" lnSpcReduction="10000"/>
          </a:bodyPr>
          <a:lstStyle/>
          <a:p>
            <a:pPr marL="514350" indent="-514350">
              <a:buFont typeface="+mj-lt"/>
              <a:buAutoNum type="arabicPeriod"/>
            </a:pPr>
            <a:r>
              <a:rPr lang="en-GB" b="1" dirty="0"/>
              <a:t>Subconscious mental processing: </a:t>
            </a:r>
            <a:r>
              <a:rPr lang="en-GB" dirty="0"/>
              <a:t>Managers use data from subconscious mind to help them make decisions</a:t>
            </a:r>
          </a:p>
          <a:p>
            <a:pPr marL="514350" indent="-514350">
              <a:buFont typeface="+mj-lt"/>
              <a:buAutoNum type="arabicPeriod"/>
            </a:pPr>
            <a:r>
              <a:rPr lang="en-GB" b="1" dirty="0"/>
              <a:t>Cognitive-based decisions: </a:t>
            </a:r>
            <a:r>
              <a:rPr lang="en-GB" dirty="0"/>
              <a:t>Managers make decisions based on skills, knowledge and training</a:t>
            </a:r>
          </a:p>
          <a:p>
            <a:pPr marL="514350" indent="-514350">
              <a:buFont typeface="+mj-lt"/>
              <a:buAutoNum type="arabicPeriod"/>
            </a:pPr>
            <a:r>
              <a:rPr lang="en-GB" b="1" dirty="0"/>
              <a:t>Affect-initiated decisions: </a:t>
            </a:r>
            <a:r>
              <a:rPr lang="en-GB" dirty="0"/>
              <a:t>Managers make decisions based on feelings or emotions</a:t>
            </a:r>
          </a:p>
          <a:p>
            <a:pPr marL="514350" indent="-514350">
              <a:buFont typeface="+mj-lt"/>
              <a:buAutoNum type="arabicPeriod"/>
            </a:pPr>
            <a:r>
              <a:rPr lang="en-GB" b="1" dirty="0"/>
              <a:t>Experience-based decisions: </a:t>
            </a:r>
            <a:r>
              <a:rPr lang="en-GB" dirty="0"/>
              <a:t>Managers make decisions based on their past experiences</a:t>
            </a:r>
          </a:p>
          <a:p>
            <a:pPr marL="514350" indent="-514350">
              <a:buFont typeface="+mj-lt"/>
              <a:buAutoNum type="arabicPeriod"/>
            </a:pPr>
            <a:r>
              <a:rPr lang="en-GB" b="1" dirty="0"/>
              <a:t>Values or ethics-based decisions: </a:t>
            </a:r>
            <a:r>
              <a:rPr lang="en-GB" dirty="0"/>
              <a:t>Managers make decisions on ethical values or </a:t>
            </a:r>
            <a:r>
              <a:rPr lang="en-GB" dirty="0" smtClean="0"/>
              <a:t>culture</a:t>
            </a:r>
            <a:endParaRPr lang="en-GB" dirty="0"/>
          </a:p>
        </p:txBody>
      </p:sp>
    </p:spTree>
    <p:extLst>
      <p:ext uri="{BB962C8B-B14F-4D97-AF65-F5344CB8AC3E}">
        <p14:creationId xmlns:p14="http://schemas.microsoft.com/office/powerpoint/2010/main" val="3116854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problems and decisions</a:t>
            </a:r>
            <a:endParaRPr lang="en-IN" dirty="0"/>
          </a:p>
        </p:txBody>
      </p:sp>
      <p:sp>
        <p:nvSpPr>
          <p:cNvPr id="3" name="Content Placeholder 2"/>
          <p:cNvSpPr>
            <a:spLocks noGrp="1"/>
          </p:cNvSpPr>
          <p:nvPr>
            <p:ph idx="1"/>
          </p:nvPr>
        </p:nvSpPr>
        <p:spPr>
          <a:xfrm>
            <a:off x="457200" y="1600200"/>
            <a:ext cx="8229600" cy="4800600"/>
          </a:xfrm>
        </p:spPr>
        <p:txBody>
          <a:bodyPr>
            <a:normAutofit fontScale="70000" lnSpcReduction="20000"/>
          </a:bodyPr>
          <a:lstStyle/>
          <a:p>
            <a:r>
              <a:rPr lang="en-GB" b="1" dirty="0"/>
              <a:t>Well-Structured Problems and Programmed </a:t>
            </a:r>
            <a:r>
              <a:rPr lang="en-GB" b="1" dirty="0" smtClean="0"/>
              <a:t>Decisions</a:t>
            </a:r>
            <a:endParaRPr lang="en-IN" dirty="0"/>
          </a:p>
          <a:p>
            <a:r>
              <a:rPr lang="en-GB" dirty="0"/>
              <a:t>Some problems are straightforward. </a:t>
            </a:r>
            <a:endParaRPr lang="en-GB" dirty="0" smtClean="0"/>
          </a:p>
          <a:p>
            <a:r>
              <a:rPr lang="en-GB" dirty="0" smtClean="0"/>
              <a:t>The </a:t>
            </a:r>
            <a:r>
              <a:rPr lang="en-GB" dirty="0"/>
              <a:t>goal of the decision maker is clear, the problem is familiar, and information about the problem is easily defined and complete </a:t>
            </a:r>
          </a:p>
          <a:p>
            <a:r>
              <a:rPr lang="en-GB" dirty="0"/>
              <a:t>Such situations are called well-structured problems since they are straightforward, familiar, and easily defined problems </a:t>
            </a:r>
          </a:p>
          <a:p>
            <a:r>
              <a:rPr lang="en-GB" dirty="0"/>
              <a:t>In handling this problem situation, the manager uses a </a:t>
            </a:r>
            <a:r>
              <a:rPr lang="en-GB" b="1" dirty="0"/>
              <a:t>programmed decision.</a:t>
            </a:r>
          </a:p>
          <a:p>
            <a:r>
              <a:rPr lang="en-GB" dirty="0"/>
              <a:t>Decisions are programmed to the extent that they are repetitive and routine and to the extent that a definite approach has been worked out for handling them </a:t>
            </a:r>
          </a:p>
          <a:p>
            <a:r>
              <a:rPr lang="en-GB" dirty="0"/>
              <a:t>Programmed decision making is relatively simple and tends to rely heavily on previous solutions </a:t>
            </a:r>
            <a:endParaRPr lang="en-IN" dirty="0"/>
          </a:p>
        </p:txBody>
      </p:sp>
    </p:spTree>
    <p:extLst>
      <p:ext uri="{BB962C8B-B14F-4D97-AF65-F5344CB8AC3E}">
        <p14:creationId xmlns:p14="http://schemas.microsoft.com/office/powerpoint/2010/main" val="3126741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Programmed decisions</a:t>
            </a:r>
            <a:endParaRPr lang="en-IN" dirty="0"/>
          </a:p>
        </p:txBody>
      </p:sp>
      <p:sp>
        <p:nvSpPr>
          <p:cNvPr id="3" name="Content Placeholder 2"/>
          <p:cNvSpPr>
            <a:spLocks noGrp="1"/>
          </p:cNvSpPr>
          <p:nvPr>
            <p:ph idx="1"/>
          </p:nvPr>
        </p:nvSpPr>
        <p:spPr/>
        <p:txBody>
          <a:bodyPr>
            <a:normAutofit fontScale="85000" lnSpcReduction="20000"/>
          </a:bodyPr>
          <a:lstStyle/>
          <a:p>
            <a:r>
              <a:rPr lang="en-GB" dirty="0"/>
              <a:t>T</a:t>
            </a:r>
            <a:r>
              <a:rPr lang="en-GB" dirty="0" smtClean="0"/>
              <a:t>he </a:t>
            </a:r>
            <a:r>
              <a:rPr lang="en-GB" dirty="0"/>
              <a:t>manager falls back on a systematic </a:t>
            </a:r>
            <a:r>
              <a:rPr lang="en-GB" i="1" dirty="0"/>
              <a:t>procedure</a:t>
            </a:r>
            <a:r>
              <a:rPr lang="en-GB" dirty="0"/>
              <a:t>, </a:t>
            </a:r>
            <a:r>
              <a:rPr lang="en-GB" i="1" dirty="0"/>
              <a:t>rule</a:t>
            </a:r>
            <a:r>
              <a:rPr lang="en-GB" dirty="0"/>
              <a:t>, or </a:t>
            </a:r>
            <a:r>
              <a:rPr lang="en-GB" i="1" dirty="0"/>
              <a:t>policy</a:t>
            </a:r>
          </a:p>
          <a:p>
            <a:r>
              <a:rPr lang="en-GB" dirty="0"/>
              <a:t>A </a:t>
            </a:r>
            <a:r>
              <a:rPr lang="en-GB" b="1" dirty="0"/>
              <a:t>procedure</a:t>
            </a:r>
            <a:r>
              <a:rPr lang="en-GB" dirty="0"/>
              <a:t> is a series of interrelated sequential steps that a manager can use for responding to a structured problem. </a:t>
            </a:r>
          </a:p>
          <a:p>
            <a:r>
              <a:rPr lang="en-GB" dirty="0"/>
              <a:t>A </a:t>
            </a:r>
            <a:r>
              <a:rPr lang="en-GB" b="1" dirty="0"/>
              <a:t>rule</a:t>
            </a:r>
            <a:r>
              <a:rPr lang="en-GB" dirty="0"/>
              <a:t> is an explicit statement that tells a manager what he or she can or cannot do. </a:t>
            </a:r>
          </a:p>
          <a:p>
            <a:r>
              <a:rPr lang="en-IN" dirty="0" smtClean="0"/>
              <a:t>A </a:t>
            </a:r>
            <a:r>
              <a:rPr lang="en-IN" b="1" dirty="0" smtClean="0"/>
              <a:t>policy</a:t>
            </a:r>
            <a:r>
              <a:rPr lang="en-IN" dirty="0" smtClean="0"/>
              <a:t> </a:t>
            </a:r>
            <a:r>
              <a:rPr lang="en-GB" dirty="0"/>
              <a:t>provides guidelines to channel a manager's thinking in a specific direction. In contrast to a rule, a policy establishes parameters for the decision maker rather than specifically stating what should or should not be done </a:t>
            </a:r>
            <a:r>
              <a:rPr lang="en-IN" dirty="0" smtClean="0"/>
              <a:t>  </a:t>
            </a:r>
            <a:endParaRPr lang="en-IN" dirty="0"/>
          </a:p>
          <a:p>
            <a:endParaRPr lang="en-IN" dirty="0"/>
          </a:p>
          <a:p>
            <a:endParaRPr lang="en-IN" dirty="0"/>
          </a:p>
        </p:txBody>
      </p:sp>
    </p:spTree>
    <p:extLst>
      <p:ext uri="{BB962C8B-B14F-4D97-AF65-F5344CB8AC3E}">
        <p14:creationId xmlns:p14="http://schemas.microsoft.com/office/powerpoint/2010/main" val="1868414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Poorly Structured Problems and </a:t>
            </a:r>
            <a:r>
              <a:rPr lang="en-GB" b="1" dirty="0" err="1"/>
              <a:t>Nonprogrammed</a:t>
            </a:r>
            <a:r>
              <a:rPr lang="en-GB" b="1" dirty="0"/>
              <a:t> </a:t>
            </a:r>
            <a:r>
              <a:rPr lang="en-GB" b="1" dirty="0" smtClean="0"/>
              <a:t>Decisions</a:t>
            </a:r>
            <a:endParaRPr lang="en-IN" dirty="0"/>
          </a:p>
        </p:txBody>
      </p:sp>
      <p:sp>
        <p:nvSpPr>
          <p:cNvPr id="3" name="Content Placeholder 2"/>
          <p:cNvSpPr>
            <a:spLocks noGrp="1"/>
          </p:cNvSpPr>
          <p:nvPr>
            <p:ph idx="1"/>
          </p:nvPr>
        </p:nvSpPr>
        <p:spPr/>
        <p:txBody>
          <a:bodyPr>
            <a:normAutofit fontScale="77500" lnSpcReduction="20000"/>
          </a:bodyPr>
          <a:lstStyle/>
          <a:p>
            <a:r>
              <a:rPr lang="en-GB" dirty="0"/>
              <a:t>Many organizational situations involve poorly structured problems, which are problems that are new or unusual and for which information is ambiguous or incomplete </a:t>
            </a:r>
          </a:p>
          <a:p>
            <a:r>
              <a:rPr lang="en-GB" dirty="0"/>
              <a:t>When problems are poorly structured, managers must rely on </a:t>
            </a:r>
            <a:r>
              <a:rPr lang="en-GB" dirty="0" err="1"/>
              <a:t>nonprogrammed</a:t>
            </a:r>
            <a:r>
              <a:rPr lang="en-GB" dirty="0"/>
              <a:t> decision making in order to develop unique solutions. </a:t>
            </a:r>
            <a:endParaRPr lang="en-GB" dirty="0" smtClean="0"/>
          </a:p>
          <a:p>
            <a:r>
              <a:rPr lang="en-GB" dirty="0" err="1" smtClean="0"/>
              <a:t>Nonprogrammed</a:t>
            </a:r>
            <a:r>
              <a:rPr lang="en-GB" dirty="0" smtClean="0"/>
              <a:t> </a:t>
            </a:r>
            <a:r>
              <a:rPr lang="en-GB" dirty="0"/>
              <a:t>decisions are unique and nonrecurring. </a:t>
            </a:r>
            <a:endParaRPr lang="en-GB" dirty="0" smtClean="0"/>
          </a:p>
          <a:p>
            <a:r>
              <a:rPr lang="en-GB" dirty="0" smtClean="0"/>
              <a:t>When </a:t>
            </a:r>
            <a:r>
              <a:rPr lang="en-GB" dirty="0"/>
              <a:t>a manager confronts a poorly structured problem, or one that is unique, there is no cut-and-dried solution. </a:t>
            </a:r>
            <a:endParaRPr lang="en-GB" dirty="0" smtClean="0"/>
          </a:p>
          <a:p>
            <a:r>
              <a:rPr lang="en-GB" dirty="0" smtClean="0"/>
              <a:t>It </a:t>
            </a:r>
            <a:r>
              <a:rPr lang="en-GB" dirty="0"/>
              <a:t>requires a custom-made response through </a:t>
            </a:r>
            <a:r>
              <a:rPr lang="en-GB" dirty="0" err="1"/>
              <a:t>nonprogrammed</a:t>
            </a:r>
            <a:r>
              <a:rPr lang="en-GB" dirty="0"/>
              <a:t> decision making</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2607091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Decision-Making </a:t>
            </a:r>
            <a:r>
              <a:rPr lang="en-IN" b="1" dirty="0" smtClean="0"/>
              <a:t>Conditions</a:t>
            </a:r>
            <a:endParaRPr lang="en-IN" dirty="0"/>
          </a:p>
        </p:txBody>
      </p:sp>
      <p:sp>
        <p:nvSpPr>
          <p:cNvPr id="3" name="Content Placeholder 2"/>
          <p:cNvSpPr>
            <a:spLocks noGrp="1"/>
          </p:cNvSpPr>
          <p:nvPr>
            <p:ph idx="1"/>
          </p:nvPr>
        </p:nvSpPr>
        <p:spPr/>
        <p:txBody>
          <a:bodyPr>
            <a:normAutofit fontScale="70000" lnSpcReduction="20000"/>
          </a:bodyPr>
          <a:lstStyle/>
          <a:p>
            <a:r>
              <a:rPr lang="en-IN" b="1" dirty="0" smtClean="0"/>
              <a:t>Certainty</a:t>
            </a:r>
            <a:r>
              <a:rPr lang="en-IN" dirty="0" smtClean="0"/>
              <a:t>: </a:t>
            </a:r>
            <a:r>
              <a:rPr lang="en-GB" dirty="0" smtClean="0"/>
              <a:t>The </a:t>
            </a:r>
            <a:r>
              <a:rPr lang="en-GB" dirty="0"/>
              <a:t>ideal situation for making decisions is one of certainty, that is, a situation in which a manager can make accurate decisions because the outcome of every alternative is known </a:t>
            </a:r>
          </a:p>
          <a:p>
            <a:r>
              <a:rPr lang="en-IN" b="1" dirty="0" smtClean="0"/>
              <a:t>Risk: </a:t>
            </a:r>
            <a:r>
              <a:rPr lang="en-GB" dirty="0" smtClean="0"/>
              <a:t>A </a:t>
            </a:r>
            <a:r>
              <a:rPr lang="en-GB" dirty="0"/>
              <a:t>far more common situation is one of risk, those conditions in which the decision maker is able to estimate the likelihood of certain alternatives or outcomes. The ability to assign probabilities to outcomes may be the result of personal experiences or secondary </a:t>
            </a:r>
            <a:r>
              <a:rPr lang="en-GB" dirty="0" smtClean="0"/>
              <a:t>information</a:t>
            </a:r>
            <a:r>
              <a:rPr lang="en-IN" dirty="0" smtClean="0"/>
              <a:t> </a:t>
            </a:r>
          </a:p>
          <a:p>
            <a:r>
              <a:rPr lang="en-IN" b="1" dirty="0" smtClean="0"/>
              <a:t>Uncertainty</a:t>
            </a:r>
            <a:r>
              <a:rPr lang="en-IN" dirty="0" smtClean="0"/>
              <a:t>: </a:t>
            </a:r>
            <a:r>
              <a:rPr lang="en-GB" dirty="0" smtClean="0"/>
              <a:t>What </a:t>
            </a:r>
            <a:r>
              <a:rPr lang="en-GB" dirty="0"/>
              <a:t>happens if you have a decision to make when you're not certain about the outcomes and can't even make reasonable probability estimates? We call such a condition uncertainty. Managers do face decision-making situations of uncertainty. Under conditions of uncertainty, the choice of alternative is influenced by the limited amount of information available to the decision maker</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3628769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Decision-Making </a:t>
            </a:r>
            <a:r>
              <a:rPr lang="en-IN" b="1" dirty="0" smtClean="0"/>
              <a:t>Styles</a:t>
            </a:r>
            <a:endParaRPr lang="en-IN" dirty="0"/>
          </a:p>
        </p:txBody>
      </p:sp>
      <p:sp>
        <p:nvSpPr>
          <p:cNvPr id="3" name="Content Placeholder 2"/>
          <p:cNvSpPr>
            <a:spLocks noGrp="1"/>
          </p:cNvSpPr>
          <p:nvPr>
            <p:ph idx="1"/>
          </p:nvPr>
        </p:nvSpPr>
        <p:spPr/>
        <p:txBody>
          <a:bodyPr>
            <a:normAutofit fontScale="70000" lnSpcReduction="20000"/>
          </a:bodyPr>
          <a:lstStyle/>
          <a:p>
            <a:r>
              <a:rPr lang="en-GB" dirty="0"/>
              <a:t>The first is an individual's </a:t>
            </a:r>
            <a:r>
              <a:rPr lang="en-GB" i="1" dirty="0"/>
              <a:t>way of thinking</a:t>
            </a:r>
            <a:r>
              <a:rPr lang="en-GB" dirty="0"/>
              <a:t>. Some of us tend to be rational and logical in the way we think or process information. A rational type looks at information in order and makes sure that it's logical and consistent before making a decision. Others of us tend to be creative and intuitive. Intuitive types don't have to process information in a certain order but are comfortable looking at it as a whole</a:t>
            </a:r>
            <a:r>
              <a:rPr lang="en-GB" dirty="0" smtClean="0"/>
              <a:t>.</a:t>
            </a:r>
          </a:p>
          <a:p>
            <a:pPr marL="0" indent="0">
              <a:buNone/>
            </a:pPr>
            <a:endParaRPr lang="en-IN" dirty="0"/>
          </a:p>
          <a:p>
            <a:r>
              <a:rPr lang="en-GB" dirty="0"/>
              <a:t>The other dimension describes an individual's </a:t>
            </a:r>
            <a:r>
              <a:rPr lang="en-GB" i="1" dirty="0"/>
              <a:t>tolerance for ambiguity</a:t>
            </a:r>
            <a:r>
              <a:rPr lang="en-GB" dirty="0"/>
              <a:t>. Again, some of us have a low tolerance for ambiguity. These types must have consistency and order in the way they structure information so that ambiguity is minimized. On the other hand, some of us can tolerate high levels of ambiguity and are able to process many thoughts at the same time. </a:t>
            </a:r>
          </a:p>
        </p:txBody>
      </p:sp>
    </p:spTree>
    <p:extLst>
      <p:ext uri="{BB962C8B-B14F-4D97-AF65-F5344CB8AC3E}">
        <p14:creationId xmlns:p14="http://schemas.microsoft.com/office/powerpoint/2010/main" val="2397270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GB" dirty="0" smtClean="0"/>
              <a:t>Decision-making styles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74735201"/>
              </p:ext>
            </p:extLst>
          </p:nvPr>
        </p:nvGraphicFramePr>
        <p:xfrm>
          <a:off x="457200" y="762000"/>
          <a:ext cx="8229600" cy="594360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GB" dirty="0" smtClean="0"/>
                        <a:t>DIRECTIVE</a:t>
                      </a:r>
                      <a:r>
                        <a:rPr lang="en-GB" baseline="0" dirty="0" smtClean="0"/>
                        <a:t> STYLE OF DECISION-MAKING</a:t>
                      </a:r>
                    </a:p>
                    <a:p>
                      <a:endParaRPr lang="en-GB" baseline="0" dirty="0" smtClean="0"/>
                    </a:p>
                    <a:p>
                      <a:r>
                        <a:rPr lang="en-GB" b="0" baseline="0" dirty="0" smtClean="0"/>
                        <a:t>Managers  have </a:t>
                      </a:r>
                      <a:r>
                        <a:rPr lang="en-GB" sz="1800" b="0" i="0" u="none" strike="noStrike" kern="1200" baseline="0" dirty="0" smtClean="0">
                          <a:solidFill>
                            <a:schemeClr val="lt1"/>
                          </a:solidFill>
                          <a:latin typeface="+mn-lt"/>
                          <a:ea typeface="+mn-ea"/>
                          <a:cs typeface="+mn-cs"/>
                        </a:rPr>
                        <a:t>low tolerance for ambiguity and are  rational in their way of thinking. They're efficient and logical. Directive types make fast decisions and focus on the short run. Their efficiency and speed in making decisions often result in their making decisions with minimal information and assessing few alternatives</a:t>
                      </a:r>
                    </a:p>
                  </a:txBody>
                  <a:tcPr/>
                </a:tc>
                <a:tc>
                  <a:txBody>
                    <a:bodyPr/>
                    <a:lstStyle/>
                    <a:p>
                      <a:r>
                        <a:rPr lang="en-GB" dirty="0" smtClean="0"/>
                        <a:t>ANALYTIC STYLE OF DECISION-MAKING</a:t>
                      </a:r>
                    </a:p>
                    <a:p>
                      <a:endParaRPr lang="en-GB" dirty="0" smtClean="0"/>
                    </a:p>
                    <a:p>
                      <a:r>
                        <a:rPr lang="en-GB" b="0" dirty="0" smtClean="0"/>
                        <a:t>Managers have </a:t>
                      </a:r>
                      <a:r>
                        <a:rPr lang="en-IN" sz="1800" b="0" i="0" u="none" strike="noStrike" kern="1200" baseline="0" dirty="0" smtClean="0">
                          <a:solidFill>
                            <a:schemeClr val="lt1"/>
                          </a:solidFill>
                          <a:latin typeface="+mn-lt"/>
                          <a:ea typeface="+mn-ea"/>
                          <a:cs typeface="+mn-cs"/>
                        </a:rPr>
                        <a:t> </a:t>
                      </a:r>
                      <a:r>
                        <a:rPr lang="en-GB" sz="1800" b="0" i="0" u="none" strike="noStrike" kern="1200" baseline="0" dirty="0" smtClean="0">
                          <a:solidFill>
                            <a:schemeClr val="lt1"/>
                          </a:solidFill>
                          <a:latin typeface="+mn-lt"/>
                          <a:ea typeface="+mn-ea"/>
                          <a:cs typeface="+mn-cs"/>
                        </a:rPr>
                        <a:t>much greater tolerance for ambiguity than do directive types. They want more information before making a decision and consider more alternatives than a directive-style decision maker does. Analytic decision makers are best characterized as careful decision makers with the ability to adapt or cope with unique situations</a:t>
                      </a:r>
                    </a:p>
                  </a:txBody>
                  <a:tcPr/>
                </a:tc>
              </a:tr>
              <a:tr h="370840">
                <a:tc>
                  <a:txBody>
                    <a:bodyPr/>
                    <a:lstStyle/>
                    <a:p>
                      <a:r>
                        <a:rPr lang="en-GB" b="1" dirty="0" smtClean="0"/>
                        <a:t>CONCEPTUAL STYLE OF DECISION-MAKING</a:t>
                      </a:r>
                    </a:p>
                    <a:p>
                      <a:endParaRPr lang="en-GB" dirty="0" smtClean="0"/>
                    </a:p>
                    <a:p>
                      <a:r>
                        <a:rPr lang="en-GB" dirty="0" smtClean="0"/>
                        <a:t>Managers </a:t>
                      </a:r>
                      <a:r>
                        <a:rPr lang="en-GB" sz="1800" b="0" i="0" u="none" strike="noStrike" kern="1200" baseline="0" dirty="0" smtClean="0">
                          <a:solidFill>
                            <a:schemeClr val="dk1"/>
                          </a:solidFill>
                          <a:latin typeface="+mn-lt"/>
                          <a:ea typeface="+mn-ea"/>
                          <a:cs typeface="+mn-cs"/>
                        </a:rPr>
                        <a:t>tend to be very broad in their outlook and will look at many alternatives. They focus on the long run and are very good at finding creative solutions to problems.</a:t>
                      </a:r>
                    </a:p>
                  </a:txBody>
                  <a:tcPr/>
                </a:tc>
                <a:tc>
                  <a:txBody>
                    <a:bodyPr/>
                    <a:lstStyle/>
                    <a:p>
                      <a:r>
                        <a:rPr lang="en-GB" b="1" dirty="0" smtClean="0"/>
                        <a:t>BEHAVIORAL STYLE OF DECISION-MAKING</a:t>
                      </a:r>
                    </a:p>
                    <a:p>
                      <a:endParaRPr lang="en-GB" dirty="0" smtClean="0"/>
                    </a:p>
                    <a:p>
                      <a:r>
                        <a:rPr lang="en-GB" dirty="0" smtClean="0"/>
                        <a:t>Managers </a:t>
                      </a:r>
                      <a:r>
                        <a:rPr lang="en-GB" sz="1800" b="0" i="0" u="none" strike="noStrike" kern="1200" baseline="0" dirty="0" smtClean="0">
                          <a:solidFill>
                            <a:schemeClr val="dk1"/>
                          </a:solidFill>
                          <a:latin typeface="+mn-lt"/>
                          <a:ea typeface="+mn-ea"/>
                          <a:cs typeface="+mn-cs"/>
                        </a:rPr>
                        <a:t>work well with others. They're concerned about the achievements of subordinates and are receptive to suggestions from others. They often use meetings to communicate, although they try to avoid conflict. Acceptance by others is important to this decision-making style</a:t>
                      </a:r>
                    </a:p>
                  </a:txBody>
                  <a:tcPr/>
                </a:tc>
              </a:tr>
            </a:tbl>
          </a:graphicData>
        </a:graphic>
      </p:graphicFrame>
    </p:spTree>
    <p:extLst>
      <p:ext uri="{BB962C8B-B14F-4D97-AF65-F5344CB8AC3E}">
        <p14:creationId xmlns:p14="http://schemas.microsoft.com/office/powerpoint/2010/main" val="2890934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400"/>
            <a:ext cx="8229600" cy="1143000"/>
          </a:xfrm>
        </p:spPr>
        <p:txBody>
          <a:bodyPr>
            <a:normAutofit fontScale="90000"/>
          </a:bodyPr>
          <a:lstStyle/>
          <a:p>
            <a:r>
              <a:rPr lang="en-GB" dirty="0" smtClean="0"/>
              <a:t>GROUP AND TEAM DECISION-MAKING IN ORGANIZATIONS</a:t>
            </a:r>
            <a:endParaRPr lang="en-IN" dirty="0"/>
          </a:p>
        </p:txBody>
      </p:sp>
    </p:spTree>
    <p:extLst>
      <p:ext uri="{BB962C8B-B14F-4D97-AF65-F5344CB8AC3E}">
        <p14:creationId xmlns:p14="http://schemas.microsoft.com/office/powerpoint/2010/main" val="482814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Forms of Group and Team Decision Making</a:t>
            </a:r>
            <a:endParaRPr lang="en-IN" dirty="0"/>
          </a:p>
        </p:txBody>
      </p:sp>
      <p:sp>
        <p:nvSpPr>
          <p:cNvPr id="3" name="Content Placeholder 2"/>
          <p:cNvSpPr>
            <a:spLocks noGrp="1"/>
          </p:cNvSpPr>
          <p:nvPr>
            <p:ph idx="1"/>
          </p:nvPr>
        </p:nvSpPr>
        <p:spPr>
          <a:xfrm>
            <a:off x="457200" y="1600200"/>
            <a:ext cx="8229600" cy="4800600"/>
          </a:xfrm>
        </p:spPr>
        <p:txBody>
          <a:bodyPr>
            <a:normAutofit fontScale="62500" lnSpcReduction="20000"/>
          </a:bodyPr>
          <a:lstStyle/>
          <a:p>
            <a:r>
              <a:rPr lang="en-GB" b="1" i="1" dirty="0"/>
              <a:t>Interacting Groups or Teams </a:t>
            </a:r>
            <a:endParaRPr lang="en-GB" b="1" i="1" dirty="0" smtClean="0"/>
          </a:p>
          <a:p>
            <a:r>
              <a:rPr lang="en-GB" b="1" dirty="0" smtClean="0"/>
              <a:t>Interacting </a:t>
            </a:r>
            <a:r>
              <a:rPr lang="en-GB" b="1" dirty="0"/>
              <a:t>groups or teams </a:t>
            </a:r>
            <a:r>
              <a:rPr lang="en-GB" dirty="0"/>
              <a:t>are the most </a:t>
            </a:r>
            <a:r>
              <a:rPr lang="en-GB" dirty="0" smtClean="0"/>
              <a:t>common decision-making </a:t>
            </a:r>
            <a:r>
              <a:rPr lang="en-GB" dirty="0"/>
              <a:t>group. </a:t>
            </a:r>
            <a:endParaRPr lang="en-GB" dirty="0" smtClean="0"/>
          </a:p>
          <a:p>
            <a:r>
              <a:rPr lang="en-GB" dirty="0" smtClean="0"/>
              <a:t>The </a:t>
            </a:r>
            <a:r>
              <a:rPr lang="en-GB" dirty="0"/>
              <a:t>format is simple—either an existing or a newly designated </a:t>
            </a:r>
            <a:r>
              <a:rPr lang="en-GB" dirty="0" smtClean="0"/>
              <a:t>group or </a:t>
            </a:r>
            <a:r>
              <a:rPr lang="en-GB" dirty="0"/>
              <a:t>team is asked </a:t>
            </a:r>
            <a:r>
              <a:rPr lang="en-GB" dirty="0" smtClean="0"/>
              <a:t>to make </a:t>
            </a:r>
            <a:r>
              <a:rPr lang="en-GB" dirty="0"/>
              <a:t>a decision. </a:t>
            </a:r>
            <a:endParaRPr lang="en-GB" dirty="0" smtClean="0"/>
          </a:p>
          <a:p>
            <a:r>
              <a:rPr lang="en-GB" dirty="0" smtClean="0"/>
              <a:t>Existing </a:t>
            </a:r>
            <a:r>
              <a:rPr lang="en-GB" dirty="0"/>
              <a:t>groups or </a:t>
            </a:r>
            <a:r>
              <a:rPr lang="en-GB" dirty="0" smtClean="0"/>
              <a:t>teams might </a:t>
            </a:r>
            <a:r>
              <a:rPr lang="en-GB" dirty="0"/>
              <a:t>be functional departments</a:t>
            </a:r>
            <a:r>
              <a:rPr lang="en-GB" dirty="0" smtClean="0"/>
              <a:t>, regular </a:t>
            </a:r>
            <a:r>
              <a:rPr lang="en-GB" dirty="0"/>
              <a:t>work teams, or standing committees. </a:t>
            </a:r>
            <a:endParaRPr lang="en-GB" dirty="0" smtClean="0"/>
          </a:p>
          <a:p>
            <a:r>
              <a:rPr lang="en-GB" dirty="0" smtClean="0"/>
              <a:t>Newly </a:t>
            </a:r>
            <a:r>
              <a:rPr lang="en-GB" dirty="0"/>
              <a:t>designated groups or teams can be ad </a:t>
            </a:r>
            <a:r>
              <a:rPr lang="en-GB" dirty="0" smtClean="0"/>
              <a:t>hoc committees</a:t>
            </a:r>
            <a:r>
              <a:rPr lang="en-GB" dirty="0"/>
              <a:t>, task forces, or newly constituted work teams. </a:t>
            </a:r>
            <a:endParaRPr lang="en-GB" dirty="0" smtClean="0"/>
          </a:p>
          <a:p>
            <a:r>
              <a:rPr lang="en-GB" dirty="0" smtClean="0"/>
              <a:t>The </a:t>
            </a:r>
            <a:r>
              <a:rPr lang="en-GB" dirty="0"/>
              <a:t>group or team members </a:t>
            </a:r>
            <a:r>
              <a:rPr lang="en-GB" dirty="0" smtClean="0"/>
              <a:t>talk among </a:t>
            </a:r>
            <a:r>
              <a:rPr lang="en-GB" dirty="0"/>
              <a:t>themselves, argue, agree, form internal coalitions, and so forth. </a:t>
            </a:r>
            <a:endParaRPr lang="en-GB" dirty="0" smtClean="0"/>
          </a:p>
          <a:p>
            <a:r>
              <a:rPr lang="en-GB" dirty="0" smtClean="0"/>
              <a:t>Finally</a:t>
            </a:r>
            <a:r>
              <a:rPr lang="en-GB" dirty="0"/>
              <a:t>, after </a:t>
            </a:r>
            <a:r>
              <a:rPr lang="en-GB" dirty="0" smtClean="0"/>
              <a:t>some period </a:t>
            </a:r>
            <a:r>
              <a:rPr lang="en-GB" dirty="0"/>
              <a:t>of deliberation, the group or team makes its decision. </a:t>
            </a:r>
            <a:endParaRPr lang="en-GB" dirty="0" smtClean="0"/>
          </a:p>
          <a:p>
            <a:r>
              <a:rPr lang="en-GB" dirty="0" smtClean="0"/>
              <a:t>An </a:t>
            </a:r>
            <a:r>
              <a:rPr lang="en-GB" dirty="0"/>
              <a:t>advantage of this method </a:t>
            </a:r>
            <a:r>
              <a:rPr lang="en-GB" dirty="0" smtClean="0"/>
              <a:t>is that </a:t>
            </a:r>
            <a:r>
              <a:rPr lang="en-GB" dirty="0"/>
              <a:t>the interaction among people often sparks new ideas and promotes understanding. </a:t>
            </a:r>
            <a:endParaRPr lang="en-GB" dirty="0" smtClean="0"/>
          </a:p>
          <a:p>
            <a:r>
              <a:rPr lang="en-GB" dirty="0" smtClean="0"/>
              <a:t>A major </a:t>
            </a:r>
            <a:r>
              <a:rPr lang="en-GB" dirty="0"/>
              <a:t>disadvantage, though, is that political processes can play too big a role.</a:t>
            </a:r>
            <a:endParaRPr lang="en-IN" dirty="0"/>
          </a:p>
        </p:txBody>
      </p:sp>
    </p:spTree>
    <p:extLst>
      <p:ext uri="{BB962C8B-B14F-4D97-AF65-F5344CB8AC3E}">
        <p14:creationId xmlns:p14="http://schemas.microsoft.com/office/powerpoint/2010/main" val="2089925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Delphi Groups</a:t>
            </a:r>
            <a:endParaRPr lang="en-IN" dirty="0"/>
          </a:p>
        </p:txBody>
      </p:sp>
      <p:sp>
        <p:nvSpPr>
          <p:cNvPr id="3" name="Content Placeholder 2"/>
          <p:cNvSpPr>
            <a:spLocks noGrp="1"/>
          </p:cNvSpPr>
          <p:nvPr>
            <p:ph idx="1"/>
          </p:nvPr>
        </p:nvSpPr>
        <p:spPr/>
        <p:txBody>
          <a:bodyPr>
            <a:normAutofit fontScale="55000" lnSpcReduction="20000"/>
          </a:bodyPr>
          <a:lstStyle/>
          <a:p>
            <a:r>
              <a:rPr lang="en-GB" dirty="0"/>
              <a:t>A </a:t>
            </a:r>
            <a:r>
              <a:rPr lang="en-GB" b="1" dirty="0"/>
              <a:t>Delphi group </a:t>
            </a:r>
            <a:r>
              <a:rPr lang="en-GB" dirty="0"/>
              <a:t>is sometimes used to arrive at a consensus of </a:t>
            </a:r>
            <a:r>
              <a:rPr lang="en-GB" dirty="0" smtClean="0"/>
              <a:t>expert opinion</a:t>
            </a:r>
            <a:r>
              <a:rPr lang="en-GB" dirty="0"/>
              <a:t>. </a:t>
            </a:r>
            <a:endParaRPr lang="en-GB" dirty="0" smtClean="0"/>
          </a:p>
          <a:p>
            <a:r>
              <a:rPr lang="en-GB" dirty="0" smtClean="0"/>
              <a:t>Developed </a:t>
            </a:r>
            <a:r>
              <a:rPr lang="en-GB" dirty="0"/>
              <a:t>by the Rand Corporation, the Delphi procedure solicits input from </a:t>
            </a:r>
            <a:r>
              <a:rPr lang="en-GB" dirty="0" smtClean="0"/>
              <a:t>a panel </a:t>
            </a:r>
            <a:r>
              <a:rPr lang="en-GB" dirty="0"/>
              <a:t>of experts who contribute individually. </a:t>
            </a:r>
            <a:endParaRPr lang="en-GB" dirty="0" smtClean="0"/>
          </a:p>
          <a:p>
            <a:r>
              <a:rPr lang="en-GB" dirty="0" smtClean="0"/>
              <a:t>Their </a:t>
            </a:r>
            <a:r>
              <a:rPr lang="en-GB" dirty="0"/>
              <a:t>opinions are combined and, in </a:t>
            </a:r>
            <a:r>
              <a:rPr lang="en-GB" dirty="0" smtClean="0"/>
              <a:t>effect, </a:t>
            </a:r>
            <a:r>
              <a:rPr lang="en-IN" dirty="0" smtClean="0"/>
              <a:t>averaged.</a:t>
            </a:r>
          </a:p>
          <a:p>
            <a:r>
              <a:rPr lang="en-IN" dirty="0"/>
              <a:t>The first </a:t>
            </a:r>
            <a:r>
              <a:rPr lang="en-IN" dirty="0" smtClean="0"/>
              <a:t>step </a:t>
            </a:r>
            <a:r>
              <a:rPr lang="en-GB" dirty="0" smtClean="0"/>
              <a:t>in </a:t>
            </a:r>
            <a:r>
              <a:rPr lang="en-GB" dirty="0"/>
              <a:t>using the Delphi procedure is to obtain the cooperation of a panel of experts. </a:t>
            </a:r>
            <a:r>
              <a:rPr lang="en-GB" dirty="0" smtClean="0"/>
              <a:t>For this </a:t>
            </a:r>
            <a:r>
              <a:rPr lang="en-GB" dirty="0"/>
              <a:t>situation, experts might include various research scientists, university </a:t>
            </a:r>
            <a:r>
              <a:rPr lang="en-GB" dirty="0" smtClean="0"/>
              <a:t>researchers, and </a:t>
            </a:r>
            <a:r>
              <a:rPr lang="en-GB" dirty="0"/>
              <a:t>executives in a relevant energy industry. </a:t>
            </a:r>
            <a:endParaRPr lang="en-GB" dirty="0" smtClean="0"/>
          </a:p>
          <a:p>
            <a:r>
              <a:rPr lang="en-GB" dirty="0" smtClean="0"/>
              <a:t>At </a:t>
            </a:r>
            <a:r>
              <a:rPr lang="en-GB" dirty="0"/>
              <a:t>first, the experts are asked to </a:t>
            </a:r>
            <a:r>
              <a:rPr lang="en-GB" dirty="0" smtClean="0"/>
              <a:t>anonymously predict </a:t>
            </a:r>
            <a:r>
              <a:rPr lang="en-GB" dirty="0"/>
              <a:t>a time frame for the expected breakthrough</a:t>
            </a:r>
            <a:r>
              <a:rPr lang="en-GB" dirty="0" smtClean="0"/>
              <a:t>.</a:t>
            </a:r>
          </a:p>
          <a:p>
            <a:r>
              <a:rPr lang="en-GB" dirty="0" smtClean="0"/>
              <a:t>The </a:t>
            </a:r>
            <a:r>
              <a:rPr lang="en-GB" dirty="0"/>
              <a:t>persons </a:t>
            </a:r>
            <a:r>
              <a:rPr lang="en-GB" dirty="0" smtClean="0"/>
              <a:t>coordinating the </a:t>
            </a:r>
            <a:r>
              <a:rPr lang="en-GB" dirty="0"/>
              <a:t>Delphi group collect the responses, average them, and ask the experts for </a:t>
            </a:r>
            <a:r>
              <a:rPr lang="en-GB" dirty="0" smtClean="0"/>
              <a:t>another prediction</a:t>
            </a:r>
            <a:r>
              <a:rPr lang="en-GB" dirty="0"/>
              <a:t>. In this round, the experts who provided unusual or extreme </a:t>
            </a:r>
            <a:r>
              <a:rPr lang="en-GB" dirty="0" smtClean="0"/>
              <a:t>predictions may </a:t>
            </a:r>
            <a:r>
              <a:rPr lang="en-GB" dirty="0"/>
              <a:t>be asked to justify them. These explanations may then be relayed to the </a:t>
            </a:r>
            <a:r>
              <a:rPr lang="en-GB" dirty="0" smtClean="0"/>
              <a:t>other experts</a:t>
            </a:r>
            <a:r>
              <a:rPr lang="en-GB" dirty="0"/>
              <a:t>. </a:t>
            </a:r>
            <a:endParaRPr lang="en-GB" dirty="0" smtClean="0"/>
          </a:p>
          <a:p>
            <a:r>
              <a:rPr lang="en-GB" dirty="0" smtClean="0"/>
              <a:t>When </a:t>
            </a:r>
            <a:r>
              <a:rPr lang="en-GB" dirty="0"/>
              <a:t>the predictions stabilize, the average prediction is taken to represent </a:t>
            </a:r>
            <a:r>
              <a:rPr lang="en-GB" dirty="0" smtClean="0"/>
              <a:t>the decision </a:t>
            </a:r>
            <a:r>
              <a:rPr lang="en-GB" dirty="0"/>
              <a:t>of the group of experts. The time, expense, and logistics of the Delphi </a:t>
            </a:r>
            <a:r>
              <a:rPr lang="en-GB" dirty="0" smtClean="0"/>
              <a:t>technique rule </a:t>
            </a:r>
            <a:r>
              <a:rPr lang="en-GB" dirty="0"/>
              <a:t>out its use for routine, everyday decisions, but it has been successfully used for </a:t>
            </a:r>
            <a:r>
              <a:rPr lang="en-GB" dirty="0" smtClean="0"/>
              <a:t>forecasting </a:t>
            </a:r>
            <a:r>
              <a:rPr lang="en-IN" dirty="0" smtClean="0"/>
              <a:t>technological </a:t>
            </a:r>
            <a:r>
              <a:rPr lang="en-IN" dirty="0"/>
              <a:t>breakthroughs</a:t>
            </a:r>
            <a:endParaRPr lang="en-IN" dirty="0"/>
          </a:p>
        </p:txBody>
      </p:sp>
    </p:spTree>
    <p:extLst>
      <p:ext uri="{BB962C8B-B14F-4D97-AF65-F5344CB8AC3E}">
        <p14:creationId xmlns:p14="http://schemas.microsoft.com/office/powerpoint/2010/main" val="2508653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Nominal Groups</a:t>
            </a:r>
            <a:endParaRPr lang="en-IN" dirty="0"/>
          </a:p>
        </p:txBody>
      </p:sp>
      <p:sp>
        <p:nvSpPr>
          <p:cNvPr id="3" name="Content Placeholder 2"/>
          <p:cNvSpPr>
            <a:spLocks noGrp="1"/>
          </p:cNvSpPr>
          <p:nvPr>
            <p:ph idx="1"/>
          </p:nvPr>
        </p:nvSpPr>
        <p:spPr>
          <a:xfrm>
            <a:off x="457200" y="1295400"/>
            <a:ext cx="8229600" cy="4830763"/>
          </a:xfrm>
        </p:spPr>
        <p:txBody>
          <a:bodyPr>
            <a:normAutofit fontScale="55000" lnSpcReduction="20000"/>
          </a:bodyPr>
          <a:lstStyle/>
          <a:p>
            <a:r>
              <a:rPr lang="en-GB" dirty="0"/>
              <a:t>Unlike the Delphi method, in which </a:t>
            </a:r>
            <a:r>
              <a:rPr lang="en-GB" dirty="0" smtClean="0"/>
              <a:t>group members </a:t>
            </a:r>
            <a:r>
              <a:rPr lang="en-GB" dirty="0"/>
              <a:t>do not see one another, nominal group members are brought together in </a:t>
            </a:r>
            <a:r>
              <a:rPr lang="en-GB" dirty="0" smtClean="0"/>
              <a:t>a face-to-face </a:t>
            </a:r>
            <a:r>
              <a:rPr lang="en-GB" dirty="0"/>
              <a:t>setting. The members represent a group in name only, however; they </a:t>
            </a:r>
            <a:r>
              <a:rPr lang="en-GB" dirty="0" smtClean="0"/>
              <a:t>do not </a:t>
            </a:r>
            <a:r>
              <a:rPr lang="en-GB" dirty="0"/>
              <a:t>talk to one another freely like the members of interacting groups. </a:t>
            </a:r>
            <a:endParaRPr lang="en-GB" dirty="0" smtClean="0"/>
          </a:p>
          <a:p>
            <a:r>
              <a:rPr lang="en-GB" dirty="0" smtClean="0"/>
              <a:t>Nominal groups are </a:t>
            </a:r>
            <a:r>
              <a:rPr lang="en-GB" dirty="0"/>
              <a:t>used most often to generate creative and innovative alternatives or ideas. </a:t>
            </a:r>
            <a:endParaRPr lang="en-GB" dirty="0" smtClean="0"/>
          </a:p>
          <a:p>
            <a:r>
              <a:rPr lang="en-GB" dirty="0" smtClean="0"/>
              <a:t>To </a:t>
            </a:r>
            <a:r>
              <a:rPr lang="en-GB" dirty="0"/>
              <a:t>begin</a:t>
            </a:r>
            <a:r>
              <a:rPr lang="en-GB" dirty="0" smtClean="0"/>
              <a:t>, the </a:t>
            </a:r>
            <a:r>
              <a:rPr lang="en-GB" dirty="0"/>
              <a:t>manager assembles a group of knowledgeable experts and outlines the problem </a:t>
            </a:r>
            <a:r>
              <a:rPr lang="en-GB" dirty="0" smtClean="0"/>
              <a:t>to them</a:t>
            </a:r>
            <a:r>
              <a:rPr lang="en-GB" dirty="0"/>
              <a:t>. </a:t>
            </a:r>
            <a:endParaRPr lang="en-GB" dirty="0" smtClean="0"/>
          </a:p>
          <a:p>
            <a:r>
              <a:rPr lang="en-GB" dirty="0" smtClean="0"/>
              <a:t>The </a:t>
            </a:r>
            <a:r>
              <a:rPr lang="en-GB" dirty="0"/>
              <a:t>group members are then asked to individually write down as many </a:t>
            </a:r>
            <a:r>
              <a:rPr lang="en-GB" dirty="0" smtClean="0"/>
              <a:t>alternatives as </a:t>
            </a:r>
            <a:r>
              <a:rPr lang="en-GB" dirty="0"/>
              <a:t>they can think of. </a:t>
            </a:r>
            <a:endParaRPr lang="en-GB" dirty="0" smtClean="0"/>
          </a:p>
          <a:p>
            <a:r>
              <a:rPr lang="en-GB" dirty="0" smtClean="0"/>
              <a:t>The </a:t>
            </a:r>
            <a:r>
              <a:rPr lang="en-GB" dirty="0"/>
              <a:t>members then take turns stating their ideas, which </a:t>
            </a:r>
            <a:r>
              <a:rPr lang="en-GB" dirty="0" smtClean="0"/>
              <a:t>are recorded </a:t>
            </a:r>
            <a:r>
              <a:rPr lang="en-GB" dirty="0"/>
              <a:t>on a flip chart or board at the front of the room. </a:t>
            </a:r>
            <a:endParaRPr lang="en-GB" dirty="0" smtClean="0"/>
          </a:p>
          <a:p>
            <a:r>
              <a:rPr lang="en-GB" dirty="0" smtClean="0"/>
              <a:t>Discussion </a:t>
            </a:r>
            <a:r>
              <a:rPr lang="en-GB" dirty="0"/>
              <a:t>is limited to </a:t>
            </a:r>
            <a:r>
              <a:rPr lang="en-GB" dirty="0" smtClean="0"/>
              <a:t>simple clarification</a:t>
            </a:r>
            <a:r>
              <a:rPr lang="en-GB" dirty="0"/>
              <a:t>. </a:t>
            </a:r>
            <a:endParaRPr lang="en-GB" dirty="0" smtClean="0"/>
          </a:p>
          <a:p>
            <a:r>
              <a:rPr lang="en-GB" dirty="0" smtClean="0"/>
              <a:t>After </a:t>
            </a:r>
            <a:r>
              <a:rPr lang="en-GB" dirty="0"/>
              <a:t>all alternatives have been listed, more open discussion takes place.</a:t>
            </a:r>
          </a:p>
          <a:p>
            <a:r>
              <a:rPr lang="en-GB" dirty="0"/>
              <a:t>Group members then vote, usually by rank, ordering the various alternatives. </a:t>
            </a:r>
            <a:endParaRPr lang="en-GB" dirty="0" smtClean="0"/>
          </a:p>
          <a:p>
            <a:r>
              <a:rPr lang="en-GB" dirty="0" smtClean="0"/>
              <a:t>The</a:t>
            </a:r>
            <a:r>
              <a:rPr lang="en-GB" dirty="0"/>
              <a:t> </a:t>
            </a:r>
            <a:r>
              <a:rPr lang="en-GB" dirty="0" smtClean="0"/>
              <a:t>highest-ranking </a:t>
            </a:r>
            <a:r>
              <a:rPr lang="en-GB" dirty="0"/>
              <a:t>alternative represents the decision of the group. </a:t>
            </a:r>
            <a:endParaRPr lang="en-GB" dirty="0" smtClean="0"/>
          </a:p>
          <a:p>
            <a:r>
              <a:rPr lang="en-GB" dirty="0" smtClean="0"/>
              <a:t>Of </a:t>
            </a:r>
            <a:r>
              <a:rPr lang="en-GB" dirty="0"/>
              <a:t>course, the </a:t>
            </a:r>
            <a:r>
              <a:rPr lang="en-GB" dirty="0" smtClean="0"/>
              <a:t>manager in </a:t>
            </a:r>
            <a:r>
              <a:rPr lang="en-GB" dirty="0"/>
              <a:t>charge may retain the authority to accept or reject the group decision</a:t>
            </a:r>
            <a:endParaRPr lang="en-IN" dirty="0"/>
          </a:p>
        </p:txBody>
      </p:sp>
    </p:spTree>
    <p:extLst>
      <p:ext uri="{BB962C8B-B14F-4D97-AF65-F5344CB8AC3E}">
        <p14:creationId xmlns:p14="http://schemas.microsoft.com/office/powerpoint/2010/main" val="30081412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fontScale="90000"/>
          </a:bodyPr>
          <a:lstStyle/>
          <a:p>
            <a:r>
              <a:rPr lang="en-GB" dirty="0" smtClean="0"/>
              <a:t>Advantages and disadvantages of group and team decision-making</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8034064"/>
              </p:ext>
            </p:extLst>
          </p:nvPr>
        </p:nvGraphicFramePr>
        <p:xfrm>
          <a:off x="457200" y="1447800"/>
          <a:ext cx="8229601" cy="5217160"/>
        </p:xfrm>
        <a:graphic>
          <a:graphicData uri="http://schemas.openxmlformats.org/drawingml/2006/table">
            <a:tbl>
              <a:tblPr firstRow="1" bandRow="1">
                <a:tableStyleId>{5C22544A-7EE6-4342-B048-85BDC9FD1C3A}</a:tableStyleId>
              </a:tblPr>
              <a:tblGrid>
                <a:gridCol w="3352800"/>
                <a:gridCol w="4876801"/>
              </a:tblGrid>
              <a:tr h="370840">
                <a:tc>
                  <a:txBody>
                    <a:bodyPr/>
                    <a:lstStyle/>
                    <a:p>
                      <a:r>
                        <a:rPr lang="en-GB" dirty="0" smtClean="0"/>
                        <a:t>Advantages</a:t>
                      </a:r>
                      <a:endParaRPr lang="en-IN" dirty="0"/>
                    </a:p>
                  </a:txBody>
                  <a:tcPr/>
                </a:tc>
                <a:tc>
                  <a:txBody>
                    <a:bodyPr/>
                    <a:lstStyle/>
                    <a:p>
                      <a:r>
                        <a:rPr lang="en-GB" dirty="0" smtClean="0"/>
                        <a:t>Disadvantages</a:t>
                      </a:r>
                      <a:endParaRPr lang="en-IN" dirty="0"/>
                    </a:p>
                  </a:txBody>
                  <a:tcPr/>
                </a:tc>
              </a:tr>
              <a:tr h="370840">
                <a:tc>
                  <a:txBody>
                    <a:bodyPr/>
                    <a:lstStyle/>
                    <a:p>
                      <a:r>
                        <a:rPr lang="en-IN" sz="1800" b="0" i="0" u="none" strike="noStrike" kern="1200" baseline="0" dirty="0" smtClean="0">
                          <a:solidFill>
                            <a:schemeClr val="dk1"/>
                          </a:solidFill>
                          <a:latin typeface="+mn-lt"/>
                          <a:ea typeface="+mn-ea"/>
                          <a:cs typeface="+mn-cs"/>
                        </a:rPr>
                        <a:t>More information and knowledge</a:t>
                      </a:r>
                    </a:p>
                    <a:p>
                      <a:r>
                        <a:rPr lang="en-IN" sz="1800" b="0" i="0" u="none" strike="noStrike" kern="1200" baseline="0" dirty="0" smtClean="0">
                          <a:solidFill>
                            <a:schemeClr val="dk1"/>
                          </a:solidFill>
                          <a:latin typeface="+mn-lt"/>
                          <a:ea typeface="+mn-ea"/>
                          <a:cs typeface="+mn-cs"/>
                        </a:rPr>
                        <a:t>are available.</a:t>
                      </a:r>
                    </a:p>
                  </a:txBody>
                  <a:tcPr/>
                </a:tc>
                <a:tc>
                  <a:txBody>
                    <a:bodyPr/>
                    <a:lstStyle/>
                    <a:p>
                      <a:r>
                        <a:rPr lang="en-GB" sz="1800" b="0" i="0" u="none" strike="noStrike" kern="1200" baseline="0" dirty="0" smtClean="0">
                          <a:solidFill>
                            <a:schemeClr val="dk1"/>
                          </a:solidFill>
                          <a:latin typeface="+mn-lt"/>
                          <a:ea typeface="+mn-ea"/>
                          <a:cs typeface="+mn-cs"/>
                        </a:rPr>
                        <a:t>The process takes longer than individual</a:t>
                      </a:r>
                    </a:p>
                    <a:p>
                      <a:r>
                        <a:rPr lang="en-GB" sz="1800" b="0" i="0" u="none" strike="noStrike" kern="1200" baseline="0" dirty="0" smtClean="0">
                          <a:solidFill>
                            <a:schemeClr val="dk1"/>
                          </a:solidFill>
                          <a:latin typeface="+mn-lt"/>
                          <a:ea typeface="+mn-ea"/>
                          <a:cs typeface="+mn-cs"/>
                        </a:rPr>
                        <a:t>decision making, so it is costlier.</a:t>
                      </a:r>
                      <a:endParaRPr lang="en-IN" dirty="0" smtClean="0"/>
                    </a:p>
                  </a:txBody>
                  <a:tcPr/>
                </a:tc>
              </a:tr>
              <a:tr h="370840">
                <a:tc>
                  <a:txBody>
                    <a:bodyPr/>
                    <a:lstStyle/>
                    <a:p>
                      <a:r>
                        <a:rPr lang="en-GB" sz="1800" b="0" i="0" u="none" strike="noStrike" kern="1200" baseline="0" dirty="0" smtClean="0">
                          <a:solidFill>
                            <a:schemeClr val="dk1"/>
                          </a:solidFill>
                          <a:latin typeface="+mn-lt"/>
                          <a:ea typeface="+mn-ea"/>
                          <a:cs typeface="+mn-cs"/>
                        </a:rPr>
                        <a:t>More alternatives are likely to be</a:t>
                      </a:r>
                    </a:p>
                    <a:p>
                      <a:r>
                        <a:rPr lang="en-IN" sz="1800" b="0" i="0" u="none" strike="noStrike" kern="1200" baseline="0" dirty="0" smtClean="0">
                          <a:solidFill>
                            <a:schemeClr val="dk1"/>
                          </a:solidFill>
                          <a:latin typeface="+mn-lt"/>
                          <a:ea typeface="+mn-ea"/>
                          <a:cs typeface="+mn-cs"/>
                        </a:rPr>
                        <a:t>generated.</a:t>
                      </a:r>
                    </a:p>
                  </a:txBody>
                  <a:tcPr/>
                </a:tc>
                <a:tc>
                  <a:txBody>
                    <a:bodyPr/>
                    <a:lstStyle/>
                    <a:p>
                      <a:r>
                        <a:rPr lang="en-IN" sz="1800" b="0" i="0" u="none" strike="noStrike" kern="1200" baseline="0" dirty="0" smtClean="0">
                          <a:solidFill>
                            <a:schemeClr val="dk1"/>
                          </a:solidFill>
                          <a:latin typeface="+mn-lt"/>
                          <a:ea typeface="+mn-ea"/>
                          <a:cs typeface="+mn-cs"/>
                        </a:rPr>
                        <a:t>Compromise decisions resulting from</a:t>
                      </a:r>
                    </a:p>
                    <a:p>
                      <a:r>
                        <a:rPr lang="en-IN" sz="1800" b="0" i="0" u="none" strike="noStrike" kern="1200" baseline="0" dirty="0" smtClean="0">
                          <a:solidFill>
                            <a:schemeClr val="dk1"/>
                          </a:solidFill>
                          <a:latin typeface="+mn-lt"/>
                          <a:ea typeface="+mn-ea"/>
                          <a:cs typeface="+mn-cs"/>
                        </a:rPr>
                        <a:t>indecisiveness may emerge.</a:t>
                      </a:r>
                    </a:p>
                  </a:txBody>
                  <a:tcPr/>
                </a:tc>
              </a:tr>
              <a:tr h="370840">
                <a:tc>
                  <a:txBody>
                    <a:bodyPr/>
                    <a:lstStyle/>
                    <a:p>
                      <a:r>
                        <a:rPr lang="en-GB" sz="1800" b="0" i="0" u="none" strike="noStrike" kern="1200" baseline="0" dirty="0" smtClean="0">
                          <a:solidFill>
                            <a:schemeClr val="dk1"/>
                          </a:solidFill>
                          <a:latin typeface="+mn-lt"/>
                          <a:ea typeface="+mn-ea"/>
                          <a:cs typeface="+mn-cs"/>
                        </a:rPr>
                        <a:t>More acceptance of the final</a:t>
                      </a:r>
                    </a:p>
                    <a:p>
                      <a:r>
                        <a:rPr lang="en-IN" sz="1800" b="0" i="0" u="none" strike="noStrike" kern="1200" baseline="0" dirty="0" smtClean="0">
                          <a:solidFill>
                            <a:schemeClr val="dk1"/>
                          </a:solidFill>
                          <a:latin typeface="+mn-lt"/>
                          <a:ea typeface="+mn-ea"/>
                          <a:cs typeface="+mn-cs"/>
                        </a:rPr>
                        <a:t>decision is likely.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800" b="0" i="0" u="none" strike="noStrike" kern="1200" baseline="0" dirty="0" smtClean="0">
                          <a:solidFill>
                            <a:schemeClr val="dk1"/>
                          </a:solidFill>
                          <a:latin typeface="+mn-lt"/>
                          <a:ea typeface="+mn-ea"/>
                          <a:cs typeface="+mn-cs"/>
                        </a:rPr>
                        <a:t>One person may dominate the group.</a:t>
                      </a:r>
                      <a:endParaRPr lang="en-IN" sz="1800" b="0" i="0" u="none" strike="noStrike" kern="1200" baseline="0" dirty="0" smtClean="0">
                        <a:solidFill>
                          <a:schemeClr val="dk1"/>
                        </a:solidFill>
                        <a:latin typeface="+mn-lt"/>
                        <a:ea typeface="+mn-ea"/>
                        <a:cs typeface="+mn-cs"/>
                      </a:endParaRPr>
                    </a:p>
                    <a:p>
                      <a:endParaRPr lang="en-IN" sz="1800" b="0" i="0" u="none" strike="noStrike" kern="1200" baseline="0" dirty="0" smtClean="0">
                        <a:solidFill>
                          <a:schemeClr val="dk1"/>
                        </a:solidFill>
                        <a:latin typeface="+mn-lt"/>
                        <a:ea typeface="+mn-ea"/>
                        <a:cs typeface="+mn-cs"/>
                      </a:endParaRPr>
                    </a:p>
                  </a:txBody>
                  <a:tcPr/>
                </a:tc>
              </a:tr>
              <a:tr h="370840">
                <a:tc>
                  <a:txBody>
                    <a:bodyPr/>
                    <a:lstStyle/>
                    <a:p>
                      <a:r>
                        <a:rPr lang="en-IN" sz="1800" b="0" i="0" u="none" strike="noStrike" kern="1200" baseline="0" dirty="0" smtClean="0">
                          <a:solidFill>
                            <a:schemeClr val="dk1"/>
                          </a:solidFill>
                          <a:latin typeface="+mn-lt"/>
                          <a:ea typeface="+mn-ea"/>
                          <a:cs typeface="+mn-cs"/>
                        </a:rPr>
                        <a:t>Enhanced communication of the</a:t>
                      </a:r>
                    </a:p>
                    <a:p>
                      <a:r>
                        <a:rPr lang="en-IN" sz="1800" b="0" i="0" u="none" strike="noStrike" kern="1200" baseline="0" dirty="0" smtClean="0">
                          <a:solidFill>
                            <a:schemeClr val="dk1"/>
                          </a:solidFill>
                          <a:latin typeface="+mn-lt"/>
                          <a:ea typeface="+mn-ea"/>
                          <a:cs typeface="+mn-cs"/>
                        </a:rPr>
                        <a:t>decision may result.</a:t>
                      </a:r>
                    </a:p>
                  </a:txBody>
                  <a:tcPr/>
                </a:tc>
                <a:tc>
                  <a:txBody>
                    <a:bodyPr/>
                    <a:lstStyle/>
                    <a:p>
                      <a:r>
                        <a:rPr lang="en-IN" sz="1800" b="0" i="0" u="none" strike="noStrike" kern="1200" baseline="0" dirty="0" smtClean="0">
                          <a:solidFill>
                            <a:schemeClr val="dk1"/>
                          </a:solidFill>
                          <a:latin typeface="+mn-lt"/>
                          <a:ea typeface="+mn-ea"/>
                          <a:cs typeface="+mn-cs"/>
                        </a:rPr>
                        <a:t>Groupthink may occur. Groupthink </a:t>
                      </a:r>
                      <a:r>
                        <a:rPr lang="en-GB" sz="1800" b="0" i="0" u="none" strike="noStrike" kern="1200" baseline="0" dirty="0" smtClean="0">
                          <a:solidFill>
                            <a:schemeClr val="dk1"/>
                          </a:solidFill>
                          <a:latin typeface="+mn-lt"/>
                          <a:ea typeface="+mn-ea"/>
                          <a:cs typeface="+mn-cs"/>
                        </a:rPr>
                        <a:t>occurs when the desire for consensus and cohesiveness overwhelms the goal of reaching the best possible decision. Under the influence of groupthink, the group may arrive at decisions that are made not in the best interests of either the group or the organization, but rather to avoid conflict among group members</a:t>
                      </a:r>
                      <a:endParaRPr lang="en-IN" sz="1800" b="0" i="0" u="none" strike="noStrike" kern="1200" baseline="0" dirty="0" smtClean="0">
                        <a:solidFill>
                          <a:schemeClr val="dk1"/>
                        </a:solidFill>
                        <a:latin typeface="+mn-lt"/>
                        <a:ea typeface="+mn-ea"/>
                        <a:cs typeface="+mn-cs"/>
                      </a:endParaRPr>
                    </a:p>
                  </a:txBody>
                  <a:tcPr/>
                </a:tc>
              </a:tr>
              <a:tr h="370840">
                <a:tc>
                  <a:txBody>
                    <a:bodyPr/>
                    <a:lstStyle/>
                    <a:p>
                      <a:r>
                        <a:rPr lang="en-IN" sz="1800" b="0" i="0" u="none" strike="noStrike" kern="1200" baseline="0" dirty="0" smtClean="0">
                          <a:solidFill>
                            <a:schemeClr val="dk1"/>
                          </a:solidFill>
                          <a:latin typeface="+mn-lt"/>
                          <a:ea typeface="+mn-ea"/>
                          <a:cs typeface="+mn-cs"/>
                        </a:rPr>
                        <a:t>Better decisions generally emerge.</a:t>
                      </a:r>
                    </a:p>
                  </a:txBody>
                  <a:tcPr/>
                </a:tc>
                <a:tc>
                  <a:txBody>
                    <a:bodyPr/>
                    <a:lstStyle/>
                    <a:p>
                      <a:endParaRPr lang="en-IN" sz="1800" b="0" i="0" u="none" strike="noStrike" kern="1200" baseline="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238151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2794</Words>
  <Application>Microsoft Office PowerPoint</Application>
  <PresentationFormat>On-screen Show (4:3)</PresentationFormat>
  <Paragraphs>206</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Decision Making</vt:lpstr>
      <vt:lpstr>Decision-Making Process</vt:lpstr>
      <vt:lpstr>Steps in Decision-Making Process</vt:lpstr>
      <vt:lpstr>Identifying the problem</vt:lpstr>
      <vt:lpstr>Identifying decision criteria</vt:lpstr>
      <vt:lpstr>Allocating weights to the criteria</vt:lpstr>
      <vt:lpstr>Developing alternatives</vt:lpstr>
      <vt:lpstr>Analyzing Alternatives</vt:lpstr>
      <vt:lpstr>Selecting an alternative</vt:lpstr>
      <vt:lpstr>Implementing the alternative</vt:lpstr>
      <vt:lpstr>Evaluating decision effectiveness</vt:lpstr>
      <vt:lpstr>The pervasiveness of decision-making</vt:lpstr>
      <vt:lpstr>RATIONALITY IN DECISION-MAKING</vt:lpstr>
      <vt:lpstr>Assumptions of Rationality</vt:lpstr>
      <vt:lpstr>How realistic are these assumptions about rationality? </vt:lpstr>
      <vt:lpstr>Bounded rationality</vt:lpstr>
      <vt:lpstr>Bounded rationality in decisions</vt:lpstr>
      <vt:lpstr>Role of Intuition</vt:lpstr>
      <vt:lpstr>What is Intuition?</vt:lpstr>
      <vt:lpstr>Types of problems and decisions</vt:lpstr>
      <vt:lpstr>Programmed decisions</vt:lpstr>
      <vt:lpstr>Poorly Structured Problems and Nonprogrammed Decisions</vt:lpstr>
      <vt:lpstr>Decision-Making Conditions</vt:lpstr>
      <vt:lpstr>Decision-Making Styles</vt:lpstr>
      <vt:lpstr>Decision-making styles</vt:lpstr>
      <vt:lpstr>GROUP AND TEAM DECISION-MAKING IN ORGANIZATIONS</vt:lpstr>
      <vt:lpstr>Forms of Group and Team Decision Making</vt:lpstr>
      <vt:lpstr>Delphi Groups</vt:lpstr>
      <vt:lpstr>Nominal Groups</vt:lpstr>
      <vt:lpstr>Advantages and disadvantages of group and team decision-making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Making</dc:title>
  <dc:creator>HP</dc:creator>
  <cp:lastModifiedBy>HP</cp:lastModifiedBy>
  <cp:revision>11</cp:revision>
  <dcterms:created xsi:type="dcterms:W3CDTF">2006-08-16T00:00:00Z</dcterms:created>
  <dcterms:modified xsi:type="dcterms:W3CDTF">2026-02-25T11:39:30Z</dcterms:modified>
</cp:coreProperties>
</file>