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7" r:id="rId21"/>
    <p:sldId id="266" r:id="rId22"/>
    <p:sldId id="268" r:id="rId23"/>
    <p:sldId id="269" r:id="rId24"/>
    <p:sldId id="271" r:id="rId25"/>
    <p:sldId id="275" r:id="rId26"/>
    <p:sldId id="276" r:id="rId27"/>
    <p:sldId id="270" r:id="rId28"/>
    <p:sldId id="274" r:id="rId29"/>
    <p:sldId id="277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Organizational Diversity and Culture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Session 14</a:t>
            </a:r>
          </a:p>
          <a:p>
            <a:r>
              <a:rPr lang="en-GB" dirty="0" smtClean="0"/>
              <a:t>14</a:t>
            </a:r>
            <a:r>
              <a:rPr lang="en-GB" baseline="30000" dirty="0" smtClean="0"/>
              <a:t>th</a:t>
            </a:r>
            <a:r>
              <a:rPr lang="en-GB" dirty="0" smtClean="0"/>
              <a:t> July, 2026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3774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diversity?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Diversity </a:t>
            </a:r>
            <a:r>
              <a:rPr lang="en-GB" dirty="0"/>
              <a:t>refers to </a:t>
            </a:r>
            <a:r>
              <a:rPr lang="en-GB" u="sng" dirty="0"/>
              <a:t>identity-based differences </a:t>
            </a:r>
            <a:r>
              <a:rPr lang="en-GB" dirty="0"/>
              <a:t>among and between two or more </a:t>
            </a:r>
            <a:r>
              <a:rPr lang="en-GB" dirty="0" smtClean="0"/>
              <a:t>people </a:t>
            </a:r>
            <a:r>
              <a:rPr lang="en-GB" dirty="0"/>
              <a:t>that affect their </a:t>
            </a:r>
            <a:r>
              <a:rPr lang="en-GB" dirty="0" smtClean="0"/>
              <a:t>lives as </a:t>
            </a:r>
            <a:r>
              <a:rPr lang="en-GB" dirty="0"/>
              <a:t>applicants, employees, and customers. </a:t>
            </a:r>
            <a:endParaRPr lang="en-GB" dirty="0" smtClean="0"/>
          </a:p>
          <a:p>
            <a:r>
              <a:rPr lang="en-GB" dirty="0" smtClean="0"/>
              <a:t>These </a:t>
            </a:r>
            <a:r>
              <a:rPr lang="en-GB" u="sng" dirty="0"/>
              <a:t>identity-based differences </a:t>
            </a:r>
            <a:r>
              <a:rPr lang="en-GB" dirty="0"/>
              <a:t>include such things as race </a:t>
            </a:r>
            <a:r>
              <a:rPr lang="en-GB" dirty="0" smtClean="0"/>
              <a:t>and ethnicity</a:t>
            </a:r>
            <a:r>
              <a:rPr lang="en-GB" dirty="0"/>
              <a:t>, gender, sexual orientation, and age</a:t>
            </a:r>
            <a:r>
              <a:rPr lang="en-GB" dirty="0" smtClean="0"/>
              <a:t>.</a:t>
            </a:r>
          </a:p>
          <a:p>
            <a:r>
              <a:rPr lang="en-GB" dirty="0" smtClean="0"/>
              <a:t>Groups </a:t>
            </a:r>
            <a:r>
              <a:rPr lang="en-GB" dirty="0"/>
              <a:t>in society based on these individual differences </a:t>
            </a:r>
            <a:r>
              <a:rPr lang="en-GB" dirty="0" smtClean="0"/>
              <a:t>are referred </a:t>
            </a:r>
            <a:r>
              <a:rPr lang="en-GB" dirty="0"/>
              <a:t>to as </a:t>
            </a:r>
            <a:r>
              <a:rPr lang="en-GB" b="1" dirty="0"/>
              <a:t>identity groups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 smtClean="0"/>
              <a:t>These </a:t>
            </a:r>
            <a:r>
              <a:rPr lang="en-GB" dirty="0"/>
              <a:t>differences are related to discrimination and disparities between </a:t>
            </a:r>
            <a:r>
              <a:rPr lang="en-GB" dirty="0" smtClean="0"/>
              <a:t>groups in </a:t>
            </a:r>
            <a:r>
              <a:rPr lang="en-GB" dirty="0"/>
              <a:t>areas such as education, housing, healthcare, and employment.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6981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Managing Diversity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The term </a:t>
            </a:r>
            <a:r>
              <a:rPr lang="en-GB" b="1" dirty="0"/>
              <a:t>managing diversity </a:t>
            </a:r>
            <a:r>
              <a:rPr lang="en-GB" dirty="0"/>
              <a:t>is </a:t>
            </a:r>
            <a:r>
              <a:rPr lang="en-GB" dirty="0" smtClean="0"/>
              <a:t>commonly used </a:t>
            </a:r>
            <a:r>
              <a:rPr lang="en-GB" dirty="0"/>
              <a:t>to refer to ways in which organizations seek to ensure that members of diverse groups are valued </a:t>
            </a:r>
            <a:r>
              <a:rPr lang="en-GB" dirty="0" smtClean="0"/>
              <a:t>and treated </a:t>
            </a:r>
            <a:r>
              <a:rPr lang="en-GB" dirty="0"/>
              <a:t>fairly within </a:t>
            </a:r>
            <a:r>
              <a:rPr lang="en-GB" dirty="0" smtClean="0"/>
              <a:t>organizations </a:t>
            </a:r>
            <a:r>
              <a:rPr lang="en-GB" dirty="0"/>
              <a:t>in all areas including hiring, compensation, performance evaluation, </a:t>
            </a:r>
            <a:r>
              <a:rPr lang="en-GB" dirty="0" smtClean="0"/>
              <a:t>and customer </a:t>
            </a:r>
            <a:r>
              <a:rPr lang="en-GB" dirty="0"/>
              <a:t>service activities</a:t>
            </a:r>
            <a:r>
              <a:rPr lang="en-GB" dirty="0" smtClean="0"/>
              <a:t>.</a:t>
            </a:r>
          </a:p>
          <a:p>
            <a:r>
              <a:rPr lang="en-GB" dirty="0" smtClean="0"/>
              <a:t>The </a:t>
            </a:r>
            <a:r>
              <a:rPr lang="en-GB" dirty="0"/>
              <a:t>term </a:t>
            </a:r>
            <a:r>
              <a:rPr lang="en-GB" i="1" dirty="0"/>
              <a:t>valuing diversity </a:t>
            </a:r>
            <a:r>
              <a:rPr lang="en-GB" dirty="0"/>
              <a:t>is often used to reflect ways in which organizations </a:t>
            </a:r>
            <a:r>
              <a:rPr lang="en-GB" dirty="0" smtClean="0"/>
              <a:t>show appreciation </a:t>
            </a:r>
            <a:r>
              <a:rPr lang="en-GB" dirty="0"/>
              <a:t>for diversity among job applicants, employees, and customers</a:t>
            </a:r>
            <a:r>
              <a:rPr lang="en-GB" dirty="0" smtClean="0"/>
              <a:t>.</a:t>
            </a:r>
          </a:p>
          <a:p>
            <a:r>
              <a:rPr lang="en-GB" b="1" dirty="0" smtClean="0"/>
              <a:t>Inclusion</a:t>
            </a:r>
            <a:r>
              <a:rPr lang="en-GB" dirty="0"/>
              <a:t>, which represents </a:t>
            </a:r>
            <a:r>
              <a:rPr lang="en-GB" dirty="0" smtClean="0"/>
              <a:t>the degree </a:t>
            </a:r>
            <a:r>
              <a:rPr lang="en-GB" dirty="0"/>
              <a:t>to which employees are accepted and treated fairly by their organization</a:t>
            </a:r>
            <a:r>
              <a:rPr lang="en-GB" dirty="0" smtClean="0"/>
              <a:t>, </a:t>
            </a:r>
            <a:r>
              <a:rPr lang="en-GB" dirty="0"/>
              <a:t>is one way in </a:t>
            </a:r>
            <a:r>
              <a:rPr lang="en-GB" dirty="0" smtClean="0"/>
              <a:t>which companies </a:t>
            </a:r>
            <a:r>
              <a:rPr lang="en-GB" dirty="0"/>
              <a:t>demonstrate how they value diversity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5923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3 types of workplace diversity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b="1" dirty="0"/>
              <a:t>Surface-level diversity </a:t>
            </a:r>
            <a:r>
              <a:rPr lang="en-IN" dirty="0"/>
              <a:t>represents </a:t>
            </a:r>
            <a:r>
              <a:rPr lang="en-IN" dirty="0" smtClean="0"/>
              <a:t>an </a:t>
            </a:r>
            <a:r>
              <a:rPr lang="en-GB" dirty="0" smtClean="0"/>
              <a:t>individual’s </a:t>
            </a:r>
            <a:r>
              <a:rPr lang="en-GB" dirty="0"/>
              <a:t>visible characteristics, including, but not limited to, age, body size, visible disabilities, race, or sex</a:t>
            </a:r>
            <a:r>
              <a:rPr lang="en-GB" dirty="0" smtClean="0"/>
              <a:t>. A </a:t>
            </a:r>
            <a:r>
              <a:rPr lang="en-GB" dirty="0"/>
              <a:t>collective of individuals who share these characteristics is known as an identity group. </a:t>
            </a:r>
            <a:endParaRPr lang="en-GB" dirty="0" smtClean="0"/>
          </a:p>
          <a:p>
            <a:r>
              <a:rPr lang="en-GB" b="1" dirty="0" smtClean="0"/>
              <a:t>Deep-level diversity </a:t>
            </a:r>
            <a:r>
              <a:rPr lang="en-GB" dirty="0" smtClean="0"/>
              <a:t>includes </a:t>
            </a:r>
            <a:r>
              <a:rPr lang="en-GB" dirty="0"/>
              <a:t>traits that are </a:t>
            </a:r>
            <a:r>
              <a:rPr lang="en-GB" dirty="0" err="1"/>
              <a:t>nonobservable</a:t>
            </a:r>
            <a:r>
              <a:rPr lang="en-GB" dirty="0"/>
              <a:t> such as attitudes, values, and </a:t>
            </a:r>
            <a:r>
              <a:rPr lang="en-GB" dirty="0" smtClean="0"/>
              <a:t>beliefs.</a:t>
            </a:r>
          </a:p>
          <a:p>
            <a:r>
              <a:rPr lang="en-GB" b="1" dirty="0" smtClean="0"/>
              <a:t>Hidden </a:t>
            </a:r>
            <a:r>
              <a:rPr lang="en-GB" b="1" dirty="0"/>
              <a:t>diversity </a:t>
            </a:r>
            <a:r>
              <a:rPr lang="en-GB" dirty="0"/>
              <a:t>includes </a:t>
            </a:r>
            <a:r>
              <a:rPr lang="en-GB" dirty="0" smtClean="0"/>
              <a:t>traits that </a:t>
            </a:r>
            <a:r>
              <a:rPr lang="en-GB" dirty="0"/>
              <a:t>are deep-level but may be concealed or revealed at the discretion of individuals who possess </a:t>
            </a:r>
            <a:r>
              <a:rPr lang="en-GB" dirty="0" smtClean="0"/>
              <a:t>them. </a:t>
            </a:r>
            <a:r>
              <a:rPr lang="en-GB" dirty="0"/>
              <a:t>These hidden traits are called </a:t>
            </a:r>
            <a:r>
              <a:rPr lang="en-GB" b="1" dirty="0"/>
              <a:t>invisible social </a:t>
            </a:r>
            <a:r>
              <a:rPr lang="en-GB" b="1" dirty="0" smtClean="0"/>
              <a:t>identities</a:t>
            </a:r>
            <a:r>
              <a:rPr lang="en-GB" dirty="0"/>
              <a:t> </a:t>
            </a:r>
            <a:r>
              <a:rPr lang="en-GB" dirty="0" smtClean="0"/>
              <a:t>and </a:t>
            </a:r>
            <a:r>
              <a:rPr lang="en-GB" dirty="0"/>
              <a:t>may include sexual orientation, a </a:t>
            </a:r>
            <a:r>
              <a:rPr lang="en-GB" dirty="0" smtClean="0"/>
              <a:t>hidden disability </a:t>
            </a:r>
            <a:r>
              <a:rPr lang="en-GB" dirty="0"/>
              <a:t>(such as a mental illness or chronic disease), mixed racial heritage</a:t>
            </a:r>
            <a:r>
              <a:rPr lang="en-GB" dirty="0" smtClean="0"/>
              <a:t>, </a:t>
            </a:r>
            <a:r>
              <a:rPr lang="en-GB" dirty="0"/>
              <a:t>or socioeconomic status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101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Diversity and the Workforce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Gender: Glass ceiling effect (lack </a:t>
            </a:r>
            <a:r>
              <a:rPr lang="en-GB" dirty="0"/>
              <a:t>of advancement opportunities awarded </a:t>
            </a:r>
            <a:r>
              <a:rPr lang="en-GB" dirty="0" smtClean="0"/>
              <a:t>to </a:t>
            </a:r>
            <a:r>
              <a:rPr lang="en-IN" dirty="0" smtClean="0"/>
              <a:t>qualified women)</a:t>
            </a:r>
          </a:p>
          <a:p>
            <a:r>
              <a:rPr lang="en-GB" dirty="0" smtClean="0"/>
              <a:t>Race</a:t>
            </a:r>
          </a:p>
          <a:p>
            <a:r>
              <a:rPr lang="en-GB" dirty="0" smtClean="0"/>
              <a:t>Age</a:t>
            </a:r>
          </a:p>
          <a:p>
            <a:r>
              <a:rPr lang="en-GB" dirty="0" smtClean="0"/>
              <a:t>Sexual orientation</a:t>
            </a:r>
          </a:p>
          <a:p>
            <a:r>
              <a:rPr lang="en-GB" dirty="0" smtClean="0"/>
              <a:t>Immigrant workers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6826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Advantages of Workplace Diversity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276600"/>
            <a:ext cx="8229600" cy="2849563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 smtClean="0"/>
              <a:t>Competitive advantage: Cost; Resource acquisition; Creativity; Problem solving; System flexibility; Marketing</a:t>
            </a:r>
          </a:p>
        </p:txBody>
      </p:sp>
    </p:spTree>
    <p:extLst>
      <p:ext uri="{BB962C8B-B14F-4D97-AF65-F5344CB8AC3E}">
        <p14:creationId xmlns:p14="http://schemas.microsoft.com/office/powerpoint/2010/main" val="3382593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Challenges of Workplace Diversity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Lower organizational attachment</a:t>
            </a:r>
          </a:p>
          <a:p>
            <a:r>
              <a:rPr lang="en-GB" dirty="0" smtClean="0"/>
              <a:t>Legal challenges</a:t>
            </a:r>
          </a:p>
          <a:p>
            <a:r>
              <a:rPr lang="en-GB" dirty="0" smtClean="0"/>
              <a:t>Reverse Discrimination (</a:t>
            </a:r>
            <a:r>
              <a:rPr lang="en-IN" dirty="0"/>
              <a:t>dominant </a:t>
            </a:r>
            <a:r>
              <a:rPr lang="en-IN" dirty="0" smtClean="0"/>
              <a:t>group </a:t>
            </a:r>
            <a:r>
              <a:rPr lang="en-GB" dirty="0" smtClean="0"/>
              <a:t>members </a:t>
            </a:r>
            <a:r>
              <a:rPr lang="en-GB" dirty="0"/>
              <a:t>perceive that they are experiencing discrimination based on their race or </a:t>
            </a:r>
            <a:r>
              <a:rPr lang="en-GB" dirty="0" smtClean="0"/>
              <a:t>sex)</a:t>
            </a:r>
          </a:p>
          <a:p>
            <a:r>
              <a:rPr lang="en-GB" dirty="0" smtClean="0"/>
              <a:t>Workplace Discrimination: Harassment; Age discrimination; Disability discrimination; National origin discrimination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3344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Diversity Theories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638800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The </a:t>
            </a:r>
            <a:r>
              <a:rPr lang="en-GB" b="1" dirty="0"/>
              <a:t>cognitive diversity hypothesis </a:t>
            </a:r>
            <a:r>
              <a:rPr lang="en-GB" dirty="0"/>
              <a:t>suggests that multiple perspectives stemming from the </a:t>
            </a:r>
            <a:r>
              <a:rPr lang="en-GB" dirty="0" smtClean="0"/>
              <a:t>cultural differences </a:t>
            </a:r>
            <a:r>
              <a:rPr lang="en-GB" dirty="0"/>
              <a:t>between group or organizational members result in creative problem solving and innovation.</a:t>
            </a:r>
          </a:p>
          <a:p>
            <a:r>
              <a:rPr lang="en-GB" dirty="0" smtClean="0"/>
              <a:t>The </a:t>
            </a:r>
            <a:r>
              <a:rPr lang="en-GB" b="1" dirty="0"/>
              <a:t>similarity-attraction paradigm </a:t>
            </a:r>
            <a:r>
              <a:rPr lang="en-GB" dirty="0"/>
              <a:t>and </a:t>
            </a:r>
            <a:r>
              <a:rPr lang="en-GB" b="1" dirty="0"/>
              <a:t>social identity theory </a:t>
            </a:r>
            <a:r>
              <a:rPr lang="en-GB" dirty="0"/>
              <a:t>hold that individuals’ preferences </a:t>
            </a:r>
            <a:r>
              <a:rPr lang="en-GB" dirty="0" smtClean="0"/>
              <a:t>for interacting </a:t>
            </a:r>
            <a:r>
              <a:rPr lang="en-GB" dirty="0"/>
              <a:t>with others like themselves can result in diversity having a negative effect on group </a:t>
            </a:r>
            <a:r>
              <a:rPr lang="en-GB" dirty="0" smtClean="0"/>
              <a:t>and </a:t>
            </a:r>
            <a:r>
              <a:rPr lang="en-IN" dirty="0" smtClean="0"/>
              <a:t>organizational </a:t>
            </a:r>
            <a:r>
              <a:rPr lang="en-IN" dirty="0"/>
              <a:t>outcomes.</a:t>
            </a:r>
          </a:p>
          <a:p>
            <a:r>
              <a:rPr lang="en-GB" dirty="0" smtClean="0"/>
              <a:t>The </a:t>
            </a:r>
            <a:r>
              <a:rPr lang="en-GB" b="1" dirty="0"/>
              <a:t>justification-suppression model </a:t>
            </a:r>
            <a:r>
              <a:rPr lang="en-GB" dirty="0"/>
              <a:t>explains under what conditions individuals act on their </a:t>
            </a:r>
            <a:r>
              <a:rPr lang="en-GB" dirty="0" smtClean="0"/>
              <a:t>prejudices. </a:t>
            </a:r>
            <a:r>
              <a:rPr lang="en-GB" dirty="0"/>
              <a:t>Most people will attempt to suppress any outward manifestations of their prejudices. This suppression </a:t>
            </a:r>
            <a:r>
              <a:rPr lang="en-GB" dirty="0" smtClean="0"/>
              <a:t>can come </a:t>
            </a:r>
            <a:r>
              <a:rPr lang="en-GB" dirty="0"/>
              <a:t>from internal factors like empathy, compassion, or personal beliefs regarding proper treatment </a:t>
            </a:r>
            <a:r>
              <a:rPr lang="en-GB" dirty="0" smtClean="0"/>
              <a:t>of others</a:t>
            </a:r>
            <a:r>
              <a:rPr lang="en-GB" dirty="0"/>
              <a:t>. Suppression can also come from societal pressures; overt displays of prejudice are no longer </a:t>
            </a:r>
            <a:r>
              <a:rPr lang="en-GB" dirty="0" smtClean="0"/>
              <a:t>socially acceptable</a:t>
            </a:r>
            <a:r>
              <a:rPr lang="en-GB" dirty="0"/>
              <a:t>, and in some cases are illegal.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2296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Benefits of Workplace Diversity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The </a:t>
            </a:r>
            <a:r>
              <a:rPr lang="en-GB" b="1" dirty="0"/>
              <a:t>integration-and-learning perspective </a:t>
            </a:r>
            <a:r>
              <a:rPr lang="en-GB" dirty="0"/>
              <a:t>posits that the different life experiences, skills, and </a:t>
            </a:r>
            <a:r>
              <a:rPr lang="en-GB" dirty="0" smtClean="0"/>
              <a:t>perspectives that </a:t>
            </a:r>
            <a:r>
              <a:rPr lang="en-GB" dirty="0"/>
              <a:t>members of diverse cultural identity groups possess can be a valuable resource in the context of </a:t>
            </a:r>
            <a:r>
              <a:rPr lang="en-GB" dirty="0" smtClean="0"/>
              <a:t>work groups</a:t>
            </a:r>
            <a:r>
              <a:rPr lang="en-GB" dirty="0"/>
              <a:t>. </a:t>
            </a:r>
            <a:endParaRPr lang="en-GB" dirty="0" smtClean="0"/>
          </a:p>
          <a:p>
            <a:r>
              <a:rPr lang="en-GB" dirty="0" smtClean="0"/>
              <a:t>Members </a:t>
            </a:r>
            <a:r>
              <a:rPr lang="en-GB" dirty="0"/>
              <a:t>of a culturally diverse workgroup can use their </a:t>
            </a:r>
            <a:r>
              <a:rPr lang="en-GB" dirty="0" smtClean="0"/>
              <a:t>collective differences </a:t>
            </a:r>
            <a:r>
              <a:rPr lang="en-GB" dirty="0"/>
              <a:t>to think critically about work issues, strategies, products, and practices in a way that will allow </a:t>
            </a:r>
            <a:r>
              <a:rPr lang="en-GB" dirty="0" smtClean="0"/>
              <a:t>the group </a:t>
            </a:r>
            <a:r>
              <a:rPr lang="en-GB" dirty="0"/>
              <a:t>to be successful in its business operations.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8192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r>
              <a:rPr lang="en-GB" dirty="0"/>
              <a:t>The </a:t>
            </a:r>
            <a:r>
              <a:rPr lang="en-GB" b="1" dirty="0"/>
              <a:t>access-and-legitimacy perspective </a:t>
            </a:r>
            <a:r>
              <a:rPr lang="en-GB" dirty="0"/>
              <a:t>focuses on the benefit that a diverse workforce can bring to </a:t>
            </a:r>
            <a:r>
              <a:rPr lang="en-GB" dirty="0" smtClean="0"/>
              <a:t>a business </a:t>
            </a:r>
            <a:r>
              <a:rPr lang="en-GB" dirty="0"/>
              <a:t>that wishes to operate within a diverse set of markets or with culturally diverse </a:t>
            </a:r>
            <a:r>
              <a:rPr lang="en-GB" dirty="0" smtClean="0"/>
              <a:t>clients</a:t>
            </a:r>
          </a:p>
          <a:p>
            <a:r>
              <a:rPr lang="en-GB" dirty="0"/>
              <a:t>The </a:t>
            </a:r>
            <a:r>
              <a:rPr lang="en-GB" b="1" dirty="0"/>
              <a:t>discrimination-and-fairness perspective </a:t>
            </a:r>
            <a:r>
              <a:rPr lang="en-GB" dirty="0"/>
              <a:t>stems from a belief that a culturally diverse workforce </a:t>
            </a:r>
            <a:r>
              <a:rPr lang="en-GB"/>
              <a:t>is </a:t>
            </a:r>
            <a:r>
              <a:rPr lang="en-GB" smtClean="0"/>
              <a:t>a moral </a:t>
            </a:r>
            <a:r>
              <a:rPr lang="en-GB" dirty="0"/>
              <a:t>duty that must be maintained in order to create a just and fair society.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9969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Organizational Culture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 smtClean="0"/>
              <a:t>Omnipotent view of management: </a:t>
            </a:r>
            <a:r>
              <a:rPr lang="en-GB" u="sng" dirty="0"/>
              <a:t>managers</a:t>
            </a:r>
            <a:r>
              <a:rPr lang="en-GB" dirty="0"/>
              <a:t> are directly responsible for an organization's success or failure</a:t>
            </a:r>
            <a:r>
              <a:rPr lang="en-GB" dirty="0" smtClean="0"/>
              <a:t>. </a:t>
            </a:r>
            <a:r>
              <a:rPr lang="en-GB" dirty="0"/>
              <a:t>The quality of an organization's managers determines the quality of the organization itself. </a:t>
            </a:r>
            <a:r>
              <a:rPr lang="en-GB" dirty="0" smtClean="0"/>
              <a:t> </a:t>
            </a:r>
            <a:endParaRPr lang="en-GB" dirty="0"/>
          </a:p>
          <a:p>
            <a:r>
              <a:rPr lang="en-GB" b="1" dirty="0" smtClean="0"/>
              <a:t>Symbolic view of management:</a:t>
            </a:r>
            <a:r>
              <a:rPr lang="en-GB" dirty="0" smtClean="0"/>
              <a:t> </a:t>
            </a:r>
            <a:r>
              <a:rPr lang="en-GB" dirty="0"/>
              <a:t>much of an organization's success or failure is due to </a:t>
            </a:r>
            <a:r>
              <a:rPr lang="en-GB" u="sng" dirty="0"/>
              <a:t>forces outside management's control</a:t>
            </a:r>
            <a:r>
              <a:rPr lang="en-GB" dirty="0"/>
              <a:t>. In other words, </a:t>
            </a:r>
            <a:r>
              <a:rPr lang="en-GB" u="sng" dirty="0"/>
              <a:t>external forces</a:t>
            </a:r>
            <a:r>
              <a:rPr lang="en-GB" dirty="0"/>
              <a:t>, not management, determine </a:t>
            </a:r>
            <a:r>
              <a:rPr lang="en-GB" dirty="0" smtClean="0"/>
              <a:t>outcomes. Therefore, </a:t>
            </a:r>
            <a:r>
              <a:rPr lang="en-GB" dirty="0"/>
              <a:t>managers have a limited effect on organizational </a:t>
            </a:r>
            <a:r>
              <a:rPr lang="en-GB" dirty="0" smtClean="0"/>
              <a:t>outcomes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4566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Organizational culture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It's a system of </a:t>
            </a:r>
            <a:r>
              <a:rPr lang="en-GB" u="sng" dirty="0"/>
              <a:t>shared meaning and beliefs </a:t>
            </a:r>
            <a:r>
              <a:rPr lang="en-GB" dirty="0"/>
              <a:t>held by organizational members that determines, in large degree, how they act. </a:t>
            </a:r>
            <a:endParaRPr lang="en-GB" dirty="0" smtClean="0"/>
          </a:p>
          <a:p>
            <a:r>
              <a:rPr lang="en-GB" dirty="0" smtClean="0"/>
              <a:t>It </a:t>
            </a:r>
            <a:r>
              <a:rPr lang="en-GB" dirty="0"/>
              <a:t>represents a </a:t>
            </a:r>
            <a:r>
              <a:rPr lang="en-GB" u="sng" dirty="0"/>
              <a:t>common perception held by the organization's members</a:t>
            </a:r>
            <a:r>
              <a:rPr lang="en-GB" dirty="0"/>
              <a:t>. </a:t>
            </a:r>
          </a:p>
          <a:p>
            <a:r>
              <a:rPr lang="en-GB" dirty="0"/>
              <a:t>In every organization, there are </a:t>
            </a:r>
            <a:r>
              <a:rPr lang="en-GB" i="1" dirty="0"/>
              <a:t>systems or patterns of values, symbols, rituals, myths, and practices</a:t>
            </a:r>
            <a:r>
              <a:rPr lang="en-GB" dirty="0"/>
              <a:t> that have evolved over </a:t>
            </a:r>
            <a:r>
              <a:rPr lang="en-GB" dirty="0" smtClean="0"/>
              <a:t>time.</a:t>
            </a:r>
          </a:p>
          <a:p>
            <a:r>
              <a:rPr lang="en-GB" dirty="0" smtClean="0"/>
              <a:t>These </a:t>
            </a:r>
            <a:r>
              <a:rPr lang="en-GB" dirty="0"/>
              <a:t>shared values determine to a large degree what employees see and how they respond to their </a:t>
            </a:r>
            <a:r>
              <a:rPr lang="en-GB" dirty="0" smtClean="0"/>
              <a:t>world</a:t>
            </a:r>
            <a:r>
              <a:rPr lang="en-IN" dirty="0" smtClean="0"/>
              <a:t> 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50949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Strong Versus Weak organizational cultures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C</a:t>
            </a:r>
            <a:r>
              <a:rPr lang="en-GB" dirty="0" smtClean="0"/>
              <a:t>ultures </a:t>
            </a:r>
            <a:r>
              <a:rPr lang="en-GB" dirty="0"/>
              <a:t>in which the key values are deeply held and widely shared—have a greater influence on employees than do weak cultures. </a:t>
            </a:r>
            <a:endParaRPr lang="en-GB" dirty="0" smtClean="0"/>
          </a:p>
          <a:p>
            <a:r>
              <a:rPr lang="en-GB" dirty="0" smtClean="0"/>
              <a:t>The </a:t>
            </a:r>
            <a:r>
              <a:rPr lang="en-GB" dirty="0"/>
              <a:t>more that employees accept the organization's key values and the greater their commitment to those values, the stronger the culture is.</a:t>
            </a:r>
          </a:p>
          <a:p>
            <a:r>
              <a:rPr lang="en-GB" dirty="0"/>
              <a:t>Some organizations do not make clear what is important and what is not; this lack of clarity is a characteristic of weak cultures. </a:t>
            </a:r>
            <a:r>
              <a:rPr lang="en-IN" dirty="0" smtClean="0"/>
              <a:t> 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8335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International management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The first critical factor is the lowering of trade barriers through </a:t>
            </a:r>
            <a:r>
              <a:rPr lang="en-GB" b="1" dirty="0"/>
              <a:t>trade agreements</a:t>
            </a:r>
            <a:r>
              <a:rPr lang="en-GB" dirty="0"/>
              <a:t>, government </a:t>
            </a:r>
            <a:r>
              <a:rPr lang="en-GB" dirty="0" smtClean="0"/>
              <a:t>policies through </a:t>
            </a:r>
            <a:r>
              <a:rPr lang="en-GB" dirty="0"/>
              <a:t>which countries agree to eliminate cross-border barriers to trade and to promote global integration</a:t>
            </a:r>
            <a:r>
              <a:rPr lang="en-GB" dirty="0" smtClean="0"/>
              <a:t>.</a:t>
            </a:r>
          </a:p>
          <a:p>
            <a:r>
              <a:rPr lang="en-GB" b="1" dirty="0"/>
              <a:t>Foreign direct investment (FDI) </a:t>
            </a:r>
            <a:r>
              <a:rPr lang="en-GB" dirty="0"/>
              <a:t>refers to deliberate efforts of a country or company to invest in </a:t>
            </a:r>
            <a:r>
              <a:rPr lang="en-GB" dirty="0" smtClean="0"/>
              <a:t>another country </a:t>
            </a:r>
            <a:r>
              <a:rPr lang="en-GB" dirty="0"/>
              <a:t>through the form of ownership positions in companies in another country</a:t>
            </a:r>
            <a:r>
              <a:rPr lang="en-GB" dirty="0" smtClean="0"/>
              <a:t>.</a:t>
            </a:r>
          </a:p>
          <a:p>
            <a:r>
              <a:rPr lang="en-GB" dirty="0" smtClean="0"/>
              <a:t>The </a:t>
            </a:r>
            <a:r>
              <a:rPr lang="en-GB" b="1" dirty="0"/>
              <a:t>developments in information technology </a:t>
            </a:r>
            <a:r>
              <a:rPr lang="en-GB" dirty="0"/>
              <a:t>and the reduction in costs of </a:t>
            </a:r>
            <a:r>
              <a:rPr lang="en-GB" dirty="0" smtClean="0"/>
              <a:t>technological equipment </a:t>
            </a:r>
            <a:r>
              <a:rPr lang="en-GB" dirty="0"/>
              <a:t>mean that any multinational can reach anyone in the world.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84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Hofstede's</a:t>
            </a:r>
            <a:r>
              <a:rPr lang="en-IN" dirty="0"/>
              <a:t> Cultural Framework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</a:t>
            </a:r>
            <a:r>
              <a:rPr lang="en-GB" b="1" dirty="0" smtClean="0"/>
              <a:t>ulture </a:t>
            </a:r>
            <a:r>
              <a:rPr lang="en-GB" dirty="0"/>
              <a:t>is “</a:t>
            </a:r>
            <a:r>
              <a:rPr lang="en-GB" u="sng" dirty="0"/>
              <a:t>the collective programming of the </a:t>
            </a:r>
            <a:r>
              <a:rPr lang="en-GB" u="sng" dirty="0" smtClean="0"/>
              <a:t>mind which </a:t>
            </a:r>
            <a:r>
              <a:rPr lang="en-GB" u="sng" dirty="0"/>
              <a:t>distinguishes the member of one group or category of people from another</a:t>
            </a:r>
            <a:r>
              <a:rPr lang="en-GB" dirty="0"/>
              <a:t>.” </a:t>
            </a:r>
            <a:endParaRPr lang="en-GB" dirty="0" smtClean="0"/>
          </a:p>
          <a:p>
            <a:pPr marL="0" indent="0">
              <a:buNone/>
            </a:pPr>
            <a:endParaRPr lang="en-GB" dirty="0" smtClean="0"/>
          </a:p>
          <a:p>
            <a:r>
              <a:rPr lang="en-GB" dirty="0" smtClean="0"/>
              <a:t>It </a:t>
            </a:r>
            <a:r>
              <a:rPr lang="en-GB" dirty="0"/>
              <a:t>tells people who </a:t>
            </a:r>
            <a:r>
              <a:rPr lang="en-GB" dirty="0" smtClean="0"/>
              <a:t>they are</a:t>
            </a:r>
            <a:r>
              <a:rPr lang="en-GB" dirty="0"/>
              <a:t>, which </a:t>
            </a:r>
            <a:r>
              <a:rPr lang="en-GB" dirty="0" err="1"/>
              <a:t>behaviors</a:t>
            </a:r>
            <a:r>
              <a:rPr lang="en-GB" dirty="0"/>
              <a:t> are appropriate, and which are not acceptable in any society.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0160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Cultural Dimension 1: Power Distance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 smtClean="0"/>
              <a:t>Power distance</a:t>
            </a:r>
            <a:r>
              <a:rPr lang="en-GB" dirty="0"/>
              <a:t>:</a:t>
            </a:r>
            <a:r>
              <a:rPr lang="en-GB" dirty="0" smtClean="0"/>
              <a:t> </a:t>
            </a:r>
            <a:r>
              <a:rPr lang="en-GB" dirty="0"/>
              <a:t>the degree to which members of a society </a:t>
            </a:r>
            <a:r>
              <a:rPr lang="en-GB" dirty="0" smtClean="0"/>
              <a:t>accept differences </a:t>
            </a:r>
            <a:r>
              <a:rPr lang="en-GB" dirty="0"/>
              <a:t>in power and authority. </a:t>
            </a:r>
            <a:endParaRPr lang="en-GB" dirty="0" smtClean="0"/>
          </a:p>
          <a:p>
            <a:r>
              <a:rPr lang="en-GB" dirty="0" smtClean="0"/>
              <a:t>In </a:t>
            </a:r>
            <a:r>
              <a:rPr lang="en-GB" dirty="0"/>
              <a:t>societies with </a:t>
            </a:r>
            <a:r>
              <a:rPr lang="en-GB" b="1" dirty="0"/>
              <a:t>high power distance</a:t>
            </a:r>
            <a:r>
              <a:rPr lang="en-GB" dirty="0"/>
              <a:t>, people are more likely to </a:t>
            </a:r>
            <a:r>
              <a:rPr lang="en-GB" dirty="0" smtClean="0"/>
              <a:t>accept that </a:t>
            </a:r>
            <a:r>
              <a:rPr lang="en-GB" dirty="0"/>
              <a:t>power inequality is good and acceptable. People in high power distance societies are more likely to </a:t>
            </a:r>
            <a:r>
              <a:rPr lang="en-GB" dirty="0" smtClean="0"/>
              <a:t>accept that </a:t>
            </a:r>
            <a:r>
              <a:rPr lang="en-GB" dirty="0"/>
              <a:t>there are some powerful people who are in charge and that these people are entitled to special benefits.</a:t>
            </a:r>
          </a:p>
          <a:p>
            <a:r>
              <a:rPr lang="en-GB" dirty="0"/>
              <a:t>In contrast, societies with </a:t>
            </a:r>
            <a:r>
              <a:rPr lang="en-GB" b="1" dirty="0"/>
              <a:t>low power distance </a:t>
            </a:r>
            <a:r>
              <a:rPr lang="en-GB" dirty="0"/>
              <a:t>tend to consider that all members are equal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6326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58762"/>
          </a:xfrm>
        </p:spPr>
        <p:txBody>
          <a:bodyPr>
            <a:noAutofit/>
          </a:bodyPr>
          <a:lstStyle/>
          <a:p>
            <a:r>
              <a:rPr lang="en-GB" sz="3200" dirty="0" smtClean="0"/>
              <a:t>Implications of Power Distance</a:t>
            </a:r>
            <a:endParaRPr lang="en-IN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5161590"/>
              </p:ext>
            </p:extLst>
          </p:nvPr>
        </p:nvGraphicFramePr>
        <p:xfrm>
          <a:off x="457200" y="152400"/>
          <a:ext cx="8229602" cy="647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3657600"/>
                <a:gridCol w="3048002"/>
              </a:tblGrid>
              <a:tr h="668673">
                <a:tc>
                  <a:txBody>
                    <a:bodyPr/>
                    <a:lstStyle/>
                    <a:p>
                      <a:r>
                        <a:rPr lang="en-IN" sz="18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Type of Work 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High Power Distance 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Low Power Distance</a:t>
                      </a:r>
                      <a:endParaRPr lang="en-IN" b="1" dirty="0" smtClean="0"/>
                    </a:p>
                  </a:txBody>
                  <a:tcPr/>
                </a:tc>
              </a:tr>
              <a:tr h="955246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Organizational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structures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Very centralized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Tall hierarchies with clear levels of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managers and subordinates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Flat organizational hierarchies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Decentralized structures</a:t>
                      </a:r>
                      <a:endParaRPr lang="en-IN" dirty="0"/>
                    </a:p>
                  </a:txBody>
                  <a:tcPr/>
                </a:tc>
              </a:tr>
              <a:tr h="181497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Managerial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authority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Concentration of authority at the top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Managers rely on formal rules to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manage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Authoritative managerial style and decision making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Dispersed authority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Managers rely on personal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experience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More consultative or collaborative forms of decision making</a:t>
                      </a:r>
                      <a:endParaRPr lang="en-IN" dirty="0"/>
                    </a:p>
                  </a:txBody>
                  <a:tcPr/>
                </a:tc>
              </a:tr>
              <a:tr h="181497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Relationship with supervisors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Subordinates expect to be told what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 do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Perfect boss is seen as one who is an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autocrat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Information sharing constrained by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Hierarchy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Subordinates often expected to be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consulted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Ideal manager is seen as a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democratic leader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Openness to sharing information</a:t>
                      </a:r>
                      <a:endParaRPr lang="en-IN" dirty="0"/>
                    </a:p>
                  </a:txBody>
                  <a:tcPr/>
                </a:tc>
              </a:tr>
              <a:tr h="1223141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Other issues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Wide salary gap between top and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bottom of organization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Managers often feel underpaid and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dissatisfied with careers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Low salary gap between top and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bottom of company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Managers feel paid adequately and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are satisfied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433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Cultural Dimension 2: Individualism and Collectivism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Individualism </a:t>
            </a:r>
            <a:r>
              <a:rPr lang="en-IN" dirty="0"/>
              <a:t>refers to </a:t>
            </a:r>
            <a:r>
              <a:rPr lang="en-IN" dirty="0" smtClean="0"/>
              <a:t>the </a:t>
            </a:r>
            <a:r>
              <a:rPr lang="en-GB" dirty="0" smtClean="0"/>
              <a:t>degree </a:t>
            </a:r>
            <a:r>
              <a:rPr lang="en-GB" dirty="0"/>
              <a:t>to which a society focuses on the relationship of the individual to the group. </a:t>
            </a:r>
            <a:endParaRPr lang="en-GB" dirty="0" smtClean="0"/>
          </a:p>
          <a:p>
            <a:r>
              <a:rPr lang="en-GB" b="1" dirty="0" smtClean="0"/>
              <a:t>Collectivism </a:t>
            </a:r>
            <a:r>
              <a:rPr lang="en-GB" dirty="0"/>
              <a:t>refers to </a:t>
            </a:r>
            <a:r>
              <a:rPr lang="en-GB" dirty="0" smtClean="0"/>
              <a:t>the degree </a:t>
            </a:r>
            <a:r>
              <a:rPr lang="en-GB" dirty="0"/>
              <a:t>to which a society focuses on the relationship of the group as a whole.</a:t>
            </a:r>
          </a:p>
          <a:p>
            <a:r>
              <a:rPr lang="en-GB" dirty="0"/>
              <a:t>In societies with </a:t>
            </a:r>
            <a:r>
              <a:rPr lang="en-GB" b="1" dirty="0"/>
              <a:t>high individualism </a:t>
            </a:r>
            <a:r>
              <a:rPr lang="en-GB" dirty="0"/>
              <a:t>(or low collectivism) scores, individuals are valued for their </a:t>
            </a:r>
            <a:r>
              <a:rPr lang="en-GB" dirty="0" smtClean="0"/>
              <a:t>achievements and </a:t>
            </a:r>
            <a:r>
              <a:rPr lang="en-GB" dirty="0"/>
              <a:t>are rewarded and recognized for such achievements. </a:t>
            </a:r>
            <a:endParaRPr lang="en-GB" dirty="0" smtClean="0"/>
          </a:p>
          <a:p>
            <a:r>
              <a:rPr lang="en-GB" dirty="0" smtClean="0"/>
              <a:t>In </a:t>
            </a:r>
            <a:r>
              <a:rPr lang="en-GB" dirty="0"/>
              <a:t>contrast, people who live in societies with </a:t>
            </a:r>
            <a:r>
              <a:rPr lang="en-GB" b="1" dirty="0" smtClean="0"/>
              <a:t>low individualism </a:t>
            </a:r>
            <a:r>
              <a:rPr lang="en-GB" dirty="0"/>
              <a:t>(high collectivism) are seen as being part of a wider group, known as the </a:t>
            </a:r>
            <a:r>
              <a:rPr lang="en-GB" u="sng" dirty="0"/>
              <a:t>in-group</a:t>
            </a:r>
            <a:r>
              <a:rPr lang="en-GB" dirty="0"/>
              <a:t>. The </a:t>
            </a:r>
            <a:r>
              <a:rPr lang="en-GB" dirty="0" smtClean="0"/>
              <a:t>in-group includes </a:t>
            </a:r>
            <a:r>
              <a:rPr lang="en-GB" dirty="0"/>
              <a:t>the family, team, or social class, and how individuals relate to such wider groups is seen as </a:t>
            </a:r>
            <a:r>
              <a:rPr lang="en-GB" dirty="0" smtClean="0"/>
              <a:t>important to </a:t>
            </a:r>
            <a:r>
              <a:rPr lang="en-GB" dirty="0"/>
              <a:t>their success. In other words, people’s success is gauged by how others in their groups view and </a:t>
            </a:r>
            <a:r>
              <a:rPr lang="en-GB" dirty="0" smtClean="0"/>
              <a:t>support </a:t>
            </a:r>
            <a:r>
              <a:rPr lang="en-IN" dirty="0" smtClean="0"/>
              <a:t>them</a:t>
            </a:r>
            <a:r>
              <a:rPr lang="en-IN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365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913928"/>
              </p:ext>
            </p:extLst>
          </p:nvPr>
        </p:nvGraphicFramePr>
        <p:xfrm>
          <a:off x="457200" y="-1"/>
          <a:ext cx="8229602" cy="6858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124200"/>
                <a:gridCol w="3276602"/>
              </a:tblGrid>
              <a:tr h="657617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Type of Work Activity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Low Individualism/High Collectivism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High Individualism/Low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Collectivism</a:t>
                      </a:r>
                      <a:endParaRPr lang="en-IN" dirty="0"/>
                    </a:p>
                  </a:txBody>
                  <a:tcPr/>
                </a:tc>
              </a:tr>
              <a:tr h="234863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Relationship with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companies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Employees act in the interest of in-group (members of the family or same university)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Employee commitment to company relatively low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Employee-employer relationships is almost like a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family link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Employees act in their own interests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Employee commitment to organizations high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Employee-employer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relationship based on the market</a:t>
                      </a:r>
                      <a:endParaRPr lang="en-IN" dirty="0"/>
                    </a:p>
                  </a:txBody>
                  <a:tcPr/>
                </a:tc>
              </a:tr>
              <a:tr h="2912302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Human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resource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Management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Hiring and promotion takes in-group into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consideration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Better to reward based on equality (give everyone the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same reward) rather than equity (base reward on work effort) Relatives of employees preferred in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hiring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Training best when focused at group level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Hiring and promotions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based on rules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Family relationships unimportant in hiring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Better to reward based on equity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Training done best Individually</a:t>
                      </a:r>
                      <a:endParaRPr lang="en-IN" dirty="0"/>
                    </a:p>
                  </a:txBody>
                  <a:tcPr/>
                </a:tc>
              </a:tr>
              <a:tr h="939452">
                <a:tc>
                  <a:txBody>
                    <a:bodyPr/>
                    <a:lstStyle/>
                    <a:p>
                      <a:r>
                        <a:rPr lang="en-GB" dirty="0" smtClean="0"/>
                        <a:t>Other issues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Belief in collective decisions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Personal relationships very critical in business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Belief in individual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decision making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525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Cultural Dimension 3: </a:t>
            </a:r>
            <a:r>
              <a:rPr lang="fr-FR" dirty="0" err="1"/>
              <a:t>Uncertainty</a:t>
            </a:r>
            <a:r>
              <a:rPr lang="fr-FR" dirty="0"/>
              <a:t> </a:t>
            </a:r>
            <a:r>
              <a:rPr lang="fr-FR" dirty="0" err="1"/>
              <a:t>Avoidance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85000" lnSpcReduction="20000"/>
          </a:bodyPr>
          <a:lstStyle/>
          <a:p>
            <a:r>
              <a:rPr lang="en-GB" dirty="0" err="1"/>
              <a:t>Hofstede’s</a:t>
            </a:r>
            <a:r>
              <a:rPr lang="en-GB" dirty="0"/>
              <a:t> third cultural dimension is </a:t>
            </a:r>
            <a:r>
              <a:rPr lang="en-GB" b="1" dirty="0"/>
              <a:t>uncertainty avoidance</a:t>
            </a:r>
            <a:r>
              <a:rPr lang="en-GB" dirty="0"/>
              <a:t>, the degree to which people in a society </a:t>
            </a:r>
            <a:r>
              <a:rPr lang="en-GB" dirty="0" smtClean="0"/>
              <a:t>are comfortable </a:t>
            </a:r>
            <a:r>
              <a:rPr lang="en-GB" dirty="0"/>
              <a:t>with risk, uncertainty, and unpredictable situations. </a:t>
            </a:r>
            <a:endParaRPr lang="en-GB" dirty="0" smtClean="0"/>
          </a:p>
          <a:p>
            <a:r>
              <a:rPr lang="en-GB" dirty="0" smtClean="0"/>
              <a:t>People </a:t>
            </a:r>
            <a:r>
              <a:rPr lang="en-GB" dirty="0"/>
              <a:t>in </a:t>
            </a:r>
            <a:r>
              <a:rPr lang="en-GB" i="1" dirty="0"/>
              <a:t>high uncertainty avoidance </a:t>
            </a:r>
            <a:r>
              <a:rPr lang="en-GB" dirty="0" smtClean="0"/>
              <a:t>societies tend </a:t>
            </a:r>
            <a:r>
              <a:rPr lang="en-GB" dirty="0"/>
              <a:t>to want to </a:t>
            </a:r>
            <a:r>
              <a:rPr lang="en-GB" u="sng" dirty="0"/>
              <a:t>avoid uncertainty and unpredictability</a:t>
            </a:r>
            <a:r>
              <a:rPr lang="en-GB" dirty="0"/>
              <a:t>. As a result, work environments in such countries try </a:t>
            </a:r>
            <a:r>
              <a:rPr lang="en-GB" dirty="0" smtClean="0"/>
              <a:t>to provide </a:t>
            </a:r>
            <a:r>
              <a:rPr lang="en-GB" dirty="0"/>
              <a:t>stability and certainty through clear rules and instructions. </a:t>
            </a:r>
            <a:endParaRPr lang="en-GB" dirty="0" smtClean="0"/>
          </a:p>
          <a:p>
            <a:r>
              <a:rPr lang="en-GB" dirty="0" smtClean="0"/>
              <a:t>In </a:t>
            </a:r>
            <a:r>
              <a:rPr lang="en-GB" dirty="0"/>
              <a:t>contrast, societies with </a:t>
            </a:r>
            <a:r>
              <a:rPr lang="en-GB" i="1" dirty="0"/>
              <a:t>low </a:t>
            </a:r>
            <a:r>
              <a:rPr lang="en-GB" i="1" dirty="0" smtClean="0"/>
              <a:t>uncertainty avoidance </a:t>
            </a:r>
            <a:r>
              <a:rPr lang="en-GB" dirty="0"/>
              <a:t>are </a:t>
            </a:r>
            <a:r>
              <a:rPr lang="en-GB" u="sng" dirty="0"/>
              <a:t>comfortable with risk, change, and unpredictability</a:t>
            </a:r>
            <a:r>
              <a:rPr lang="en-GB" dirty="0"/>
              <a:t>. In these countries, risky and </a:t>
            </a:r>
            <a:r>
              <a:rPr lang="en-GB" dirty="0" smtClean="0"/>
              <a:t>ambiguous situations </a:t>
            </a:r>
            <a:r>
              <a:rPr lang="en-GB" dirty="0"/>
              <a:t>are less likely to upset people.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4287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029818"/>
              </p:ext>
            </p:extLst>
          </p:nvPr>
        </p:nvGraphicFramePr>
        <p:xfrm>
          <a:off x="533400" y="152399"/>
          <a:ext cx="8229602" cy="6705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2819400"/>
                <a:gridCol w="3886202"/>
              </a:tblGrid>
              <a:tr h="643003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Type of Work Activity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Low Uncertainty Avoidance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High Uncertainty Avoidance</a:t>
                      </a:r>
                      <a:endParaRPr lang="en-IN" dirty="0"/>
                    </a:p>
                  </a:txBody>
                  <a:tcPr/>
                </a:tc>
              </a:tr>
              <a:tr h="1745293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Relationship with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Companies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Weak loyalty to companies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Average duration of employment shorter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Preference for smaller organizations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Strong loyalty to employing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organizations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Employment are long term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 duration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Preference for larger companies</a:t>
                      </a:r>
                      <a:endParaRPr lang="en-IN" dirty="0"/>
                    </a:p>
                  </a:txBody>
                  <a:tcPr/>
                </a:tc>
              </a:tr>
              <a:tr h="2847584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Characteristics of supervisors/managers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Superiors optimistic about subordinate ambition and leadership abilities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Top managers usually involved in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strategy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Power of superiors based on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relationships and position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Transformational leaders preferred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Superiors pessimistic about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subordinate ambition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Top managers often involved in operations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Power of superiors based on control of uncertainties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Hierarchical control roles Preferred</a:t>
                      </a:r>
                      <a:endParaRPr lang="en-IN" dirty="0"/>
                    </a:p>
                  </a:txBody>
                  <a:tcPr/>
                </a:tc>
              </a:tr>
              <a:tr h="1469721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Entrepreneurship and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Innovation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Innovators feel less constrained by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Rules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Tolerance for ambiguity in procedures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and structures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Innovation welcomed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Innovators feel constrained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by rules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Formalized management structures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Innovation resisted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45895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Cultural Dimension 4: Masculinity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334000"/>
          </a:xfrm>
        </p:spPr>
        <p:txBody>
          <a:bodyPr>
            <a:normAutofit fontScale="92500"/>
          </a:bodyPr>
          <a:lstStyle/>
          <a:p>
            <a:r>
              <a:rPr lang="en-GB" dirty="0" smtClean="0"/>
              <a:t>Masculinity is the degree to which </a:t>
            </a:r>
            <a:r>
              <a:rPr lang="en-GB" dirty="0"/>
              <a:t>traditional masculine qualities such as advancement and earnings. </a:t>
            </a:r>
            <a:endParaRPr lang="en-GB" dirty="0" smtClean="0"/>
          </a:p>
          <a:p>
            <a:r>
              <a:rPr lang="en-GB" dirty="0" smtClean="0"/>
              <a:t>In </a:t>
            </a:r>
            <a:r>
              <a:rPr lang="en-GB" u="sng" dirty="0"/>
              <a:t>high masculinity societies</a:t>
            </a:r>
            <a:r>
              <a:rPr lang="en-GB" dirty="0"/>
              <a:t>, work tends </a:t>
            </a:r>
            <a:r>
              <a:rPr lang="en-GB" dirty="0" smtClean="0"/>
              <a:t>to be </a:t>
            </a:r>
            <a:r>
              <a:rPr lang="en-GB" dirty="0"/>
              <a:t>very important to people, gender roles are clear, and work takes priority over other aspects of a </a:t>
            </a:r>
            <a:r>
              <a:rPr lang="en-GB" dirty="0" smtClean="0"/>
              <a:t>person’s life</a:t>
            </a:r>
            <a:r>
              <a:rPr lang="en-GB" dirty="0"/>
              <a:t>, such as family and leisure. </a:t>
            </a:r>
            <a:endParaRPr lang="en-GB" dirty="0" smtClean="0"/>
          </a:p>
          <a:p>
            <a:r>
              <a:rPr lang="en-GB" dirty="0" smtClean="0"/>
              <a:t>In </a:t>
            </a:r>
            <a:r>
              <a:rPr lang="en-GB" dirty="0"/>
              <a:t>addition, masculine societies emphasize </a:t>
            </a:r>
            <a:r>
              <a:rPr lang="en-GB" u="sng" dirty="0"/>
              <a:t>earnings and achievements</a:t>
            </a:r>
            <a:r>
              <a:rPr lang="en-GB" dirty="0"/>
              <a:t>, </a:t>
            </a:r>
            <a:r>
              <a:rPr lang="en-GB" dirty="0" smtClean="0"/>
              <a:t>and employees </a:t>
            </a:r>
            <a:r>
              <a:rPr lang="en-GB" dirty="0"/>
              <a:t>tend to work very long hours and take very little vacation 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01118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938613"/>
              </p:ext>
            </p:extLst>
          </p:nvPr>
        </p:nvGraphicFramePr>
        <p:xfrm>
          <a:off x="457200" y="304800"/>
          <a:ext cx="8229601" cy="603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743200"/>
                <a:gridCol w="3429001"/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Type of Work Activity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High Masculinity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Low Masculinity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Relationship with work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Live in order to work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Preference for high pay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Workers look for security, pay and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interesting work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Work in order to live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Preference for lower number of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work hours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Workers look for better working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conditions and relationships in Work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Managers’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Characteristics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Managers seen as cultural heroes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Successful managers primarily exhibit male characteristics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Managers need to be competitive, firm, aggressive, and decisive </a:t>
                      </a:r>
                      <a:endParaRPr lang="en-IN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Fewer women in management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Managers prepared to move family for </a:t>
                      </a:r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career reasons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Managers are employees like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others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Successful managers are seen as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possessing both male and female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characteristics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Managers hold fairly modest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career ambition</a:t>
                      </a:r>
                    </a:p>
                    <a:p>
                      <a:r>
                        <a:rPr lang="en-I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More women in management</a:t>
                      </a:r>
                    </a:p>
                    <a:p>
                      <a:r>
                        <a:rPr lang="en-GB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• Managers less prepared to uproot family because of career move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9651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 smtClean="0"/>
              <a:t>GLOBE framework (</a:t>
            </a:r>
            <a:r>
              <a:rPr lang="en-GB" sz="2800" dirty="0"/>
              <a:t>Global Leadership and Organizational </a:t>
            </a:r>
            <a:r>
              <a:rPr lang="en-GB" sz="2800" dirty="0" err="1"/>
              <a:t>Behavior</a:t>
            </a:r>
            <a:r>
              <a:rPr lang="en-GB" sz="2800" dirty="0"/>
              <a:t> </a:t>
            </a:r>
            <a:r>
              <a:rPr lang="en-GB" sz="2800" dirty="0" smtClean="0"/>
              <a:t>Effectiveness)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1) uncertainty avoidance, </a:t>
            </a:r>
            <a:endParaRPr lang="en-GB" dirty="0" smtClean="0"/>
          </a:p>
          <a:p>
            <a:r>
              <a:rPr lang="en-GB" dirty="0" smtClean="0"/>
              <a:t>2</a:t>
            </a:r>
            <a:r>
              <a:rPr lang="en-GB" dirty="0"/>
              <a:t>) power distance, </a:t>
            </a:r>
            <a:endParaRPr lang="en-GB" dirty="0" smtClean="0"/>
          </a:p>
          <a:p>
            <a:r>
              <a:rPr lang="en-GB" dirty="0" smtClean="0"/>
              <a:t>3</a:t>
            </a:r>
            <a:r>
              <a:rPr lang="en-GB" dirty="0"/>
              <a:t>) future orientation (degree </a:t>
            </a:r>
            <a:r>
              <a:rPr lang="en-GB" dirty="0" smtClean="0"/>
              <a:t>to which </a:t>
            </a:r>
            <a:r>
              <a:rPr lang="en-GB" dirty="0"/>
              <a:t>society values the long term) </a:t>
            </a:r>
            <a:endParaRPr lang="en-GB" dirty="0" smtClean="0"/>
          </a:p>
          <a:p>
            <a:r>
              <a:rPr lang="en-GB" dirty="0" smtClean="0"/>
              <a:t>4</a:t>
            </a:r>
            <a:r>
              <a:rPr lang="en-GB" dirty="0"/>
              <a:t>) assertiveness orientation (masculinity), </a:t>
            </a:r>
            <a:endParaRPr lang="en-GB" dirty="0" smtClean="0"/>
          </a:p>
          <a:p>
            <a:r>
              <a:rPr lang="en-GB" dirty="0" smtClean="0"/>
              <a:t>5</a:t>
            </a:r>
            <a:r>
              <a:rPr lang="en-GB" dirty="0"/>
              <a:t>) gender </a:t>
            </a:r>
            <a:r>
              <a:rPr lang="en-GB" dirty="0" smtClean="0"/>
              <a:t>egalitarianism (</a:t>
            </a:r>
            <a:r>
              <a:rPr lang="en-GB" dirty="0"/>
              <a:t>femininity), </a:t>
            </a:r>
            <a:endParaRPr lang="en-GB" dirty="0" smtClean="0"/>
          </a:p>
          <a:p>
            <a:r>
              <a:rPr lang="en-GB" dirty="0" smtClean="0"/>
              <a:t>6</a:t>
            </a:r>
            <a:r>
              <a:rPr lang="en-GB" dirty="0"/>
              <a:t>) </a:t>
            </a:r>
            <a:r>
              <a:rPr lang="en-GB" dirty="0" smtClean="0"/>
              <a:t>institutional and 7. societal </a:t>
            </a:r>
            <a:r>
              <a:rPr lang="en-GB" dirty="0"/>
              <a:t>collectivism (similar to individualism/collectivism). </a:t>
            </a:r>
            <a:endParaRPr lang="en-GB" dirty="0" smtClean="0"/>
          </a:p>
          <a:p>
            <a:r>
              <a:rPr lang="en-GB" dirty="0" smtClean="0"/>
              <a:t>8) </a:t>
            </a:r>
            <a:r>
              <a:rPr lang="en-GB" b="1" dirty="0" smtClean="0"/>
              <a:t>performance </a:t>
            </a:r>
            <a:r>
              <a:rPr lang="en-GB" b="1" dirty="0"/>
              <a:t>orientation </a:t>
            </a:r>
            <a:r>
              <a:rPr lang="en-GB" dirty="0"/>
              <a:t>(degree to which </a:t>
            </a:r>
            <a:r>
              <a:rPr lang="en-GB" dirty="0" smtClean="0"/>
              <a:t>societies emphasize </a:t>
            </a:r>
            <a:r>
              <a:rPr lang="en-GB" dirty="0"/>
              <a:t>performance and achievement) and </a:t>
            </a:r>
            <a:endParaRPr lang="en-GB" dirty="0" smtClean="0"/>
          </a:p>
          <a:p>
            <a:r>
              <a:rPr lang="en-GB" dirty="0" smtClean="0"/>
              <a:t>9) </a:t>
            </a:r>
            <a:r>
              <a:rPr lang="en-GB" b="1" dirty="0" smtClean="0"/>
              <a:t>humane </a:t>
            </a:r>
            <a:r>
              <a:rPr lang="en-GB" b="1" dirty="0"/>
              <a:t>orientation </a:t>
            </a:r>
            <a:r>
              <a:rPr lang="en-GB" dirty="0"/>
              <a:t>(extent to which societies </a:t>
            </a:r>
            <a:r>
              <a:rPr lang="en-GB" dirty="0" smtClean="0"/>
              <a:t>places importance </a:t>
            </a:r>
            <a:r>
              <a:rPr lang="en-GB" dirty="0"/>
              <a:t>on fairness, altruism, and caring).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38728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/>
          <a:lstStyle/>
          <a:p>
            <a:r>
              <a:rPr lang="en-GB" dirty="0"/>
              <a:t>GLOBE researchers categorized countries into </a:t>
            </a:r>
            <a:r>
              <a:rPr lang="en-GB" b="1" dirty="0"/>
              <a:t>clusters </a:t>
            </a:r>
            <a:r>
              <a:rPr lang="en-GB" dirty="0"/>
              <a:t>of countries with </a:t>
            </a:r>
            <a:r>
              <a:rPr lang="en-GB" dirty="0" smtClean="0"/>
              <a:t>similar </a:t>
            </a:r>
            <a:r>
              <a:rPr lang="en-IN" dirty="0" smtClean="0"/>
              <a:t>cultural characteristics: </a:t>
            </a:r>
            <a:r>
              <a:rPr lang="en-GB" dirty="0"/>
              <a:t>the Anglo cluster, the Confucian Asia cluster</a:t>
            </a:r>
            <a:r>
              <a:rPr lang="en-GB" dirty="0" smtClean="0"/>
              <a:t>, the </a:t>
            </a:r>
            <a:r>
              <a:rPr lang="en-GB" dirty="0"/>
              <a:t>Germanic Europe cluster, the Nordic Europe cluster, the Latin America cluster, the Middle East cluster, </a:t>
            </a:r>
            <a:r>
              <a:rPr lang="en-GB" dirty="0" smtClean="0"/>
              <a:t>and </a:t>
            </a:r>
            <a:r>
              <a:rPr lang="en-IN" dirty="0" smtClean="0"/>
              <a:t>the </a:t>
            </a:r>
            <a:r>
              <a:rPr lang="en-IN" dirty="0"/>
              <a:t>sub-Saharan cluster</a:t>
            </a: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60089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dirty="0" smtClean="0"/>
              <a:t>6 Leadership styles identified by GLOBE researchers which differ across the clusters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 lnSpcReduction="20000"/>
          </a:bodyPr>
          <a:lstStyle/>
          <a:p>
            <a:r>
              <a:rPr lang="en-GB" i="1" dirty="0"/>
              <a:t>C</a:t>
            </a:r>
            <a:r>
              <a:rPr lang="en-GB" i="1" dirty="0" smtClean="0"/>
              <a:t>harismatic </a:t>
            </a:r>
            <a:r>
              <a:rPr lang="en-GB" i="1" dirty="0"/>
              <a:t>type </a:t>
            </a:r>
            <a:r>
              <a:rPr lang="en-GB" dirty="0"/>
              <a:t>(degree to which the leader can inspire and motivate others</a:t>
            </a:r>
            <a:r>
              <a:rPr lang="en-GB" dirty="0" smtClean="0"/>
              <a:t>)</a:t>
            </a:r>
          </a:p>
          <a:p>
            <a:r>
              <a:rPr lang="en-GB" i="1" dirty="0"/>
              <a:t>T</a:t>
            </a:r>
            <a:r>
              <a:rPr lang="en-GB" i="1" dirty="0" smtClean="0"/>
              <a:t>eam </a:t>
            </a:r>
            <a:r>
              <a:rPr lang="en-GB" i="1" dirty="0"/>
              <a:t>oriented </a:t>
            </a:r>
            <a:r>
              <a:rPr lang="en-GB" dirty="0"/>
              <a:t>(degree to which the leader can foster a high functioning team),</a:t>
            </a:r>
          </a:p>
          <a:p>
            <a:r>
              <a:rPr lang="en-GB" i="1" dirty="0"/>
              <a:t>P</a:t>
            </a:r>
            <a:r>
              <a:rPr lang="en-GB" i="1" dirty="0" smtClean="0"/>
              <a:t>articipative </a:t>
            </a:r>
            <a:r>
              <a:rPr lang="en-GB" i="1" dirty="0"/>
              <a:t>type </a:t>
            </a:r>
            <a:r>
              <a:rPr lang="en-GB" dirty="0"/>
              <a:t>(degree to which leaders involve others in decision-making)</a:t>
            </a:r>
          </a:p>
          <a:p>
            <a:r>
              <a:rPr lang="en-GB" i="1" dirty="0"/>
              <a:t>H</a:t>
            </a:r>
            <a:r>
              <a:rPr lang="en-GB" i="1" dirty="0" smtClean="0"/>
              <a:t>umane-oriented </a:t>
            </a:r>
            <a:r>
              <a:rPr lang="en-GB" i="1" dirty="0"/>
              <a:t>type </a:t>
            </a:r>
            <a:r>
              <a:rPr lang="en-GB" dirty="0"/>
              <a:t>(degree to which the leader shows compassion and generosity)</a:t>
            </a:r>
          </a:p>
          <a:p>
            <a:r>
              <a:rPr lang="en-GB" i="1" dirty="0"/>
              <a:t>A</a:t>
            </a:r>
            <a:r>
              <a:rPr lang="en-GB" i="1" dirty="0" smtClean="0"/>
              <a:t>utonomous</a:t>
            </a:r>
            <a:r>
              <a:rPr lang="en-GB" dirty="0" smtClean="0"/>
              <a:t> </a:t>
            </a:r>
            <a:r>
              <a:rPr lang="en-GB" dirty="0"/>
              <a:t>(degree to which the leader reflects independent and individualistic leadership)</a:t>
            </a:r>
          </a:p>
          <a:p>
            <a:r>
              <a:rPr lang="en-GB" i="1" dirty="0"/>
              <a:t>S</a:t>
            </a:r>
            <a:r>
              <a:rPr lang="en-GB" i="1" dirty="0" smtClean="0"/>
              <a:t>elf-protective</a:t>
            </a:r>
            <a:r>
              <a:rPr lang="en-GB" dirty="0" smtClean="0"/>
              <a:t> </a:t>
            </a:r>
            <a:r>
              <a:rPr lang="en-GB" dirty="0"/>
              <a:t>(degree to which the leader is self-</a:t>
            </a:r>
            <a:r>
              <a:rPr lang="en-GB" dirty="0" err="1"/>
              <a:t>centered</a:t>
            </a:r>
            <a:r>
              <a:rPr lang="en-GB" dirty="0"/>
              <a:t> and uses a face-saving approach)</a:t>
            </a:r>
            <a:endParaRPr lang="en-GB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09388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Cross-Cultural Assignments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 smtClean="0"/>
              <a:t>Cultural </a:t>
            </a:r>
            <a:r>
              <a:rPr lang="en-GB" b="1" dirty="0" smtClean="0"/>
              <a:t>intelligence </a:t>
            </a:r>
            <a:r>
              <a:rPr lang="en-GB" dirty="0"/>
              <a:t>refers to “individuals’ capabilities to function and manage effectively in culturally </a:t>
            </a:r>
            <a:r>
              <a:rPr lang="en-GB" dirty="0" smtClean="0"/>
              <a:t>diverse </a:t>
            </a:r>
            <a:r>
              <a:rPr lang="en-IN" dirty="0" smtClean="0"/>
              <a:t>settings.”</a:t>
            </a:r>
          </a:p>
          <a:p>
            <a:r>
              <a:rPr lang="en-GB" dirty="0" smtClean="0"/>
              <a:t>4 dimensions of cultural intelligence: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a </a:t>
            </a:r>
            <a:r>
              <a:rPr lang="en-GB" b="1" dirty="0"/>
              <a:t>cognitive dimension</a:t>
            </a:r>
            <a:r>
              <a:rPr lang="en-GB" dirty="0"/>
              <a:t>, focusing on the </a:t>
            </a:r>
            <a:r>
              <a:rPr lang="en-GB" u="sng" dirty="0"/>
              <a:t>individual’s knowledge of values and practices inherent in </a:t>
            </a:r>
            <a:r>
              <a:rPr lang="en-GB" u="sng" dirty="0" smtClean="0"/>
              <a:t>the new </a:t>
            </a:r>
            <a:r>
              <a:rPr lang="en-GB" u="sng" dirty="0"/>
              <a:t>culture </a:t>
            </a:r>
            <a:r>
              <a:rPr lang="en-GB" dirty="0"/>
              <a:t>acquired through education and personal experiences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a </a:t>
            </a:r>
            <a:r>
              <a:rPr lang="en-GB" b="1" dirty="0"/>
              <a:t>meta-cognitive dimension</a:t>
            </a:r>
            <a:r>
              <a:rPr lang="en-GB" dirty="0"/>
              <a:t>, which reflects </a:t>
            </a:r>
            <a:r>
              <a:rPr lang="en-GB" u="sng" dirty="0"/>
              <a:t>an individual’s ability to use cross-cultural knowledge </a:t>
            </a:r>
            <a:r>
              <a:rPr lang="en-GB" u="sng" dirty="0" smtClean="0"/>
              <a:t>to understand </a:t>
            </a:r>
            <a:r>
              <a:rPr lang="en-GB" u="sng" dirty="0"/>
              <a:t>and adapt to the cultural environment </a:t>
            </a:r>
            <a:r>
              <a:rPr lang="en-GB" dirty="0"/>
              <a:t>they are exposed to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a </a:t>
            </a:r>
            <a:r>
              <a:rPr lang="en-GB" b="1" dirty="0"/>
              <a:t>motivational dimension</a:t>
            </a:r>
            <a:r>
              <a:rPr lang="en-GB" dirty="0"/>
              <a:t>, which reflects </a:t>
            </a:r>
            <a:r>
              <a:rPr lang="en-GB" u="sng" dirty="0"/>
              <a:t>the ability and desire to continuously learn new aspects </a:t>
            </a:r>
            <a:r>
              <a:rPr lang="en-GB" u="sng" dirty="0" smtClean="0"/>
              <a:t>of cultures </a:t>
            </a:r>
            <a:r>
              <a:rPr lang="en-GB" u="sng" dirty="0"/>
              <a:t>and adapt to </a:t>
            </a:r>
            <a:r>
              <a:rPr lang="en-GB" u="sng" dirty="0" smtClean="0"/>
              <a:t>them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a </a:t>
            </a:r>
            <a:r>
              <a:rPr lang="en-GB" b="1" dirty="0" err="1"/>
              <a:t>behavioral</a:t>
            </a:r>
            <a:r>
              <a:rPr lang="en-GB" b="1" dirty="0"/>
              <a:t> dimension</a:t>
            </a:r>
            <a:r>
              <a:rPr lang="en-GB" dirty="0"/>
              <a:t>, based on </a:t>
            </a:r>
            <a:r>
              <a:rPr lang="en-GB" u="sng" dirty="0"/>
              <a:t>the ability of the individual to exhibit the appropriate forms of </a:t>
            </a:r>
            <a:r>
              <a:rPr lang="en-GB" u="sng" dirty="0" smtClean="0"/>
              <a:t>verbal and </a:t>
            </a:r>
            <a:r>
              <a:rPr lang="en-GB" u="sng" dirty="0"/>
              <a:t>nonverbal </a:t>
            </a:r>
            <a:r>
              <a:rPr lang="en-GB" u="sng" dirty="0" err="1"/>
              <a:t>behaviors</a:t>
            </a:r>
            <a:r>
              <a:rPr lang="en-GB" u="sng" dirty="0"/>
              <a:t> when interacting with people from another culture</a:t>
            </a:r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2893286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Strategies for Expanding Globally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92500"/>
          </a:bodyPr>
          <a:lstStyle/>
          <a:p>
            <a:r>
              <a:rPr lang="en-GB" dirty="0"/>
              <a:t>Companies can choose to pursue one of three main strategies:</a:t>
            </a:r>
          </a:p>
          <a:p>
            <a:r>
              <a:rPr lang="en-GB" dirty="0" smtClean="0"/>
              <a:t>a </a:t>
            </a:r>
            <a:r>
              <a:rPr lang="en-GB" b="1" dirty="0"/>
              <a:t>global strategy</a:t>
            </a:r>
            <a:r>
              <a:rPr lang="en-GB" dirty="0"/>
              <a:t>, whereby all operations and activities are managed fairly similarly worldwide</a:t>
            </a:r>
          </a:p>
          <a:p>
            <a:r>
              <a:rPr lang="en-GB" dirty="0" smtClean="0"/>
              <a:t>a </a:t>
            </a:r>
            <a:r>
              <a:rPr lang="en-GB" b="1" dirty="0"/>
              <a:t>regional strategy</a:t>
            </a:r>
            <a:r>
              <a:rPr lang="en-GB" dirty="0"/>
              <a:t>, whereby activities and operations are adapted to regional requirements</a:t>
            </a:r>
          </a:p>
          <a:p>
            <a:r>
              <a:rPr lang="en-GB" dirty="0" smtClean="0"/>
              <a:t>a </a:t>
            </a:r>
            <a:r>
              <a:rPr lang="en-GB" b="1" dirty="0"/>
              <a:t>local strategy</a:t>
            </a:r>
            <a:r>
              <a:rPr lang="en-GB" dirty="0"/>
              <a:t>, whereby the company’s operations are adapted to fit specific countries.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73021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Necessity of Global Markets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Trade </a:t>
            </a:r>
            <a:r>
              <a:rPr lang="en-IN" dirty="0" smtClean="0"/>
              <a:t>Facilitation</a:t>
            </a:r>
          </a:p>
          <a:p>
            <a:r>
              <a:rPr lang="en-IN" dirty="0"/>
              <a:t>Growth </a:t>
            </a:r>
            <a:r>
              <a:rPr lang="en-IN" dirty="0" smtClean="0"/>
              <a:t>Opportunities</a:t>
            </a:r>
          </a:p>
          <a:p>
            <a:endParaRPr lang="en-GB" dirty="0"/>
          </a:p>
          <a:p>
            <a:r>
              <a:rPr lang="en-GB" dirty="0"/>
              <a:t>How to Go International </a:t>
            </a: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1</a:t>
            </a:r>
            <a:r>
              <a:rPr lang="en-GB" dirty="0"/>
              <a:t>: </a:t>
            </a:r>
            <a:r>
              <a:rPr lang="en-GB" dirty="0" smtClean="0"/>
              <a:t>Exporting</a:t>
            </a:r>
          </a:p>
          <a:p>
            <a:pPr marL="0" indent="0">
              <a:buNone/>
            </a:pPr>
            <a:r>
              <a:rPr lang="en-IN" dirty="0"/>
              <a:t>2: Strategic </a:t>
            </a:r>
            <a:r>
              <a:rPr lang="en-IN" dirty="0" smtClean="0"/>
              <a:t>Alliances</a:t>
            </a:r>
          </a:p>
          <a:p>
            <a:pPr marL="0" indent="0">
              <a:buNone/>
            </a:pPr>
            <a:r>
              <a:rPr lang="en-IN" dirty="0"/>
              <a:t>3: Foreign Direct </a:t>
            </a:r>
            <a:r>
              <a:rPr lang="en-IN" dirty="0" smtClean="0"/>
              <a:t>Investment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4473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2520</Words>
  <Application>Microsoft Office PowerPoint</Application>
  <PresentationFormat>On-screen Show (4:3)</PresentationFormat>
  <Paragraphs>235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Organizational Diversity and Culture</vt:lpstr>
      <vt:lpstr>What is diversity?</vt:lpstr>
      <vt:lpstr>Managing Diversity</vt:lpstr>
      <vt:lpstr>3 types of workplace diversity</vt:lpstr>
      <vt:lpstr>Diversity and the Workforce</vt:lpstr>
      <vt:lpstr>Advantages of Workplace Diversity</vt:lpstr>
      <vt:lpstr>Challenges of Workplace Diversity</vt:lpstr>
      <vt:lpstr>Diversity Theories</vt:lpstr>
      <vt:lpstr>Benefits of Workplace Diversity</vt:lpstr>
      <vt:lpstr>PowerPoint Presentation</vt:lpstr>
      <vt:lpstr>Organizational Culture</vt:lpstr>
      <vt:lpstr>Organizational culture</vt:lpstr>
      <vt:lpstr>Strong Versus Weak organizational cultures</vt:lpstr>
      <vt:lpstr>International management</vt:lpstr>
      <vt:lpstr>Hofstede's Cultural Framework</vt:lpstr>
      <vt:lpstr>Cultural Dimension 1: Power Distance</vt:lpstr>
      <vt:lpstr>Implications of Power Distance</vt:lpstr>
      <vt:lpstr>Cultural Dimension 2: Individualism and Collectivism</vt:lpstr>
      <vt:lpstr>PowerPoint Presentation</vt:lpstr>
      <vt:lpstr>Cultural Dimension 3: Uncertainty Avoidance</vt:lpstr>
      <vt:lpstr>PowerPoint Presentation</vt:lpstr>
      <vt:lpstr>Cultural Dimension 4: Masculinity</vt:lpstr>
      <vt:lpstr>PowerPoint Presentation</vt:lpstr>
      <vt:lpstr>GLOBE framework (Global Leadership and Organizational Behavior Effectiveness)</vt:lpstr>
      <vt:lpstr>PowerPoint Presentation</vt:lpstr>
      <vt:lpstr>6 Leadership styles identified by GLOBE researchers which differ across the clusters</vt:lpstr>
      <vt:lpstr>Cross-Cultural Assignments</vt:lpstr>
      <vt:lpstr>Strategies for Expanding Globally</vt:lpstr>
      <vt:lpstr>The Necessity of Global Markets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Organizational Diversity and Culture</dc:title>
  <dc:creator>HP</dc:creator>
  <cp:lastModifiedBy>HP</cp:lastModifiedBy>
  <cp:revision>14</cp:revision>
  <dcterms:created xsi:type="dcterms:W3CDTF">2006-08-16T00:00:00Z</dcterms:created>
  <dcterms:modified xsi:type="dcterms:W3CDTF">2026-02-27T16:29:15Z</dcterms:modified>
</cp:coreProperties>
</file>