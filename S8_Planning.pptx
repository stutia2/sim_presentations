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7" d="100"/>
          <a:sy n="67" d="100"/>
        </p:scale>
        <p:origin x="-1476" y="-10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3913E7F-151D-4451-AA58-D311483C0A6E}" type="doc">
      <dgm:prSet loTypeId="urn:microsoft.com/office/officeart/2005/8/layout/process1" loCatId="process" qsTypeId="urn:microsoft.com/office/officeart/2005/8/quickstyle/simple1" qsCatId="simple" csTypeId="urn:microsoft.com/office/officeart/2005/8/colors/accent1_2" csCatId="accent1" phldr="1"/>
      <dgm:spPr/>
    </dgm:pt>
    <dgm:pt modelId="{EA42F2EF-0175-469C-8BD6-7F7C4F686528}">
      <dgm:prSet phldrT="[Text]"/>
      <dgm:spPr/>
      <dgm:t>
        <a:bodyPr/>
        <a:lstStyle/>
        <a:p>
          <a:r>
            <a:rPr lang="en-GB" dirty="0" smtClean="0"/>
            <a:t>Define objectives</a:t>
          </a:r>
          <a:endParaRPr lang="en-IN" dirty="0"/>
        </a:p>
      </dgm:t>
    </dgm:pt>
    <dgm:pt modelId="{CFA28E76-C98C-4BBD-98C3-8643A5BB1661}" type="parTrans" cxnId="{6E54F6E0-A68B-4FBD-94BF-A54F0BFD5524}">
      <dgm:prSet/>
      <dgm:spPr/>
      <dgm:t>
        <a:bodyPr/>
        <a:lstStyle/>
        <a:p>
          <a:endParaRPr lang="en-IN"/>
        </a:p>
      </dgm:t>
    </dgm:pt>
    <dgm:pt modelId="{30CDC3C3-E5B8-44EB-9E6E-6F662F7034C6}" type="sibTrans" cxnId="{6E54F6E0-A68B-4FBD-94BF-A54F0BFD5524}">
      <dgm:prSet/>
      <dgm:spPr/>
      <dgm:t>
        <a:bodyPr/>
        <a:lstStyle/>
        <a:p>
          <a:endParaRPr lang="en-IN"/>
        </a:p>
      </dgm:t>
    </dgm:pt>
    <dgm:pt modelId="{D28ECE75-BCCE-4082-B68C-D83D94FA700B}">
      <dgm:prSet phldrT="[Text]"/>
      <dgm:spPr/>
      <dgm:t>
        <a:bodyPr/>
        <a:lstStyle/>
        <a:p>
          <a:r>
            <a:rPr lang="en-GB" dirty="0" smtClean="0"/>
            <a:t>Identify activities and resources</a:t>
          </a:r>
          <a:endParaRPr lang="en-IN" dirty="0"/>
        </a:p>
      </dgm:t>
    </dgm:pt>
    <dgm:pt modelId="{84D6925B-3985-48B4-BCE1-CFD8AD7CF5CD}" type="parTrans" cxnId="{B5C5377C-9C7F-443E-9428-8242E1811D3C}">
      <dgm:prSet/>
      <dgm:spPr/>
      <dgm:t>
        <a:bodyPr/>
        <a:lstStyle/>
        <a:p>
          <a:endParaRPr lang="en-IN"/>
        </a:p>
      </dgm:t>
    </dgm:pt>
    <dgm:pt modelId="{95634DEB-47BA-4D1F-AEB2-0C6BCCD38A5C}" type="sibTrans" cxnId="{B5C5377C-9C7F-443E-9428-8242E1811D3C}">
      <dgm:prSet/>
      <dgm:spPr/>
      <dgm:t>
        <a:bodyPr/>
        <a:lstStyle/>
        <a:p>
          <a:endParaRPr lang="en-IN"/>
        </a:p>
      </dgm:t>
    </dgm:pt>
    <dgm:pt modelId="{E4D18005-101D-4294-B23E-F98F6646D89F}">
      <dgm:prSet phldrT="[Text]"/>
      <dgm:spPr/>
      <dgm:t>
        <a:bodyPr/>
        <a:lstStyle/>
        <a:p>
          <a:r>
            <a:rPr lang="en-GB" dirty="0" smtClean="0"/>
            <a:t>Establish sequences</a:t>
          </a:r>
          <a:endParaRPr lang="en-IN" dirty="0"/>
        </a:p>
      </dgm:t>
    </dgm:pt>
    <dgm:pt modelId="{9C91C59E-1528-459B-9E5B-0E76F0D7FCE8}" type="parTrans" cxnId="{5A4BBF40-CDF7-4EA7-BC54-CBA59B21AC8A}">
      <dgm:prSet/>
      <dgm:spPr/>
      <dgm:t>
        <a:bodyPr/>
        <a:lstStyle/>
        <a:p>
          <a:endParaRPr lang="en-IN"/>
        </a:p>
      </dgm:t>
    </dgm:pt>
    <dgm:pt modelId="{7FDD32FD-0B85-4162-ABD0-C8F4526BC8DD}" type="sibTrans" cxnId="{5A4BBF40-CDF7-4EA7-BC54-CBA59B21AC8A}">
      <dgm:prSet/>
      <dgm:spPr/>
      <dgm:t>
        <a:bodyPr/>
        <a:lstStyle/>
        <a:p>
          <a:endParaRPr lang="en-IN"/>
        </a:p>
      </dgm:t>
    </dgm:pt>
    <dgm:pt modelId="{40C208AD-E2FC-4536-94C7-0C06B544D7B7}">
      <dgm:prSet/>
      <dgm:spPr/>
      <dgm:t>
        <a:bodyPr/>
        <a:lstStyle/>
        <a:p>
          <a:r>
            <a:rPr lang="en-GB" dirty="0" smtClean="0"/>
            <a:t>Establish time for services</a:t>
          </a:r>
          <a:endParaRPr lang="en-IN" dirty="0"/>
        </a:p>
      </dgm:t>
    </dgm:pt>
    <dgm:pt modelId="{E2A92EBA-7EFF-4D2F-941F-5DE2B5977B38}" type="parTrans" cxnId="{B017AFE3-E5EF-41BD-81AE-BF695A070150}">
      <dgm:prSet/>
      <dgm:spPr/>
      <dgm:t>
        <a:bodyPr/>
        <a:lstStyle/>
        <a:p>
          <a:endParaRPr lang="en-IN"/>
        </a:p>
      </dgm:t>
    </dgm:pt>
    <dgm:pt modelId="{B07D7EB5-8722-4D6C-A7DD-7ECA7DC413B2}" type="sibTrans" cxnId="{B017AFE3-E5EF-41BD-81AE-BF695A070150}">
      <dgm:prSet/>
      <dgm:spPr/>
      <dgm:t>
        <a:bodyPr/>
        <a:lstStyle/>
        <a:p>
          <a:endParaRPr lang="en-IN"/>
        </a:p>
      </dgm:t>
    </dgm:pt>
    <dgm:pt modelId="{3913F7A7-EC5D-40EA-AA1F-16A74600E8CC}">
      <dgm:prSet/>
      <dgm:spPr/>
      <dgm:t>
        <a:bodyPr/>
        <a:lstStyle/>
        <a:p>
          <a:r>
            <a:rPr lang="en-GB" dirty="0" smtClean="0"/>
            <a:t>Determine project completion time</a:t>
          </a:r>
          <a:endParaRPr lang="en-IN" dirty="0"/>
        </a:p>
      </dgm:t>
    </dgm:pt>
    <dgm:pt modelId="{C2BD1380-6187-49A6-A6F2-5132D49B7255}" type="parTrans" cxnId="{1DFE1B41-FEE8-40C1-8035-58C5B8746E3C}">
      <dgm:prSet/>
      <dgm:spPr/>
      <dgm:t>
        <a:bodyPr/>
        <a:lstStyle/>
        <a:p>
          <a:endParaRPr lang="en-IN"/>
        </a:p>
      </dgm:t>
    </dgm:pt>
    <dgm:pt modelId="{3CD3095E-259B-4DBE-A776-9D3CD6113E5C}" type="sibTrans" cxnId="{1DFE1B41-FEE8-40C1-8035-58C5B8746E3C}">
      <dgm:prSet/>
      <dgm:spPr/>
      <dgm:t>
        <a:bodyPr/>
        <a:lstStyle/>
        <a:p>
          <a:endParaRPr lang="en-IN"/>
        </a:p>
      </dgm:t>
    </dgm:pt>
    <dgm:pt modelId="{FFCCF1F1-0D3D-429E-8A91-5F83D86BA720}">
      <dgm:prSet/>
      <dgm:spPr/>
      <dgm:t>
        <a:bodyPr/>
        <a:lstStyle/>
        <a:p>
          <a:r>
            <a:rPr lang="en-GB" dirty="0" smtClean="0"/>
            <a:t>Compare objectives</a:t>
          </a:r>
          <a:endParaRPr lang="en-IN" dirty="0"/>
        </a:p>
      </dgm:t>
    </dgm:pt>
    <dgm:pt modelId="{AA53E0DC-B4A1-4E7F-BFC0-DADFDD21176D}" type="parTrans" cxnId="{EDE10255-53B5-4F49-B6A5-0CB3B9FEEBD4}">
      <dgm:prSet/>
      <dgm:spPr/>
      <dgm:t>
        <a:bodyPr/>
        <a:lstStyle/>
        <a:p>
          <a:endParaRPr lang="en-IN"/>
        </a:p>
      </dgm:t>
    </dgm:pt>
    <dgm:pt modelId="{6629F487-5097-4BFB-8AAE-F21007306479}" type="sibTrans" cxnId="{EDE10255-53B5-4F49-B6A5-0CB3B9FEEBD4}">
      <dgm:prSet/>
      <dgm:spPr/>
      <dgm:t>
        <a:bodyPr/>
        <a:lstStyle/>
        <a:p>
          <a:endParaRPr lang="en-IN"/>
        </a:p>
      </dgm:t>
    </dgm:pt>
    <dgm:pt modelId="{8F770149-1481-4E53-9900-8F437224A89B}">
      <dgm:prSet/>
      <dgm:spPr/>
      <dgm:t>
        <a:bodyPr/>
        <a:lstStyle/>
        <a:p>
          <a:r>
            <a:rPr lang="en-GB" dirty="0" smtClean="0"/>
            <a:t>Determine additional resource requirements</a:t>
          </a:r>
          <a:endParaRPr lang="en-IN" dirty="0"/>
        </a:p>
      </dgm:t>
    </dgm:pt>
    <dgm:pt modelId="{E7485124-87D2-42A5-8E10-6A6747711BD3}" type="parTrans" cxnId="{8A396717-5A82-45EC-93CE-509574EBF414}">
      <dgm:prSet/>
      <dgm:spPr/>
      <dgm:t>
        <a:bodyPr/>
        <a:lstStyle/>
        <a:p>
          <a:endParaRPr lang="en-IN"/>
        </a:p>
      </dgm:t>
    </dgm:pt>
    <dgm:pt modelId="{679D73EA-5FCC-4E9D-A180-8B27ABD9E11A}" type="sibTrans" cxnId="{8A396717-5A82-45EC-93CE-509574EBF414}">
      <dgm:prSet/>
      <dgm:spPr/>
      <dgm:t>
        <a:bodyPr/>
        <a:lstStyle/>
        <a:p>
          <a:endParaRPr lang="en-IN"/>
        </a:p>
      </dgm:t>
    </dgm:pt>
    <dgm:pt modelId="{01550885-BEAF-4837-89C6-084358DCA613}" type="pres">
      <dgm:prSet presAssocID="{E3913E7F-151D-4451-AA58-D311483C0A6E}" presName="Name0" presStyleCnt="0">
        <dgm:presLayoutVars>
          <dgm:dir/>
          <dgm:resizeHandles val="exact"/>
        </dgm:presLayoutVars>
      </dgm:prSet>
      <dgm:spPr/>
    </dgm:pt>
    <dgm:pt modelId="{F9464D3D-07AC-4B02-B291-B5369B4313AF}" type="pres">
      <dgm:prSet presAssocID="{EA42F2EF-0175-469C-8BD6-7F7C4F686528}" presName="node" presStyleLbl="node1" presStyleIdx="0" presStyleCnt="7">
        <dgm:presLayoutVars>
          <dgm:bulletEnabled val="1"/>
        </dgm:presLayoutVars>
      </dgm:prSet>
      <dgm:spPr/>
    </dgm:pt>
    <dgm:pt modelId="{104D45CD-A084-47D2-9B7C-B736B7A856E1}" type="pres">
      <dgm:prSet presAssocID="{30CDC3C3-E5B8-44EB-9E6E-6F662F7034C6}" presName="sibTrans" presStyleLbl="sibTrans2D1" presStyleIdx="0" presStyleCnt="6"/>
      <dgm:spPr/>
    </dgm:pt>
    <dgm:pt modelId="{5C4E08C2-7533-4D5E-BE7D-11EC9399C7C8}" type="pres">
      <dgm:prSet presAssocID="{30CDC3C3-E5B8-44EB-9E6E-6F662F7034C6}" presName="connectorText" presStyleLbl="sibTrans2D1" presStyleIdx="0" presStyleCnt="6"/>
      <dgm:spPr/>
    </dgm:pt>
    <dgm:pt modelId="{04E9D9BF-8A80-40AC-9FBC-A248C13AB277}" type="pres">
      <dgm:prSet presAssocID="{D28ECE75-BCCE-4082-B68C-D83D94FA700B}" presName="node" presStyleLbl="node1" presStyleIdx="1" presStyleCnt="7">
        <dgm:presLayoutVars>
          <dgm:bulletEnabled val="1"/>
        </dgm:presLayoutVars>
      </dgm:prSet>
      <dgm:spPr/>
    </dgm:pt>
    <dgm:pt modelId="{7D60C951-FAA2-432C-8DDA-DEAF92F5613B}" type="pres">
      <dgm:prSet presAssocID="{95634DEB-47BA-4D1F-AEB2-0C6BCCD38A5C}" presName="sibTrans" presStyleLbl="sibTrans2D1" presStyleIdx="1" presStyleCnt="6"/>
      <dgm:spPr/>
    </dgm:pt>
    <dgm:pt modelId="{0DB96486-F249-4EEF-A107-CF7D87510ACB}" type="pres">
      <dgm:prSet presAssocID="{95634DEB-47BA-4D1F-AEB2-0C6BCCD38A5C}" presName="connectorText" presStyleLbl="sibTrans2D1" presStyleIdx="1" presStyleCnt="6"/>
      <dgm:spPr/>
    </dgm:pt>
    <dgm:pt modelId="{5DE4E7BD-24BC-4983-907D-81197F02BEB6}" type="pres">
      <dgm:prSet presAssocID="{E4D18005-101D-4294-B23E-F98F6646D89F}" presName="node" presStyleLbl="node1" presStyleIdx="2" presStyleCnt="7">
        <dgm:presLayoutVars>
          <dgm:bulletEnabled val="1"/>
        </dgm:presLayoutVars>
      </dgm:prSet>
      <dgm:spPr/>
    </dgm:pt>
    <dgm:pt modelId="{CAD0A8D6-F532-46D4-8550-BAF52B43A4B9}" type="pres">
      <dgm:prSet presAssocID="{7FDD32FD-0B85-4162-ABD0-C8F4526BC8DD}" presName="sibTrans" presStyleLbl="sibTrans2D1" presStyleIdx="2" presStyleCnt="6"/>
      <dgm:spPr/>
    </dgm:pt>
    <dgm:pt modelId="{6F57F5BF-9450-4917-B1B3-00405E08EE4C}" type="pres">
      <dgm:prSet presAssocID="{7FDD32FD-0B85-4162-ABD0-C8F4526BC8DD}" presName="connectorText" presStyleLbl="sibTrans2D1" presStyleIdx="2" presStyleCnt="6"/>
      <dgm:spPr/>
    </dgm:pt>
    <dgm:pt modelId="{B851A2E5-ACB4-48A4-8748-96E3BF8242D7}" type="pres">
      <dgm:prSet presAssocID="{40C208AD-E2FC-4536-94C7-0C06B544D7B7}" presName="node" presStyleLbl="node1" presStyleIdx="3" presStyleCnt="7">
        <dgm:presLayoutVars>
          <dgm:bulletEnabled val="1"/>
        </dgm:presLayoutVars>
      </dgm:prSet>
      <dgm:spPr/>
    </dgm:pt>
    <dgm:pt modelId="{5C840163-0F5F-4C5A-8E40-1D61A4B12786}" type="pres">
      <dgm:prSet presAssocID="{B07D7EB5-8722-4D6C-A7DD-7ECA7DC413B2}" presName="sibTrans" presStyleLbl="sibTrans2D1" presStyleIdx="3" presStyleCnt="6"/>
      <dgm:spPr/>
    </dgm:pt>
    <dgm:pt modelId="{89001DA0-EFDB-47CE-9B4A-C527EAA65ABA}" type="pres">
      <dgm:prSet presAssocID="{B07D7EB5-8722-4D6C-A7DD-7ECA7DC413B2}" presName="connectorText" presStyleLbl="sibTrans2D1" presStyleIdx="3" presStyleCnt="6"/>
      <dgm:spPr/>
    </dgm:pt>
    <dgm:pt modelId="{BFE3EC9A-27E3-40AF-BAD0-0E4B938FCB48}" type="pres">
      <dgm:prSet presAssocID="{3913F7A7-EC5D-40EA-AA1F-16A74600E8CC}" presName="node" presStyleLbl="node1" presStyleIdx="4" presStyleCnt="7">
        <dgm:presLayoutVars>
          <dgm:bulletEnabled val="1"/>
        </dgm:presLayoutVars>
      </dgm:prSet>
      <dgm:spPr/>
      <dgm:t>
        <a:bodyPr/>
        <a:lstStyle/>
        <a:p>
          <a:endParaRPr lang="en-IN"/>
        </a:p>
      </dgm:t>
    </dgm:pt>
    <dgm:pt modelId="{D1C414E2-EDD3-4630-B491-213333DDD528}" type="pres">
      <dgm:prSet presAssocID="{3CD3095E-259B-4DBE-A776-9D3CD6113E5C}" presName="sibTrans" presStyleLbl="sibTrans2D1" presStyleIdx="4" presStyleCnt="6"/>
      <dgm:spPr/>
    </dgm:pt>
    <dgm:pt modelId="{B3382FB9-79DF-4A85-A1DD-36F900358D93}" type="pres">
      <dgm:prSet presAssocID="{3CD3095E-259B-4DBE-A776-9D3CD6113E5C}" presName="connectorText" presStyleLbl="sibTrans2D1" presStyleIdx="4" presStyleCnt="6"/>
      <dgm:spPr/>
    </dgm:pt>
    <dgm:pt modelId="{87335DC6-448C-4DBB-852F-762C1908FEC9}" type="pres">
      <dgm:prSet presAssocID="{FFCCF1F1-0D3D-429E-8A91-5F83D86BA720}" presName="node" presStyleLbl="node1" presStyleIdx="5" presStyleCnt="7">
        <dgm:presLayoutVars>
          <dgm:bulletEnabled val="1"/>
        </dgm:presLayoutVars>
      </dgm:prSet>
      <dgm:spPr/>
    </dgm:pt>
    <dgm:pt modelId="{53EAAE58-6EB6-4EE7-A05F-726DEE5EB6EC}" type="pres">
      <dgm:prSet presAssocID="{6629F487-5097-4BFB-8AAE-F21007306479}" presName="sibTrans" presStyleLbl="sibTrans2D1" presStyleIdx="5" presStyleCnt="6"/>
      <dgm:spPr/>
    </dgm:pt>
    <dgm:pt modelId="{D2B4B658-55C6-4709-BC99-6B8EB61A8A63}" type="pres">
      <dgm:prSet presAssocID="{6629F487-5097-4BFB-8AAE-F21007306479}" presName="connectorText" presStyleLbl="sibTrans2D1" presStyleIdx="5" presStyleCnt="6"/>
      <dgm:spPr/>
    </dgm:pt>
    <dgm:pt modelId="{783CC4BD-3ECE-4186-B886-22AB6DD05572}" type="pres">
      <dgm:prSet presAssocID="{8F770149-1481-4E53-9900-8F437224A89B}" presName="node" presStyleLbl="node1" presStyleIdx="6" presStyleCnt="7">
        <dgm:presLayoutVars>
          <dgm:bulletEnabled val="1"/>
        </dgm:presLayoutVars>
      </dgm:prSet>
      <dgm:spPr/>
      <dgm:t>
        <a:bodyPr/>
        <a:lstStyle/>
        <a:p>
          <a:endParaRPr lang="en-IN"/>
        </a:p>
      </dgm:t>
    </dgm:pt>
  </dgm:ptLst>
  <dgm:cxnLst>
    <dgm:cxn modelId="{97523506-29C9-474A-B09A-9698402F3001}" type="presOf" srcId="{EA42F2EF-0175-469C-8BD6-7F7C4F686528}" destId="{F9464D3D-07AC-4B02-B291-B5369B4313AF}" srcOrd="0" destOrd="0" presId="urn:microsoft.com/office/officeart/2005/8/layout/process1"/>
    <dgm:cxn modelId="{C271796B-084B-49D5-88FE-495F0782FCA1}" type="presOf" srcId="{E3913E7F-151D-4451-AA58-D311483C0A6E}" destId="{01550885-BEAF-4837-89C6-084358DCA613}" srcOrd="0" destOrd="0" presId="urn:microsoft.com/office/officeart/2005/8/layout/process1"/>
    <dgm:cxn modelId="{C16B2E49-45C8-4EE6-9CEB-2B1DB083AD6B}" type="presOf" srcId="{30CDC3C3-E5B8-44EB-9E6E-6F662F7034C6}" destId="{104D45CD-A084-47D2-9B7C-B736B7A856E1}" srcOrd="0" destOrd="0" presId="urn:microsoft.com/office/officeart/2005/8/layout/process1"/>
    <dgm:cxn modelId="{DBC84BA5-72DE-4CFE-BFD0-547B4EB027E4}" type="presOf" srcId="{FFCCF1F1-0D3D-429E-8A91-5F83D86BA720}" destId="{87335DC6-448C-4DBB-852F-762C1908FEC9}" srcOrd="0" destOrd="0" presId="urn:microsoft.com/office/officeart/2005/8/layout/process1"/>
    <dgm:cxn modelId="{E9D762F3-5FBA-4D3C-9060-8D240B4B87B3}" type="presOf" srcId="{6629F487-5097-4BFB-8AAE-F21007306479}" destId="{53EAAE58-6EB6-4EE7-A05F-726DEE5EB6EC}" srcOrd="0" destOrd="0" presId="urn:microsoft.com/office/officeart/2005/8/layout/process1"/>
    <dgm:cxn modelId="{E8D68BF6-4126-4757-BAAF-7F8AAEB08D20}" type="presOf" srcId="{6629F487-5097-4BFB-8AAE-F21007306479}" destId="{D2B4B658-55C6-4709-BC99-6B8EB61A8A63}" srcOrd="1" destOrd="0" presId="urn:microsoft.com/office/officeart/2005/8/layout/process1"/>
    <dgm:cxn modelId="{B5C5377C-9C7F-443E-9428-8242E1811D3C}" srcId="{E3913E7F-151D-4451-AA58-D311483C0A6E}" destId="{D28ECE75-BCCE-4082-B68C-D83D94FA700B}" srcOrd="1" destOrd="0" parTransId="{84D6925B-3985-48B4-BCE1-CFD8AD7CF5CD}" sibTransId="{95634DEB-47BA-4D1F-AEB2-0C6BCCD38A5C}"/>
    <dgm:cxn modelId="{345B5E8D-9164-4DAB-9D8F-990050F13AA2}" type="presOf" srcId="{3913F7A7-EC5D-40EA-AA1F-16A74600E8CC}" destId="{BFE3EC9A-27E3-40AF-BAD0-0E4B938FCB48}" srcOrd="0" destOrd="0" presId="urn:microsoft.com/office/officeart/2005/8/layout/process1"/>
    <dgm:cxn modelId="{5A4BBF40-CDF7-4EA7-BC54-CBA59B21AC8A}" srcId="{E3913E7F-151D-4451-AA58-D311483C0A6E}" destId="{E4D18005-101D-4294-B23E-F98F6646D89F}" srcOrd="2" destOrd="0" parTransId="{9C91C59E-1528-459B-9E5B-0E76F0D7FCE8}" sibTransId="{7FDD32FD-0B85-4162-ABD0-C8F4526BC8DD}"/>
    <dgm:cxn modelId="{98016857-5A33-4E89-A679-38B2B64A5527}" type="presOf" srcId="{B07D7EB5-8722-4D6C-A7DD-7ECA7DC413B2}" destId="{89001DA0-EFDB-47CE-9B4A-C527EAA65ABA}" srcOrd="1" destOrd="0" presId="urn:microsoft.com/office/officeart/2005/8/layout/process1"/>
    <dgm:cxn modelId="{6D7076E9-81BC-461A-9D76-03D74FD4984C}" type="presOf" srcId="{D28ECE75-BCCE-4082-B68C-D83D94FA700B}" destId="{04E9D9BF-8A80-40AC-9FBC-A248C13AB277}" srcOrd="0" destOrd="0" presId="urn:microsoft.com/office/officeart/2005/8/layout/process1"/>
    <dgm:cxn modelId="{EDE10255-53B5-4F49-B6A5-0CB3B9FEEBD4}" srcId="{E3913E7F-151D-4451-AA58-D311483C0A6E}" destId="{FFCCF1F1-0D3D-429E-8A91-5F83D86BA720}" srcOrd="5" destOrd="0" parTransId="{AA53E0DC-B4A1-4E7F-BFC0-DADFDD21176D}" sibTransId="{6629F487-5097-4BFB-8AAE-F21007306479}"/>
    <dgm:cxn modelId="{6FBF64E5-DE32-44A4-8E59-C007A89B7F0E}" type="presOf" srcId="{95634DEB-47BA-4D1F-AEB2-0C6BCCD38A5C}" destId="{7D60C951-FAA2-432C-8DDA-DEAF92F5613B}" srcOrd="0" destOrd="0" presId="urn:microsoft.com/office/officeart/2005/8/layout/process1"/>
    <dgm:cxn modelId="{6E54F6E0-A68B-4FBD-94BF-A54F0BFD5524}" srcId="{E3913E7F-151D-4451-AA58-D311483C0A6E}" destId="{EA42F2EF-0175-469C-8BD6-7F7C4F686528}" srcOrd="0" destOrd="0" parTransId="{CFA28E76-C98C-4BBD-98C3-8643A5BB1661}" sibTransId="{30CDC3C3-E5B8-44EB-9E6E-6F662F7034C6}"/>
    <dgm:cxn modelId="{88C6D096-1A78-4A17-91AF-B347DFBFB622}" type="presOf" srcId="{B07D7EB5-8722-4D6C-A7DD-7ECA7DC413B2}" destId="{5C840163-0F5F-4C5A-8E40-1D61A4B12786}" srcOrd="0" destOrd="0" presId="urn:microsoft.com/office/officeart/2005/8/layout/process1"/>
    <dgm:cxn modelId="{D78CB946-2F96-4089-A086-FC7D53DE8974}" type="presOf" srcId="{7FDD32FD-0B85-4162-ABD0-C8F4526BC8DD}" destId="{6F57F5BF-9450-4917-B1B3-00405E08EE4C}" srcOrd="1" destOrd="0" presId="urn:microsoft.com/office/officeart/2005/8/layout/process1"/>
    <dgm:cxn modelId="{39DF9B80-B651-4F0A-8652-037044D34856}" type="presOf" srcId="{E4D18005-101D-4294-B23E-F98F6646D89F}" destId="{5DE4E7BD-24BC-4983-907D-81197F02BEB6}" srcOrd="0" destOrd="0" presId="urn:microsoft.com/office/officeart/2005/8/layout/process1"/>
    <dgm:cxn modelId="{EE659652-E18A-4B23-826A-CAF8E801975E}" type="presOf" srcId="{95634DEB-47BA-4D1F-AEB2-0C6BCCD38A5C}" destId="{0DB96486-F249-4EEF-A107-CF7D87510ACB}" srcOrd="1" destOrd="0" presId="urn:microsoft.com/office/officeart/2005/8/layout/process1"/>
    <dgm:cxn modelId="{1DFE1B41-FEE8-40C1-8035-58C5B8746E3C}" srcId="{E3913E7F-151D-4451-AA58-D311483C0A6E}" destId="{3913F7A7-EC5D-40EA-AA1F-16A74600E8CC}" srcOrd="4" destOrd="0" parTransId="{C2BD1380-6187-49A6-A6F2-5132D49B7255}" sibTransId="{3CD3095E-259B-4DBE-A776-9D3CD6113E5C}"/>
    <dgm:cxn modelId="{C24E870D-84BF-4779-889F-2AD5BA725D00}" type="presOf" srcId="{40C208AD-E2FC-4536-94C7-0C06B544D7B7}" destId="{B851A2E5-ACB4-48A4-8748-96E3BF8242D7}" srcOrd="0" destOrd="0" presId="urn:microsoft.com/office/officeart/2005/8/layout/process1"/>
    <dgm:cxn modelId="{36725FA1-6C49-4EC1-9322-69886032FD34}" type="presOf" srcId="{8F770149-1481-4E53-9900-8F437224A89B}" destId="{783CC4BD-3ECE-4186-B886-22AB6DD05572}" srcOrd="0" destOrd="0" presId="urn:microsoft.com/office/officeart/2005/8/layout/process1"/>
    <dgm:cxn modelId="{B1DCD236-CF04-418E-B6C3-52BDCF18B907}" type="presOf" srcId="{3CD3095E-259B-4DBE-A776-9D3CD6113E5C}" destId="{B3382FB9-79DF-4A85-A1DD-36F900358D93}" srcOrd="1" destOrd="0" presId="urn:microsoft.com/office/officeart/2005/8/layout/process1"/>
    <dgm:cxn modelId="{8A396717-5A82-45EC-93CE-509574EBF414}" srcId="{E3913E7F-151D-4451-AA58-D311483C0A6E}" destId="{8F770149-1481-4E53-9900-8F437224A89B}" srcOrd="6" destOrd="0" parTransId="{E7485124-87D2-42A5-8E10-6A6747711BD3}" sibTransId="{679D73EA-5FCC-4E9D-A180-8B27ABD9E11A}"/>
    <dgm:cxn modelId="{1728E9E7-22FE-4CF3-92E7-867D2146A2BA}" type="presOf" srcId="{7FDD32FD-0B85-4162-ABD0-C8F4526BC8DD}" destId="{CAD0A8D6-F532-46D4-8550-BAF52B43A4B9}" srcOrd="0" destOrd="0" presId="urn:microsoft.com/office/officeart/2005/8/layout/process1"/>
    <dgm:cxn modelId="{BFF0AFC4-2580-4B6A-873B-5CA88CAFAE31}" type="presOf" srcId="{3CD3095E-259B-4DBE-A776-9D3CD6113E5C}" destId="{D1C414E2-EDD3-4630-B491-213333DDD528}" srcOrd="0" destOrd="0" presId="urn:microsoft.com/office/officeart/2005/8/layout/process1"/>
    <dgm:cxn modelId="{B017AFE3-E5EF-41BD-81AE-BF695A070150}" srcId="{E3913E7F-151D-4451-AA58-D311483C0A6E}" destId="{40C208AD-E2FC-4536-94C7-0C06B544D7B7}" srcOrd="3" destOrd="0" parTransId="{E2A92EBA-7EFF-4D2F-941F-5DE2B5977B38}" sibTransId="{B07D7EB5-8722-4D6C-A7DD-7ECA7DC413B2}"/>
    <dgm:cxn modelId="{4A3C384A-3BE7-4A07-9A97-5F33DEDB09BC}" type="presOf" srcId="{30CDC3C3-E5B8-44EB-9E6E-6F662F7034C6}" destId="{5C4E08C2-7533-4D5E-BE7D-11EC9399C7C8}" srcOrd="1" destOrd="0" presId="urn:microsoft.com/office/officeart/2005/8/layout/process1"/>
    <dgm:cxn modelId="{65407444-18E6-4D65-BF74-C15B469DA776}" type="presParOf" srcId="{01550885-BEAF-4837-89C6-084358DCA613}" destId="{F9464D3D-07AC-4B02-B291-B5369B4313AF}" srcOrd="0" destOrd="0" presId="urn:microsoft.com/office/officeart/2005/8/layout/process1"/>
    <dgm:cxn modelId="{A577C413-7390-4983-923C-4B3CED8BBF30}" type="presParOf" srcId="{01550885-BEAF-4837-89C6-084358DCA613}" destId="{104D45CD-A084-47D2-9B7C-B736B7A856E1}" srcOrd="1" destOrd="0" presId="urn:microsoft.com/office/officeart/2005/8/layout/process1"/>
    <dgm:cxn modelId="{8298BAD3-76B4-4777-9468-ADE7F8B23ADB}" type="presParOf" srcId="{104D45CD-A084-47D2-9B7C-B736B7A856E1}" destId="{5C4E08C2-7533-4D5E-BE7D-11EC9399C7C8}" srcOrd="0" destOrd="0" presId="urn:microsoft.com/office/officeart/2005/8/layout/process1"/>
    <dgm:cxn modelId="{670CBD53-1B61-4A25-B065-D424B18E9CBB}" type="presParOf" srcId="{01550885-BEAF-4837-89C6-084358DCA613}" destId="{04E9D9BF-8A80-40AC-9FBC-A248C13AB277}" srcOrd="2" destOrd="0" presId="urn:microsoft.com/office/officeart/2005/8/layout/process1"/>
    <dgm:cxn modelId="{07B549E4-FBD2-408B-8495-9B026368FA05}" type="presParOf" srcId="{01550885-BEAF-4837-89C6-084358DCA613}" destId="{7D60C951-FAA2-432C-8DDA-DEAF92F5613B}" srcOrd="3" destOrd="0" presId="urn:microsoft.com/office/officeart/2005/8/layout/process1"/>
    <dgm:cxn modelId="{F3107495-88A1-42DA-9F36-DC4F7E27FC6E}" type="presParOf" srcId="{7D60C951-FAA2-432C-8DDA-DEAF92F5613B}" destId="{0DB96486-F249-4EEF-A107-CF7D87510ACB}" srcOrd="0" destOrd="0" presId="urn:microsoft.com/office/officeart/2005/8/layout/process1"/>
    <dgm:cxn modelId="{B52F014E-0042-416E-A38D-B3A593DAE82F}" type="presParOf" srcId="{01550885-BEAF-4837-89C6-084358DCA613}" destId="{5DE4E7BD-24BC-4983-907D-81197F02BEB6}" srcOrd="4" destOrd="0" presId="urn:microsoft.com/office/officeart/2005/8/layout/process1"/>
    <dgm:cxn modelId="{57896A36-DDB6-4D5F-99B8-FE38307487C9}" type="presParOf" srcId="{01550885-BEAF-4837-89C6-084358DCA613}" destId="{CAD0A8D6-F532-46D4-8550-BAF52B43A4B9}" srcOrd="5" destOrd="0" presId="urn:microsoft.com/office/officeart/2005/8/layout/process1"/>
    <dgm:cxn modelId="{6CA39263-658A-4EF4-A826-95522173A147}" type="presParOf" srcId="{CAD0A8D6-F532-46D4-8550-BAF52B43A4B9}" destId="{6F57F5BF-9450-4917-B1B3-00405E08EE4C}" srcOrd="0" destOrd="0" presId="urn:microsoft.com/office/officeart/2005/8/layout/process1"/>
    <dgm:cxn modelId="{D3E326FD-36D9-422E-A337-8B4911E76D30}" type="presParOf" srcId="{01550885-BEAF-4837-89C6-084358DCA613}" destId="{B851A2E5-ACB4-48A4-8748-96E3BF8242D7}" srcOrd="6" destOrd="0" presId="urn:microsoft.com/office/officeart/2005/8/layout/process1"/>
    <dgm:cxn modelId="{39047A54-0821-404A-840E-DBFB9CB1FF6D}" type="presParOf" srcId="{01550885-BEAF-4837-89C6-084358DCA613}" destId="{5C840163-0F5F-4C5A-8E40-1D61A4B12786}" srcOrd="7" destOrd="0" presId="urn:microsoft.com/office/officeart/2005/8/layout/process1"/>
    <dgm:cxn modelId="{45E34D9A-02C6-423F-9C03-B680BF706F9B}" type="presParOf" srcId="{5C840163-0F5F-4C5A-8E40-1D61A4B12786}" destId="{89001DA0-EFDB-47CE-9B4A-C527EAA65ABA}" srcOrd="0" destOrd="0" presId="urn:microsoft.com/office/officeart/2005/8/layout/process1"/>
    <dgm:cxn modelId="{894340B5-E79E-4CA9-842B-47F6552129D7}" type="presParOf" srcId="{01550885-BEAF-4837-89C6-084358DCA613}" destId="{BFE3EC9A-27E3-40AF-BAD0-0E4B938FCB48}" srcOrd="8" destOrd="0" presId="urn:microsoft.com/office/officeart/2005/8/layout/process1"/>
    <dgm:cxn modelId="{70038157-36D1-404B-9E74-D5B24E85B34C}" type="presParOf" srcId="{01550885-BEAF-4837-89C6-084358DCA613}" destId="{D1C414E2-EDD3-4630-B491-213333DDD528}" srcOrd="9" destOrd="0" presId="urn:microsoft.com/office/officeart/2005/8/layout/process1"/>
    <dgm:cxn modelId="{F3D19F26-4542-4FE1-BF3D-FD748AF0EA30}" type="presParOf" srcId="{D1C414E2-EDD3-4630-B491-213333DDD528}" destId="{B3382FB9-79DF-4A85-A1DD-36F900358D93}" srcOrd="0" destOrd="0" presId="urn:microsoft.com/office/officeart/2005/8/layout/process1"/>
    <dgm:cxn modelId="{8C14496C-454E-4811-BACD-E39B59EC4DB7}" type="presParOf" srcId="{01550885-BEAF-4837-89C6-084358DCA613}" destId="{87335DC6-448C-4DBB-852F-762C1908FEC9}" srcOrd="10" destOrd="0" presId="urn:microsoft.com/office/officeart/2005/8/layout/process1"/>
    <dgm:cxn modelId="{B57190B6-6E72-4C17-9B9E-235CB966EA11}" type="presParOf" srcId="{01550885-BEAF-4837-89C6-084358DCA613}" destId="{53EAAE58-6EB6-4EE7-A05F-726DEE5EB6EC}" srcOrd="11" destOrd="0" presId="urn:microsoft.com/office/officeart/2005/8/layout/process1"/>
    <dgm:cxn modelId="{742E866C-0D87-460A-BA76-2669349C858A}" type="presParOf" srcId="{53EAAE58-6EB6-4EE7-A05F-726DEE5EB6EC}" destId="{D2B4B658-55C6-4709-BC99-6B8EB61A8A63}" srcOrd="0" destOrd="0" presId="urn:microsoft.com/office/officeart/2005/8/layout/process1"/>
    <dgm:cxn modelId="{B0A6CE40-A22F-4779-9041-AC899C65A46F}" type="presParOf" srcId="{01550885-BEAF-4837-89C6-084358DCA613}" destId="{783CC4BD-3ECE-4186-B886-22AB6DD05572}" srcOrd="12"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9464D3D-07AC-4B02-B291-B5369B4313AF}">
      <dsp:nvSpPr>
        <dsp:cNvPr id="0" name=""/>
        <dsp:cNvSpPr/>
      </dsp:nvSpPr>
      <dsp:spPr>
        <a:xfrm>
          <a:off x="2310" y="2107156"/>
          <a:ext cx="874997" cy="692649"/>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lvl="0" algn="ctr" defTabSz="444500">
            <a:lnSpc>
              <a:spcPct val="90000"/>
            </a:lnSpc>
            <a:spcBef>
              <a:spcPct val="0"/>
            </a:spcBef>
            <a:spcAft>
              <a:spcPct val="35000"/>
            </a:spcAft>
          </a:pPr>
          <a:r>
            <a:rPr lang="en-GB" sz="1000" kern="1200" dirty="0" smtClean="0"/>
            <a:t>Define objectives</a:t>
          </a:r>
          <a:endParaRPr lang="en-IN" sz="1000" kern="1200" dirty="0"/>
        </a:p>
      </dsp:txBody>
      <dsp:txXfrm>
        <a:off x="22597" y="2127443"/>
        <a:ext cx="834423" cy="652075"/>
      </dsp:txXfrm>
    </dsp:sp>
    <dsp:sp modelId="{104D45CD-A084-47D2-9B7C-B736B7A856E1}">
      <dsp:nvSpPr>
        <dsp:cNvPr id="0" name=""/>
        <dsp:cNvSpPr/>
      </dsp:nvSpPr>
      <dsp:spPr>
        <a:xfrm>
          <a:off x="964808" y="2344981"/>
          <a:ext cx="185499" cy="216999"/>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355600">
            <a:lnSpc>
              <a:spcPct val="90000"/>
            </a:lnSpc>
            <a:spcBef>
              <a:spcPct val="0"/>
            </a:spcBef>
            <a:spcAft>
              <a:spcPct val="35000"/>
            </a:spcAft>
          </a:pPr>
          <a:endParaRPr lang="en-IN" sz="800" kern="1200"/>
        </a:p>
      </dsp:txBody>
      <dsp:txXfrm>
        <a:off x="964808" y="2388381"/>
        <a:ext cx="129849" cy="130199"/>
      </dsp:txXfrm>
    </dsp:sp>
    <dsp:sp modelId="{04E9D9BF-8A80-40AC-9FBC-A248C13AB277}">
      <dsp:nvSpPr>
        <dsp:cNvPr id="0" name=""/>
        <dsp:cNvSpPr/>
      </dsp:nvSpPr>
      <dsp:spPr>
        <a:xfrm>
          <a:off x="1227307" y="2107156"/>
          <a:ext cx="874997" cy="692649"/>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lvl="0" algn="ctr" defTabSz="444500">
            <a:lnSpc>
              <a:spcPct val="90000"/>
            </a:lnSpc>
            <a:spcBef>
              <a:spcPct val="0"/>
            </a:spcBef>
            <a:spcAft>
              <a:spcPct val="35000"/>
            </a:spcAft>
          </a:pPr>
          <a:r>
            <a:rPr lang="en-GB" sz="1000" kern="1200" dirty="0" smtClean="0"/>
            <a:t>Identify activities and resources</a:t>
          </a:r>
          <a:endParaRPr lang="en-IN" sz="1000" kern="1200" dirty="0"/>
        </a:p>
      </dsp:txBody>
      <dsp:txXfrm>
        <a:off x="1247594" y="2127443"/>
        <a:ext cx="834423" cy="652075"/>
      </dsp:txXfrm>
    </dsp:sp>
    <dsp:sp modelId="{7D60C951-FAA2-432C-8DDA-DEAF92F5613B}">
      <dsp:nvSpPr>
        <dsp:cNvPr id="0" name=""/>
        <dsp:cNvSpPr/>
      </dsp:nvSpPr>
      <dsp:spPr>
        <a:xfrm>
          <a:off x="2189804" y="2344981"/>
          <a:ext cx="185499" cy="216999"/>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355600">
            <a:lnSpc>
              <a:spcPct val="90000"/>
            </a:lnSpc>
            <a:spcBef>
              <a:spcPct val="0"/>
            </a:spcBef>
            <a:spcAft>
              <a:spcPct val="35000"/>
            </a:spcAft>
          </a:pPr>
          <a:endParaRPr lang="en-IN" sz="800" kern="1200"/>
        </a:p>
      </dsp:txBody>
      <dsp:txXfrm>
        <a:off x="2189804" y="2388381"/>
        <a:ext cx="129849" cy="130199"/>
      </dsp:txXfrm>
    </dsp:sp>
    <dsp:sp modelId="{5DE4E7BD-24BC-4983-907D-81197F02BEB6}">
      <dsp:nvSpPr>
        <dsp:cNvPr id="0" name=""/>
        <dsp:cNvSpPr/>
      </dsp:nvSpPr>
      <dsp:spPr>
        <a:xfrm>
          <a:off x="2452304" y="2107156"/>
          <a:ext cx="874997" cy="692649"/>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lvl="0" algn="ctr" defTabSz="444500">
            <a:lnSpc>
              <a:spcPct val="90000"/>
            </a:lnSpc>
            <a:spcBef>
              <a:spcPct val="0"/>
            </a:spcBef>
            <a:spcAft>
              <a:spcPct val="35000"/>
            </a:spcAft>
          </a:pPr>
          <a:r>
            <a:rPr lang="en-GB" sz="1000" kern="1200" dirty="0" smtClean="0"/>
            <a:t>Establish sequences</a:t>
          </a:r>
          <a:endParaRPr lang="en-IN" sz="1000" kern="1200" dirty="0"/>
        </a:p>
      </dsp:txBody>
      <dsp:txXfrm>
        <a:off x="2472591" y="2127443"/>
        <a:ext cx="834423" cy="652075"/>
      </dsp:txXfrm>
    </dsp:sp>
    <dsp:sp modelId="{CAD0A8D6-F532-46D4-8550-BAF52B43A4B9}">
      <dsp:nvSpPr>
        <dsp:cNvPr id="0" name=""/>
        <dsp:cNvSpPr/>
      </dsp:nvSpPr>
      <dsp:spPr>
        <a:xfrm>
          <a:off x="3414801" y="2344981"/>
          <a:ext cx="185499" cy="216999"/>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355600">
            <a:lnSpc>
              <a:spcPct val="90000"/>
            </a:lnSpc>
            <a:spcBef>
              <a:spcPct val="0"/>
            </a:spcBef>
            <a:spcAft>
              <a:spcPct val="35000"/>
            </a:spcAft>
          </a:pPr>
          <a:endParaRPr lang="en-IN" sz="800" kern="1200"/>
        </a:p>
      </dsp:txBody>
      <dsp:txXfrm>
        <a:off x="3414801" y="2388381"/>
        <a:ext cx="129849" cy="130199"/>
      </dsp:txXfrm>
    </dsp:sp>
    <dsp:sp modelId="{B851A2E5-ACB4-48A4-8748-96E3BF8242D7}">
      <dsp:nvSpPr>
        <dsp:cNvPr id="0" name=""/>
        <dsp:cNvSpPr/>
      </dsp:nvSpPr>
      <dsp:spPr>
        <a:xfrm>
          <a:off x="3677301" y="2107156"/>
          <a:ext cx="874997" cy="692649"/>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lvl="0" algn="ctr" defTabSz="444500">
            <a:lnSpc>
              <a:spcPct val="90000"/>
            </a:lnSpc>
            <a:spcBef>
              <a:spcPct val="0"/>
            </a:spcBef>
            <a:spcAft>
              <a:spcPct val="35000"/>
            </a:spcAft>
          </a:pPr>
          <a:r>
            <a:rPr lang="en-GB" sz="1000" kern="1200" dirty="0" smtClean="0"/>
            <a:t>Establish time for services</a:t>
          </a:r>
          <a:endParaRPr lang="en-IN" sz="1000" kern="1200" dirty="0"/>
        </a:p>
      </dsp:txBody>
      <dsp:txXfrm>
        <a:off x="3697588" y="2127443"/>
        <a:ext cx="834423" cy="652075"/>
      </dsp:txXfrm>
    </dsp:sp>
    <dsp:sp modelId="{5C840163-0F5F-4C5A-8E40-1D61A4B12786}">
      <dsp:nvSpPr>
        <dsp:cNvPr id="0" name=""/>
        <dsp:cNvSpPr/>
      </dsp:nvSpPr>
      <dsp:spPr>
        <a:xfrm>
          <a:off x="4639798" y="2344981"/>
          <a:ext cx="185499" cy="216999"/>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355600">
            <a:lnSpc>
              <a:spcPct val="90000"/>
            </a:lnSpc>
            <a:spcBef>
              <a:spcPct val="0"/>
            </a:spcBef>
            <a:spcAft>
              <a:spcPct val="35000"/>
            </a:spcAft>
          </a:pPr>
          <a:endParaRPr lang="en-IN" sz="800" kern="1200"/>
        </a:p>
      </dsp:txBody>
      <dsp:txXfrm>
        <a:off x="4639798" y="2388381"/>
        <a:ext cx="129849" cy="130199"/>
      </dsp:txXfrm>
    </dsp:sp>
    <dsp:sp modelId="{BFE3EC9A-27E3-40AF-BAD0-0E4B938FCB48}">
      <dsp:nvSpPr>
        <dsp:cNvPr id="0" name=""/>
        <dsp:cNvSpPr/>
      </dsp:nvSpPr>
      <dsp:spPr>
        <a:xfrm>
          <a:off x="4902297" y="2107156"/>
          <a:ext cx="874997" cy="692649"/>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lvl="0" algn="ctr" defTabSz="444500">
            <a:lnSpc>
              <a:spcPct val="90000"/>
            </a:lnSpc>
            <a:spcBef>
              <a:spcPct val="0"/>
            </a:spcBef>
            <a:spcAft>
              <a:spcPct val="35000"/>
            </a:spcAft>
          </a:pPr>
          <a:r>
            <a:rPr lang="en-GB" sz="1000" kern="1200" dirty="0" smtClean="0"/>
            <a:t>Determine project completion time</a:t>
          </a:r>
          <a:endParaRPr lang="en-IN" sz="1000" kern="1200" dirty="0"/>
        </a:p>
      </dsp:txBody>
      <dsp:txXfrm>
        <a:off x="4922584" y="2127443"/>
        <a:ext cx="834423" cy="652075"/>
      </dsp:txXfrm>
    </dsp:sp>
    <dsp:sp modelId="{D1C414E2-EDD3-4630-B491-213333DDD528}">
      <dsp:nvSpPr>
        <dsp:cNvPr id="0" name=""/>
        <dsp:cNvSpPr/>
      </dsp:nvSpPr>
      <dsp:spPr>
        <a:xfrm>
          <a:off x="5864795" y="2344981"/>
          <a:ext cx="185499" cy="216999"/>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355600">
            <a:lnSpc>
              <a:spcPct val="90000"/>
            </a:lnSpc>
            <a:spcBef>
              <a:spcPct val="0"/>
            </a:spcBef>
            <a:spcAft>
              <a:spcPct val="35000"/>
            </a:spcAft>
          </a:pPr>
          <a:endParaRPr lang="en-IN" sz="800" kern="1200"/>
        </a:p>
      </dsp:txBody>
      <dsp:txXfrm>
        <a:off x="5864795" y="2388381"/>
        <a:ext cx="129849" cy="130199"/>
      </dsp:txXfrm>
    </dsp:sp>
    <dsp:sp modelId="{87335DC6-448C-4DBB-852F-762C1908FEC9}">
      <dsp:nvSpPr>
        <dsp:cNvPr id="0" name=""/>
        <dsp:cNvSpPr/>
      </dsp:nvSpPr>
      <dsp:spPr>
        <a:xfrm>
          <a:off x="6127294" y="2107156"/>
          <a:ext cx="874997" cy="692649"/>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lvl="0" algn="ctr" defTabSz="444500">
            <a:lnSpc>
              <a:spcPct val="90000"/>
            </a:lnSpc>
            <a:spcBef>
              <a:spcPct val="0"/>
            </a:spcBef>
            <a:spcAft>
              <a:spcPct val="35000"/>
            </a:spcAft>
          </a:pPr>
          <a:r>
            <a:rPr lang="en-GB" sz="1000" kern="1200" dirty="0" smtClean="0"/>
            <a:t>Compare objectives</a:t>
          </a:r>
          <a:endParaRPr lang="en-IN" sz="1000" kern="1200" dirty="0"/>
        </a:p>
      </dsp:txBody>
      <dsp:txXfrm>
        <a:off x="6147581" y="2127443"/>
        <a:ext cx="834423" cy="652075"/>
      </dsp:txXfrm>
    </dsp:sp>
    <dsp:sp modelId="{53EAAE58-6EB6-4EE7-A05F-726DEE5EB6EC}">
      <dsp:nvSpPr>
        <dsp:cNvPr id="0" name=""/>
        <dsp:cNvSpPr/>
      </dsp:nvSpPr>
      <dsp:spPr>
        <a:xfrm>
          <a:off x="7089792" y="2344981"/>
          <a:ext cx="185499" cy="216999"/>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355600">
            <a:lnSpc>
              <a:spcPct val="90000"/>
            </a:lnSpc>
            <a:spcBef>
              <a:spcPct val="0"/>
            </a:spcBef>
            <a:spcAft>
              <a:spcPct val="35000"/>
            </a:spcAft>
          </a:pPr>
          <a:endParaRPr lang="en-IN" sz="800" kern="1200"/>
        </a:p>
      </dsp:txBody>
      <dsp:txXfrm>
        <a:off x="7089792" y="2388381"/>
        <a:ext cx="129849" cy="130199"/>
      </dsp:txXfrm>
    </dsp:sp>
    <dsp:sp modelId="{783CC4BD-3ECE-4186-B886-22AB6DD05572}">
      <dsp:nvSpPr>
        <dsp:cNvPr id="0" name=""/>
        <dsp:cNvSpPr/>
      </dsp:nvSpPr>
      <dsp:spPr>
        <a:xfrm>
          <a:off x="7352291" y="2107156"/>
          <a:ext cx="874997" cy="692649"/>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lvl="0" algn="ctr" defTabSz="444500">
            <a:lnSpc>
              <a:spcPct val="90000"/>
            </a:lnSpc>
            <a:spcBef>
              <a:spcPct val="0"/>
            </a:spcBef>
            <a:spcAft>
              <a:spcPct val="35000"/>
            </a:spcAft>
          </a:pPr>
          <a:r>
            <a:rPr lang="en-GB" sz="1000" kern="1200" dirty="0" smtClean="0"/>
            <a:t>Determine additional resource requirements</a:t>
          </a:r>
          <a:endParaRPr lang="en-IN" sz="1000" kern="1200" dirty="0"/>
        </a:p>
      </dsp:txBody>
      <dsp:txXfrm>
        <a:off x="7372578" y="2127443"/>
        <a:ext cx="834423" cy="652075"/>
      </dsp:txXfrm>
    </dsp:sp>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2/24/2026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2/24/2026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2/24/2026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2/24/2026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2/24/2026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2/24/2026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2/24/2026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2/24/2026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dirty="0" smtClean="0"/>
              <a:t>Planning</a:t>
            </a:r>
            <a:endParaRPr lang="en-IN" dirty="0"/>
          </a:p>
        </p:txBody>
      </p:sp>
      <p:sp>
        <p:nvSpPr>
          <p:cNvPr id="3" name="Subtitle 2"/>
          <p:cNvSpPr>
            <a:spLocks noGrp="1"/>
          </p:cNvSpPr>
          <p:nvPr>
            <p:ph type="subTitle" idx="1"/>
          </p:nvPr>
        </p:nvSpPr>
        <p:spPr/>
        <p:txBody>
          <a:bodyPr/>
          <a:lstStyle/>
          <a:p>
            <a:r>
              <a:rPr lang="en-GB" dirty="0" smtClean="0"/>
              <a:t>Session-8</a:t>
            </a:r>
          </a:p>
          <a:p>
            <a:r>
              <a:rPr lang="en-GB" dirty="0" smtClean="0"/>
              <a:t>2</a:t>
            </a:r>
            <a:r>
              <a:rPr lang="en-GB" baseline="30000" dirty="0" smtClean="0"/>
              <a:t>nd</a:t>
            </a:r>
            <a:r>
              <a:rPr lang="en-GB" dirty="0" smtClean="0"/>
              <a:t> June, 2026</a:t>
            </a:r>
            <a:endParaRPr lang="en-IN" dirty="0"/>
          </a:p>
        </p:txBody>
      </p:sp>
    </p:spTree>
    <p:extLst>
      <p:ext uri="{BB962C8B-B14F-4D97-AF65-F5344CB8AC3E}">
        <p14:creationId xmlns:p14="http://schemas.microsoft.com/office/powerpoint/2010/main" val="108718831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What is planning?</a:t>
            </a:r>
            <a:endParaRPr lang="en-IN" dirty="0"/>
          </a:p>
        </p:txBody>
      </p:sp>
      <p:sp>
        <p:nvSpPr>
          <p:cNvPr id="3" name="Content Placeholder 2"/>
          <p:cNvSpPr>
            <a:spLocks noGrp="1"/>
          </p:cNvSpPr>
          <p:nvPr>
            <p:ph idx="1"/>
          </p:nvPr>
        </p:nvSpPr>
        <p:spPr/>
        <p:txBody>
          <a:bodyPr>
            <a:normAutofit fontScale="62500" lnSpcReduction="20000"/>
          </a:bodyPr>
          <a:lstStyle/>
          <a:p>
            <a:r>
              <a:rPr lang="en-GB" dirty="0" smtClean="0"/>
              <a:t>Planning </a:t>
            </a:r>
            <a:r>
              <a:rPr lang="en-GB" dirty="0"/>
              <a:t>involves defining the organization's goals, establishing an overall strategy for achieving those goals, and developing a comprehensive set of plans to integrate and coordinate organizational work. </a:t>
            </a:r>
            <a:endParaRPr lang="en-GB" dirty="0" smtClean="0"/>
          </a:p>
          <a:p>
            <a:r>
              <a:rPr lang="en-GB" dirty="0" smtClean="0"/>
              <a:t>It's </a:t>
            </a:r>
            <a:r>
              <a:rPr lang="en-GB" dirty="0"/>
              <a:t>concerned with both </a:t>
            </a:r>
            <a:r>
              <a:rPr lang="en-GB" b="1" dirty="0"/>
              <a:t>ends</a:t>
            </a:r>
            <a:r>
              <a:rPr lang="en-GB" dirty="0"/>
              <a:t> (what's to be done) and </a:t>
            </a:r>
            <a:r>
              <a:rPr lang="en-GB" b="1" dirty="0"/>
              <a:t>means</a:t>
            </a:r>
            <a:r>
              <a:rPr lang="en-GB" dirty="0"/>
              <a:t> (how it's to be done).</a:t>
            </a:r>
          </a:p>
          <a:p>
            <a:r>
              <a:rPr lang="en-GB" dirty="0"/>
              <a:t>Planning can either be </a:t>
            </a:r>
            <a:r>
              <a:rPr lang="en-GB" b="1" dirty="0"/>
              <a:t>formal</a:t>
            </a:r>
            <a:r>
              <a:rPr lang="en-GB" dirty="0"/>
              <a:t> or </a:t>
            </a:r>
            <a:r>
              <a:rPr lang="en-GB" b="1" dirty="0"/>
              <a:t>informal </a:t>
            </a:r>
          </a:p>
          <a:p>
            <a:r>
              <a:rPr lang="en-GB" dirty="0"/>
              <a:t>In </a:t>
            </a:r>
            <a:r>
              <a:rPr lang="en-GB" b="1" dirty="0"/>
              <a:t>formal planning</a:t>
            </a:r>
            <a:r>
              <a:rPr lang="en-GB" dirty="0"/>
              <a:t>, specific goals covering a period of years are defined. These goals are written down and shared with organizational members. Finally, specific action programs exist for the achievement of these goals; that is, managers clearly define the path they want to take to get the organization and the various work units from where they are to where they want them to be.</a:t>
            </a:r>
          </a:p>
          <a:p>
            <a:r>
              <a:rPr lang="en-GB" dirty="0"/>
              <a:t>In </a:t>
            </a:r>
            <a:r>
              <a:rPr lang="en-GB" b="1" dirty="0"/>
              <a:t>informal planning</a:t>
            </a:r>
            <a:r>
              <a:rPr lang="en-GB" dirty="0"/>
              <a:t>, nothing is written down, and there is little or no sharing of goals with others in the organization. This type of planning often is done in many small businesses where the owner-manager has a vision of where he or she wants the business to go and how to get there. Informal planning is general and lacks continuity </a:t>
            </a:r>
            <a:r>
              <a:rPr lang="en-IN" dirty="0" smtClean="0"/>
              <a:t>  </a:t>
            </a:r>
            <a:endParaRPr lang="en-IN" dirty="0"/>
          </a:p>
          <a:p>
            <a:endParaRPr lang="en-IN" dirty="0"/>
          </a:p>
        </p:txBody>
      </p:sp>
    </p:spTree>
    <p:extLst>
      <p:ext uri="{BB962C8B-B14F-4D97-AF65-F5344CB8AC3E}">
        <p14:creationId xmlns:p14="http://schemas.microsoft.com/office/powerpoint/2010/main" val="168136016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t>Purposes of </a:t>
            </a:r>
            <a:r>
              <a:rPr lang="en-IN" b="1" dirty="0" smtClean="0"/>
              <a:t>Planning</a:t>
            </a:r>
            <a:endParaRPr lang="en-IN" dirty="0"/>
          </a:p>
        </p:txBody>
      </p:sp>
      <p:sp>
        <p:nvSpPr>
          <p:cNvPr id="3" name="Content Placeholder 2"/>
          <p:cNvSpPr>
            <a:spLocks noGrp="1"/>
          </p:cNvSpPr>
          <p:nvPr>
            <p:ph idx="1"/>
          </p:nvPr>
        </p:nvSpPr>
        <p:spPr/>
        <p:txBody>
          <a:bodyPr>
            <a:normAutofit/>
          </a:bodyPr>
          <a:lstStyle/>
          <a:p>
            <a:r>
              <a:rPr lang="en-GB" dirty="0"/>
              <a:t>Planning establishes coordinated effort. It gives direction to managers and </a:t>
            </a:r>
            <a:r>
              <a:rPr lang="en-GB" dirty="0" err="1"/>
              <a:t>nonmanagers</a:t>
            </a:r>
            <a:r>
              <a:rPr lang="en-GB" dirty="0"/>
              <a:t> alike. When employees know where the organization or work unit is going and what they must contribute to reach goals, they can coordinate their activities, cooperate with each other, and do what it takes to accomplish those goals. </a:t>
            </a:r>
            <a:endParaRPr lang="en-IN" dirty="0"/>
          </a:p>
        </p:txBody>
      </p:sp>
    </p:spTree>
    <p:extLst>
      <p:ext uri="{BB962C8B-B14F-4D97-AF65-F5344CB8AC3E}">
        <p14:creationId xmlns:p14="http://schemas.microsoft.com/office/powerpoint/2010/main" val="95029762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GB" dirty="0"/>
              <a:t>Planning also reduces uncertainty by forcing managers to look ahead, anticipate change, consider the impact of change, and develop appropriate responses. It also clarifies the consequences of actions managers might take in response to change. </a:t>
            </a:r>
          </a:p>
        </p:txBody>
      </p:sp>
    </p:spTree>
    <p:extLst>
      <p:ext uri="{BB962C8B-B14F-4D97-AF65-F5344CB8AC3E}">
        <p14:creationId xmlns:p14="http://schemas.microsoft.com/office/powerpoint/2010/main" val="39942906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GB" dirty="0"/>
              <a:t>P</a:t>
            </a:r>
            <a:r>
              <a:rPr lang="en-GB" dirty="0" smtClean="0"/>
              <a:t>lanning </a:t>
            </a:r>
            <a:r>
              <a:rPr lang="en-GB" dirty="0"/>
              <a:t>reduces overlapping and wasteful activities. When work activities are coordinated around established plans, wasted time and resources and redundancy can be minimized </a:t>
            </a:r>
          </a:p>
        </p:txBody>
      </p:sp>
    </p:spTree>
    <p:extLst>
      <p:ext uri="{BB962C8B-B14F-4D97-AF65-F5344CB8AC3E}">
        <p14:creationId xmlns:p14="http://schemas.microsoft.com/office/powerpoint/2010/main" val="31630984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GB" dirty="0"/>
              <a:t>P</a:t>
            </a:r>
            <a:r>
              <a:rPr lang="en-GB" dirty="0" smtClean="0"/>
              <a:t>lanning </a:t>
            </a:r>
            <a:r>
              <a:rPr lang="en-GB" dirty="0"/>
              <a:t>establishes goals or standards that are used in controlling </a:t>
            </a:r>
          </a:p>
          <a:p>
            <a:r>
              <a:rPr lang="en-GB" dirty="0"/>
              <a:t>In planning, we develop the goals and the plans. Then, through controlling, we compare actual performance against the goals, identify any significant deviations, and take any necessary corrective action </a:t>
            </a:r>
            <a:r>
              <a:rPr lang="en-IN" dirty="0" smtClean="0"/>
              <a:t>  </a:t>
            </a:r>
            <a:endParaRPr lang="en-IN" dirty="0"/>
          </a:p>
          <a:p>
            <a:endParaRPr lang="en-IN" dirty="0"/>
          </a:p>
        </p:txBody>
      </p:sp>
    </p:spTree>
    <p:extLst>
      <p:ext uri="{BB962C8B-B14F-4D97-AF65-F5344CB8AC3E}">
        <p14:creationId xmlns:p14="http://schemas.microsoft.com/office/powerpoint/2010/main" val="39194956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t>Planning and </a:t>
            </a:r>
            <a:r>
              <a:rPr lang="en-IN" b="1" dirty="0" smtClean="0"/>
              <a:t>Performance</a:t>
            </a:r>
            <a:endParaRPr lang="en-IN" dirty="0"/>
          </a:p>
        </p:txBody>
      </p:sp>
      <p:sp>
        <p:nvSpPr>
          <p:cNvPr id="3" name="Content Placeholder 2"/>
          <p:cNvSpPr>
            <a:spLocks noGrp="1"/>
          </p:cNvSpPr>
          <p:nvPr>
            <p:ph idx="1"/>
          </p:nvPr>
        </p:nvSpPr>
        <p:spPr/>
        <p:txBody>
          <a:bodyPr>
            <a:normAutofit fontScale="77500" lnSpcReduction="20000"/>
          </a:bodyPr>
          <a:lstStyle/>
          <a:p>
            <a:r>
              <a:rPr lang="en-GB" dirty="0"/>
              <a:t>F</a:t>
            </a:r>
            <a:r>
              <a:rPr lang="en-GB" dirty="0" smtClean="0"/>
              <a:t>ormal </a:t>
            </a:r>
            <a:r>
              <a:rPr lang="en-GB" dirty="0"/>
              <a:t>planning is associated with higher profits, higher return on assets, and other positive financial results. </a:t>
            </a:r>
            <a:endParaRPr lang="en-GB" dirty="0" smtClean="0"/>
          </a:p>
          <a:p>
            <a:r>
              <a:rPr lang="en-GB" dirty="0" smtClean="0"/>
              <a:t>Second</a:t>
            </a:r>
            <a:r>
              <a:rPr lang="en-GB" dirty="0"/>
              <a:t>, the quality of the planning process and the appropriate implementation of the plans probably contribute more to high performance than does the extent of planning. </a:t>
            </a:r>
          </a:p>
          <a:p>
            <a:r>
              <a:rPr lang="en-GB" dirty="0"/>
              <a:t>Governmental regulations, powerful </a:t>
            </a:r>
            <a:r>
              <a:rPr lang="en-GB" dirty="0" err="1"/>
              <a:t>labor</a:t>
            </a:r>
            <a:r>
              <a:rPr lang="en-GB" dirty="0"/>
              <a:t> unions, and other critical environmental forces constrain managers' options and reduce the impact of planning on an organization's performance. </a:t>
            </a:r>
            <a:endParaRPr lang="en-GB" dirty="0" smtClean="0"/>
          </a:p>
          <a:p>
            <a:r>
              <a:rPr lang="en-GB" dirty="0" smtClean="0"/>
              <a:t>Finally</a:t>
            </a:r>
            <a:r>
              <a:rPr lang="en-GB" dirty="0"/>
              <a:t>, the planning/performance relationship is influenced by the planning time frame </a:t>
            </a:r>
            <a:r>
              <a:rPr lang="en-IN" dirty="0" smtClean="0"/>
              <a:t>  </a:t>
            </a:r>
            <a:endParaRPr lang="en-IN" dirty="0"/>
          </a:p>
          <a:p>
            <a:endParaRPr lang="en-IN" dirty="0"/>
          </a:p>
        </p:txBody>
      </p:sp>
    </p:spTree>
    <p:extLst>
      <p:ext uri="{BB962C8B-B14F-4D97-AF65-F5344CB8AC3E}">
        <p14:creationId xmlns:p14="http://schemas.microsoft.com/office/powerpoint/2010/main" val="6912177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a:t>The Role of Goals and Plans in Planning</a:t>
            </a:r>
            <a:endParaRPr lang="en-IN" dirty="0"/>
          </a:p>
        </p:txBody>
      </p:sp>
      <p:sp>
        <p:nvSpPr>
          <p:cNvPr id="3" name="Content Placeholder 2"/>
          <p:cNvSpPr>
            <a:spLocks noGrp="1"/>
          </p:cNvSpPr>
          <p:nvPr>
            <p:ph idx="1"/>
          </p:nvPr>
        </p:nvSpPr>
        <p:spPr/>
        <p:txBody>
          <a:bodyPr>
            <a:normAutofit fontScale="92500" lnSpcReduction="20000"/>
          </a:bodyPr>
          <a:lstStyle/>
          <a:p>
            <a:r>
              <a:rPr lang="en-GB" b="1" dirty="0"/>
              <a:t>Goals</a:t>
            </a:r>
            <a:r>
              <a:rPr lang="en-GB" dirty="0"/>
              <a:t> are desired outcomes for individuals, groups, and entire </a:t>
            </a:r>
            <a:r>
              <a:rPr lang="en-GB" dirty="0" smtClean="0"/>
              <a:t>organizations. </a:t>
            </a:r>
            <a:r>
              <a:rPr lang="en-GB" i="1" dirty="0" smtClean="0"/>
              <a:t>Goals </a:t>
            </a:r>
            <a:r>
              <a:rPr lang="en-GB" dirty="0"/>
              <a:t>are </a:t>
            </a:r>
            <a:r>
              <a:rPr lang="en-GB" i="1" dirty="0" smtClean="0"/>
              <a:t>objectives</a:t>
            </a:r>
            <a:r>
              <a:rPr lang="en-GB" dirty="0" smtClean="0"/>
              <a:t>. </a:t>
            </a:r>
            <a:r>
              <a:rPr lang="en-GB" dirty="0"/>
              <a:t>They provide the direction for all management decisions and form the criterion against which actual work accomplishments can be measured. That's why they're often called the foundation of planning </a:t>
            </a:r>
          </a:p>
          <a:p>
            <a:r>
              <a:rPr lang="en-GB" b="1" dirty="0"/>
              <a:t>Plans</a:t>
            </a:r>
            <a:r>
              <a:rPr lang="en-GB" dirty="0"/>
              <a:t> are documents that outline how goals are going to be met and that typically describe resource allocations, schedules, and other necessary actions to accomplish the goals </a:t>
            </a:r>
            <a:r>
              <a:rPr lang="en-IN" dirty="0" smtClean="0"/>
              <a:t>  </a:t>
            </a:r>
            <a:endParaRPr lang="en-IN" dirty="0"/>
          </a:p>
          <a:p>
            <a:endParaRPr lang="en-IN" dirty="0"/>
          </a:p>
        </p:txBody>
      </p:sp>
    </p:spTree>
    <p:extLst>
      <p:ext uri="{BB962C8B-B14F-4D97-AF65-F5344CB8AC3E}">
        <p14:creationId xmlns:p14="http://schemas.microsoft.com/office/powerpoint/2010/main" val="31317345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t>Types of </a:t>
            </a:r>
            <a:r>
              <a:rPr lang="en-IN" b="1" dirty="0" smtClean="0"/>
              <a:t>Goals</a:t>
            </a:r>
            <a:endParaRPr lang="en-IN" dirty="0"/>
          </a:p>
        </p:txBody>
      </p:sp>
      <p:sp>
        <p:nvSpPr>
          <p:cNvPr id="3" name="Content Placeholder 2"/>
          <p:cNvSpPr>
            <a:spLocks noGrp="1"/>
          </p:cNvSpPr>
          <p:nvPr>
            <p:ph idx="1"/>
          </p:nvPr>
        </p:nvSpPr>
        <p:spPr/>
        <p:txBody>
          <a:bodyPr>
            <a:normAutofit fontScale="92500" lnSpcReduction="20000"/>
          </a:bodyPr>
          <a:lstStyle/>
          <a:p>
            <a:r>
              <a:rPr lang="en-GB" b="1" dirty="0"/>
              <a:t>S</a:t>
            </a:r>
            <a:r>
              <a:rPr lang="en-GB" b="1" dirty="0" smtClean="0"/>
              <a:t>tated </a:t>
            </a:r>
            <a:r>
              <a:rPr lang="en-GB" b="1" dirty="0"/>
              <a:t>goals</a:t>
            </a:r>
            <a:r>
              <a:rPr lang="en-GB" dirty="0"/>
              <a:t>—official statements of what an organization says, and what it wants its various stakeholders to believe, its goals are. However, stated goals—which can be found in an organization's charter, annual report, public relations announcements, or in public statements made by managers—are often conflicting and excessively influenced by what society believes organizations should do</a:t>
            </a:r>
          </a:p>
          <a:p>
            <a:r>
              <a:rPr lang="en-GB" dirty="0"/>
              <a:t>O</a:t>
            </a:r>
            <a:r>
              <a:rPr lang="en-GB" dirty="0" smtClean="0"/>
              <a:t>rganization's </a:t>
            </a:r>
            <a:r>
              <a:rPr lang="en-GB" b="1" dirty="0"/>
              <a:t>real goals</a:t>
            </a:r>
            <a:r>
              <a:rPr lang="en-GB" dirty="0"/>
              <a:t>—those goals that an organization actually </a:t>
            </a:r>
            <a:r>
              <a:rPr lang="en-GB" dirty="0" smtClean="0"/>
              <a:t>pursues</a:t>
            </a:r>
            <a:r>
              <a:rPr lang="en-IN" dirty="0" smtClean="0"/>
              <a:t>  </a:t>
            </a:r>
            <a:endParaRPr lang="en-IN" dirty="0"/>
          </a:p>
          <a:p>
            <a:endParaRPr lang="en-IN" dirty="0"/>
          </a:p>
        </p:txBody>
      </p:sp>
    </p:spTree>
    <p:extLst>
      <p:ext uri="{BB962C8B-B14F-4D97-AF65-F5344CB8AC3E}">
        <p14:creationId xmlns:p14="http://schemas.microsoft.com/office/powerpoint/2010/main" val="22696769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Types of Plans</a:t>
            </a:r>
            <a:endParaRPr lang="en-IN" dirty="0"/>
          </a:p>
        </p:txBody>
      </p:sp>
      <p:sp>
        <p:nvSpPr>
          <p:cNvPr id="3" name="Content Placeholder 2"/>
          <p:cNvSpPr>
            <a:spLocks noGrp="1"/>
          </p:cNvSpPr>
          <p:nvPr>
            <p:ph idx="1"/>
          </p:nvPr>
        </p:nvSpPr>
        <p:spPr/>
        <p:txBody>
          <a:bodyPr>
            <a:normAutofit fontScale="85000" lnSpcReduction="20000"/>
          </a:bodyPr>
          <a:lstStyle/>
          <a:p>
            <a:r>
              <a:rPr lang="en-GB" b="1" dirty="0"/>
              <a:t>Strategic plans </a:t>
            </a:r>
            <a:r>
              <a:rPr lang="en-GB" dirty="0"/>
              <a:t>are plans that apply to the entire organization, establish the organization's overall goals, and seek to position the organization in terms of its environment </a:t>
            </a:r>
          </a:p>
          <a:p>
            <a:r>
              <a:rPr lang="en-GB" dirty="0"/>
              <a:t>Plans that specify the details of how the overall goals are to be achieved are called </a:t>
            </a:r>
            <a:r>
              <a:rPr lang="en-GB" b="1" dirty="0"/>
              <a:t>operational plans</a:t>
            </a:r>
            <a:r>
              <a:rPr lang="en-GB" dirty="0"/>
              <a:t>. </a:t>
            </a:r>
          </a:p>
          <a:p>
            <a:r>
              <a:rPr lang="en-GB" b="1" dirty="0"/>
              <a:t>Strategic plans </a:t>
            </a:r>
            <a:r>
              <a:rPr lang="en-GB" dirty="0"/>
              <a:t>tend to cover a longer time frame. They also cover a broader view of the organization. </a:t>
            </a:r>
            <a:r>
              <a:rPr lang="en-GB" b="1" dirty="0"/>
              <a:t>Strategic plans</a:t>
            </a:r>
            <a:r>
              <a:rPr lang="en-GB" dirty="0"/>
              <a:t> also include the formulation of goals whereas </a:t>
            </a:r>
            <a:r>
              <a:rPr lang="en-GB" b="1" dirty="0"/>
              <a:t>operational plans </a:t>
            </a:r>
            <a:r>
              <a:rPr lang="en-GB" dirty="0"/>
              <a:t>define ways to achieve the goals. Also, </a:t>
            </a:r>
            <a:r>
              <a:rPr lang="en-GB" b="1" dirty="0"/>
              <a:t>operational plans</a:t>
            </a:r>
            <a:r>
              <a:rPr lang="en-GB" dirty="0"/>
              <a:t> tend to cover short time periods—monthly, weekly, and day-to-day</a:t>
            </a:r>
            <a:r>
              <a:rPr lang="en-GB" dirty="0" smtClean="0"/>
              <a:t>.</a:t>
            </a:r>
            <a:endParaRPr lang="en-IN" dirty="0"/>
          </a:p>
          <a:p>
            <a:endParaRPr lang="en-IN" dirty="0"/>
          </a:p>
        </p:txBody>
      </p:sp>
    </p:spTree>
    <p:extLst>
      <p:ext uri="{BB962C8B-B14F-4D97-AF65-F5344CB8AC3E}">
        <p14:creationId xmlns:p14="http://schemas.microsoft.com/office/powerpoint/2010/main" val="26760302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GB" b="1" dirty="0"/>
              <a:t>L</a:t>
            </a:r>
            <a:r>
              <a:rPr lang="en-GB" b="1" dirty="0" smtClean="0"/>
              <a:t>ong-term </a:t>
            </a:r>
            <a:r>
              <a:rPr lang="en-GB" b="1" dirty="0"/>
              <a:t>plans </a:t>
            </a:r>
            <a:r>
              <a:rPr lang="en-GB" dirty="0"/>
              <a:t>as those with a time frame beyond three years</a:t>
            </a:r>
            <a:r>
              <a:rPr lang="en-GB" dirty="0" smtClean="0"/>
              <a:t>. </a:t>
            </a:r>
          </a:p>
          <a:p>
            <a:r>
              <a:rPr lang="en-GB" b="1" dirty="0" smtClean="0"/>
              <a:t>Short-term </a:t>
            </a:r>
            <a:r>
              <a:rPr lang="en-GB" b="1" dirty="0"/>
              <a:t>plans </a:t>
            </a:r>
            <a:r>
              <a:rPr lang="en-GB" dirty="0"/>
              <a:t>as those covering one year or less. </a:t>
            </a:r>
            <a:endParaRPr lang="en-GB" dirty="0" smtClean="0"/>
          </a:p>
          <a:p>
            <a:r>
              <a:rPr lang="en-GB" b="1" dirty="0" smtClean="0"/>
              <a:t>Intermediate </a:t>
            </a:r>
            <a:r>
              <a:rPr lang="en-GB" b="1" dirty="0"/>
              <a:t>term </a:t>
            </a:r>
            <a:r>
              <a:rPr lang="en-GB" dirty="0"/>
              <a:t>is any time period in </a:t>
            </a:r>
            <a:r>
              <a:rPr lang="en-GB" dirty="0" smtClean="0"/>
              <a:t>between</a:t>
            </a:r>
            <a:r>
              <a:rPr lang="en-IN" dirty="0" smtClean="0"/>
              <a:t> </a:t>
            </a:r>
            <a:endParaRPr lang="en-IN" dirty="0"/>
          </a:p>
          <a:p>
            <a:endParaRPr lang="en-IN" dirty="0"/>
          </a:p>
        </p:txBody>
      </p:sp>
    </p:spTree>
    <p:extLst>
      <p:ext uri="{BB962C8B-B14F-4D97-AF65-F5344CB8AC3E}">
        <p14:creationId xmlns:p14="http://schemas.microsoft.com/office/powerpoint/2010/main" val="6187426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92500" lnSpcReduction="20000"/>
          </a:bodyPr>
          <a:lstStyle/>
          <a:p>
            <a:r>
              <a:rPr lang="en-GB" b="1" dirty="0"/>
              <a:t>Specific plans </a:t>
            </a:r>
            <a:r>
              <a:rPr lang="en-GB" dirty="0"/>
              <a:t>are clearly defined and leave no room for interpretation. They have specifically stated objectives. There's no ambiguity and no problem with misunderstandings </a:t>
            </a:r>
          </a:p>
          <a:p>
            <a:r>
              <a:rPr lang="en-GB" dirty="0"/>
              <a:t>The </a:t>
            </a:r>
            <a:r>
              <a:rPr lang="en-GB" b="1" dirty="0"/>
              <a:t>drawbacks of specific plans </a:t>
            </a:r>
            <a:r>
              <a:rPr lang="en-GB" dirty="0"/>
              <a:t>are that they require clarity and a sense of predictability that often do not exist.</a:t>
            </a:r>
          </a:p>
          <a:p>
            <a:r>
              <a:rPr lang="en-GB" b="1" dirty="0" smtClean="0"/>
              <a:t>Directional </a:t>
            </a:r>
            <a:r>
              <a:rPr lang="en-GB" b="1" dirty="0"/>
              <a:t>plans</a:t>
            </a:r>
            <a:r>
              <a:rPr lang="en-GB" dirty="0"/>
              <a:t> are flexible plans that set out general guidelines. </a:t>
            </a:r>
            <a:r>
              <a:rPr lang="en-GB" dirty="0" smtClean="0"/>
              <a:t>They </a:t>
            </a:r>
            <a:r>
              <a:rPr lang="en-GB" dirty="0"/>
              <a:t>provide focus but do not lock managers into specific goals or courses of action. </a:t>
            </a:r>
            <a:endParaRPr lang="en-IN" dirty="0"/>
          </a:p>
          <a:p>
            <a:endParaRPr lang="en-IN" dirty="0"/>
          </a:p>
        </p:txBody>
      </p:sp>
    </p:spTree>
    <p:extLst>
      <p:ext uri="{BB962C8B-B14F-4D97-AF65-F5344CB8AC3E}">
        <p14:creationId xmlns:p14="http://schemas.microsoft.com/office/powerpoint/2010/main" val="22243211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GB" dirty="0"/>
              <a:t>A </a:t>
            </a:r>
            <a:r>
              <a:rPr lang="en-GB" b="1" dirty="0"/>
              <a:t>single-use plan </a:t>
            </a:r>
            <a:r>
              <a:rPr lang="en-GB" dirty="0"/>
              <a:t>is a one-time plan specifically designed to meet the needs of a unique </a:t>
            </a:r>
            <a:r>
              <a:rPr lang="en-GB" dirty="0" smtClean="0"/>
              <a:t>situation</a:t>
            </a:r>
          </a:p>
          <a:p>
            <a:r>
              <a:rPr lang="en-GB" dirty="0"/>
              <a:t>In contrast, </a:t>
            </a:r>
            <a:r>
              <a:rPr lang="en-GB" b="1" dirty="0"/>
              <a:t>standing plans </a:t>
            </a:r>
            <a:r>
              <a:rPr lang="en-GB" dirty="0"/>
              <a:t>are </a:t>
            </a:r>
            <a:r>
              <a:rPr lang="en-GB" dirty="0" err="1"/>
              <a:t>ongoing</a:t>
            </a:r>
            <a:r>
              <a:rPr lang="en-GB" dirty="0"/>
              <a:t> plans that provide guidance for activities performed repeatedly. Standing plans include policies, rules, and procedures </a:t>
            </a:r>
          </a:p>
        </p:txBody>
      </p:sp>
    </p:spTree>
    <p:extLst>
      <p:ext uri="{BB962C8B-B14F-4D97-AF65-F5344CB8AC3E}">
        <p14:creationId xmlns:p14="http://schemas.microsoft.com/office/powerpoint/2010/main" val="24072851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Approaches to establishing goals</a:t>
            </a:r>
            <a:endParaRPr lang="en-IN" dirty="0"/>
          </a:p>
        </p:txBody>
      </p:sp>
      <p:sp>
        <p:nvSpPr>
          <p:cNvPr id="3" name="Content Placeholder 2"/>
          <p:cNvSpPr>
            <a:spLocks noGrp="1"/>
          </p:cNvSpPr>
          <p:nvPr>
            <p:ph idx="1"/>
          </p:nvPr>
        </p:nvSpPr>
        <p:spPr/>
        <p:txBody>
          <a:bodyPr>
            <a:normAutofit fontScale="70000" lnSpcReduction="20000"/>
          </a:bodyPr>
          <a:lstStyle/>
          <a:p>
            <a:r>
              <a:rPr lang="en-IN" b="1" dirty="0"/>
              <a:t>Traditional Objective </a:t>
            </a:r>
            <a:r>
              <a:rPr lang="en-IN" b="1" dirty="0" smtClean="0"/>
              <a:t>Setting</a:t>
            </a:r>
            <a:r>
              <a:rPr lang="en-IN" dirty="0" smtClean="0"/>
              <a:t>: </a:t>
            </a:r>
            <a:r>
              <a:rPr lang="en-GB" dirty="0"/>
              <a:t>goals are set at the top and then broken down into </a:t>
            </a:r>
            <a:r>
              <a:rPr lang="en-GB" dirty="0" err="1"/>
              <a:t>subgoals</a:t>
            </a:r>
            <a:r>
              <a:rPr lang="en-GB" dirty="0"/>
              <a:t> for each level of the organization </a:t>
            </a:r>
          </a:p>
          <a:p>
            <a:r>
              <a:rPr lang="en-IN" b="1" dirty="0"/>
              <a:t>I</a:t>
            </a:r>
            <a:r>
              <a:rPr lang="en-GB" b="1" dirty="0" err="1" smtClean="0"/>
              <a:t>ntegrated</a:t>
            </a:r>
            <a:r>
              <a:rPr lang="en-GB" b="1" dirty="0" smtClean="0"/>
              <a:t> </a:t>
            </a:r>
            <a:r>
              <a:rPr lang="en-GB" b="1" dirty="0"/>
              <a:t>network of goals</a:t>
            </a:r>
            <a:r>
              <a:rPr lang="en-GB" dirty="0"/>
              <a:t>, or a </a:t>
            </a:r>
            <a:r>
              <a:rPr lang="en-GB" b="1" dirty="0"/>
              <a:t>means-ends </a:t>
            </a:r>
            <a:r>
              <a:rPr lang="en-GB" b="1" dirty="0" smtClean="0"/>
              <a:t>chain</a:t>
            </a:r>
            <a:r>
              <a:rPr lang="en-GB" dirty="0" smtClean="0"/>
              <a:t>: </a:t>
            </a:r>
            <a:r>
              <a:rPr lang="en-GB" dirty="0"/>
              <a:t>H</a:t>
            </a:r>
            <a:r>
              <a:rPr lang="en-GB" dirty="0" smtClean="0"/>
              <a:t>igher-level </a:t>
            </a:r>
            <a:r>
              <a:rPr lang="en-GB" dirty="0"/>
              <a:t>goals, or ends, are linked to lower-level goals, which serve as the means for their accomplishment. </a:t>
            </a:r>
            <a:r>
              <a:rPr lang="en-GB" dirty="0" smtClean="0"/>
              <a:t>Thus, </a:t>
            </a:r>
            <a:r>
              <a:rPr lang="en-GB" dirty="0"/>
              <a:t>the achievement of goals at a low level becomes the means to reach the goals at the next level (ends). And the accomplishment of goals at that level becomes the means to achieve the goals at the next level (ends). </a:t>
            </a:r>
          </a:p>
          <a:p>
            <a:r>
              <a:rPr lang="en-GB" b="1" dirty="0" err="1" smtClean="0"/>
              <a:t>Managament</a:t>
            </a:r>
            <a:r>
              <a:rPr lang="en-GB" b="1" dirty="0" smtClean="0"/>
              <a:t> by Objectives (MBO): </a:t>
            </a:r>
            <a:r>
              <a:rPr lang="en-GB" dirty="0"/>
              <a:t>M</a:t>
            </a:r>
            <a:r>
              <a:rPr lang="en-GB" dirty="0" smtClean="0"/>
              <a:t>anagement </a:t>
            </a:r>
            <a:r>
              <a:rPr lang="en-GB" dirty="0"/>
              <a:t>system specific performance goals are jointly determined by employees and their managers, progress toward accomplishing these goals is periodically reviewed, and rewards are allocated on the basis of this progress </a:t>
            </a:r>
            <a:endParaRPr lang="en-IN" dirty="0"/>
          </a:p>
          <a:p>
            <a:endParaRPr lang="en-IN" dirty="0"/>
          </a:p>
        </p:txBody>
      </p:sp>
    </p:spTree>
    <p:extLst>
      <p:ext uri="{BB962C8B-B14F-4D97-AF65-F5344CB8AC3E}">
        <p14:creationId xmlns:p14="http://schemas.microsoft.com/office/powerpoint/2010/main" val="12721049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Steps in a typical MBO program</a:t>
            </a:r>
            <a:endParaRPr lang="en-IN" dirty="0"/>
          </a:p>
        </p:txBody>
      </p:sp>
      <p:sp>
        <p:nvSpPr>
          <p:cNvPr id="3" name="Content Placeholder 2"/>
          <p:cNvSpPr>
            <a:spLocks noGrp="1"/>
          </p:cNvSpPr>
          <p:nvPr>
            <p:ph idx="1"/>
          </p:nvPr>
        </p:nvSpPr>
        <p:spPr/>
        <p:txBody>
          <a:bodyPr>
            <a:normAutofit fontScale="62500" lnSpcReduction="20000"/>
          </a:bodyPr>
          <a:lstStyle/>
          <a:p>
            <a:endParaRPr lang="en-IN" dirty="0"/>
          </a:p>
          <a:p>
            <a:pPr marL="514350" indent="-514350">
              <a:buFont typeface="+mj-lt"/>
              <a:buAutoNum type="arabicPeriod"/>
            </a:pPr>
            <a:r>
              <a:rPr lang="en-GB" dirty="0"/>
              <a:t>The organization's overall objectives and strategies are formulated.</a:t>
            </a:r>
          </a:p>
          <a:p>
            <a:pPr marL="514350" indent="-514350">
              <a:buFont typeface="+mj-lt"/>
              <a:buAutoNum type="arabicPeriod"/>
            </a:pPr>
            <a:r>
              <a:rPr lang="en-GB" dirty="0"/>
              <a:t>Major objectives are allocated among divisional and departmental units.</a:t>
            </a:r>
          </a:p>
          <a:p>
            <a:pPr marL="514350" indent="-514350">
              <a:buFont typeface="+mj-lt"/>
              <a:buAutoNum type="arabicPeriod"/>
            </a:pPr>
            <a:r>
              <a:rPr lang="en-GB" dirty="0"/>
              <a:t>Unit managers collaboratively set specific objectives for their units with their managers.</a:t>
            </a:r>
          </a:p>
          <a:p>
            <a:pPr marL="514350" indent="-514350">
              <a:buFont typeface="+mj-lt"/>
              <a:buAutoNum type="arabicPeriod"/>
            </a:pPr>
            <a:r>
              <a:rPr lang="en-GB" dirty="0"/>
              <a:t>Specific objectives are collaboratively set with all department members.</a:t>
            </a:r>
          </a:p>
          <a:p>
            <a:pPr marL="514350" indent="-514350">
              <a:buFont typeface="+mj-lt"/>
              <a:buAutoNum type="arabicPeriod"/>
            </a:pPr>
            <a:r>
              <a:rPr lang="en-GB" dirty="0"/>
              <a:t>Action plans, defining how objectives are to be achieved, are specified and agreed upon by managers and employees.</a:t>
            </a:r>
          </a:p>
          <a:p>
            <a:pPr marL="514350" indent="-514350">
              <a:buFont typeface="+mj-lt"/>
              <a:buAutoNum type="arabicPeriod"/>
            </a:pPr>
            <a:r>
              <a:rPr lang="en-GB" dirty="0"/>
              <a:t>The action plans are implemented.</a:t>
            </a:r>
          </a:p>
          <a:p>
            <a:pPr marL="514350" indent="-514350">
              <a:buFont typeface="+mj-lt"/>
              <a:buAutoNum type="arabicPeriod"/>
            </a:pPr>
            <a:r>
              <a:rPr lang="en-GB" dirty="0"/>
              <a:t>Progress toward objectives is periodically reviewed, and feedback is provided.</a:t>
            </a:r>
          </a:p>
          <a:p>
            <a:pPr marL="514350" indent="-514350">
              <a:buFont typeface="+mj-lt"/>
              <a:buAutoNum type="arabicPeriod"/>
            </a:pPr>
            <a:r>
              <a:rPr lang="en-GB" dirty="0"/>
              <a:t>Successful achievement of objectives is reinforced by performance-based rewards</a:t>
            </a:r>
            <a:r>
              <a:rPr lang="en-GB" dirty="0" smtClean="0"/>
              <a:t>.</a:t>
            </a:r>
            <a:endParaRPr lang="en-GB" dirty="0"/>
          </a:p>
        </p:txBody>
      </p:sp>
    </p:spTree>
    <p:extLst>
      <p:ext uri="{BB962C8B-B14F-4D97-AF65-F5344CB8AC3E}">
        <p14:creationId xmlns:p14="http://schemas.microsoft.com/office/powerpoint/2010/main" val="29407600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Characteristics of Well-Designed </a:t>
            </a:r>
            <a:r>
              <a:rPr lang="en-IN" b="1" dirty="0" smtClean="0"/>
              <a:t>Goals</a:t>
            </a:r>
            <a:endParaRPr lang="en-IN" dirty="0"/>
          </a:p>
        </p:txBody>
      </p:sp>
      <p:sp>
        <p:nvSpPr>
          <p:cNvPr id="3" name="Content Placeholder 2"/>
          <p:cNvSpPr>
            <a:spLocks noGrp="1"/>
          </p:cNvSpPr>
          <p:nvPr>
            <p:ph idx="1"/>
          </p:nvPr>
        </p:nvSpPr>
        <p:spPr/>
        <p:txBody>
          <a:bodyPr>
            <a:normAutofit fontScale="92500"/>
          </a:bodyPr>
          <a:lstStyle/>
          <a:p>
            <a:endParaRPr lang="en-IN" dirty="0"/>
          </a:p>
          <a:p>
            <a:r>
              <a:rPr lang="en-GB" dirty="0"/>
              <a:t>Written in terms of outcomes rather than actions</a:t>
            </a:r>
          </a:p>
          <a:p>
            <a:r>
              <a:rPr lang="en-IN" dirty="0"/>
              <a:t>Measurable and quantifiable</a:t>
            </a:r>
          </a:p>
          <a:p>
            <a:r>
              <a:rPr lang="en-GB" dirty="0"/>
              <a:t>Clear as to a time </a:t>
            </a:r>
            <a:r>
              <a:rPr lang="en-GB" dirty="0" smtClean="0"/>
              <a:t>frame</a:t>
            </a:r>
            <a:endParaRPr lang="en-IN" dirty="0"/>
          </a:p>
          <a:p>
            <a:r>
              <a:rPr lang="en-IN" dirty="0"/>
              <a:t>Challenging yet attainable</a:t>
            </a:r>
          </a:p>
          <a:p>
            <a:r>
              <a:rPr lang="en-IN" dirty="0"/>
              <a:t>Written down</a:t>
            </a:r>
          </a:p>
          <a:p>
            <a:r>
              <a:rPr lang="en-GB" dirty="0"/>
              <a:t>Communicated to all necessary organizational </a:t>
            </a:r>
            <a:r>
              <a:rPr lang="en-GB" dirty="0" smtClean="0"/>
              <a:t>members</a:t>
            </a:r>
            <a:endParaRPr lang="en-GB" dirty="0"/>
          </a:p>
        </p:txBody>
      </p:sp>
    </p:spTree>
    <p:extLst>
      <p:ext uri="{BB962C8B-B14F-4D97-AF65-F5344CB8AC3E}">
        <p14:creationId xmlns:p14="http://schemas.microsoft.com/office/powerpoint/2010/main" val="30427176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t>Steps in Goal </a:t>
            </a:r>
            <a:r>
              <a:rPr lang="en-IN" b="1" dirty="0" smtClean="0"/>
              <a:t>Setting</a:t>
            </a:r>
            <a:endParaRPr lang="en-IN" dirty="0"/>
          </a:p>
        </p:txBody>
      </p:sp>
      <p:sp>
        <p:nvSpPr>
          <p:cNvPr id="3" name="Content Placeholder 2"/>
          <p:cNvSpPr>
            <a:spLocks noGrp="1"/>
          </p:cNvSpPr>
          <p:nvPr>
            <p:ph idx="1"/>
          </p:nvPr>
        </p:nvSpPr>
        <p:spPr/>
        <p:txBody>
          <a:bodyPr>
            <a:normAutofit fontScale="92500" lnSpcReduction="20000"/>
          </a:bodyPr>
          <a:lstStyle/>
          <a:p>
            <a:pPr marL="0" indent="0">
              <a:buNone/>
            </a:pPr>
            <a:endParaRPr lang="en-IN" dirty="0"/>
          </a:p>
          <a:p>
            <a:r>
              <a:rPr lang="en-GB" dirty="0"/>
              <a:t>Review the organization's mission, which is the purpose of an organization </a:t>
            </a:r>
            <a:endParaRPr lang="en-IN" dirty="0"/>
          </a:p>
          <a:p>
            <a:r>
              <a:rPr lang="en-IN" dirty="0"/>
              <a:t>Evaluate available </a:t>
            </a:r>
            <a:r>
              <a:rPr lang="en-IN" dirty="0" smtClean="0"/>
              <a:t>resources</a:t>
            </a:r>
            <a:endParaRPr lang="en-IN" dirty="0"/>
          </a:p>
          <a:p>
            <a:r>
              <a:rPr lang="en-GB" dirty="0"/>
              <a:t>Determine the goals individually or with input from </a:t>
            </a:r>
            <a:r>
              <a:rPr lang="en-GB" dirty="0" smtClean="0"/>
              <a:t>others</a:t>
            </a:r>
            <a:endParaRPr lang="en-IN" dirty="0"/>
          </a:p>
          <a:p>
            <a:r>
              <a:rPr lang="en-GB" dirty="0"/>
              <a:t>Write down the goals and communicate them to all who need to know </a:t>
            </a:r>
            <a:r>
              <a:rPr lang="en-GB" dirty="0" smtClean="0"/>
              <a:t> </a:t>
            </a:r>
            <a:r>
              <a:rPr lang="en-IN" dirty="0" smtClean="0"/>
              <a:t> </a:t>
            </a:r>
            <a:endParaRPr lang="en-IN" dirty="0"/>
          </a:p>
          <a:p>
            <a:r>
              <a:rPr lang="en-GB" dirty="0"/>
              <a:t>Review results to see whether goals are being met </a:t>
            </a:r>
            <a:r>
              <a:rPr lang="en-IN" dirty="0" smtClean="0"/>
              <a:t> </a:t>
            </a:r>
            <a:endParaRPr lang="en-IN" dirty="0"/>
          </a:p>
          <a:p>
            <a:endParaRPr lang="en-IN" dirty="0"/>
          </a:p>
          <a:p>
            <a:endParaRPr lang="en-IN" dirty="0"/>
          </a:p>
        </p:txBody>
      </p:sp>
    </p:spTree>
    <p:extLst>
      <p:ext uri="{BB962C8B-B14F-4D97-AF65-F5344CB8AC3E}">
        <p14:creationId xmlns:p14="http://schemas.microsoft.com/office/powerpoint/2010/main" val="35083542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Developing Plans</a:t>
            </a:r>
          </a:p>
        </p:txBody>
      </p:sp>
      <p:sp>
        <p:nvSpPr>
          <p:cNvPr id="3" name="Content Placeholder 2"/>
          <p:cNvSpPr>
            <a:spLocks noGrp="1"/>
          </p:cNvSpPr>
          <p:nvPr>
            <p:ph idx="1"/>
          </p:nvPr>
        </p:nvSpPr>
        <p:spPr/>
        <p:txBody>
          <a:bodyPr>
            <a:normAutofit/>
          </a:bodyPr>
          <a:lstStyle/>
          <a:p>
            <a:r>
              <a:rPr lang="en-IN" b="1" dirty="0"/>
              <a:t>Contingency Factors in </a:t>
            </a:r>
            <a:r>
              <a:rPr lang="en-IN" b="1" dirty="0" smtClean="0"/>
              <a:t>Planning: </a:t>
            </a:r>
            <a:r>
              <a:rPr lang="en-GB" dirty="0"/>
              <a:t>Will strategic or operational plans be needed? How about specific or directional plans? In some situations, long-term plans make sense; in others they do not. What are these situations? </a:t>
            </a:r>
            <a:r>
              <a:rPr lang="en-IN" dirty="0"/>
              <a:t>E</a:t>
            </a:r>
            <a:r>
              <a:rPr lang="en-IN" dirty="0" smtClean="0"/>
              <a:t>nvironmental uncertainty; </a:t>
            </a:r>
            <a:r>
              <a:rPr lang="en-GB" dirty="0"/>
              <a:t>T</a:t>
            </a:r>
            <a:r>
              <a:rPr lang="en-GB" dirty="0" smtClean="0"/>
              <a:t>ime </a:t>
            </a:r>
            <a:r>
              <a:rPr lang="en-GB" dirty="0"/>
              <a:t>frame of the plans </a:t>
            </a:r>
            <a:r>
              <a:rPr lang="en-IN" dirty="0" smtClean="0"/>
              <a:t> </a:t>
            </a:r>
            <a:endParaRPr lang="en-IN" dirty="0"/>
          </a:p>
          <a:p>
            <a:endParaRPr lang="en-IN" dirty="0"/>
          </a:p>
          <a:p>
            <a:endParaRPr lang="en-IN" dirty="0"/>
          </a:p>
        </p:txBody>
      </p:sp>
    </p:spTree>
    <p:extLst>
      <p:ext uri="{BB962C8B-B14F-4D97-AF65-F5344CB8AC3E}">
        <p14:creationId xmlns:p14="http://schemas.microsoft.com/office/powerpoint/2010/main" val="38656660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Approaches to Planning</a:t>
            </a:r>
          </a:p>
        </p:txBody>
      </p:sp>
      <p:sp>
        <p:nvSpPr>
          <p:cNvPr id="3" name="Content Placeholder 2"/>
          <p:cNvSpPr>
            <a:spLocks noGrp="1"/>
          </p:cNvSpPr>
          <p:nvPr>
            <p:ph idx="1"/>
          </p:nvPr>
        </p:nvSpPr>
        <p:spPr/>
        <p:txBody>
          <a:bodyPr>
            <a:normAutofit fontScale="85000" lnSpcReduction="10000"/>
          </a:bodyPr>
          <a:lstStyle/>
          <a:p>
            <a:r>
              <a:rPr lang="en-GB" dirty="0"/>
              <a:t>In the </a:t>
            </a:r>
            <a:r>
              <a:rPr lang="en-GB" b="1" dirty="0"/>
              <a:t>traditional approach</a:t>
            </a:r>
            <a:r>
              <a:rPr lang="en-GB" dirty="0"/>
              <a:t>, planning was done entirely by top-level managers who were often assisted by a </a:t>
            </a:r>
            <a:r>
              <a:rPr lang="en-GB" u="sng" dirty="0"/>
              <a:t>formal planning department</a:t>
            </a:r>
            <a:r>
              <a:rPr lang="en-GB" dirty="0"/>
              <a:t>, a group of planning specialists whose sole responsibility was helping to write the various organizational plans </a:t>
            </a:r>
          </a:p>
          <a:p>
            <a:r>
              <a:rPr lang="en-GB" b="1" dirty="0" smtClean="0"/>
              <a:t>Second option </a:t>
            </a:r>
            <a:r>
              <a:rPr lang="en-GB" dirty="0" smtClean="0"/>
              <a:t>is to </a:t>
            </a:r>
            <a:r>
              <a:rPr lang="en-GB" u="sng" dirty="0"/>
              <a:t>involve more organizational members in the process</a:t>
            </a:r>
            <a:r>
              <a:rPr lang="en-GB" dirty="0"/>
              <a:t>. In this approach, plans aren't handed down from one level to the next but instead are developed by organizational members at the various levels and in the various work units to meet their specific needs </a:t>
            </a:r>
            <a:endParaRPr lang="en-IN" dirty="0"/>
          </a:p>
          <a:p>
            <a:endParaRPr lang="en-IN" dirty="0"/>
          </a:p>
        </p:txBody>
      </p:sp>
    </p:spTree>
    <p:extLst>
      <p:ext uri="{BB962C8B-B14F-4D97-AF65-F5344CB8AC3E}">
        <p14:creationId xmlns:p14="http://schemas.microsoft.com/office/powerpoint/2010/main" val="355831719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t>Criticisms of </a:t>
            </a:r>
            <a:r>
              <a:rPr lang="en-IN" b="1" dirty="0" smtClean="0"/>
              <a:t>Planning</a:t>
            </a:r>
            <a:endParaRPr lang="en-IN" dirty="0"/>
          </a:p>
        </p:txBody>
      </p:sp>
      <p:sp>
        <p:nvSpPr>
          <p:cNvPr id="3" name="Content Placeholder 2"/>
          <p:cNvSpPr>
            <a:spLocks noGrp="1"/>
          </p:cNvSpPr>
          <p:nvPr>
            <p:ph idx="1"/>
          </p:nvPr>
        </p:nvSpPr>
        <p:spPr/>
        <p:txBody>
          <a:bodyPr>
            <a:normAutofit fontScale="92500" lnSpcReduction="10000"/>
          </a:bodyPr>
          <a:lstStyle/>
          <a:p>
            <a:endParaRPr lang="en-IN" dirty="0"/>
          </a:p>
          <a:p>
            <a:r>
              <a:rPr lang="en-IN" i="1" dirty="0"/>
              <a:t>Planning may create </a:t>
            </a:r>
            <a:r>
              <a:rPr lang="en-IN" i="1" dirty="0" smtClean="0"/>
              <a:t>rigidity</a:t>
            </a:r>
            <a:endParaRPr lang="en-IN" dirty="0"/>
          </a:p>
          <a:p>
            <a:r>
              <a:rPr lang="en-GB" i="1" dirty="0"/>
              <a:t>Plans can't be developed for a dynamic </a:t>
            </a:r>
            <a:r>
              <a:rPr lang="en-GB" i="1" dirty="0" smtClean="0"/>
              <a:t>environment</a:t>
            </a:r>
            <a:endParaRPr lang="en-IN" dirty="0"/>
          </a:p>
          <a:p>
            <a:r>
              <a:rPr lang="en-GB" i="1" dirty="0"/>
              <a:t>Formal plans can't replace intuition and </a:t>
            </a:r>
            <a:r>
              <a:rPr lang="en-GB" i="1" dirty="0" smtClean="0"/>
              <a:t>creativity</a:t>
            </a:r>
            <a:endParaRPr lang="en-IN" dirty="0"/>
          </a:p>
          <a:p>
            <a:r>
              <a:rPr lang="en-GB" i="1" dirty="0"/>
              <a:t>Planning focuses managers' attention on today's competition not on tomorrow's </a:t>
            </a:r>
            <a:r>
              <a:rPr lang="en-GB" i="1" dirty="0" smtClean="0"/>
              <a:t>survival</a:t>
            </a:r>
            <a:endParaRPr lang="en-IN" dirty="0"/>
          </a:p>
          <a:p>
            <a:r>
              <a:rPr lang="en-GB" i="1" dirty="0"/>
              <a:t>Formal planning reinforces success, which may lead to </a:t>
            </a:r>
            <a:r>
              <a:rPr lang="en-GB" i="1" dirty="0" smtClean="0"/>
              <a:t>failure</a:t>
            </a:r>
            <a:r>
              <a:rPr lang="en-IN" dirty="0" smtClean="0"/>
              <a:t> </a:t>
            </a:r>
            <a:endParaRPr lang="en-IN" dirty="0"/>
          </a:p>
          <a:p>
            <a:endParaRPr lang="en-IN" dirty="0"/>
          </a:p>
          <a:p>
            <a:endParaRPr lang="en-IN" dirty="0"/>
          </a:p>
        </p:txBody>
      </p:sp>
    </p:spTree>
    <p:extLst>
      <p:ext uri="{BB962C8B-B14F-4D97-AF65-F5344CB8AC3E}">
        <p14:creationId xmlns:p14="http://schemas.microsoft.com/office/powerpoint/2010/main" val="270177663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438400"/>
            <a:ext cx="8229600" cy="1143000"/>
          </a:xfrm>
        </p:spPr>
        <p:txBody>
          <a:bodyPr/>
          <a:lstStyle/>
          <a:p>
            <a:r>
              <a:rPr lang="en-GB" dirty="0" smtClean="0"/>
              <a:t>Planning tools and techniques</a:t>
            </a:r>
            <a:endParaRPr lang="en-IN" dirty="0"/>
          </a:p>
        </p:txBody>
      </p:sp>
    </p:spTree>
    <p:extLst>
      <p:ext uri="{BB962C8B-B14F-4D97-AF65-F5344CB8AC3E}">
        <p14:creationId xmlns:p14="http://schemas.microsoft.com/office/powerpoint/2010/main" val="427955941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Techniques For Assessing The </a:t>
            </a:r>
            <a:r>
              <a:rPr lang="en-IN" b="1" dirty="0" smtClean="0"/>
              <a:t>Environment</a:t>
            </a:r>
            <a:endParaRPr lang="en-IN" dirty="0"/>
          </a:p>
        </p:txBody>
      </p:sp>
      <p:sp>
        <p:nvSpPr>
          <p:cNvPr id="3" name="Content Placeholder 2"/>
          <p:cNvSpPr>
            <a:spLocks noGrp="1"/>
          </p:cNvSpPr>
          <p:nvPr>
            <p:ph idx="1"/>
          </p:nvPr>
        </p:nvSpPr>
        <p:spPr/>
        <p:txBody>
          <a:bodyPr>
            <a:normAutofit fontScale="92500"/>
          </a:bodyPr>
          <a:lstStyle/>
          <a:p>
            <a:r>
              <a:rPr lang="en-IN" b="1" dirty="0"/>
              <a:t>Environmental </a:t>
            </a:r>
            <a:r>
              <a:rPr lang="en-IN" b="1" dirty="0" smtClean="0"/>
              <a:t>Scanning: Competitor intelligence, Global scanning</a:t>
            </a:r>
            <a:endParaRPr lang="en-IN" dirty="0"/>
          </a:p>
          <a:p>
            <a:r>
              <a:rPr lang="en-GB" b="1" dirty="0" smtClean="0"/>
              <a:t>Forecasting: Quantitative techniques </a:t>
            </a:r>
            <a:r>
              <a:rPr lang="en-GB" dirty="0" smtClean="0"/>
              <a:t>applies </a:t>
            </a:r>
            <a:r>
              <a:rPr lang="en-GB" dirty="0"/>
              <a:t>a set of mathematical rules to a series of past data to predict outcomes. These techniques are preferred when managers have sufficient hard data that can be used. </a:t>
            </a:r>
            <a:r>
              <a:rPr lang="en-GB" b="1" dirty="0"/>
              <a:t>Qualitative forecasting</a:t>
            </a:r>
            <a:r>
              <a:rPr lang="en-GB" dirty="0"/>
              <a:t>, in contrast, uses the judgment and opinions of knowledgeable individuals to predict outcomes </a:t>
            </a:r>
            <a:endParaRPr lang="en-IN" dirty="0"/>
          </a:p>
          <a:p>
            <a:endParaRPr lang="en-GB" b="1" dirty="0" smtClean="0"/>
          </a:p>
          <a:p>
            <a:endParaRPr lang="en-IN" b="1" dirty="0"/>
          </a:p>
        </p:txBody>
      </p:sp>
    </p:spTree>
    <p:extLst>
      <p:ext uri="{BB962C8B-B14F-4D97-AF65-F5344CB8AC3E}">
        <p14:creationId xmlns:p14="http://schemas.microsoft.com/office/powerpoint/2010/main" val="3181893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2332084740"/>
              </p:ext>
            </p:extLst>
          </p:nvPr>
        </p:nvGraphicFramePr>
        <p:xfrm>
          <a:off x="457200" y="152400"/>
          <a:ext cx="8229603" cy="6695049"/>
        </p:xfrm>
        <a:graphic>
          <a:graphicData uri="http://schemas.openxmlformats.org/drawingml/2006/table">
            <a:tbl>
              <a:tblPr firstRow="1" bandRow="1">
                <a:tableStyleId>{5C22544A-7EE6-4342-B048-85BDC9FD1C3A}</a:tableStyleId>
              </a:tblPr>
              <a:tblGrid>
                <a:gridCol w="1371600"/>
                <a:gridCol w="3048000"/>
                <a:gridCol w="1371600"/>
                <a:gridCol w="2438403"/>
              </a:tblGrid>
              <a:tr h="1025769">
                <a:tc>
                  <a:txBody>
                    <a:bodyPr/>
                    <a:lstStyle/>
                    <a:p>
                      <a:r>
                        <a:rPr lang="en-GB" dirty="0" smtClean="0"/>
                        <a:t>Quantitative techniques</a:t>
                      </a:r>
                      <a:endParaRPr lang="en-IN" dirty="0"/>
                    </a:p>
                  </a:txBody>
                  <a:tcPr/>
                </a:tc>
                <a:tc>
                  <a:txBody>
                    <a:bodyPr/>
                    <a:lstStyle/>
                    <a:p>
                      <a:r>
                        <a:rPr lang="en-GB" dirty="0" smtClean="0"/>
                        <a:t>Description</a:t>
                      </a:r>
                      <a:endParaRPr lang="en-IN" dirty="0"/>
                    </a:p>
                  </a:txBody>
                  <a:tcPr/>
                </a:tc>
                <a:tc>
                  <a:txBody>
                    <a:bodyPr/>
                    <a:lstStyle/>
                    <a:p>
                      <a:r>
                        <a:rPr lang="en-GB" dirty="0" smtClean="0"/>
                        <a:t>Qualitative techniques</a:t>
                      </a:r>
                      <a:endParaRPr lang="en-IN" dirty="0"/>
                    </a:p>
                  </a:txBody>
                  <a:tcPr/>
                </a:tc>
                <a:tc>
                  <a:txBody>
                    <a:bodyPr/>
                    <a:lstStyle/>
                    <a:p>
                      <a:r>
                        <a:rPr lang="en-GB" dirty="0" smtClean="0"/>
                        <a:t>Description</a:t>
                      </a:r>
                      <a:endParaRPr lang="en-IN" dirty="0"/>
                    </a:p>
                  </a:txBody>
                  <a:tcPr/>
                </a:tc>
              </a:tr>
              <a:tr h="1143000">
                <a:tc>
                  <a:txBody>
                    <a:bodyPr/>
                    <a:lstStyle/>
                    <a:p>
                      <a:r>
                        <a:rPr lang="en-IN" sz="1800" b="0" i="1" u="none" strike="noStrike" kern="1200" baseline="0" dirty="0" smtClean="0">
                          <a:solidFill>
                            <a:schemeClr val="dk1"/>
                          </a:solidFill>
                          <a:latin typeface="+mn-lt"/>
                          <a:ea typeface="+mn-ea"/>
                          <a:cs typeface="+mn-cs"/>
                        </a:rPr>
                        <a:t>Time series analysis</a:t>
                      </a:r>
                    </a:p>
                  </a:txBody>
                  <a:tcPr/>
                </a:tc>
                <a:tc>
                  <a:txBody>
                    <a:bodyPr/>
                    <a:lstStyle/>
                    <a:p>
                      <a:r>
                        <a:rPr lang="en-GB" sz="1800" b="0" i="0" u="none" strike="noStrike" kern="1200" baseline="0" dirty="0" smtClean="0">
                          <a:solidFill>
                            <a:schemeClr val="dk1"/>
                          </a:solidFill>
                          <a:latin typeface="+mn-lt"/>
                          <a:ea typeface="+mn-ea"/>
                          <a:cs typeface="+mn-cs"/>
                        </a:rPr>
                        <a:t>Fits a trend line to a mathematical equation and projects into the future by means of this equation</a:t>
                      </a:r>
                    </a:p>
                  </a:txBody>
                  <a:tcPr/>
                </a:tc>
                <a:tc>
                  <a:txBody>
                    <a:bodyPr/>
                    <a:lstStyle/>
                    <a:p>
                      <a:r>
                        <a:rPr lang="en-IN" sz="1800" b="0" i="1" u="none" strike="noStrike" kern="1200" baseline="0" dirty="0" smtClean="0">
                          <a:solidFill>
                            <a:schemeClr val="dk1"/>
                          </a:solidFill>
                          <a:latin typeface="+mn-lt"/>
                          <a:ea typeface="+mn-ea"/>
                          <a:cs typeface="+mn-cs"/>
                        </a:rPr>
                        <a:t>Jury of opinion</a:t>
                      </a:r>
                    </a:p>
                    <a:p>
                      <a:r>
                        <a:rPr lang="en-IN" sz="1800" b="0" i="1" u="none" strike="noStrike" kern="1200" baseline="0" dirty="0" smtClean="0">
                          <a:solidFill>
                            <a:schemeClr val="dk1"/>
                          </a:solidFill>
                          <a:latin typeface="+mn-lt"/>
                          <a:ea typeface="+mn-ea"/>
                          <a:cs typeface="+mn-cs"/>
                        </a:rPr>
                        <a:t>  </a:t>
                      </a:r>
                    </a:p>
                    <a:p>
                      <a:endParaRPr lang="en-IN" i="1" dirty="0"/>
                    </a:p>
                  </a:txBody>
                  <a:tcPr/>
                </a:tc>
                <a:tc>
                  <a:txBody>
                    <a:bodyPr/>
                    <a:lstStyle/>
                    <a:p>
                      <a:r>
                        <a:rPr lang="en-GB" sz="1800" b="0" i="0" u="none" strike="noStrike" kern="1200" baseline="0" dirty="0" smtClean="0">
                          <a:solidFill>
                            <a:schemeClr val="dk1"/>
                          </a:solidFill>
                          <a:latin typeface="+mn-lt"/>
                          <a:ea typeface="+mn-ea"/>
                          <a:cs typeface="+mn-cs"/>
                        </a:rPr>
                        <a:t>Combines and averages the opinions of experts</a:t>
                      </a:r>
                    </a:p>
                  </a:txBody>
                  <a:tcPr/>
                </a:tc>
              </a:tr>
              <a:tr h="1143000">
                <a:tc>
                  <a:txBody>
                    <a:bodyPr/>
                    <a:lstStyle/>
                    <a:p>
                      <a:r>
                        <a:rPr lang="en-IN" sz="1800" b="0" i="1" u="none" strike="noStrike" kern="1200" baseline="0" dirty="0" smtClean="0">
                          <a:solidFill>
                            <a:schemeClr val="dk1"/>
                          </a:solidFill>
                          <a:latin typeface="+mn-lt"/>
                          <a:ea typeface="+mn-ea"/>
                          <a:cs typeface="+mn-cs"/>
                        </a:rPr>
                        <a:t>Regression models</a:t>
                      </a:r>
                    </a:p>
                  </a:txBody>
                  <a:tcPr/>
                </a:tc>
                <a:tc>
                  <a:txBody>
                    <a:bodyPr/>
                    <a:lstStyle/>
                    <a:p>
                      <a:r>
                        <a:rPr lang="en-GB" sz="1800" b="0" i="0" u="none" strike="noStrike" kern="1200" baseline="0" dirty="0" smtClean="0">
                          <a:solidFill>
                            <a:schemeClr val="dk1"/>
                          </a:solidFill>
                          <a:latin typeface="+mn-lt"/>
                          <a:ea typeface="+mn-ea"/>
                          <a:cs typeface="+mn-cs"/>
                        </a:rPr>
                        <a:t>Predicts one variable on the basis of known or assumed other variables</a:t>
                      </a:r>
                    </a:p>
                  </a:txBody>
                  <a:tcPr/>
                </a:tc>
                <a:tc>
                  <a:txBody>
                    <a:bodyPr/>
                    <a:lstStyle/>
                    <a:p>
                      <a:r>
                        <a:rPr lang="en-IN" i="1" dirty="0" err="1" smtClean="0"/>
                        <a:t>Salesforce</a:t>
                      </a:r>
                      <a:r>
                        <a:rPr lang="en-IN" i="1" dirty="0" smtClean="0"/>
                        <a:t> composition</a:t>
                      </a:r>
                      <a:endParaRPr lang="en-IN" i="1" dirty="0"/>
                    </a:p>
                  </a:txBody>
                  <a:tcPr/>
                </a:tc>
                <a:tc>
                  <a:txBody>
                    <a:bodyPr/>
                    <a:lstStyle/>
                    <a:p>
                      <a:r>
                        <a:rPr lang="en-GB" sz="1800" b="0" i="0" u="none" strike="noStrike" kern="1200" baseline="0" dirty="0" smtClean="0">
                          <a:solidFill>
                            <a:schemeClr val="dk1"/>
                          </a:solidFill>
                          <a:latin typeface="+mn-lt"/>
                          <a:ea typeface="+mn-ea"/>
                          <a:cs typeface="+mn-cs"/>
                        </a:rPr>
                        <a:t>Combines estimates from field sales personnel of customers' expected purchases</a:t>
                      </a:r>
                    </a:p>
                  </a:txBody>
                  <a:tcPr/>
                </a:tc>
              </a:tr>
              <a:tr h="879231">
                <a:tc>
                  <a:txBody>
                    <a:bodyPr/>
                    <a:lstStyle/>
                    <a:p>
                      <a:r>
                        <a:rPr lang="en-IN" sz="1800" b="0" i="1" u="none" strike="noStrike" kern="1200" baseline="0" dirty="0" smtClean="0">
                          <a:solidFill>
                            <a:schemeClr val="dk1"/>
                          </a:solidFill>
                          <a:latin typeface="+mn-lt"/>
                          <a:ea typeface="+mn-ea"/>
                          <a:cs typeface="+mn-cs"/>
                        </a:rPr>
                        <a:t>Econometric models</a:t>
                      </a:r>
                    </a:p>
                  </a:txBody>
                  <a:tcPr/>
                </a:tc>
                <a:tc>
                  <a:txBody>
                    <a:bodyPr/>
                    <a:lstStyle/>
                    <a:p>
                      <a:r>
                        <a:rPr lang="en-GB" sz="1800" b="0" i="0" u="none" strike="noStrike" kern="1200" baseline="0" dirty="0" smtClean="0">
                          <a:solidFill>
                            <a:schemeClr val="dk1"/>
                          </a:solidFill>
                          <a:latin typeface="+mn-lt"/>
                          <a:ea typeface="+mn-ea"/>
                          <a:cs typeface="+mn-cs"/>
                        </a:rPr>
                        <a:t>Uses a set of regression equations to simulate segments of the economy</a:t>
                      </a:r>
                    </a:p>
                  </a:txBody>
                  <a:tcPr/>
                </a:tc>
                <a:tc>
                  <a:txBody>
                    <a:bodyPr/>
                    <a:lstStyle/>
                    <a:p>
                      <a:r>
                        <a:rPr lang="en-IN" sz="1800" b="0" i="1" u="none" strike="noStrike" kern="1200" baseline="0" dirty="0" smtClean="0">
                          <a:solidFill>
                            <a:schemeClr val="dk1"/>
                          </a:solidFill>
                          <a:latin typeface="+mn-lt"/>
                          <a:ea typeface="+mn-ea"/>
                          <a:cs typeface="+mn-cs"/>
                        </a:rPr>
                        <a:t>Customer evaluation</a:t>
                      </a:r>
                    </a:p>
                  </a:txBody>
                  <a:tcPr/>
                </a:tc>
                <a:tc>
                  <a:txBody>
                    <a:bodyPr/>
                    <a:lstStyle/>
                    <a:p>
                      <a:r>
                        <a:rPr lang="en-GB" sz="1800" b="0" i="0" u="none" strike="noStrike" kern="1200" baseline="0" dirty="0" smtClean="0">
                          <a:solidFill>
                            <a:schemeClr val="dk1"/>
                          </a:solidFill>
                          <a:latin typeface="+mn-lt"/>
                          <a:ea typeface="+mn-ea"/>
                          <a:cs typeface="+mn-cs"/>
                        </a:rPr>
                        <a:t>Combines estimates from established purchases</a:t>
                      </a:r>
                    </a:p>
                  </a:txBody>
                  <a:tcPr/>
                </a:tc>
              </a:tr>
              <a:tr h="879231">
                <a:tc>
                  <a:txBody>
                    <a:bodyPr/>
                    <a:lstStyle/>
                    <a:p>
                      <a:r>
                        <a:rPr lang="en-IN" sz="1800" b="0" i="1" u="none" strike="noStrike" kern="1200" baseline="0" dirty="0" smtClean="0">
                          <a:solidFill>
                            <a:schemeClr val="dk1"/>
                          </a:solidFill>
                          <a:latin typeface="+mn-lt"/>
                          <a:ea typeface="+mn-ea"/>
                          <a:cs typeface="+mn-cs"/>
                        </a:rPr>
                        <a:t>Economic indicators</a:t>
                      </a:r>
                    </a:p>
                  </a:txBody>
                  <a:tcPr/>
                </a:tc>
                <a:tc>
                  <a:txBody>
                    <a:bodyPr/>
                    <a:lstStyle/>
                    <a:p>
                      <a:r>
                        <a:rPr lang="en-GB" sz="1800" b="0" i="0" u="none" strike="noStrike" kern="1200" baseline="0" dirty="0" smtClean="0">
                          <a:solidFill>
                            <a:schemeClr val="dk1"/>
                          </a:solidFill>
                          <a:latin typeface="+mn-lt"/>
                          <a:ea typeface="+mn-ea"/>
                          <a:cs typeface="+mn-cs"/>
                        </a:rPr>
                        <a:t>Uses one or more economic indicators to predict a future state of the economy</a:t>
                      </a:r>
                    </a:p>
                  </a:txBody>
                  <a:tcPr/>
                </a:tc>
                <a:tc>
                  <a:txBody>
                    <a:bodyPr/>
                    <a:lstStyle/>
                    <a:p>
                      <a:endParaRPr lang="en-IN" dirty="0"/>
                    </a:p>
                  </a:txBody>
                  <a:tcPr/>
                </a:tc>
                <a:tc>
                  <a:txBody>
                    <a:bodyPr/>
                    <a:lstStyle/>
                    <a:p>
                      <a:endParaRPr lang="en-IN" dirty="0"/>
                    </a:p>
                  </a:txBody>
                  <a:tcPr/>
                </a:tc>
              </a:tr>
              <a:tr h="1406769">
                <a:tc>
                  <a:txBody>
                    <a:bodyPr/>
                    <a:lstStyle/>
                    <a:p>
                      <a:r>
                        <a:rPr lang="en-IN" sz="1800" b="0" i="1" u="none" strike="noStrike" kern="1200" baseline="0" dirty="0" smtClean="0">
                          <a:solidFill>
                            <a:schemeClr val="dk1"/>
                          </a:solidFill>
                          <a:latin typeface="+mn-lt"/>
                          <a:ea typeface="+mn-ea"/>
                          <a:cs typeface="+mn-cs"/>
                        </a:rPr>
                        <a:t>Substitution effect</a:t>
                      </a:r>
                    </a:p>
                  </a:txBody>
                  <a:tcPr/>
                </a:tc>
                <a:tc>
                  <a:txBody>
                    <a:bodyPr/>
                    <a:lstStyle/>
                    <a:p>
                      <a:r>
                        <a:rPr lang="en-GB" sz="1800" b="0" i="0" u="none" strike="noStrike" kern="1200" baseline="0" dirty="0" smtClean="0">
                          <a:solidFill>
                            <a:schemeClr val="dk1"/>
                          </a:solidFill>
                          <a:latin typeface="+mn-lt"/>
                          <a:ea typeface="+mn-ea"/>
                          <a:cs typeface="+mn-cs"/>
                        </a:rPr>
                        <a:t>Uses a mathematical formula to predict how, when, and under what circumstances a new product or technology will replace an existing one</a:t>
                      </a:r>
                    </a:p>
                  </a:txBody>
                  <a:tcPr/>
                </a:tc>
                <a:tc>
                  <a:txBody>
                    <a:bodyPr/>
                    <a:lstStyle/>
                    <a:p>
                      <a:endParaRPr lang="en-IN" dirty="0"/>
                    </a:p>
                  </a:txBody>
                  <a:tcPr/>
                </a:tc>
                <a:tc>
                  <a:txBody>
                    <a:bodyPr/>
                    <a:lstStyle/>
                    <a:p>
                      <a:endParaRPr lang="en-IN" dirty="0"/>
                    </a:p>
                  </a:txBody>
                  <a:tcPr/>
                </a:tc>
              </a:tr>
            </a:tbl>
          </a:graphicData>
        </a:graphic>
      </p:graphicFrame>
    </p:spTree>
    <p:extLst>
      <p:ext uri="{BB962C8B-B14F-4D97-AF65-F5344CB8AC3E}">
        <p14:creationId xmlns:p14="http://schemas.microsoft.com/office/powerpoint/2010/main" val="54931659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Benchmarking</a:t>
            </a:r>
            <a:endParaRPr lang="en-IN" dirty="0"/>
          </a:p>
        </p:txBody>
      </p:sp>
      <p:sp>
        <p:nvSpPr>
          <p:cNvPr id="3" name="Content Placeholder 2"/>
          <p:cNvSpPr>
            <a:spLocks noGrp="1"/>
          </p:cNvSpPr>
          <p:nvPr>
            <p:ph idx="1"/>
          </p:nvPr>
        </p:nvSpPr>
        <p:spPr/>
        <p:txBody>
          <a:bodyPr/>
          <a:lstStyle/>
          <a:p>
            <a:r>
              <a:rPr lang="en-GB" dirty="0"/>
              <a:t>This is the search for the best practices among competitors or </a:t>
            </a:r>
            <a:r>
              <a:rPr lang="en-GB" dirty="0" err="1"/>
              <a:t>noncompetitors</a:t>
            </a:r>
            <a:r>
              <a:rPr lang="en-GB" dirty="0"/>
              <a:t> that lead to their superior </a:t>
            </a:r>
            <a:r>
              <a:rPr lang="en-GB" dirty="0" smtClean="0"/>
              <a:t>performance.</a:t>
            </a:r>
          </a:p>
          <a:p>
            <a:r>
              <a:rPr lang="en-GB" dirty="0" smtClean="0"/>
              <a:t>The </a:t>
            </a:r>
            <a:r>
              <a:rPr lang="en-GB" dirty="0"/>
              <a:t>basic idea behind benchmarking is that managers can improve quality by </a:t>
            </a:r>
            <a:r>
              <a:rPr lang="en-GB" dirty="0" err="1"/>
              <a:t>analyzing</a:t>
            </a:r>
            <a:r>
              <a:rPr lang="en-GB" dirty="0"/>
              <a:t> and then copying the methods of the leaders in various fields </a:t>
            </a:r>
            <a:endParaRPr lang="en-IN" dirty="0"/>
          </a:p>
          <a:p>
            <a:endParaRPr lang="en-IN" dirty="0"/>
          </a:p>
        </p:txBody>
      </p:sp>
    </p:spTree>
    <p:extLst>
      <p:ext uri="{BB962C8B-B14F-4D97-AF65-F5344CB8AC3E}">
        <p14:creationId xmlns:p14="http://schemas.microsoft.com/office/powerpoint/2010/main" val="97544971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Steps in Benchmarking Process</a:t>
            </a:r>
            <a:endParaRPr lang="en-IN" dirty="0"/>
          </a:p>
        </p:txBody>
      </p:sp>
      <p:sp>
        <p:nvSpPr>
          <p:cNvPr id="3" name="Content Placeholder 2"/>
          <p:cNvSpPr>
            <a:spLocks noGrp="1"/>
          </p:cNvSpPr>
          <p:nvPr>
            <p:ph idx="1"/>
          </p:nvPr>
        </p:nvSpPr>
        <p:spPr/>
        <p:txBody>
          <a:bodyPr>
            <a:normAutofit fontScale="85000" lnSpcReduction="10000"/>
          </a:bodyPr>
          <a:lstStyle/>
          <a:p>
            <a:pPr marL="0" indent="0">
              <a:buNone/>
            </a:pPr>
            <a:endParaRPr lang="en-IN" dirty="0"/>
          </a:p>
          <a:p>
            <a:r>
              <a:rPr lang="en-GB" dirty="0"/>
              <a:t>A benchmarking planning team is formed. The team's initial task is to identify what is to be benchmarked, identify comparative organizations, and determine data collection </a:t>
            </a:r>
            <a:r>
              <a:rPr lang="en-GB" dirty="0" smtClean="0"/>
              <a:t>methods</a:t>
            </a:r>
            <a:endParaRPr lang="en-IN" dirty="0"/>
          </a:p>
          <a:p>
            <a:r>
              <a:rPr lang="en-GB" dirty="0"/>
              <a:t>The team collects data internally on its own work methods and externally from other </a:t>
            </a:r>
            <a:r>
              <a:rPr lang="en-GB" dirty="0" smtClean="0"/>
              <a:t>organizations</a:t>
            </a:r>
            <a:endParaRPr lang="en-IN" dirty="0"/>
          </a:p>
          <a:p>
            <a:r>
              <a:rPr lang="en-GB" dirty="0"/>
              <a:t>The data are </a:t>
            </a:r>
            <a:r>
              <a:rPr lang="en-GB" dirty="0" err="1"/>
              <a:t>analyzed</a:t>
            </a:r>
            <a:r>
              <a:rPr lang="en-GB" dirty="0"/>
              <a:t> to identify performance gaps and the cause of </a:t>
            </a:r>
            <a:r>
              <a:rPr lang="en-GB" dirty="0" smtClean="0"/>
              <a:t>differences</a:t>
            </a:r>
            <a:endParaRPr lang="en-IN" dirty="0"/>
          </a:p>
          <a:p>
            <a:r>
              <a:rPr lang="en-GB" dirty="0"/>
              <a:t>An action plan that will result in meeting or exceeding the standards of others is prepared and </a:t>
            </a:r>
            <a:r>
              <a:rPr lang="en-GB" dirty="0" smtClean="0"/>
              <a:t>implemented</a:t>
            </a:r>
            <a:endParaRPr lang="en-IN" dirty="0"/>
          </a:p>
          <a:p>
            <a:endParaRPr lang="en-IN" dirty="0"/>
          </a:p>
          <a:p>
            <a:endParaRPr lang="en-IN" dirty="0"/>
          </a:p>
        </p:txBody>
      </p:sp>
    </p:spTree>
    <p:extLst>
      <p:ext uri="{BB962C8B-B14F-4D97-AF65-F5344CB8AC3E}">
        <p14:creationId xmlns:p14="http://schemas.microsoft.com/office/powerpoint/2010/main" val="193663283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b="1" dirty="0"/>
              <a:t>Suggestions for Improving Benchmarking </a:t>
            </a:r>
            <a:r>
              <a:rPr lang="en-GB" b="1" dirty="0" smtClean="0"/>
              <a:t>Efforts</a:t>
            </a:r>
            <a:endParaRPr lang="en-IN" dirty="0"/>
          </a:p>
        </p:txBody>
      </p:sp>
      <p:sp>
        <p:nvSpPr>
          <p:cNvPr id="3" name="Content Placeholder 2"/>
          <p:cNvSpPr>
            <a:spLocks noGrp="1"/>
          </p:cNvSpPr>
          <p:nvPr>
            <p:ph idx="1"/>
          </p:nvPr>
        </p:nvSpPr>
        <p:spPr/>
        <p:txBody>
          <a:bodyPr>
            <a:normAutofit fontScale="62500" lnSpcReduction="20000"/>
          </a:bodyPr>
          <a:lstStyle/>
          <a:p>
            <a:endParaRPr lang="en-IN" dirty="0"/>
          </a:p>
          <a:p>
            <a:pPr marL="514350" indent="-514350">
              <a:buFont typeface="+mj-lt"/>
              <a:buAutoNum type="arabicPeriod"/>
            </a:pPr>
            <a:r>
              <a:rPr lang="en-GB" dirty="0"/>
              <a:t>Link benchmarking efforts to strategic objectives.</a:t>
            </a:r>
          </a:p>
          <a:p>
            <a:pPr marL="514350" indent="-514350">
              <a:buFont typeface="+mj-lt"/>
              <a:buAutoNum type="arabicPeriod"/>
            </a:pPr>
            <a:r>
              <a:rPr lang="en-GB" dirty="0"/>
              <a:t>Have the right-sized team—between six and eight people is most effective.</a:t>
            </a:r>
          </a:p>
          <a:p>
            <a:pPr marL="514350" indent="-514350">
              <a:buFont typeface="+mj-lt"/>
              <a:buAutoNum type="arabicPeriod"/>
            </a:pPr>
            <a:r>
              <a:rPr lang="en-GB" dirty="0"/>
              <a:t>Involve those individuals who will be directly affected by benchmarking efforts.</a:t>
            </a:r>
          </a:p>
          <a:p>
            <a:pPr marL="514350" indent="-514350">
              <a:buFont typeface="+mj-lt"/>
              <a:buAutoNum type="arabicPeriod"/>
            </a:pPr>
            <a:r>
              <a:rPr lang="en-GB" dirty="0"/>
              <a:t>Focus on specific, targeted issues rather than broad, general ones.</a:t>
            </a:r>
          </a:p>
          <a:p>
            <a:pPr marL="514350" indent="-514350">
              <a:buFont typeface="+mj-lt"/>
              <a:buAutoNum type="arabicPeriod"/>
            </a:pPr>
            <a:r>
              <a:rPr lang="en-IN" dirty="0"/>
              <a:t>Set realistic timetables.</a:t>
            </a:r>
          </a:p>
          <a:p>
            <a:pPr marL="514350" indent="-514350">
              <a:buFont typeface="+mj-lt"/>
              <a:buAutoNum type="arabicPeriod"/>
            </a:pPr>
            <a:r>
              <a:rPr lang="en-IN" dirty="0"/>
              <a:t>Choose benchmarking targets carefully.</a:t>
            </a:r>
          </a:p>
          <a:p>
            <a:pPr marL="514350" indent="-514350">
              <a:buFont typeface="+mj-lt"/>
              <a:buAutoNum type="arabicPeriod"/>
            </a:pPr>
            <a:r>
              <a:rPr lang="en-GB" dirty="0"/>
              <a:t>Observe proper protocol when gathering benchmarking information by dealing with the appropriate individuals.</a:t>
            </a:r>
          </a:p>
          <a:p>
            <a:pPr marL="514350" indent="-514350">
              <a:buFont typeface="+mj-lt"/>
              <a:buAutoNum type="arabicPeriod"/>
            </a:pPr>
            <a:r>
              <a:rPr lang="en-GB" dirty="0"/>
              <a:t>Don't collect excessive, unnecessary data.</a:t>
            </a:r>
          </a:p>
          <a:p>
            <a:pPr marL="514350" indent="-514350">
              <a:buFont typeface="+mj-lt"/>
              <a:buAutoNum type="arabicPeriod"/>
            </a:pPr>
            <a:r>
              <a:rPr lang="en-GB" dirty="0"/>
              <a:t>Look at the processes behind the numbers, not just at the numbers themselves.</a:t>
            </a:r>
          </a:p>
          <a:p>
            <a:pPr marL="514350" indent="-514350">
              <a:buFont typeface="+mj-lt"/>
              <a:buAutoNum type="arabicPeriod"/>
            </a:pPr>
            <a:r>
              <a:rPr lang="en-GB" dirty="0"/>
              <a:t>Identify benchmarking targets and then be sure to take action</a:t>
            </a:r>
            <a:r>
              <a:rPr lang="en-GB" dirty="0" smtClean="0"/>
              <a:t>.</a:t>
            </a:r>
            <a:endParaRPr lang="en-GB" dirty="0"/>
          </a:p>
        </p:txBody>
      </p:sp>
    </p:spTree>
    <p:extLst>
      <p:ext uri="{BB962C8B-B14F-4D97-AF65-F5344CB8AC3E}">
        <p14:creationId xmlns:p14="http://schemas.microsoft.com/office/powerpoint/2010/main" val="235023929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Techniques for allocating resources</a:t>
            </a:r>
            <a:endParaRPr lang="en-IN" dirty="0"/>
          </a:p>
        </p:txBody>
      </p:sp>
      <p:sp>
        <p:nvSpPr>
          <p:cNvPr id="3" name="Content Placeholder 2"/>
          <p:cNvSpPr>
            <a:spLocks noGrp="1"/>
          </p:cNvSpPr>
          <p:nvPr>
            <p:ph idx="1"/>
          </p:nvPr>
        </p:nvSpPr>
        <p:spPr/>
        <p:txBody>
          <a:bodyPr>
            <a:normAutofit fontScale="92500" lnSpcReduction="20000"/>
          </a:bodyPr>
          <a:lstStyle/>
          <a:p>
            <a:r>
              <a:rPr lang="en-GB" dirty="0"/>
              <a:t>Resources are the </a:t>
            </a:r>
            <a:r>
              <a:rPr lang="en-GB" u="sng" dirty="0"/>
              <a:t>assets</a:t>
            </a:r>
            <a:r>
              <a:rPr lang="en-GB" dirty="0"/>
              <a:t> of the organization and include </a:t>
            </a:r>
            <a:r>
              <a:rPr lang="en-GB" i="1" dirty="0"/>
              <a:t>financial</a:t>
            </a:r>
            <a:r>
              <a:rPr lang="en-GB" dirty="0"/>
              <a:t> (debt, equity, retained earnings, and other financial holdings); </a:t>
            </a:r>
            <a:r>
              <a:rPr lang="en-GB" i="1" dirty="0"/>
              <a:t>physical</a:t>
            </a:r>
            <a:r>
              <a:rPr lang="en-GB" dirty="0"/>
              <a:t> (equipment, buildings, raw materials, or other tangible assets); </a:t>
            </a:r>
            <a:r>
              <a:rPr lang="en-GB" i="1" dirty="0"/>
              <a:t>human</a:t>
            </a:r>
            <a:r>
              <a:rPr lang="en-GB" dirty="0"/>
              <a:t> (experiences, skills, knowledge, and competencies of people); </a:t>
            </a:r>
            <a:r>
              <a:rPr lang="en-GB" i="1" dirty="0"/>
              <a:t>intangible</a:t>
            </a:r>
            <a:r>
              <a:rPr lang="en-GB" dirty="0"/>
              <a:t> (brand names, patents, reputation, trademarks, copyrights, registered designs, and databases); and </a:t>
            </a:r>
            <a:r>
              <a:rPr lang="en-GB" i="1" dirty="0"/>
              <a:t>structural/cultural </a:t>
            </a:r>
            <a:r>
              <a:rPr lang="en-GB" dirty="0"/>
              <a:t>(history, culture, work systems, working relationships, level of trust, policies, and structure). </a:t>
            </a:r>
            <a:endParaRPr lang="en-IN" dirty="0"/>
          </a:p>
          <a:p>
            <a:endParaRPr lang="en-IN" dirty="0"/>
          </a:p>
        </p:txBody>
      </p:sp>
    </p:spTree>
    <p:extLst>
      <p:ext uri="{BB962C8B-B14F-4D97-AF65-F5344CB8AC3E}">
        <p14:creationId xmlns:p14="http://schemas.microsoft.com/office/powerpoint/2010/main" val="363009074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Budgeting</a:t>
            </a:r>
            <a:endParaRPr lang="en-IN" dirty="0"/>
          </a:p>
        </p:txBody>
      </p:sp>
      <p:sp>
        <p:nvSpPr>
          <p:cNvPr id="3" name="Content Placeholder 2"/>
          <p:cNvSpPr>
            <a:spLocks noGrp="1"/>
          </p:cNvSpPr>
          <p:nvPr>
            <p:ph idx="1"/>
          </p:nvPr>
        </p:nvSpPr>
        <p:spPr/>
        <p:txBody>
          <a:bodyPr>
            <a:normAutofit fontScale="70000" lnSpcReduction="20000"/>
          </a:bodyPr>
          <a:lstStyle/>
          <a:p>
            <a:r>
              <a:rPr lang="en-GB" dirty="0"/>
              <a:t>A budget is a numerical plan for allocating resources to specific activities </a:t>
            </a:r>
          </a:p>
          <a:p>
            <a:r>
              <a:rPr lang="en-GB" b="1" dirty="0"/>
              <a:t>Types of Budgets</a:t>
            </a:r>
            <a:r>
              <a:rPr lang="en-GB" dirty="0"/>
              <a:t>: </a:t>
            </a:r>
            <a:endParaRPr lang="en-GB" dirty="0" smtClean="0"/>
          </a:p>
          <a:p>
            <a:r>
              <a:rPr lang="en-GB" u="sng" dirty="0" smtClean="0"/>
              <a:t>Cash </a:t>
            </a:r>
            <a:r>
              <a:rPr lang="en-GB" u="sng" dirty="0"/>
              <a:t>budgets </a:t>
            </a:r>
            <a:r>
              <a:rPr lang="en-GB" dirty="0"/>
              <a:t>(Forecasts cash on hand and how much will be needed); </a:t>
            </a:r>
            <a:endParaRPr lang="en-GB" dirty="0" smtClean="0"/>
          </a:p>
          <a:p>
            <a:r>
              <a:rPr lang="en-GB" u="sng" dirty="0" smtClean="0"/>
              <a:t>Revenue </a:t>
            </a:r>
            <a:r>
              <a:rPr lang="en-GB" u="sng" dirty="0"/>
              <a:t>budget </a:t>
            </a:r>
            <a:r>
              <a:rPr lang="en-GB" dirty="0"/>
              <a:t>(Projects future sales); </a:t>
            </a:r>
            <a:endParaRPr lang="en-GB" dirty="0" smtClean="0"/>
          </a:p>
          <a:p>
            <a:r>
              <a:rPr lang="en-GB" u="sng" dirty="0" smtClean="0"/>
              <a:t>Expense </a:t>
            </a:r>
            <a:r>
              <a:rPr lang="en-GB" u="sng" dirty="0"/>
              <a:t>bud</a:t>
            </a:r>
            <a:r>
              <a:rPr lang="en-GB" dirty="0"/>
              <a:t>get (Lists primary activities and allocates dollar amount to each); </a:t>
            </a:r>
            <a:endParaRPr lang="en-GB" dirty="0" smtClean="0"/>
          </a:p>
          <a:p>
            <a:r>
              <a:rPr lang="en-GB" u="sng" dirty="0" smtClean="0"/>
              <a:t>Variable </a:t>
            </a:r>
            <a:r>
              <a:rPr lang="en-GB" u="sng" dirty="0"/>
              <a:t>budget </a:t>
            </a:r>
            <a:r>
              <a:rPr lang="en-GB" dirty="0"/>
              <a:t>(Takes into account the costs that vary with volume); </a:t>
            </a:r>
            <a:endParaRPr lang="en-GB" dirty="0" smtClean="0"/>
          </a:p>
          <a:p>
            <a:r>
              <a:rPr lang="en-GB" u="sng" dirty="0" smtClean="0"/>
              <a:t>Fixed </a:t>
            </a:r>
            <a:r>
              <a:rPr lang="en-GB" u="sng" dirty="0"/>
              <a:t>budget </a:t>
            </a:r>
            <a:r>
              <a:rPr lang="en-GB" dirty="0"/>
              <a:t>(Assumes fixed level of sales or production</a:t>
            </a:r>
            <a:r>
              <a:rPr lang="en-GB" dirty="0" smtClean="0"/>
              <a:t>);</a:t>
            </a:r>
          </a:p>
          <a:p>
            <a:r>
              <a:rPr lang="en-GB" u="sng" dirty="0" smtClean="0"/>
              <a:t>Profit </a:t>
            </a:r>
            <a:r>
              <a:rPr lang="en-GB" u="sng" dirty="0"/>
              <a:t>budget </a:t>
            </a:r>
            <a:r>
              <a:rPr lang="en-GB" dirty="0"/>
              <a:t>(Combines revenue and expense budgets of various units to determine each unit's profit contribution</a:t>
            </a:r>
            <a:r>
              <a:rPr lang="en-GB" dirty="0" smtClean="0"/>
              <a:t>)</a:t>
            </a:r>
            <a:r>
              <a:rPr lang="en-IN" dirty="0" smtClean="0"/>
              <a:t>  </a:t>
            </a:r>
            <a:endParaRPr lang="en-IN" dirty="0"/>
          </a:p>
          <a:p>
            <a:endParaRPr lang="en-IN" dirty="0"/>
          </a:p>
        </p:txBody>
      </p:sp>
    </p:spTree>
    <p:extLst>
      <p:ext uri="{BB962C8B-B14F-4D97-AF65-F5344CB8AC3E}">
        <p14:creationId xmlns:p14="http://schemas.microsoft.com/office/powerpoint/2010/main" val="7706256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Scheduling</a:t>
            </a:r>
          </a:p>
        </p:txBody>
      </p:sp>
      <p:sp>
        <p:nvSpPr>
          <p:cNvPr id="3" name="Content Placeholder 2"/>
          <p:cNvSpPr>
            <a:spLocks noGrp="1"/>
          </p:cNvSpPr>
          <p:nvPr>
            <p:ph idx="1"/>
          </p:nvPr>
        </p:nvSpPr>
        <p:spPr/>
        <p:txBody>
          <a:bodyPr>
            <a:normAutofit fontScale="92500" lnSpcReduction="10000"/>
          </a:bodyPr>
          <a:lstStyle/>
          <a:p>
            <a:r>
              <a:rPr lang="en-IN" b="1" dirty="0"/>
              <a:t>Gantt </a:t>
            </a:r>
            <a:r>
              <a:rPr lang="en-IN" b="1" dirty="0" smtClean="0"/>
              <a:t>Charts</a:t>
            </a:r>
            <a:r>
              <a:rPr lang="en-IN" dirty="0" smtClean="0"/>
              <a:t>: </a:t>
            </a:r>
            <a:r>
              <a:rPr lang="en-GB" dirty="0"/>
              <a:t>The Gantt chart was developed during the early 1900s by Henry Gantt </a:t>
            </a:r>
          </a:p>
          <a:p>
            <a:r>
              <a:rPr lang="en-GB" dirty="0"/>
              <a:t>It's essentially a bar graph with time on the horizontal axis and the activities to be scheduled on the vertical axis. </a:t>
            </a:r>
            <a:endParaRPr lang="en-GB" dirty="0" smtClean="0"/>
          </a:p>
          <a:p>
            <a:r>
              <a:rPr lang="en-GB" dirty="0" smtClean="0"/>
              <a:t>The </a:t>
            </a:r>
            <a:r>
              <a:rPr lang="en-GB" dirty="0"/>
              <a:t>bars show output, both planned and actual, over a period of time. </a:t>
            </a:r>
            <a:endParaRPr lang="en-GB" dirty="0" smtClean="0"/>
          </a:p>
          <a:p>
            <a:r>
              <a:rPr lang="en-GB" dirty="0" smtClean="0"/>
              <a:t>The </a:t>
            </a:r>
            <a:r>
              <a:rPr lang="en-GB" dirty="0"/>
              <a:t>Gantt chart visually shows when tasks are supposed to be done and compares that with the actual progress on each </a:t>
            </a:r>
            <a:r>
              <a:rPr lang="en-IN" dirty="0" smtClean="0"/>
              <a:t>  </a:t>
            </a:r>
            <a:endParaRPr lang="en-IN" dirty="0"/>
          </a:p>
          <a:p>
            <a:endParaRPr lang="en-IN" dirty="0"/>
          </a:p>
        </p:txBody>
      </p:sp>
    </p:spTree>
    <p:extLst>
      <p:ext uri="{BB962C8B-B14F-4D97-AF65-F5344CB8AC3E}">
        <p14:creationId xmlns:p14="http://schemas.microsoft.com/office/powerpoint/2010/main" val="63224210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pic>
        <p:nvPicPr>
          <p:cNvPr id="1026" name="Picture 2" descr="Gantt chart in detail: summary activities, activities, milestones, buffer, end and start dates, dependencie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533400"/>
            <a:ext cx="8455024" cy="5410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9219309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t>Load </a:t>
            </a:r>
            <a:r>
              <a:rPr lang="en-IN" b="1" dirty="0" smtClean="0"/>
              <a:t>Charts</a:t>
            </a:r>
            <a:endParaRPr lang="en-IN" dirty="0"/>
          </a:p>
        </p:txBody>
      </p:sp>
      <p:sp>
        <p:nvSpPr>
          <p:cNvPr id="3" name="Content Placeholder 2"/>
          <p:cNvSpPr>
            <a:spLocks noGrp="1"/>
          </p:cNvSpPr>
          <p:nvPr>
            <p:ph idx="1"/>
          </p:nvPr>
        </p:nvSpPr>
        <p:spPr/>
        <p:txBody>
          <a:bodyPr/>
          <a:lstStyle/>
          <a:p>
            <a:r>
              <a:rPr lang="en-GB" dirty="0"/>
              <a:t>L</a:t>
            </a:r>
            <a:r>
              <a:rPr lang="en-GB" dirty="0" smtClean="0"/>
              <a:t>oad </a:t>
            </a:r>
            <a:r>
              <a:rPr lang="en-GB" dirty="0"/>
              <a:t>charts list either entire departments or specific resources. </a:t>
            </a:r>
            <a:endParaRPr lang="en-GB" dirty="0" smtClean="0"/>
          </a:p>
          <a:p>
            <a:r>
              <a:rPr lang="en-GB" dirty="0" smtClean="0"/>
              <a:t>This </a:t>
            </a:r>
            <a:r>
              <a:rPr lang="en-GB" dirty="0"/>
              <a:t>arrangement allows managers to plan and control capacity utilization. </a:t>
            </a:r>
            <a:endParaRPr lang="en-GB" dirty="0" smtClean="0"/>
          </a:p>
          <a:p>
            <a:r>
              <a:rPr lang="en-GB" dirty="0"/>
              <a:t>L</a:t>
            </a:r>
            <a:r>
              <a:rPr lang="en-GB" dirty="0" smtClean="0"/>
              <a:t>oad </a:t>
            </a:r>
            <a:r>
              <a:rPr lang="en-GB" dirty="0"/>
              <a:t>charts schedule capacity by work </a:t>
            </a:r>
            <a:r>
              <a:rPr lang="en-GB" dirty="0" smtClean="0"/>
              <a:t>areas</a:t>
            </a:r>
            <a:endParaRPr lang="en-GB" dirty="0"/>
          </a:p>
        </p:txBody>
      </p:sp>
    </p:spTree>
    <p:extLst>
      <p:ext uri="{BB962C8B-B14F-4D97-AF65-F5344CB8AC3E}">
        <p14:creationId xmlns:p14="http://schemas.microsoft.com/office/powerpoint/2010/main" val="106346521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Load Chart</a:t>
            </a:r>
            <a:endParaRPr lang="en-IN" dirty="0"/>
          </a:p>
        </p:txBody>
      </p:sp>
      <p:pic>
        <p:nvPicPr>
          <p:cNvPr id="205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57200" y="1600200"/>
            <a:ext cx="7848599" cy="44957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895858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smtClean="0"/>
              <a:t>PERT (Program Evaluation and Review Technique) Network</a:t>
            </a:r>
            <a:endParaRPr lang="en-IN" dirty="0"/>
          </a:p>
        </p:txBody>
      </p:sp>
      <p:sp>
        <p:nvSpPr>
          <p:cNvPr id="3" name="Content Placeholder 2"/>
          <p:cNvSpPr>
            <a:spLocks noGrp="1"/>
          </p:cNvSpPr>
          <p:nvPr>
            <p:ph idx="1"/>
          </p:nvPr>
        </p:nvSpPr>
        <p:spPr/>
        <p:txBody>
          <a:bodyPr>
            <a:normAutofit fontScale="85000" lnSpcReduction="20000"/>
          </a:bodyPr>
          <a:lstStyle/>
          <a:p>
            <a:r>
              <a:rPr lang="en-GB" dirty="0" smtClean="0"/>
              <a:t>It is a </a:t>
            </a:r>
            <a:r>
              <a:rPr lang="en-GB" dirty="0" err="1"/>
              <a:t>flowchartlike</a:t>
            </a:r>
            <a:r>
              <a:rPr lang="en-GB" dirty="0"/>
              <a:t> diagram that depicts the sequence of activities needed to complete a project and the time or costs associated with each activity. </a:t>
            </a:r>
            <a:endParaRPr lang="en-GB" dirty="0" smtClean="0"/>
          </a:p>
          <a:p>
            <a:r>
              <a:rPr lang="en-GB" dirty="0" smtClean="0"/>
              <a:t>With </a:t>
            </a:r>
            <a:r>
              <a:rPr lang="en-GB" dirty="0"/>
              <a:t>a PERT network, a manager must think through what has to be done, determine which events depend on one another, and identify potential trouble spots. </a:t>
            </a:r>
            <a:endParaRPr lang="en-GB" dirty="0" smtClean="0"/>
          </a:p>
          <a:p>
            <a:r>
              <a:rPr lang="en-GB" dirty="0" smtClean="0"/>
              <a:t>PERT </a:t>
            </a:r>
            <a:r>
              <a:rPr lang="en-GB" dirty="0"/>
              <a:t>also makes it easy to compare the effects alternative actions might have on scheduling and costs. </a:t>
            </a:r>
            <a:endParaRPr lang="en-GB" dirty="0" smtClean="0"/>
          </a:p>
          <a:p>
            <a:r>
              <a:rPr lang="en-GB" dirty="0" smtClean="0"/>
              <a:t>Thus</a:t>
            </a:r>
            <a:r>
              <a:rPr lang="en-GB" dirty="0"/>
              <a:t>, PERT allows managers to monitor a project's progress, identify possible bottlenecks, and shift resources as necessary to keep the project on schedule</a:t>
            </a:r>
            <a:r>
              <a:rPr lang="en-GB" dirty="0" smtClean="0"/>
              <a:t>.</a:t>
            </a:r>
            <a:r>
              <a:rPr lang="en-IN" dirty="0" smtClean="0"/>
              <a:t>  </a:t>
            </a:r>
            <a:endParaRPr lang="en-IN" dirty="0"/>
          </a:p>
          <a:p>
            <a:endParaRPr lang="en-IN" dirty="0"/>
          </a:p>
        </p:txBody>
      </p:sp>
    </p:spTree>
    <p:extLst>
      <p:ext uri="{BB962C8B-B14F-4D97-AF65-F5344CB8AC3E}">
        <p14:creationId xmlns:p14="http://schemas.microsoft.com/office/powerpoint/2010/main" val="245083232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4 terms in PERT</a:t>
            </a:r>
            <a:endParaRPr lang="en-IN" dirty="0"/>
          </a:p>
        </p:txBody>
      </p:sp>
      <p:sp>
        <p:nvSpPr>
          <p:cNvPr id="3" name="Content Placeholder 2"/>
          <p:cNvSpPr>
            <a:spLocks noGrp="1"/>
          </p:cNvSpPr>
          <p:nvPr>
            <p:ph idx="1"/>
          </p:nvPr>
        </p:nvSpPr>
        <p:spPr/>
        <p:txBody>
          <a:bodyPr>
            <a:normAutofit fontScale="92500" lnSpcReduction="10000"/>
          </a:bodyPr>
          <a:lstStyle/>
          <a:p>
            <a:r>
              <a:rPr lang="en-GB" b="1" dirty="0"/>
              <a:t>Events</a:t>
            </a:r>
            <a:r>
              <a:rPr lang="en-GB" dirty="0"/>
              <a:t> are end points that represent the completion of major activities. </a:t>
            </a:r>
            <a:endParaRPr lang="en-GB" dirty="0" smtClean="0"/>
          </a:p>
          <a:p>
            <a:r>
              <a:rPr lang="en-GB" b="1" dirty="0" smtClean="0"/>
              <a:t>Activities</a:t>
            </a:r>
            <a:r>
              <a:rPr lang="en-GB" dirty="0" smtClean="0"/>
              <a:t> </a:t>
            </a:r>
            <a:r>
              <a:rPr lang="en-GB" dirty="0"/>
              <a:t>represent the time or resources required to progress from one event to another</a:t>
            </a:r>
            <a:r>
              <a:rPr lang="en-GB" dirty="0" smtClean="0"/>
              <a:t>.</a:t>
            </a:r>
          </a:p>
          <a:p>
            <a:r>
              <a:rPr lang="en-GB" b="1" dirty="0" smtClean="0"/>
              <a:t>Slack </a:t>
            </a:r>
            <a:r>
              <a:rPr lang="en-GB" b="1" dirty="0"/>
              <a:t>time </a:t>
            </a:r>
            <a:r>
              <a:rPr lang="en-GB" dirty="0"/>
              <a:t>is the amount of time an individual activity can be delayed without delaying the whole project. </a:t>
            </a:r>
            <a:endParaRPr lang="en-GB" dirty="0" smtClean="0"/>
          </a:p>
          <a:p>
            <a:r>
              <a:rPr lang="en-GB" dirty="0" smtClean="0"/>
              <a:t>The </a:t>
            </a:r>
            <a:r>
              <a:rPr lang="en-GB" b="1" dirty="0"/>
              <a:t>critical path </a:t>
            </a:r>
            <a:r>
              <a:rPr lang="en-GB" dirty="0"/>
              <a:t>is the longest or most time-consuming sequence of events and activities in a PERT network </a:t>
            </a:r>
            <a:r>
              <a:rPr lang="en-IN" dirty="0" smtClean="0"/>
              <a:t>  </a:t>
            </a:r>
            <a:endParaRPr lang="en-IN" dirty="0"/>
          </a:p>
          <a:p>
            <a:endParaRPr lang="en-IN" dirty="0"/>
          </a:p>
        </p:txBody>
      </p:sp>
    </p:spTree>
    <p:extLst>
      <p:ext uri="{BB962C8B-B14F-4D97-AF65-F5344CB8AC3E}">
        <p14:creationId xmlns:p14="http://schemas.microsoft.com/office/powerpoint/2010/main" val="375432731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b="1" dirty="0"/>
              <a:t>Steps in Developing a PERT </a:t>
            </a:r>
            <a:r>
              <a:rPr lang="en-GB" b="1" dirty="0" smtClean="0"/>
              <a:t>Network</a:t>
            </a:r>
            <a:endParaRPr lang="en-IN" dirty="0"/>
          </a:p>
        </p:txBody>
      </p:sp>
      <p:sp>
        <p:nvSpPr>
          <p:cNvPr id="3" name="Content Placeholder 2"/>
          <p:cNvSpPr>
            <a:spLocks noGrp="1"/>
          </p:cNvSpPr>
          <p:nvPr>
            <p:ph idx="1"/>
          </p:nvPr>
        </p:nvSpPr>
        <p:spPr/>
        <p:txBody>
          <a:bodyPr>
            <a:normAutofit fontScale="77500" lnSpcReduction="20000"/>
          </a:bodyPr>
          <a:lstStyle/>
          <a:p>
            <a:endParaRPr lang="en-IN" dirty="0"/>
          </a:p>
          <a:p>
            <a:r>
              <a:rPr lang="en-GB" i="1" dirty="0"/>
              <a:t>Identify every significant activity that must be achieved for a project to be completed</a:t>
            </a:r>
            <a:r>
              <a:rPr lang="en-GB" dirty="0"/>
              <a:t>. </a:t>
            </a:r>
            <a:endParaRPr lang="en-IN" dirty="0"/>
          </a:p>
          <a:p>
            <a:r>
              <a:rPr lang="en-GB" i="1" dirty="0"/>
              <a:t>Determine the order in which these events must be </a:t>
            </a:r>
            <a:r>
              <a:rPr lang="en-GB" i="1" dirty="0" smtClean="0"/>
              <a:t>completed.</a:t>
            </a:r>
            <a:endParaRPr lang="en-IN" dirty="0"/>
          </a:p>
          <a:p>
            <a:r>
              <a:rPr lang="en-GB" i="1" dirty="0"/>
              <a:t>Diagram the flow of activities from start to finish, identifying each activity and its relationship to all other activities</a:t>
            </a:r>
            <a:r>
              <a:rPr lang="en-GB" dirty="0"/>
              <a:t>. </a:t>
            </a:r>
            <a:endParaRPr lang="en-IN" dirty="0"/>
          </a:p>
          <a:p>
            <a:r>
              <a:rPr lang="en-GB" i="1" dirty="0"/>
              <a:t>Compute a time estimate for completing each </a:t>
            </a:r>
            <a:r>
              <a:rPr lang="en-GB" i="1" dirty="0" smtClean="0"/>
              <a:t>activity.</a:t>
            </a:r>
            <a:endParaRPr lang="en-IN" dirty="0"/>
          </a:p>
          <a:p>
            <a:r>
              <a:rPr lang="en-GB" i="1" dirty="0"/>
              <a:t>Using the network diagram that contains time estimates for each activity, determine a schedule for the start and finish dates of each activity and for the entire project</a:t>
            </a:r>
            <a:r>
              <a:rPr lang="en-GB" dirty="0"/>
              <a:t>. </a:t>
            </a:r>
            <a:r>
              <a:rPr lang="en-IN" dirty="0" smtClean="0"/>
              <a:t>  </a:t>
            </a:r>
            <a:endParaRPr lang="en-IN" dirty="0"/>
          </a:p>
          <a:p>
            <a:endParaRPr lang="en-GB" dirty="0"/>
          </a:p>
        </p:txBody>
      </p:sp>
    </p:spTree>
    <p:extLst>
      <p:ext uri="{BB962C8B-B14F-4D97-AF65-F5344CB8AC3E}">
        <p14:creationId xmlns:p14="http://schemas.microsoft.com/office/powerpoint/2010/main" val="248350582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PERT Chart</a:t>
            </a:r>
            <a:endParaRPr lang="en-IN" dirty="0"/>
          </a:p>
        </p:txBody>
      </p:sp>
      <p:pic>
        <p:nvPicPr>
          <p:cNvPr id="307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57200" y="1803770"/>
            <a:ext cx="8229600" cy="41188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3298966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t>Breakeven </a:t>
            </a:r>
            <a:r>
              <a:rPr lang="en-IN" b="1" dirty="0" smtClean="0"/>
              <a:t>Analysis</a:t>
            </a:r>
            <a:endParaRPr lang="en-IN" dirty="0"/>
          </a:p>
        </p:txBody>
      </p:sp>
      <p:sp>
        <p:nvSpPr>
          <p:cNvPr id="3" name="Content Placeholder 2"/>
          <p:cNvSpPr>
            <a:spLocks noGrp="1"/>
          </p:cNvSpPr>
          <p:nvPr>
            <p:ph idx="1"/>
          </p:nvPr>
        </p:nvSpPr>
        <p:spPr/>
        <p:txBody>
          <a:bodyPr>
            <a:normAutofit fontScale="77500" lnSpcReduction="20000"/>
          </a:bodyPr>
          <a:lstStyle/>
          <a:p>
            <a:r>
              <a:rPr lang="en-GB" b="1" dirty="0"/>
              <a:t>B</a:t>
            </a:r>
            <a:r>
              <a:rPr lang="en-GB" b="1" dirty="0" smtClean="0"/>
              <a:t>reak </a:t>
            </a:r>
            <a:r>
              <a:rPr lang="en-GB" b="1" dirty="0"/>
              <a:t>even</a:t>
            </a:r>
            <a:r>
              <a:rPr lang="en-GB" dirty="0"/>
              <a:t>—that is, the point at which total revenue is just sufficient to cover total costs. </a:t>
            </a:r>
          </a:p>
          <a:p>
            <a:r>
              <a:rPr lang="en-GB" dirty="0"/>
              <a:t>To compute </a:t>
            </a:r>
            <a:r>
              <a:rPr lang="en-GB" b="1" dirty="0"/>
              <a:t>breakeven point </a:t>
            </a:r>
            <a:r>
              <a:rPr lang="en-GB" i="1" dirty="0"/>
              <a:t>(BE)</a:t>
            </a:r>
            <a:r>
              <a:rPr lang="en-GB" dirty="0"/>
              <a:t>, a manager needs to know the </a:t>
            </a:r>
            <a:r>
              <a:rPr lang="en-GB" b="1" dirty="0"/>
              <a:t>unit price </a:t>
            </a:r>
            <a:r>
              <a:rPr lang="en-GB" dirty="0"/>
              <a:t>of the product being sold </a:t>
            </a:r>
            <a:r>
              <a:rPr lang="en-GB" i="1" dirty="0"/>
              <a:t>(P)</a:t>
            </a:r>
            <a:r>
              <a:rPr lang="en-GB" dirty="0"/>
              <a:t>, the </a:t>
            </a:r>
            <a:r>
              <a:rPr lang="en-GB" b="1" dirty="0"/>
              <a:t>variable cost per unit </a:t>
            </a:r>
            <a:r>
              <a:rPr lang="en-GB" i="1" dirty="0"/>
              <a:t>(VC)</a:t>
            </a:r>
            <a:r>
              <a:rPr lang="en-GB" dirty="0"/>
              <a:t>, and </a:t>
            </a:r>
            <a:r>
              <a:rPr lang="en-GB" b="1" dirty="0"/>
              <a:t>total fixed costs </a:t>
            </a:r>
            <a:r>
              <a:rPr lang="en-GB" i="1" dirty="0"/>
              <a:t>(TFC)</a:t>
            </a:r>
            <a:r>
              <a:rPr lang="en-GB" dirty="0"/>
              <a:t>. </a:t>
            </a:r>
            <a:endParaRPr lang="en-GB" dirty="0" smtClean="0"/>
          </a:p>
          <a:p>
            <a:r>
              <a:rPr lang="en-GB" dirty="0" smtClean="0"/>
              <a:t>An </a:t>
            </a:r>
            <a:r>
              <a:rPr lang="en-GB" dirty="0"/>
              <a:t>organization breaks even when its total revenue is just enough to equal its total costs. </a:t>
            </a:r>
            <a:endParaRPr lang="en-GB" dirty="0" smtClean="0"/>
          </a:p>
          <a:p>
            <a:r>
              <a:rPr lang="en-GB" dirty="0" smtClean="0"/>
              <a:t>But </a:t>
            </a:r>
            <a:r>
              <a:rPr lang="en-GB" dirty="0"/>
              <a:t>total cost has two parts: </a:t>
            </a:r>
            <a:r>
              <a:rPr lang="en-GB" u="sng" dirty="0"/>
              <a:t>fixed</a:t>
            </a:r>
            <a:r>
              <a:rPr lang="en-GB" dirty="0"/>
              <a:t> and </a:t>
            </a:r>
            <a:r>
              <a:rPr lang="en-GB" u="sng" dirty="0"/>
              <a:t>variable</a:t>
            </a:r>
            <a:r>
              <a:rPr lang="en-GB" dirty="0"/>
              <a:t>. </a:t>
            </a:r>
            <a:endParaRPr lang="en-GB" dirty="0" smtClean="0"/>
          </a:p>
          <a:p>
            <a:r>
              <a:rPr lang="en-GB" i="1" dirty="0" smtClean="0"/>
              <a:t>Fixed </a:t>
            </a:r>
            <a:r>
              <a:rPr lang="en-GB" i="1" dirty="0"/>
              <a:t>costs </a:t>
            </a:r>
            <a:r>
              <a:rPr lang="en-GB" dirty="0"/>
              <a:t>are expenses that do not change regardless of volume. Examples include insurance premiums, rent, and property taxes. </a:t>
            </a:r>
            <a:endParaRPr lang="en-GB" dirty="0" smtClean="0"/>
          </a:p>
          <a:p>
            <a:r>
              <a:rPr lang="en-GB" i="1" dirty="0" smtClean="0"/>
              <a:t>Variable </a:t>
            </a:r>
            <a:r>
              <a:rPr lang="en-GB" i="1" dirty="0"/>
              <a:t>costs </a:t>
            </a:r>
            <a:r>
              <a:rPr lang="en-GB" dirty="0"/>
              <a:t>change in proportion to output and include raw materials, </a:t>
            </a:r>
            <a:r>
              <a:rPr lang="en-GB" dirty="0" err="1"/>
              <a:t>labor</a:t>
            </a:r>
            <a:r>
              <a:rPr lang="en-GB" dirty="0"/>
              <a:t> costs, and energy costs</a:t>
            </a:r>
            <a:r>
              <a:rPr lang="en-GB" dirty="0" smtClean="0"/>
              <a:t>.</a:t>
            </a:r>
            <a:r>
              <a:rPr lang="en-IN" dirty="0" smtClean="0"/>
              <a:t>  </a:t>
            </a:r>
            <a:endParaRPr lang="en-IN" dirty="0"/>
          </a:p>
          <a:p>
            <a:endParaRPr lang="en-IN" dirty="0"/>
          </a:p>
        </p:txBody>
      </p:sp>
    </p:spTree>
    <p:extLst>
      <p:ext uri="{BB962C8B-B14F-4D97-AF65-F5344CB8AC3E}">
        <p14:creationId xmlns:p14="http://schemas.microsoft.com/office/powerpoint/2010/main" val="321852309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630362"/>
          </a:xfrm>
        </p:spPr>
        <p:txBody>
          <a:bodyPr>
            <a:noAutofit/>
          </a:bodyPr>
          <a:lstStyle/>
          <a:p>
            <a:r>
              <a:rPr lang="en-GB" sz="2000" b="1" dirty="0"/>
              <a:t>This formula tells us that </a:t>
            </a:r>
            <a:r>
              <a:rPr lang="en-GB" sz="2000" b="1" dirty="0" smtClean="0"/>
              <a:t/>
            </a:r>
            <a:br>
              <a:rPr lang="en-GB" sz="2000" b="1" dirty="0" smtClean="0"/>
            </a:br>
            <a:r>
              <a:rPr lang="en-GB" sz="2000" b="1" dirty="0" smtClean="0"/>
              <a:t>(</a:t>
            </a:r>
            <a:r>
              <a:rPr lang="en-GB" sz="2000" b="1" dirty="0"/>
              <a:t>1) total revenue will equal total costs when we sell enough units at a price that covers all variable unit costs and </a:t>
            </a:r>
            <a:r>
              <a:rPr lang="en-GB" sz="2000" b="1" dirty="0" smtClean="0"/>
              <a:t/>
            </a:r>
            <a:br>
              <a:rPr lang="en-GB" sz="2000" b="1" dirty="0" smtClean="0"/>
            </a:br>
            <a:r>
              <a:rPr lang="en-GB" sz="2000" b="1" dirty="0" smtClean="0"/>
              <a:t>(</a:t>
            </a:r>
            <a:r>
              <a:rPr lang="en-GB" sz="2000" b="1" dirty="0"/>
              <a:t>2) the difference between price and variable costs, when multiplied by the number of units sold, equals the fixed </a:t>
            </a:r>
            <a:r>
              <a:rPr lang="en-GB" sz="2000" b="1" dirty="0" smtClean="0"/>
              <a:t>costs</a:t>
            </a:r>
            <a:endParaRPr lang="en-IN" sz="2000" b="1" dirty="0"/>
          </a:p>
        </p:txBody>
      </p:sp>
      <p:pic>
        <p:nvPicPr>
          <p:cNvPr id="4098"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571625" y="2196306"/>
            <a:ext cx="6000750" cy="3333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5571412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Linear Programming</a:t>
            </a:r>
          </a:p>
        </p:txBody>
      </p:sp>
      <p:sp>
        <p:nvSpPr>
          <p:cNvPr id="3" name="Content Placeholder 2"/>
          <p:cNvSpPr>
            <a:spLocks noGrp="1"/>
          </p:cNvSpPr>
          <p:nvPr>
            <p:ph idx="1"/>
          </p:nvPr>
        </p:nvSpPr>
        <p:spPr/>
        <p:txBody>
          <a:bodyPr>
            <a:normAutofit lnSpcReduction="10000"/>
          </a:bodyPr>
          <a:lstStyle/>
          <a:p>
            <a:r>
              <a:rPr lang="en-GB" b="1" dirty="0"/>
              <a:t>Linear programming (LP), </a:t>
            </a:r>
            <a:r>
              <a:rPr lang="en-GB" dirty="0"/>
              <a:t>or </a:t>
            </a:r>
            <a:r>
              <a:rPr lang="en-GB" u="sng" dirty="0"/>
              <a:t>linear optimization</a:t>
            </a:r>
            <a:r>
              <a:rPr lang="en-GB" dirty="0"/>
              <a:t>, is a mathematical method for determining the best outcome—such as maximum profit or lowest cost—in a model where requirements are represented by linear relationships. </a:t>
            </a:r>
            <a:endParaRPr lang="en-GB" dirty="0" smtClean="0"/>
          </a:p>
          <a:p>
            <a:r>
              <a:rPr lang="en-GB" dirty="0" smtClean="0"/>
              <a:t>It </a:t>
            </a:r>
            <a:r>
              <a:rPr lang="en-GB" dirty="0"/>
              <a:t>optimizes a linear objective function subject to constraints (linear inequalities or equalities) and bound constraints</a:t>
            </a:r>
            <a:endParaRPr lang="en-IN" dirty="0"/>
          </a:p>
        </p:txBody>
      </p:sp>
    </p:spTree>
    <p:extLst>
      <p:ext uri="{BB962C8B-B14F-4D97-AF65-F5344CB8AC3E}">
        <p14:creationId xmlns:p14="http://schemas.microsoft.com/office/powerpoint/2010/main" val="388461432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a:t>Applications of Linear Programming</a:t>
            </a:r>
            <a:br>
              <a:rPr lang="en-GB" dirty="0"/>
            </a:br>
            <a:endParaRPr lang="en-IN" dirty="0"/>
          </a:p>
        </p:txBody>
      </p:sp>
      <p:sp>
        <p:nvSpPr>
          <p:cNvPr id="3" name="Content Placeholder 2"/>
          <p:cNvSpPr>
            <a:spLocks noGrp="1"/>
          </p:cNvSpPr>
          <p:nvPr>
            <p:ph idx="1"/>
          </p:nvPr>
        </p:nvSpPr>
        <p:spPr/>
        <p:txBody>
          <a:bodyPr>
            <a:normAutofit lnSpcReduction="10000"/>
          </a:bodyPr>
          <a:lstStyle/>
          <a:p>
            <a:r>
              <a:rPr lang="en-GB" b="1" dirty="0" smtClean="0"/>
              <a:t>Manufacturing</a:t>
            </a:r>
            <a:r>
              <a:rPr lang="en-GB" b="1" dirty="0"/>
              <a:t>:</a:t>
            </a:r>
            <a:r>
              <a:rPr lang="en-GB" dirty="0"/>
              <a:t> Optimizing production levels to maximize profit under resource constraints.</a:t>
            </a:r>
          </a:p>
          <a:p>
            <a:r>
              <a:rPr lang="en-GB" b="1" dirty="0"/>
              <a:t>Logistics &amp; Transportation: </a:t>
            </a:r>
            <a:r>
              <a:rPr lang="en-GB" dirty="0"/>
              <a:t>Determining the best routes or distribution, sometimes known as the transportation problem.</a:t>
            </a:r>
          </a:p>
          <a:p>
            <a:r>
              <a:rPr lang="en-GB" b="1" dirty="0"/>
              <a:t>Finance:</a:t>
            </a:r>
            <a:r>
              <a:rPr lang="en-GB" dirty="0"/>
              <a:t> Portfolio optimization and cash flow matching.</a:t>
            </a:r>
          </a:p>
          <a:p>
            <a:r>
              <a:rPr lang="en-GB" b="1" dirty="0"/>
              <a:t>Energy:</a:t>
            </a:r>
            <a:r>
              <a:rPr lang="en-GB" dirty="0"/>
              <a:t> Planning and optimization in energy sectors.</a:t>
            </a:r>
            <a:endParaRPr lang="en-IN" dirty="0"/>
          </a:p>
        </p:txBody>
      </p:sp>
    </p:spTree>
    <p:extLst>
      <p:ext uri="{BB962C8B-B14F-4D97-AF65-F5344CB8AC3E}">
        <p14:creationId xmlns:p14="http://schemas.microsoft.com/office/powerpoint/2010/main" val="297562712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Contemporary Planning Techniques</a:t>
            </a:r>
          </a:p>
        </p:txBody>
      </p:sp>
      <p:sp>
        <p:nvSpPr>
          <p:cNvPr id="3" name="Content Placeholder 2"/>
          <p:cNvSpPr>
            <a:spLocks noGrp="1"/>
          </p:cNvSpPr>
          <p:nvPr>
            <p:ph idx="1"/>
          </p:nvPr>
        </p:nvSpPr>
        <p:spPr/>
        <p:txBody>
          <a:bodyPr/>
          <a:lstStyle/>
          <a:p>
            <a:r>
              <a:rPr lang="en-IN" b="1" dirty="0"/>
              <a:t>Project </a:t>
            </a:r>
            <a:r>
              <a:rPr lang="en-IN" b="1" dirty="0" smtClean="0"/>
              <a:t>Management: </a:t>
            </a:r>
            <a:r>
              <a:rPr lang="en-GB" dirty="0"/>
              <a:t>A project is a one-time-only set of activities that has a definite beginning and ending point in time</a:t>
            </a:r>
          </a:p>
          <a:p>
            <a:r>
              <a:rPr lang="en-GB" dirty="0"/>
              <a:t>Project management is the task of getting a project's activities done on time, within budget, and according to </a:t>
            </a:r>
            <a:r>
              <a:rPr lang="en-GB" dirty="0" smtClean="0"/>
              <a:t>specifications</a:t>
            </a:r>
            <a:endParaRPr lang="en-GB" dirty="0"/>
          </a:p>
        </p:txBody>
      </p:sp>
    </p:spTree>
    <p:extLst>
      <p:ext uri="{BB962C8B-B14F-4D97-AF65-F5344CB8AC3E}">
        <p14:creationId xmlns:p14="http://schemas.microsoft.com/office/powerpoint/2010/main" val="2968200379"/>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Project Planning Process</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57640236"/>
              </p:ext>
            </p:extLst>
          </p:nvPr>
        </p:nvGraphicFramePr>
        <p:xfrm>
          <a:off x="609600" y="1295400"/>
          <a:ext cx="8229600" cy="4906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860849375"/>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Scenario Planning</a:t>
            </a:r>
          </a:p>
        </p:txBody>
      </p:sp>
      <p:sp>
        <p:nvSpPr>
          <p:cNvPr id="3" name="Content Placeholder 2"/>
          <p:cNvSpPr>
            <a:spLocks noGrp="1"/>
          </p:cNvSpPr>
          <p:nvPr>
            <p:ph idx="1"/>
          </p:nvPr>
        </p:nvSpPr>
        <p:spPr/>
        <p:txBody>
          <a:bodyPr/>
          <a:lstStyle/>
          <a:p>
            <a:r>
              <a:rPr lang="en-GB" dirty="0"/>
              <a:t>A scenario is a consistent view of what the future is likely to be. </a:t>
            </a:r>
            <a:endParaRPr lang="en-GB" dirty="0" smtClean="0"/>
          </a:p>
          <a:p>
            <a:r>
              <a:rPr lang="en-GB" dirty="0" smtClean="0"/>
              <a:t>Developing </a:t>
            </a:r>
            <a:r>
              <a:rPr lang="en-GB" dirty="0"/>
              <a:t>scenarios also can be described as contingency planning; that is, if this is what happens, then these are the actions we need to take.</a:t>
            </a:r>
            <a:endParaRPr lang="en-IN" dirty="0"/>
          </a:p>
        </p:txBody>
      </p:sp>
    </p:spTree>
    <p:extLst>
      <p:ext uri="{BB962C8B-B14F-4D97-AF65-F5344CB8AC3E}">
        <p14:creationId xmlns:p14="http://schemas.microsoft.com/office/powerpoint/2010/main" val="88134154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Preparing for Unexpected Events</a:t>
            </a:r>
          </a:p>
        </p:txBody>
      </p:sp>
      <p:sp>
        <p:nvSpPr>
          <p:cNvPr id="3" name="Content Placeholder 2"/>
          <p:cNvSpPr>
            <a:spLocks noGrp="1"/>
          </p:cNvSpPr>
          <p:nvPr>
            <p:ph idx="1"/>
          </p:nvPr>
        </p:nvSpPr>
        <p:spPr/>
        <p:txBody>
          <a:bodyPr>
            <a:normAutofit/>
          </a:bodyPr>
          <a:lstStyle/>
          <a:p>
            <a:pPr marL="0" indent="0">
              <a:buNone/>
            </a:pPr>
            <a:endParaRPr lang="en-GB" dirty="0"/>
          </a:p>
          <a:p>
            <a:r>
              <a:rPr lang="en-GB" dirty="0"/>
              <a:t>Identify potential unexpected events</a:t>
            </a:r>
            <a:r>
              <a:rPr lang="en-GB" dirty="0" smtClean="0"/>
              <a:t>.</a:t>
            </a:r>
            <a:endParaRPr lang="en-GB" dirty="0"/>
          </a:p>
          <a:p>
            <a:r>
              <a:rPr lang="en-GB" dirty="0"/>
              <a:t>Determine if any of these events would have early indicators</a:t>
            </a:r>
            <a:r>
              <a:rPr lang="en-GB" dirty="0" smtClean="0"/>
              <a:t>.</a:t>
            </a:r>
            <a:endParaRPr lang="en-GB" dirty="0"/>
          </a:p>
          <a:p>
            <a:r>
              <a:rPr lang="en-GB" dirty="0"/>
              <a:t>Set up an </a:t>
            </a:r>
            <a:r>
              <a:rPr lang="en-GB" dirty="0" smtClean="0"/>
              <a:t>information-gathering </a:t>
            </a:r>
            <a:r>
              <a:rPr lang="en-GB" dirty="0"/>
              <a:t>system to identify early indicators</a:t>
            </a:r>
            <a:r>
              <a:rPr lang="en-GB" dirty="0" smtClean="0"/>
              <a:t>.</a:t>
            </a:r>
            <a:endParaRPr lang="en-GB" dirty="0"/>
          </a:p>
          <a:p>
            <a:r>
              <a:rPr lang="en-GB" dirty="0"/>
              <a:t>Have appropriate responses (plans) in place if these unexpected events occur</a:t>
            </a:r>
            <a:endParaRPr lang="en-IN" dirty="0"/>
          </a:p>
        </p:txBody>
      </p:sp>
    </p:spTree>
    <p:extLst>
      <p:ext uri="{BB962C8B-B14F-4D97-AF65-F5344CB8AC3E}">
        <p14:creationId xmlns:p14="http://schemas.microsoft.com/office/powerpoint/2010/main" val="251298098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88</TotalTime>
  <Words>2761</Words>
  <Application>Microsoft Office PowerPoint</Application>
  <PresentationFormat>On-screen Show (4:3)</PresentationFormat>
  <Paragraphs>200</Paragraphs>
  <Slides>44</Slides>
  <Notes>0</Notes>
  <HiddenSlides>0</HiddenSlides>
  <MMClips>0</MMClips>
  <ScaleCrop>false</ScaleCrop>
  <HeadingPairs>
    <vt:vector size="4" baseType="variant">
      <vt:variant>
        <vt:lpstr>Theme</vt:lpstr>
      </vt:variant>
      <vt:variant>
        <vt:i4>1</vt:i4>
      </vt:variant>
      <vt:variant>
        <vt:lpstr>Slide Titles</vt:lpstr>
      </vt:variant>
      <vt:variant>
        <vt:i4>44</vt:i4>
      </vt:variant>
    </vt:vector>
  </HeadingPairs>
  <TitlesOfParts>
    <vt:vector size="45" baseType="lpstr">
      <vt:lpstr>Office Theme</vt:lpstr>
      <vt:lpstr>Planning</vt:lpstr>
      <vt:lpstr>What is planning?</vt:lpstr>
      <vt:lpstr>Purposes of Planning</vt:lpstr>
      <vt:lpstr>PowerPoint Presentation</vt:lpstr>
      <vt:lpstr>PowerPoint Presentation</vt:lpstr>
      <vt:lpstr>PowerPoint Presentation</vt:lpstr>
      <vt:lpstr>Planning and Performance</vt:lpstr>
      <vt:lpstr>The Role of Goals and Plans in Planning</vt:lpstr>
      <vt:lpstr>Types of Goals</vt:lpstr>
      <vt:lpstr>Types of Plans</vt:lpstr>
      <vt:lpstr>PowerPoint Presentation</vt:lpstr>
      <vt:lpstr>PowerPoint Presentation</vt:lpstr>
      <vt:lpstr>PowerPoint Presentation</vt:lpstr>
      <vt:lpstr>Approaches to establishing goals</vt:lpstr>
      <vt:lpstr>Steps in a typical MBO program</vt:lpstr>
      <vt:lpstr>Characteristics of Well-Designed Goals</vt:lpstr>
      <vt:lpstr>Steps in Goal Setting</vt:lpstr>
      <vt:lpstr>Developing Plans</vt:lpstr>
      <vt:lpstr>Approaches to Planning</vt:lpstr>
      <vt:lpstr>Criticisms of Planning</vt:lpstr>
      <vt:lpstr>Planning tools and techniques</vt:lpstr>
      <vt:lpstr>Techniques For Assessing The Environment</vt:lpstr>
      <vt:lpstr>PowerPoint Presentation</vt:lpstr>
      <vt:lpstr>Benchmarking</vt:lpstr>
      <vt:lpstr>Steps in Benchmarking Process</vt:lpstr>
      <vt:lpstr>Suggestions for Improving Benchmarking Efforts</vt:lpstr>
      <vt:lpstr>Techniques for allocating resources</vt:lpstr>
      <vt:lpstr>Budgeting</vt:lpstr>
      <vt:lpstr>Scheduling</vt:lpstr>
      <vt:lpstr>PowerPoint Presentation</vt:lpstr>
      <vt:lpstr>Load Charts</vt:lpstr>
      <vt:lpstr>Load Chart</vt:lpstr>
      <vt:lpstr>PERT (Program Evaluation and Review Technique) Network</vt:lpstr>
      <vt:lpstr>4 terms in PERT</vt:lpstr>
      <vt:lpstr>Steps in Developing a PERT Network</vt:lpstr>
      <vt:lpstr>PERT Chart</vt:lpstr>
      <vt:lpstr>Breakeven Analysis</vt:lpstr>
      <vt:lpstr>This formula tells us that  (1) total revenue will equal total costs when we sell enough units at a price that covers all variable unit costs and  (2) the difference between price and variable costs, when multiplied by the number of units sold, equals the fixed costs</vt:lpstr>
      <vt:lpstr>Linear Programming</vt:lpstr>
      <vt:lpstr>Applications of Linear Programming </vt:lpstr>
      <vt:lpstr>Contemporary Planning Techniques</vt:lpstr>
      <vt:lpstr>Project Planning Process</vt:lpstr>
      <vt:lpstr>Scenario Planning</vt:lpstr>
      <vt:lpstr>Preparing for Unexpected Events</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Planning</dc:title>
  <dc:creator>HP</dc:creator>
  <cp:lastModifiedBy>HP</cp:lastModifiedBy>
  <cp:revision>13</cp:revision>
  <dcterms:created xsi:type="dcterms:W3CDTF">2006-08-16T00:00:00Z</dcterms:created>
  <dcterms:modified xsi:type="dcterms:W3CDTF">2026-02-24T13:30:41Z</dcterms:modified>
</cp:coreProperties>
</file>