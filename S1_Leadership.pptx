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Leadership in Management</a:t>
            </a:r>
            <a:endParaRPr lang="en-IN" dirty="0"/>
          </a:p>
        </p:txBody>
      </p:sp>
      <p:sp>
        <p:nvSpPr>
          <p:cNvPr id="3" name="Subtitle 2"/>
          <p:cNvSpPr>
            <a:spLocks noGrp="1"/>
          </p:cNvSpPr>
          <p:nvPr>
            <p:ph type="subTitle" idx="1"/>
          </p:nvPr>
        </p:nvSpPr>
        <p:spPr/>
        <p:txBody>
          <a:bodyPr/>
          <a:lstStyle/>
          <a:p>
            <a:r>
              <a:rPr lang="en-GB" dirty="0" smtClean="0"/>
              <a:t>7</a:t>
            </a:r>
            <a:r>
              <a:rPr lang="en-GB" baseline="30000" dirty="0" smtClean="0"/>
              <a:t>th</a:t>
            </a:r>
            <a:r>
              <a:rPr lang="en-GB" dirty="0" smtClean="0"/>
              <a:t> April, 2026</a:t>
            </a:r>
            <a:endParaRPr lang="en-IN" dirty="0"/>
          </a:p>
        </p:txBody>
      </p:sp>
    </p:spTree>
    <p:extLst>
      <p:ext uri="{BB962C8B-B14F-4D97-AF65-F5344CB8AC3E}">
        <p14:creationId xmlns:p14="http://schemas.microsoft.com/office/powerpoint/2010/main" val="611575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Managers </a:t>
            </a:r>
            <a:r>
              <a:rPr lang="en-GB" dirty="0" err="1" smtClean="0"/>
              <a:t>vs</a:t>
            </a:r>
            <a:r>
              <a:rPr lang="en-GB" dirty="0" smtClean="0"/>
              <a:t> Leaders</a:t>
            </a:r>
            <a:endParaRPr lang="en-IN" dirty="0"/>
          </a:p>
        </p:txBody>
      </p:sp>
      <p:sp>
        <p:nvSpPr>
          <p:cNvPr id="3" name="Content Placeholder 2"/>
          <p:cNvSpPr>
            <a:spLocks noGrp="1"/>
          </p:cNvSpPr>
          <p:nvPr>
            <p:ph idx="1"/>
          </p:nvPr>
        </p:nvSpPr>
        <p:spPr/>
        <p:txBody>
          <a:bodyPr/>
          <a:lstStyle/>
          <a:p>
            <a:pPr marL="0" indent="0">
              <a:buNone/>
            </a:pPr>
            <a:r>
              <a:rPr lang="en-IN" dirty="0" smtClean="0"/>
              <a:t>  </a:t>
            </a:r>
            <a:endParaRPr lang="en-IN" dirty="0"/>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488728368"/>
              </p:ext>
            </p:extLst>
          </p:nvPr>
        </p:nvGraphicFramePr>
        <p:xfrm>
          <a:off x="1524000" y="1397000"/>
          <a:ext cx="6096000" cy="357124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GB" dirty="0" smtClean="0"/>
                        <a:t>Managers</a:t>
                      </a:r>
                      <a:endParaRPr lang="en-IN" dirty="0"/>
                    </a:p>
                  </a:txBody>
                  <a:tcPr/>
                </a:tc>
                <a:tc>
                  <a:txBody>
                    <a:bodyPr/>
                    <a:lstStyle/>
                    <a:p>
                      <a:r>
                        <a:rPr lang="en-GB" dirty="0" smtClean="0"/>
                        <a:t>Leaders</a:t>
                      </a:r>
                      <a:endParaRPr lang="en-IN" dirty="0"/>
                    </a:p>
                  </a:txBody>
                  <a:tcPr/>
                </a:tc>
              </a:tr>
              <a:tr h="370840">
                <a:tc>
                  <a:txBody>
                    <a:bodyPr/>
                    <a:lstStyle/>
                    <a:p>
                      <a:r>
                        <a:rPr lang="en-GB" sz="1800" b="0" i="0" u="none" strike="noStrike" kern="1200" baseline="0" dirty="0" smtClean="0">
                          <a:solidFill>
                            <a:schemeClr val="dk1"/>
                          </a:solidFill>
                          <a:latin typeface="+mn-lt"/>
                          <a:ea typeface="+mn-ea"/>
                          <a:cs typeface="+mn-cs"/>
                        </a:rPr>
                        <a:t>Managers are appointed to their position. Their ability to influence is based on the formal authority inherent in that position. </a:t>
                      </a:r>
                      <a:endParaRPr lang="en-IN" sz="1800" b="0" i="0" u="none" strike="noStrike" kern="1200" baseline="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i="0" u="none" strike="noStrike" kern="1200" baseline="0" dirty="0" smtClean="0">
                          <a:solidFill>
                            <a:schemeClr val="dk1"/>
                          </a:solidFill>
                          <a:latin typeface="+mn-lt"/>
                          <a:ea typeface="+mn-ea"/>
                          <a:cs typeface="+mn-cs"/>
                        </a:rPr>
                        <a:t>Leaders may either be appointed or emerge from within a work group. Leaders are able to influence others to perform beyond the actions dictated by formal authority.</a:t>
                      </a:r>
                    </a:p>
                    <a:p>
                      <a:endParaRPr lang="en-IN" dirty="0"/>
                    </a:p>
                  </a:txBody>
                  <a:tcPr/>
                </a:tc>
              </a:tr>
              <a:tr h="370840">
                <a:tc>
                  <a:txBody>
                    <a:bodyPr/>
                    <a:lstStyle/>
                    <a:p>
                      <a:endParaRPr lang="en-IN" sz="1800" b="0" i="0" u="none" strike="noStrike" kern="1200" baseline="0" dirty="0" smtClean="0">
                        <a:solidFill>
                          <a:schemeClr val="dk1"/>
                        </a:solidFill>
                        <a:latin typeface="+mn-lt"/>
                        <a:ea typeface="+mn-ea"/>
                        <a:cs typeface="+mn-cs"/>
                      </a:endParaRPr>
                    </a:p>
                  </a:txBody>
                  <a:tcPr/>
                </a:tc>
                <a:tc>
                  <a:txBody>
                    <a:bodyPr/>
                    <a:lstStyle/>
                    <a:p>
                      <a:r>
                        <a:rPr lang="en-GB" sz="1800" b="0" i="0" u="none" strike="noStrike" kern="1200" baseline="0" dirty="0" smtClean="0">
                          <a:solidFill>
                            <a:schemeClr val="dk1"/>
                          </a:solidFill>
                          <a:latin typeface="+mn-lt"/>
                          <a:ea typeface="+mn-ea"/>
                          <a:cs typeface="+mn-cs"/>
                        </a:rPr>
                        <a:t>A leader is someone who can influence others and who has managerial authority </a:t>
                      </a:r>
                    </a:p>
                    <a:p>
                      <a:r>
                        <a:rPr lang="en-IN" sz="1800" b="0" i="0" u="none" strike="noStrike" kern="1200" baseline="0" dirty="0" smtClean="0">
                          <a:solidFill>
                            <a:schemeClr val="dk1"/>
                          </a:solidFill>
                          <a:latin typeface="+mn-lt"/>
                          <a:ea typeface="+mn-ea"/>
                          <a:cs typeface="+mn-cs"/>
                        </a:rPr>
                        <a:t> </a:t>
                      </a:r>
                    </a:p>
                  </a:txBody>
                  <a:tcPr/>
                </a:tc>
              </a:tr>
            </a:tbl>
          </a:graphicData>
        </a:graphic>
      </p:graphicFrame>
      <p:sp>
        <p:nvSpPr>
          <p:cNvPr id="5" name="TextBox 4"/>
          <p:cNvSpPr txBox="1"/>
          <p:nvPr/>
        </p:nvSpPr>
        <p:spPr>
          <a:xfrm>
            <a:off x="1600200" y="5334000"/>
            <a:ext cx="6324600" cy="1261884"/>
          </a:xfrm>
          <a:prstGeom prst="rect">
            <a:avLst/>
          </a:prstGeom>
          <a:noFill/>
        </p:spPr>
        <p:txBody>
          <a:bodyPr wrap="square" rtlCol="0">
            <a:spAutoFit/>
          </a:bodyPr>
          <a:lstStyle/>
          <a:p>
            <a:pPr algn="ctr"/>
            <a:r>
              <a:rPr lang="en-GB" sz="2000" b="1" dirty="0" smtClean="0"/>
              <a:t>Leadership is </a:t>
            </a:r>
            <a:r>
              <a:rPr lang="en-GB" sz="2000" b="1" dirty="0"/>
              <a:t>the process of influencing a group toward the achievement of goals. </a:t>
            </a:r>
          </a:p>
          <a:p>
            <a:r>
              <a:rPr lang="en-IN" dirty="0"/>
              <a:t>  </a:t>
            </a:r>
          </a:p>
          <a:p>
            <a:endParaRPr lang="en-IN" dirty="0"/>
          </a:p>
        </p:txBody>
      </p:sp>
    </p:spTree>
    <p:extLst>
      <p:ext uri="{BB962C8B-B14F-4D97-AF65-F5344CB8AC3E}">
        <p14:creationId xmlns:p14="http://schemas.microsoft.com/office/powerpoint/2010/main" val="232792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800"/>
            <a:ext cx="8229600" cy="1143000"/>
          </a:xfrm>
        </p:spPr>
        <p:txBody>
          <a:bodyPr/>
          <a:lstStyle/>
          <a:p>
            <a:r>
              <a:rPr lang="en-GB" b="1" dirty="0" smtClean="0"/>
              <a:t>Leadership theories</a:t>
            </a:r>
            <a:endParaRPr lang="en-IN" b="1" dirty="0"/>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36678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Early Leadership Theories</a:t>
            </a:r>
            <a:endParaRPr lang="en-IN" dirty="0"/>
          </a:p>
        </p:txBody>
      </p:sp>
      <p:sp>
        <p:nvSpPr>
          <p:cNvPr id="3" name="Content Placeholder 2"/>
          <p:cNvSpPr>
            <a:spLocks noGrp="1"/>
          </p:cNvSpPr>
          <p:nvPr>
            <p:ph idx="1"/>
          </p:nvPr>
        </p:nvSpPr>
        <p:spPr/>
        <p:txBody>
          <a:bodyPr>
            <a:normAutofit fontScale="77500" lnSpcReduction="20000"/>
          </a:bodyPr>
          <a:lstStyle/>
          <a:p>
            <a:r>
              <a:rPr lang="en-GB" dirty="0" smtClean="0"/>
              <a:t>Trait theory: </a:t>
            </a:r>
            <a:r>
              <a:rPr lang="en-GB" dirty="0"/>
              <a:t>Leadership research in the 1920s and 1930s focused basically on leader traits</a:t>
            </a:r>
            <a:r>
              <a:rPr lang="en-GB" dirty="0" smtClean="0"/>
              <a:t>— </a:t>
            </a:r>
            <a:r>
              <a:rPr lang="en-GB" dirty="0"/>
              <a:t>physical stature, appearance, social class, emotional stability, fluency of speech, and sociability. </a:t>
            </a:r>
            <a:endParaRPr lang="en-GB" dirty="0" smtClean="0"/>
          </a:p>
          <a:p>
            <a:pPr marL="0" indent="0">
              <a:buNone/>
            </a:pPr>
            <a:endParaRPr lang="en-GB" dirty="0"/>
          </a:p>
          <a:p>
            <a:r>
              <a:rPr lang="en-IN" dirty="0"/>
              <a:t> </a:t>
            </a:r>
            <a:r>
              <a:rPr lang="en-IN" dirty="0" smtClean="0"/>
              <a:t>Later, </a:t>
            </a:r>
            <a:r>
              <a:rPr lang="en-GB" dirty="0"/>
              <a:t>Six traits associated with effective leadership included drive, the desire to lead, honesty and integrity, self-confidence, intelligence, and job-relevant knowledge</a:t>
            </a:r>
            <a:r>
              <a:rPr lang="en-GB" dirty="0" smtClean="0"/>
              <a:t>.</a:t>
            </a:r>
          </a:p>
          <a:p>
            <a:pPr marL="0" indent="0">
              <a:buNone/>
            </a:pPr>
            <a:endParaRPr lang="en-GB" dirty="0"/>
          </a:p>
          <a:p>
            <a:r>
              <a:rPr lang="en-GB" dirty="0" smtClean="0"/>
              <a:t>However, these theories ignored </a:t>
            </a:r>
            <a:r>
              <a:rPr lang="en-GB" dirty="0"/>
              <a:t>the interactions of leaders and their group members as well as situational factors. </a:t>
            </a:r>
            <a:endParaRPr lang="en-IN" dirty="0"/>
          </a:p>
          <a:p>
            <a:endParaRPr lang="en-IN" dirty="0"/>
          </a:p>
          <a:p>
            <a:pPr marL="0" indent="0">
              <a:buNone/>
            </a:pPr>
            <a:endParaRPr lang="en-IN" dirty="0"/>
          </a:p>
          <a:p>
            <a:endParaRPr lang="en-IN" dirty="0"/>
          </a:p>
        </p:txBody>
      </p:sp>
    </p:spTree>
    <p:extLst>
      <p:ext uri="{BB962C8B-B14F-4D97-AF65-F5344CB8AC3E}">
        <p14:creationId xmlns:p14="http://schemas.microsoft.com/office/powerpoint/2010/main" val="3598940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Behavioral</a:t>
            </a:r>
            <a:r>
              <a:rPr lang="en-GB" dirty="0" smtClean="0"/>
              <a:t> Theories</a:t>
            </a:r>
            <a:endParaRPr lang="en-IN" dirty="0"/>
          </a:p>
        </p:txBody>
      </p:sp>
      <p:sp>
        <p:nvSpPr>
          <p:cNvPr id="3" name="Content Placeholder 2"/>
          <p:cNvSpPr>
            <a:spLocks noGrp="1"/>
          </p:cNvSpPr>
          <p:nvPr>
            <p:ph idx="1"/>
          </p:nvPr>
        </p:nvSpPr>
        <p:spPr/>
        <p:txBody>
          <a:bodyPr/>
          <a:lstStyle/>
          <a:p>
            <a:r>
              <a:rPr lang="en-GB" dirty="0"/>
              <a:t>L</a:t>
            </a:r>
            <a:r>
              <a:rPr lang="en-GB" dirty="0" smtClean="0"/>
              <a:t>eadership </a:t>
            </a:r>
            <a:r>
              <a:rPr lang="en-GB" dirty="0"/>
              <a:t>research from the late 1940s to the mid-1960s concentrated on the preferred </a:t>
            </a:r>
            <a:r>
              <a:rPr lang="en-GB" dirty="0" err="1"/>
              <a:t>behavioral</a:t>
            </a:r>
            <a:r>
              <a:rPr lang="en-GB" dirty="0"/>
              <a:t> styles that leaders </a:t>
            </a:r>
            <a:r>
              <a:rPr lang="en-GB" dirty="0" smtClean="0"/>
              <a:t>demonstrated-what effective leaders </a:t>
            </a:r>
            <a:r>
              <a:rPr lang="en-GB" b="1" u="sng" dirty="0" smtClean="0"/>
              <a:t>did</a:t>
            </a:r>
            <a:r>
              <a:rPr lang="en-GB" dirty="0" smtClean="0"/>
              <a:t> </a:t>
            </a:r>
            <a:endParaRPr lang="en-GB" dirty="0"/>
          </a:p>
          <a:p>
            <a:r>
              <a:rPr lang="en-IN" dirty="0"/>
              <a:t>F</a:t>
            </a:r>
            <a:r>
              <a:rPr lang="en-GB" dirty="0" smtClean="0"/>
              <a:t>our </a:t>
            </a:r>
            <a:r>
              <a:rPr lang="en-GB" dirty="0"/>
              <a:t>main leader </a:t>
            </a:r>
            <a:r>
              <a:rPr lang="en-GB" dirty="0" err="1"/>
              <a:t>behavior</a:t>
            </a:r>
            <a:r>
              <a:rPr lang="en-GB" dirty="0"/>
              <a:t> </a:t>
            </a:r>
            <a:r>
              <a:rPr lang="en-GB" dirty="0" smtClean="0"/>
              <a:t>studies: University of Iowa; Ohio State University; University of Michigan; Managerial Grid</a:t>
            </a:r>
            <a:endParaRPr lang="en-IN" dirty="0"/>
          </a:p>
          <a:p>
            <a:endParaRPr lang="en-IN" dirty="0"/>
          </a:p>
        </p:txBody>
      </p:sp>
    </p:spTree>
    <p:extLst>
      <p:ext uri="{BB962C8B-B14F-4D97-AF65-F5344CB8AC3E}">
        <p14:creationId xmlns:p14="http://schemas.microsoft.com/office/powerpoint/2010/main" val="3652183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600" dirty="0" smtClean="0"/>
              <a:t/>
            </a:r>
            <a:br>
              <a:rPr lang="en-GB" sz="3600" dirty="0" smtClean="0"/>
            </a:br>
            <a:r>
              <a:rPr lang="en-GB" sz="3600" dirty="0"/>
              <a:t/>
            </a:r>
            <a:br>
              <a:rPr lang="en-GB" sz="3600" dirty="0"/>
            </a:br>
            <a:r>
              <a:rPr lang="en-GB" sz="3600" dirty="0" smtClean="0"/>
              <a:t>University of Iowa: </a:t>
            </a:r>
            <a:r>
              <a:rPr lang="en-GB" sz="3200" dirty="0"/>
              <a:t>Kurt </a:t>
            </a:r>
            <a:r>
              <a:rPr lang="en-GB" sz="3200" dirty="0" err="1"/>
              <a:t>Lewin</a:t>
            </a:r>
            <a:r>
              <a:rPr lang="en-GB" sz="3200" dirty="0"/>
              <a:t>, Ronald </a:t>
            </a:r>
            <a:r>
              <a:rPr lang="en-GB" sz="3200" dirty="0" err="1"/>
              <a:t>Lippitt</a:t>
            </a:r>
            <a:r>
              <a:rPr lang="en-GB" sz="3200" dirty="0"/>
              <a:t>, and Ralph K. </a:t>
            </a:r>
            <a:r>
              <a:rPr lang="en-GB" sz="3200" dirty="0" smtClean="0"/>
              <a:t>White (1939)</a:t>
            </a:r>
            <a:r>
              <a:rPr lang="en-GB" dirty="0"/>
              <a:t/>
            </a:r>
            <a:br>
              <a:rPr lang="en-GB" dirty="0"/>
            </a:br>
            <a:r>
              <a:rPr lang="en-IN" dirty="0"/>
              <a:t>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51127394"/>
              </p:ext>
            </p:extLst>
          </p:nvPr>
        </p:nvGraphicFramePr>
        <p:xfrm>
          <a:off x="457200" y="1600200"/>
          <a:ext cx="8229600" cy="421132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err="1" smtClean="0"/>
                        <a:t>Behavioral</a:t>
                      </a:r>
                      <a:r>
                        <a:rPr lang="en-GB" dirty="0" smtClean="0"/>
                        <a:t> Dimension</a:t>
                      </a:r>
                      <a:endParaRPr lang="en-IN" dirty="0"/>
                    </a:p>
                  </a:txBody>
                  <a:tcPr/>
                </a:tc>
                <a:tc>
                  <a:txBody>
                    <a:bodyPr/>
                    <a:lstStyle/>
                    <a:p>
                      <a:r>
                        <a:rPr lang="en-GB" dirty="0" smtClean="0"/>
                        <a:t>Conclusion</a:t>
                      </a:r>
                      <a:endParaRPr lang="en-IN" dirty="0"/>
                    </a:p>
                  </a:txBody>
                  <a:tcPr/>
                </a:tc>
              </a:tr>
              <a:tr h="370840">
                <a:tc>
                  <a:txBody>
                    <a:bodyPr/>
                    <a:lstStyle/>
                    <a:p>
                      <a:endParaRPr lang="en-IN" sz="1800" b="0" i="0" u="none" strike="noStrike" kern="1200" baseline="0" dirty="0" smtClean="0">
                        <a:solidFill>
                          <a:schemeClr val="dk1"/>
                        </a:solidFill>
                        <a:latin typeface="+mn-lt"/>
                        <a:ea typeface="+mn-ea"/>
                        <a:cs typeface="+mn-cs"/>
                      </a:endParaRPr>
                    </a:p>
                    <a:p>
                      <a:r>
                        <a:rPr lang="en-IN" sz="1800" b="1" i="0" u="none" strike="noStrike" kern="1200" baseline="0" dirty="0" smtClean="0">
                          <a:solidFill>
                            <a:schemeClr val="dk1"/>
                          </a:solidFill>
                          <a:latin typeface="+mn-lt"/>
                          <a:ea typeface="+mn-ea"/>
                          <a:cs typeface="+mn-cs"/>
                        </a:rPr>
                        <a:t>Democratic style: </a:t>
                      </a:r>
                    </a:p>
                    <a:p>
                      <a:r>
                        <a:rPr lang="en-GB" sz="1800" b="0" i="0" u="none" strike="noStrike" kern="1200" baseline="0" dirty="0" smtClean="0">
                          <a:solidFill>
                            <a:schemeClr val="dk1"/>
                          </a:solidFill>
                          <a:latin typeface="+mn-lt"/>
                          <a:ea typeface="+mn-ea"/>
                          <a:cs typeface="+mn-cs"/>
                        </a:rPr>
                        <a:t>involving subordinates, delegating authority, and encouraging participation</a:t>
                      </a:r>
                    </a:p>
                  </a:txBody>
                  <a:tcPr/>
                </a:tc>
                <a:tc rowSpan="3">
                  <a:txBody>
                    <a:bodyPr/>
                    <a:lstStyle/>
                    <a:p>
                      <a:r>
                        <a:rPr lang="en-GB" sz="1800" b="1" i="0" u="none" strike="noStrike" kern="1200" baseline="0" dirty="0" smtClean="0">
                          <a:solidFill>
                            <a:schemeClr val="dk1"/>
                          </a:solidFill>
                          <a:latin typeface="+mn-lt"/>
                          <a:ea typeface="+mn-ea"/>
                          <a:cs typeface="+mn-cs"/>
                        </a:rPr>
                        <a:t>Democratic style of leadership was most effective, although later studies showed mixed results.</a:t>
                      </a:r>
                    </a:p>
                    <a:p>
                      <a:r>
                        <a:rPr lang="en-IN" sz="1800" b="0" i="0" u="none" strike="noStrike" kern="1200" baseline="0" dirty="0" smtClean="0">
                          <a:solidFill>
                            <a:schemeClr val="dk1"/>
                          </a:solidFill>
                          <a:latin typeface="+mn-lt"/>
                          <a:ea typeface="+mn-ea"/>
                          <a:cs typeface="+mn-cs"/>
                        </a:rPr>
                        <a:t>  </a:t>
                      </a:r>
                    </a:p>
                    <a:p>
                      <a:endParaRPr lang="en-IN" dirty="0"/>
                    </a:p>
                  </a:txBody>
                  <a:tcPr anchor="ctr"/>
                </a:tc>
              </a:tr>
              <a:tr h="370840">
                <a:tc>
                  <a:txBody>
                    <a:bodyPr/>
                    <a:lstStyle/>
                    <a:p>
                      <a:r>
                        <a:rPr lang="en-IN" sz="1800" b="1" i="0" u="none" strike="noStrike" kern="1200" baseline="0" dirty="0" smtClean="0">
                          <a:solidFill>
                            <a:schemeClr val="dk1"/>
                          </a:solidFill>
                          <a:latin typeface="+mn-lt"/>
                          <a:ea typeface="+mn-ea"/>
                          <a:cs typeface="+mn-cs"/>
                        </a:rPr>
                        <a:t>Autocratic style:</a:t>
                      </a:r>
                    </a:p>
                    <a:p>
                      <a:r>
                        <a:rPr lang="en-GB" sz="1800" b="0" i="0" u="none" strike="noStrike" kern="1200" baseline="0" dirty="0" smtClean="0">
                          <a:solidFill>
                            <a:schemeClr val="dk1"/>
                          </a:solidFill>
                          <a:latin typeface="+mn-lt"/>
                          <a:ea typeface="+mn-ea"/>
                          <a:cs typeface="+mn-cs"/>
                        </a:rPr>
                        <a:t>dictating work methods, centralizing decision making, and limiting participation</a:t>
                      </a:r>
                    </a:p>
                    <a:p>
                      <a:endParaRPr lang="en-GB" sz="1800" b="0" i="0" u="none" strike="noStrike" kern="1200" baseline="0" dirty="0" smtClean="0">
                        <a:solidFill>
                          <a:schemeClr val="dk1"/>
                        </a:solidFill>
                        <a:latin typeface="+mn-lt"/>
                        <a:ea typeface="+mn-ea"/>
                        <a:cs typeface="+mn-cs"/>
                      </a:endParaRPr>
                    </a:p>
                  </a:txBody>
                  <a:tcPr/>
                </a:tc>
                <a:tc vMerge="1">
                  <a:txBody>
                    <a:bodyPr/>
                    <a:lstStyle/>
                    <a:p>
                      <a:endParaRPr lang="en-IN" dirty="0"/>
                    </a:p>
                  </a:txBody>
                  <a:tcPr/>
                </a:tc>
              </a:tr>
              <a:tr h="370840">
                <a:tc>
                  <a:txBody>
                    <a:bodyPr/>
                    <a:lstStyle/>
                    <a:p>
                      <a:r>
                        <a:rPr lang="en-IN" sz="1800" b="1" i="0" u="none" strike="noStrike" kern="1200" baseline="0" dirty="0" smtClean="0">
                          <a:solidFill>
                            <a:schemeClr val="dk1"/>
                          </a:solidFill>
                          <a:latin typeface="+mn-lt"/>
                          <a:ea typeface="+mn-ea"/>
                          <a:cs typeface="+mn-cs"/>
                        </a:rPr>
                        <a:t>Laissez-faire style:</a:t>
                      </a:r>
                    </a:p>
                    <a:p>
                      <a:r>
                        <a:rPr lang="en-GB" sz="1800" b="0" i="0" u="none" strike="noStrike" kern="1200" baseline="0" dirty="0" smtClean="0">
                          <a:solidFill>
                            <a:schemeClr val="dk1"/>
                          </a:solidFill>
                          <a:latin typeface="+mn-lt"/>
                          <a:ea typeface="+mn-ea"/>
                          <a:cs typeface="+mn-cs"/>
                        </a:rPr>
                        <a:t>giving group freedom to make decisions and complete work</a:t>
                      </a:r>
                    </a:p>
                    <a:p>
                      <a:endParaRPr lang="en-GB" sz="1800" b="0" i="0" u="none" strike="noStrike" kern="1200" baseline="0" dirty="0" smtClean="0">
                        <a:solidFill>
                          <a:schemeClr val="dk1"/>
                        </a:solidFill>
                        <a:latin typeface="+mn-lt"/>
                        <a:ea typeface="+mn-ea"/>
                        <a:cs typeface="+mn-cs"/>
                      </a:endParaRPr>
                    </a:p>
                  </a:txBody>
                  <a:tcPr/>
                </a:tc>
                <a:tc vMerge="1">
                  <a:txBody>
                    <a:bodyPr/>
                    <a:lstStyle/>
                    <a:p>
                      <a:endParaRPr lang="en-IN" dirty="0"/>
                    </a:p>
                  </a:txBody>
                  <a:tcPr/>
                </a:tc>
              </a:tr>
            </a:tbl>
          </a:graphicData>
        </a:graphic>
      </p:graphicFrame>
    </p:spTree>
    <p:extLst>
      <p:ext uri="{BB962C8B-B14F-4D97-AF65-F5344CB8AC3E}">
        <p14:creationId xmlns:p14="http://schemas.microsoft.com/office/powerpoint/2010/main" val="3922152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Ohio State University (Late 1940s)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03945068"/>
              </p:ext>
            </p:extLst>
          </p:nvPr>
        </p:nvGraphicFramePr>
        <p:xfrm>
          <a:off x="457200" y="1600200"/>
          <a:ext cx="8229600" cy="274828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err="1" smtClean="0"/>
                        <a:t>Behavioral</a:t>
                      </a:r>
                      <a:r>
                        <a:rPr lang="en-GB" dirty="0" smtClean="0"/>
                        <a:t> Dimension</a:t>
                      </a:r>
                      <a:endParaRPr lang="en-IN" dirty="0"/>
                    </a:p>
                  </a:txBody>
                  <a:tcPr/>
                </a:tc>
                <a:tc>
                  <a:txBody>
                    <a:bodyPr/>
                    <a:lstStyle/>
                    <a:p>
                      <a:r>
                        <a:rPr lang="en-GB" dirty="0" smtClean="0"/>
                        <a:t>Conclusion</a:t>
                      </a:r>
                      <a:endParaRPr lang="en-IN" dirty="0"/>
                    </a:p>
                  </a:txBody>
                  <a:tcPr/>
                </a:tc>
              </a:tr>
              <a:tr h="370840">
                <a:tc>
                  <a:txBody>
                    <a:bodyPr/>
                    <a:lstStyle/>
                    <a:p>
                      <a:endParaRPr lang="en-IN" sz="1800" b="0" i="0" u="none" strike="noStrike" kern="1200" baseline="0" dirty="0" smtClean="0">
                        <a:solidFill>
                          <a:schemeClr val="dk1"/>
                        </a:solidFill>
                        <a:latin typeface="+mn-lt"/>
                        <a:ea typeface="+mn-ea"/>
                        <a:cs typeface="+mn-cs"/>
                      </a:endParaRPr>
                    </a:p>
                    <a:p>
                      <a:r>
                        <a:rPr lang="en-IN" sz="1800" b="1" i="0" u="none" strike="noStrike" kern="1200" baseline="0" dirty="0" smtClean="0">
                          <a:solidFill>
                            <a:schemeClr val="dk1"/>
                          </a:solidFill>
                          <a:latin typeface="+mn-lt"/>
                          <a:ea typeface="+mn-ea"/>
                          <a:cs typeface="+mn-cs"/>
                        </a:rPr>
                        <a:t>Initiating structure:</a:t>
                      </a:r>
                    </a:p>
                    <a:p>
                      <a:r>
                        <a:rPr lang="en-GB" sz="1800" b="0" i="0" u="none" strike="noStrike" kern="1200" baseline="0" dirty="0" smtClean="0">
                          <a:solidFill>
                            <a:schemeClr val="dk1"/>
                          </a:solidFill>
                          <a:latin typeface="+mn-lt"/>
                          <a:ea typeface="+mn-ea"/>
                          <a:cs typeface="+mn-cs"/>
                        </a:rPr>
                        <a:t>structuring work and work relationships to meet job goals</a:t>
                      </a:r>
                    </a:p>
                  </a:txBody>
                  <a:tcPr/>
                </a:tc>
                <a:tc rowSpan="2">
                  <a:txBody>
                    <a:bodyPr/>
                    <a:lstStyle/>
                    <a:p>
                      <a:r>
                        <a:rPr lang="en-GB" sz="1800" b="1" i="0" u="none" strike="noStrike" kern="1200" baseline="0" dirty="0" smtClean="0">
                          <a:solidFill>
                            <a:schemeClr val="dk1"/>
                          </a:solidFill>
                          <a:latin typeface="+mn-lt"/>
                          <a:ea typeface="+mn-ea"/>
                          <a:cs typeface="+mn-cs"/>
                        </a:rPr>
                        <a:t>High-high leader (high in consideration and high in initiating structure) achieved high subordinate performance and satisfaction, but not in all situations.</a:t>
                      </a:r>
                    </a:p>
                    <a:p>
                      <a:r>
                        <a:rPr lang="en-IN" sz="1800" b="1" i="0" u="none" strike="noStrike" kern="1200" baseline="0" dirty="0" smtClean="0">
                          <a:solidFill>
                            <a:schemeClr val="dk1"/>
                          </a:solidFill>
                          <a:latin typeface="+mn-lt"/>
                          <a:ea typeface="+mn-ea"/>
                          <a:cs typeface="+mn-cs"/>
                        </a:rPr>
                        <a:t>  </a:t>
                      </a:r>
                    </a:p>
                    <a:p>
                      <a:endParaRPr lang="en-IN" b="1" dirty="0"/>
                    </a:p>
                  </a:txBody>
                  <a:tcPr anchor="ctr"/>
                </a:tc>
              </a:tr>
              <a:tr h="370840">
                <a:tc>
                  <a:txBody>
                    <a:bodyPr/>
                    <a:lstStyle/>
                    <a:p>
                      <a:r>
                        <a:rPr lang="en-IN" sz="1800" b="1" i="0" u="none" strike="noStrike" kern="1200" baseline="0" dirty="0" smtClean="0">
                          <a:solidFill>
                            <a:schemeClr val="dk1"/>
                          </a:solidFill>
                          <a:latin typeface="+mn-lt"/>
                          <a:ea typeface="+mn-ea"/>
                          <a:cs typeface="+mn-cs"/>
                        </a:rPr>
                        <a:t>Consideration:</a:t>
                      </a:r>
                    </a:p>
                    <a:p>
                      <a:r>
                        <a:rPr lang="en-GB" sz="1800" b="0" i="0" u="none" strike="noStrike" kern="1200" baseline="0" dirty="0" smtClean="0">
                          <a:solidFill>
                            <a:schemeClr val="dk1"/>
                          </a:solidFill>
                          <a:latin typeface="+mn-lt"/>
                          <a:ea typeface="+mn-ea"/>
                          <a:cs typeface="+mn-cs"/>
                        </a:rPr>
                        <a:t>being considerate of followers' ideas and feelings</a:t>
                      </a:r>
                    </a:p>
                    <a:p>
                      <a:endParaRPr lang="en-GB" sz="1800" b="0" i="0" u="none" strike="noStrike" kern="1200" baseline="0" dirty="0" smtClean="0">
                        <a:solidFill>
                          <a:schemeClr val="dk1"/>
                        </a:solidFill>
                        <a:latin typeface="+mn-lt"/>
                        <a:ea typeface="+mn-ea"/>
                        <a:cs typeface="+mn-cs"/>
                      </a:endParaRPr>
                    </a:p>
                  </a:txBody>
                  <a:tcPr/>
                </a:tc>
                <a:tc vMerge="1">
                  <a:txBody>
                    <a:bodyPr/>
                    <a:lstStyle/>
                    <a:p>
                      <a:endParaRPr lang="en-IN" dirty="0"/>
                    </a:p>
                  </a:txBody>
                  <a:tcPr/>
                </a:tc>
              </a:tr>
            </a:tbl>
          </a:graphicData>
        </a:graphic>
      </p:graphicFrame>
    </p:spTree>
    <p:extLst>
      <p:ext uri="{BB962C8B-B14F-4D97-AF65-F5344CB8AC3E}">
        <p14:creationId xmlns:p14="http://schemas.microsoft.com/office/powerpoint/2010/main" val="4060988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a:t/>
            </a:r>
            <a:br>
              <a:rPr lang="en-GB" dirty="0"/>
            </a:br>
            <a:r>
              <a:rPr lang="en-GB" dirty="0" smtClean="0"/>
              <a:t>University of Michigan: </a:t>
            </a:r>
            <a:r>
              <a:rPr lang="en-IN" dirty="0"/>
              <a:t>Survey Research </a:t>
            </a:r>
            <a:r>
              <a:rPr lang="en-IN" dirty="0" err="1" smtClean="0"/>
              <a:t>Center</a:t>
            </a:r>
            <a:r>
              <a:rPr lang="en-IN" dirty="0" smtClean="0"/>
              <a:t>: </a:t>
            </a:r>
            <a:r>
              <a:rPr lang="en-IN" dirty="0" err="1" smtClean="0"/>
              <a:t>Rensis</a:t>
            </a:r>
            <a:r>
              <a:rPr lang="en-IN" dirty="0" smtClean="0"/>
              <a:t> </a:t>
            </a:r>
            <a:r>
              <a:rPr lang="en-IN" dirty="0" err="1" smtClean="0"/>
              <a:t>Likert</a:t>
            </a:r>
            <a:r>
              <a:rPr lang="en-IN" dirty="0" smtClean="0"/>
              <a:t> (1950s) </a:t>
            </a:r>
            <a:r>
              <a:rPr lang="en-IN" dirty="0"/>
              <a:t/>
            </a:r>
            <a:br>
              <a:rPr lang="en-IN" dirty="0"/>
            </a:br>
            <a:r>
              <a:rPr lang="en-IN" dirty="0"/>
              <a:t>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93225802"/>
              </p:ext>
            </p:extLst>
          </p:nvPr>
        </p:nvGraphicFramePr>
        <p:xfrm>
          <a:off x="457200" y="1600200"/>
          <a:ext cx="8229600" cy="357124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err="1" smtClean="0"/>
                        <a:t>Behavioral</a:t>
                      </a:r>
                      <a:r>
                        <a:rPr lang="en-GB" dirty="0" smtClean="0"/>
                        <a:t> Dimension</a:t>
                      </a:r>
                      <a:endParaRPr lang="en-IN" dirty="0"/>
                    </a:p>
                  </a:txBody>
                  <a:tcPr/>
                </a:tc>
                <a:tc>
                  <a:txBody>
                    <a:bodyPr/>
                    <a:lstStyle/>
                    <a:p>
                      <a:r>
                        <a:rPr lang="en-GB" dirty="0" smtClean="0"/>
                        <a:t>Conclusion</a:t>
                      </a:r>
                      <a:endParaRPr lang="en-IN" dirty="0"/>
                    </a:p>
                  </a:txBody>
                  <a:tcPr/>
                </a:tc>
              </a:tr>
              <a:tr h="370840">
                <a:tc>
                  <a:txBody>
                    <a:bodyPr/>
                    <a:lstStyle/>
                    <a:p>
                      <a:endParaRPr lang="en-IN" sz="1800" b="0" i="0" u="none" strike="noStrike" kern="1200" baseline="0" dirty="0" smtClean="0">
                        <a:solidFill>
                          <a:schemeClr val="dk1"/>
                        </a:solidFill>
                        <a:latin typeface="+mn-lt"/>
                        <a:ea typeface="+mn-ea"/>
                        <a:cs typeface="+mn-cs"/>
                      </a:endParaRPr>
                    </a:p>
                    <a:p>
                      <a:r>
                        <a:rPr lang="en-IN" sz="1800" b="1" i="0" u="none" strike="noStrike" kern="1200" baseline="0" dirty="0" smtClean="0">
                          <a:solidFill>
                            <a:schemeClr val="dk1"/>
                          </a:solidFill>
                          <a:latin typeface="+mn-lt"/>
                          <a:ea typeface="+mn-ea"/>
                          <a:cs typeface="+mn-cs"/>
                        </a:rPr>
                        <a:t>Employee oriented:</a:t>
                      </a:r>
                    </a:p>
                    <a:p>
                      <a:r>
                        <a:rPr lang="en-GB" sz="1800" b="0" i="0" u="none" strike="noStrike" kern="1200" baseline="0" dirty="0" smtClean="0">
                          <a:solidFill>
                            <a:schemeClr val="dk1"/>
                          </a:solidFill>
                          <a:latin typeface="+mn-lt"/>
                          <a:ea typeface="+mn-ea"/>
                          <a:cs typeface="+mn-cs"/>
                        </a:rPr>
                        <a:t>emphasized interpersonal relationships and taking care of employees' needs</a:t>
                      </a:r>
                    </a:p>
                    <a:p>
                      <a:endParaRPr lang="en-IN" sz="1800" b="0" i="0" u="none" strike="noStrike" kern="1200" baseline="0" dirty="0" smtClean="0">
                        <a:solidFill>
                          <a:schemeClr val="dk1"/>
                        </a:solidFill>
                        <a:latin typeface="+mn-lt"/>
                        <a:ea typeface="+mn-ea"/>
                        <a:cs typeface="+mn-cs"/>
                      </a:endParaRPr>
                    </a:p>
                    <a:p>
                      <a:r>
                        <a:rPr lang="en-IN" sz="1800" b="0" i="0" u="none" strike="noStrike" kern="1200" baseline="0" dirty="0" smtClean="0">
                          <a:solidFill>
                            <a:schemeClr val="dk1"/>
                          </a:solidFill>
                          <a:latin typeface="+mn-lt"/>
                          <a:ea typeface="+mn-ea"/>
                          <a:cs typeface="+mn-cs"/>
                        </a:rPr>
                        <a:t>  </a:t>
                      </a:r>
                    </a:p>
                    <a:p>
                      <a:endParaRPr lang="en-IN" dirty="0"/>
                    </a:p>
                  </a:txBody>
                  <a:tcPr/>
                </a:tc>
                <a:tc rowSpan="2">
                  <a:txBody>
                    <a:bodyPr/>
                    <a:lstStyle/>
                    <a:p>
                      <a:r>
                        <a:rPr lang="en-GB" sz="1800" b="1" i="0" u="none" strike="noStrike" kern="1200" baseline="0" dirty="0" smtClean="0">
                          <a:solidFill>
                            <a:schemeClr val="dk1"/>
                          </a:solidFill>
                          <a:latin typeface="+mn-lt"/>
                          <a:ea typeface="+mn-ea"/>
                          <a:cs typeface="+mn-cs"/>
                        </a:rPr>
                        <a:t>Employee-oriented leaders were associated with high group productivity and higher job satisfaction.</a:t>
                      </a:r>
                    </a:p>
                    <a:p>
                      <a:r>
                        <a:rPr lang="en-IN" sz="1800" b="1" i="0" u="none" strike="noStrike" kern="1200" baseline="0" dirty="0" smtClean="0">
                          <a:solidFill>
                            <a:schemeClr val="dk1"/>
                          </a:solidFill>
                          <a:latin typeface="+mn-lt"/>
                          <a:ea typeface="+mn-ea"/>
                          <a:cs typeface="+mn-cs"/>
                        </a:rPr>
                        <a:t>  </a:t>
                      </a:r>
                    </a:p>
                    <a:p>
                      <a:endParaRPr lang="en-IN" b="1" dirty="0"/>
                    </a:p>
                  </a:txBody>
                  <a:tcPr anchor="ctr"/>
                </a:tc>
              </a:tr>
              <a:tr h="370840">
                <a:tc>
                  <a:txBody>
                    <a:bodyPr/>
                    <a:lstStyle/>
                    <a:p>
                      <a:r>
                        <a:rPr lang="en-IN" sz="1800" b="1" i="0" u="none" strike="noStrike" kern="1200" baseline="0" dirty="0" smtClean="0">
                          <a:solidFill>
                            <a:schemeClr val="dk1"/>
                          </a:solidFill>
                          <a:latin typeface="+mn-lt"/>
                          <a:ea typeface="+mn-ea"/>
                          <a:cs typeface="+mn-cs"/>
                        </a:rPr>
                        <a:t>Production oriented:</a:t>
                      </a:r>
                    </a:p>
                    <a:p>
                      <a:r>
                        <a:rPr lang="en-GB" sz="1800" b="0" i="0" u="none" strike="noStrike" kern="1200" baseline="0" dirty="0" smtClean="0">
                          <a:solidFill>
                            <a:schemeClr val="dk1"/>
                          </a:solidFill>
                          <a:latin typeface="+mn-lt"/>
                          <a:ea typeface="+mn-ea"/>
                          <a:cs typeface="+mn-cs"/>
                        </a:rPr>
                        <a:t>emphasized technical or task aspects of job</a:t>
                      </a:r>
                    </a:p>
                    <a:p>
                      <a:endParaRPr lang="en-IN" dirty="0"/>
                    </a:p>
                  </a:txBody>
                  <a:tcPr/>
                </a:tc>
                <a:tc vMerge="1">
                  <a:txBody>
                    <a:bodyPr/>
                    <a:lstStyle/>
                    <a:p>
                      <a:endParaRPr lang="en-IN" dirty="0"/>
                    </a:p>
                  </a:txBody>
                  <a:tcPr/>
                </a:tc>
              </a:tr>
            </a:tbl>
          </a:graphicData>
        </a:graphic>
      </p:graphicFrame>
    </p:spTree>
    <p:extLst>
      <p:ext uri="{BB962C8B-B14F-4D97-AF65-F5344CB8AC3E}">
        <p14:creationId xmlns:p14="http://schemas.microsoft.com/office/powerpoint/2010/main" val="1831691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
            </a:r>
            <a:br>
              <a:rPr lang="en-GB" dirty="0" smtClean="0"/>
            </a:br>
            <a:r>
              <a:rPr lang="en-GB" sz="3100" dirty="0" smtClean="0"/>
              <a:t>Managerial Grid: </a:t>
            </a:r>
            <a:r>
              <a:rPr lang="en-IN" sz="3100" dirty="0"/>
              <a:t>Robert R. Blake, Jane S. Mouton, Louis B. Barnes, and Larry E. Greiner </a:t>
            </a:r>
            <a:r>
              <a:rPr lang="en-IN" sz="3100" dirty="0" smtClean="0"/>
              <a:t>(1964)</a:t>
            </a:r>
            <a:r>
              <a:rPr lang="en-IN" sz="3100" dirty="0"/>
              <a:t/>
            </a:r>
            <a:br>
              <a:rPr lang="en-IN" sz="3100" dirty="0"/>
            </a:br>
            <a:r>
              <a:rPr lang="en-IN" dirty="0"/>
              <a:t>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74635613"/>
              </p:ext>
            </p:extLst>
          </p:nvPr>
        </p:nvGraphicFramePr>
        <p:xfrm>
          <a:off x="457200" y="1600200"/>
          <a:ext cx="8229600" cy="384556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err="1" smtClean="0"/>
                        <a:t>Behavioral</a:t>
                      </a:r>
                      <a:r>
                        <a:rPr lang="en-GB" dirty="0" smtClean="0"/>
                        <a:t> Dimension</a:t>
                      </a:r>
                      <a:endParaRPr lang="en-IN" dirty="0"/>
                    </a:p>
                  </a:txBody>
                  <a:tcPr/>
                </a:tc>
                <a:tc>
                  <a:txBody>
                    <a:bodyPr/>
                    <a:lstStyle/>
                    <a:p>
                      <a:r>
                        <a:rPr lang="en-GB" dirty="0" smtClean="0"/>
                        <a:t>Conclusion</a:t>
                      </a:r>
                      <a:endParaRPr lang="en-IN" dirty="0"/>
                    </a:p>
                  </a:txBody>
                  <a:tcPr/>
                </a:tc>
              </a:tr>
              <a:tr h="370840">
                <a:tc>
                  <a:txBody>
                    <a:bodyPr/>
                    <a:lstStyle/>
                    <a:p>
                      <a:endParaRPr lang="en-IN" sz="1800" b="0" i="0" u="none" strike="noStrike" kern="1200" baseline="0" dirty="0" smtClean="0">
                        <a:solidFill>
                          <a:schemeClr val="dk1"/>
                        </a:solidFill>
                        <a:latin typeface="+mn-lt"/>
                        <a:ea typeface="+mn-ea"/>
                        <a:cs typeface="+mn-cs"/>
                      </a:endParaRPr>
                    </a:p>
                    <a:p>
                      <a:r>
                        <a:rPr lang="en-IN" sz="1800" b="1" i="0" u="none" strike="noStrike" kern="1200" baseline="0" dirty="0" smtClean="0">
                          <a:solidFill>
                            <a:schemeClr val="dk1"/>
                          </a:solidFill>
                          <a:latin typeface="+mn-lt"/>
                          <a:ea typeface="+mn-ea"/>
                          <a:cs typeface="+mn-cs"/>
                        </a:rPr>
                        <a:t>Concern for people:</a:t>
                      </a:r>
                    </a:p>
                    <a:p>
                      <a:r>
                        <a:rPr lang="en-GB" sz="1800" b="0" i="0" u="none" strike="noStrike" kern="1200" baseline="0" dirty="0" smtClean="0">
                          <a:solidFill>
                            <a:schemeClr val="dk1"/>
                          </a:solidFill>
                          <a:latin typeface="+mn-lt"/>
                          <a:ea typeface="+mn-ea"/>
                          <a:cs typeface="+mn-cs"/>
                        </a:rPr>
                        <a:t>measured leader's concern for subordinates on a scale of 1 to 9 (low to high)</a:t>
                      </a:r>
                    </a:p>
                    <a:p>
                      <a:endParaRPr lang="en-IN" sz="1800" b="0" i="0" u="none" strike="noStrike" kern="1200" baseline="0" dirty="0" smtClean="0">
                        <a:solidFill>
                          <a:schemeClr val="dk1"/>
                        </a:solidFill>
                        <a:latin typeface="+mn-lt"/>
                        <a:ea typeface="+mn-ea"/>
                        <a:cs typeface="+mn-cs"/>
                      </a:endParaRPr>
                    </a:p>
                    <a:p>
                      <a:r>
                        <a:rPr lang="en-IN" sz="1800" b="0" i="0" u="none" strike="noStrike" kern="1200" baseline="0" dirty="0" smtClean="0">
                          <a:solidFill>
                            <a:schemeClr val="dk1"/>
                          </a:solidFill>
                          <a:latin typeface="+mn-lt"/>
                          <a:ea typeface="+mn-ea"/>
                          <a:cs typeface="+mn-cs"/>
                        </a:rPr>
                        <a:t>  </a:t>
                      </a:r>
                    </a:p>
                    <a:p>
                      <a:endParaRPr lang="en-IN" dirty="0"/>
                    </a:p>
                  </a:txBody>
                  <a:tcPr/>
                </a:tc>
                <a:tc rowSpan="2">
                  <a:txBody>
                    <a:bodyPr/>
                    <a:lstStyle/>
                    <a:p>
                      <a:r>
                        <a:rPr lang="en-GB" sz="1800" b="1" i="1" u="none" strike="noStrike" kern="1200" baseline="0" dirty="0" smtClean="0">
                          <a:solidFill>
                            <a:schemeClr val="dk1"/>
                          </a:solidFill>
                          <a:latin typeface="+mn-lt"/>
                          <a:ea typeface="+mn-ea"/>
                          <a:cs typeface="+mn-cs"/>
                        </a:rPr>
                        <a:t>Impoverished management (1,1), </a:t>
                      </a:r>
                    </a:p>
                    <a:p>
                      <a:r>
                        <a:rPr lang="en-GB" sz="1800" b="1" i="1" u="none" strike="noStrike" kern="1200" baseline="0" dirty="0" smtClean="0">
                          <a:solidFill>
                            <a:schemeClr val="dk1"/>
                          </a:solidFill>
                          <a:latin typeface="+mn-lt"/>
                          <a:ea typeface="+mn-ea"/>
                          <a:cs typeface="+mn-cs"/>
                        </a:rPr>
                        <a:t>Task management (9,1), </a:t>
                      </a:r>
                    </a:p>
                    <a:p>
                      <a:r>
                        <a:rPr lang="en-GB" sz="1800" b="1" i="1" u="none" strike="noStrike" kern="1200" baseline="0" dirty="0" smtClean="0">
                          <a:solidFill>
                            <a:schemeClr val="dk1"/>
                          </a:solidFill>
                          <a:latin typeface="+mn-lt"/>
                          <a:ea typeface="+mn-ea"/>
                          <a:cs typeface="+mn-cs"/>
                        </a:rPr>
                        <a:t>Middle-of-the-road management (5,5),</a:t>
                      </a:r>
                    </a:p>
                    <a:p>
                      <a:r>
                        <a:rPr lang="en-GB" sz="1800" b="1" i="1" u="none" strike="noStrike" kern="1200" baseline="0" dirty="0" smtClean="0">
                          <a:solidFill>
                            <a:schemeClr val="dk1"/>
                          </a:solidFill>
                          <a:latin typeface="+mn-lt"/>
                          <a:ea typeface="+mn-ea"/>
                          <a:cs typeface="+mn-cs"/>
                        </a:rPr>
                        <a:t>Country club management (1,9), and Team management (9,9). </a:t>
                      </a:r>
                    </a:p>
                    <a:p>
                      <a:r>
                        <a:rPr lang="en-IN" sz="1800" b="0" i="0" u="none" strike="noStrike" kern="1200" baseline="0" dirty="0" smtClean="0">
                          <a:solidFill>
                            <a:schemeClr val="dk1"/>
                          </a:solidFill>
                          <a:latin typeface="+mn-lt"/>
                          <a:ea typeface="+mn-ea"/>
                          <a:cs typeface="+mn-cs"/>
                        </a:rPr>
                        <a:t>  </a:t>
                      </a:r>
                    </a:p>
                    <a:p>
                      <a:endParaRPr lang="en-GB" sz="1800" b="1" i="0" u="none" strike="noStrike" kern="1200" baseline="0" dirty="0" smtClean="0">
                        <a:solidFill>
                          <a:schemeClr val="dk1"/>
                        </a:solidFill>
                        <a:latin typeface="+mn-lt"/>
                        <a:ea typeface="+mn-ea"/>
                        <a:cs typeface="+mn-cs"/>
                      </a:endParaRPr>
                    </a:p>
                    <a:p>
                      <a:r>
                        <a:rPr lang="en-GB" sz="1800" b="1" i="0" u="none" strike="noStrike" kern="1200" baseline="0" dirty="0" smtClean="0">
                          <a:solidFill>
                            <a:schemeClr val="dk1"/>
                          </a:solidFill>
                          <a:latin typeface="+mn-lt"/>
                          <a:ea typeface="+mn-ea"/>
                          <a:cs typeface="+mn-cs"/>
                        </a:rPr>
                        <a:t>Leaders performed best with a 9,9 style (high concern for production and high concern for people).</a:t>
                      </a:r>
                    </a:p>
                    <a:p>
                      <a:r>
                        <a:rPr lang="en-IN" sz="1800" b="1" i="0" u="none" strike="noStrike" kern="1200" baseline="0" dirty="0" smtClean="0">
                          <a:solidFill>
                            <a:schemeClr val="dk1"/>
                          </a:solidFill>
                          <a:latin typeface="+mn-lt"/>
                          <a:ea typeface="+mn-ea"/>
                          <a:cs typeface="+mn-cs"/>
                        </a:rPr>
                        <a:t>  </a:t>
                      </a:r>
                    </a:p>
                    <a:p>
                      <a:endParaRPr lang="en-IN" b="1" dirty="0"/>
                    </a:p>
                  </a:txBody>
                  <a:tcPr anchor="ctr"/>
                </a:tc>
              </a:tr>
              <a:tr h="370840">
                <a:tc>
                  <a:txBody>
                    <a:bodyPr/>
                    <a:lstStyle/>
                    <a:p>
                      <a:r>
                        <a:rPr lang="en-IN" sz="1800" b="1" i="0" u="none" strike="noStrike" kern="1200" baseline="0" dirty="0" smtClean="0">
                          <a:solidFill>
                            <a:schemeClr val="dk1"/>
                          </a:solidFill>
                          <a:latin typeface="+mn-lt"/>
                          <a:ea typeface="+mn-ea"/>
                          <a:cs typeface="+mn-cs"/>
                        </a:rPr>
                        <a:t>Concern for production:</a:t>
                      </a:r>
                    </a:p>
                    <a:p>
                      <a:r>
                        <a:rPr lang="en-GB" sz="1800" b="0" i="0" u="none" strike="noStrike" kern="1200" baseline="0" dirty="0" smtClean="0">
                          <a:solidFill>
                            <a:schemeClr val="dk1"/>
                          </a:solidFill>
                          <a:latin typeface="+mn-lt"/>
                          <a:ea typeface="+mn-ea"/>
                          <a:cs typeface="+mn-cs"/>
                        </a:rPr>
                        <a:t>measured leader's concern for getting job done on a scale of 1 to 9 (low to high)</a:t>
                      </a:r>
                    </a:p>
                    <a:p>
                      <a:endParaRPr lang="en-IN" dirty="0"/>
                    </a:p>
                  </a:txBody>
                  <a:tcPr/>
                </a:tc>
                <a:tc vMerge="1">
                  <a:txBody>
                    <a:bodyPr/>
                    <a:lstStyle/>
                    <a:p>
                      <a:endParaRPr lang="en-IN" dirty="0"/>
                    </a:p>
                  </a:txBody>
                  <a:tcPr/>
                </a:tc>
              </a:tr>
            </a:tbl>
          </a:graphicData>
        </a:graphic>
      </p:graphicFrame>
    </p:spTree>
    <p:extLst>
      <p:ext uri="{BB962C8B-B14F-4D97-AF65-F5344CB8AC3E}">
        <p14:creationId xmlns:p14="http://schemas.microsoft.com/office/powerpoint/2010/main" val="2084937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228600"/>
            <a:ext cx="8305800" cy="601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0175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Contingency theories of leadership</a:t>
            </a:r>
            <a:endParaRPr lang="en-IN" dirty="0"/>
          </a:p>
        </p:txBody>
      </p:sp>
      <p:sp>
        <p:nvSpPr>
          <p:cNvPr id="3" name="Content Placeholder 2"/>
          <p:cNvSpPr>
            <a:spLocks noGrp="1"/>
          </p:cNvSpPr>
          <p:nvPr>
            <p:ph idx="1"/>
          </p:nvPr>
        </p:nvSpPr>
        <p:spPr/>
        <p:txBody>
          <a:bodyPr>
            <a:normAutofit fontScale="85000" lnSpcReduction="20000"/>
          </a:bodyPr>
          <a:lstStyle/>
          <a:p>
            <a:r>
              <a:rPr lang="en-GB" dirty="0" smtClean="0"/>
              <a:t>Fiedler contingency theory, </a:t>
            </a:r>
          </a:p>
          <a:p>
            <a:r>
              <a:rPr lang="en-GB" dirty="0" smtClean="0"/>
              <a:t>Hersey-Blanchard leadership theory, </a:t>
            </a:r>
          </a:p>
          <a:p>
            <a:r>
              <a:rPr lang="en-GB" dirty="0" smtClean="0"/>
              <a:t>Leader participation theory, and, </a:t>
            </a:r>
          </a:p>
          <a:p>
            <a:r>
              <a:rPr lang="en-GB" dirty="0" smtClean="0"/>
              <a:t>Path-goal model </a:t>
            </a:r>
            <a:endParaRPr lang="en-GB" dirty="0"/>
          </a:p>
          <a:p>
            <a:pPr marL="0" indent="0">
              <a:buNone/>
            </a:pPr>
            <a:endParaRPr lang="en-GB" dirty="0" smtClean="0"/>
          </a:p>
          <a:p>
            <a:pPr marL="0" indent="0">
              <a:buNone/>
            </a:pPr>
            <a:endParaRPr lang="en-IN" dirty="0"/>
          </a:p>
          <a:p>
            <a:pPr marL="0" indent="0">
              <a:buNone/>
            </a:pPr>
            <a:r>
              <a:rPr lang="en-IN" dirty="0" smtClean="0"/>
              <a:t>These theories </a:t>
            </a:r>
            <a:r>
              <a:rPr lang="en-GB" dirty="0" smtClean="0"/>
              <a:t>define </a:t>
            </a:r>
            <a:r>
              <a:rPr lang="en-GB" dirty="0"/>
              <a:t>leadership style and the situation and </a:t>
            </a:r>
            <a:r>
              <a:rPr lang="en-GB" dirty="0" smtClean="0"/>
              <a:t>attempt </a:t>
            </a:r>
            <a:r>
              <a:rPr lang="en-GB" dirty="0"/>
              <a:t>to answer the </a:t>
            </a:r>
            <a:r>
              <a:rPr lang="en-GB" i="1" dirty="0"/>
              <a:t>if-then </a:t>
            </a:r>
            <a:r>
              <a:rPr lang="en-GB" dirty="0"/>
              <a:t>contingencies (i.e., </a:t>
            </a:r>
            <a:r>
              <a:rPr lang="en-GB" i="1" dirty="0"/>
              <a:t>if </a:t>
            </a:r>
            <a:r>
              <a:rPr lang="en-GB" dirty="0"/>
              <a:t>this is my situation, </a:t>
            </a:r>
            <a:r>
              <a:rPr lang="en-GB" i="1" dirty="0"/>
              <a:t>then </a:t>
            </a:r>
            <a:r>
              <a:rPr lang="en-GB" dirty="0"/>
              <a:t>this is the best leadership style for me to use</a:t>
            </a:r>
            <a:r>
              <a:rPr lang="en-GB" dirty="0" smtClean="0"/>
              <a:t>)</a:t>
            </a:r>
            <a:endParaRPr lang="en-IN" dirty="0"/>
          </a:p>
          <a:p>
            <a:pPr marL="0" indent="0">
              <a:buNone/>
            </a:pPr>
            <a:r>
              <a:rPr lang="en-IN" dirty="0" smtClean="0"/>
              <a:t> </a:t>
            </a:r>
            <a:endParaRPr lang="en-IN" dirty="0"/>
          </a:p>
          <a:p>
            <a:endParaRPr lang="en-IN" dirty="0"/>
          </a:p>
        </p:txBody>
      </p:sp>
    </p:spTree>
    <p:extLst>
      <p:ext uri="{BB962C8B-B14F-4D97-AF65-F5344CB8AC3E}">
        <p14:creationId xmlns:p14="http://schemas.microsoft.com/office/powerpoint/2010/main" val="368673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Fred Fiedler’s contingency model of leadership (1964)</a:t>
            </a:r>
            <a:endParaRPr lang="en-IN" dirty="0"/>
          </a:p>
        </p:txBody>
      </p:sp>
      <p:sp>
        <p:nvSpPr>
          <p:cNvPr id="3" name="Content Placeholder 2"/>
          <p:cNvSpPr>
            <a:spLocks noGrp="1"/>
          </p:cNvSpPr>
          <p:nvPr>
            <p:ph idx="1"/>
          </p:nvPr>
        </p:nvSpPr>
        <p:spPr/>
        <p:txBody>
          <a:bodyPr>
            <a:normAutofit fontScale="62500" lnSpcReduction="20000"/>
          </a:bodyPr>
          <a:lstStyle/>
          <a:p>
            <a:r>
              <a:rPr lang="en-GB" dirty="0"/>
              <a:t>E</a:t>
            </a:r>
            <a:r>
              <a:rPr lang="en-GB" dirty="0" smtClean="0"/>
              <a:t>ffective </a:t>
            </a:r>
            <a:r>
              <a:rPr lang="en-GB" dirty="0"/>
              <a:t>group performance depended on the proper match between the leader's style of interacting with his or her followers and the degree to which the situation allowed the leader to control and influence </a:t>
            </a:r>
          </a:p>
          <a:p>
            <a:r>
              <a:rPr lang="en-GB" dirty="0"/>
              <a:t>A</a:t>
            </a:r>
            <a:r>
              <a:rPr lang="en-GB" dirty="0" smtClean="0"/>
              <a:t> </a:t>
            </a:r>
            <a:r>
              <a:rPr lang="en-GB" dirty="0"/>
              <a:t>person's style was one of two types: task oriented or relationship oriented. </a:t>
            </a:r>
            <a:endParaRPr lang="en-GB" dirty="0" smtClean="0"/>
          </a:p>
          <a:p>
            <a:r>
              <a:rPr lang="en-GB" dirty="0" smtClean="0"/>
              <a:t>To </a:t>
            </a:r>
            <a:r>
              <a:rPr lang="en-GB" dirty="0"/>
              <a:t>measure a leader's style, Fiedler developed the least-preferred co-worker (LPC) questionnaire. This questionnaire contained 16 pairs of contrasting adjectives—for example, pleasant-unpleasant, cold-warm, boring-interesting, and friendly-unfriendly. Respondents were asked to think of all the co-workers they had ever had and to describe that one person they </a:t>
            </a:r>
            <a:r>
              <a:rPr lang="en-GB" b="1" i="1" u="sng" dirty="0"/>
              <a:t>least enjoyed</a:t>
            </a:r>
            <a:r>
              <a:rPr lang="en-GB" i="1" dirty="0"/>
              <a:t> </a:t>
            </a:r>
            <a:r>
              <a:rPr lang="en-GB" dirty="0"/>
              <a:t>working with by rating him or her on a scale of 1 to 8 (the 8 always described the positive adjective out of the pair and the 1 always described the negative adjective out of the pair) for each of the 16 sets of adjectives. Fiedler believed that you could determine a person's basic leadership style on the basis of the responses to the LPC questionnaire. </a:t>
            </a:r>
            <a:endParaRPr lang="en-IN" dirty="0"/>
          </a:p>
          <a:p>
            <a:endParaRPr lang="en-IN" dirty="0"/>
          </a:p>
          <a:p>
            <a:endParaRPr lang="en-IN" dirty="0"/>
          </a:p>
        </p:txBody>
      </p:sp>
    </p:spTree>
    <p:extLst>
      <p:ext uri="{BB962C8B-B14F-4D97-AF65-F5344CB8AC3E}">
        <p14:creationId xmlns:p14="http://schemas.microsoft.com/office/powerpoint/2010/main" val="3044604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Fred Fiedler’s contingency model of leadership (1964)</a:t>
            </a:r>
            <a:endParaRPr lang="en-IN" dirty="0"/>
          </a:p>
        </p:txBody>
      </p:sp>
      <p:sp>
        <p:nvSpPr>
          <p:cNvPr id="3" name="Content Placeholder 2"/>
          <p:cNvSpPr>
            <a:spLocks noGrp="1"/>
          </p:cNvSpPr>
          <p:nvPr>
            <p:ph idx="1"/>
          </p:nvPr>
        </p:nvSpPr>
        <p:spPr/>
        <p:txBody>
          <a:bodyPr>
            <a:normAutofit fontScale="70000" lnSpcReduction="20000"/>
          </a:bodyPr>
          <a:lstStyle/>
          <a:p>
            <a:r>
              <a:rPr lang="en-GB" dirty="0"/>
              <a:t>I</a:t>
            </a:r>
            <a:r>
              <a:rPr lang="en-GB" dirty="0" smtClean="0"/>
              <a:t>f </a:t>
            </a:r>
            <a:r>
              <a:rPr lang="en-GB" dirty="0"/>
              <a:t>the leader described the least preferred co-worker in relatively positive terms (in other words, a "high" LPC score), then the respondent was primarily interested in good personal relations with co-workers. That is, if you described the person that you least liked to work with in </a:t>
            </a:r>
            <a:r>
              <a:rPr lang="en-GB" dirty="0" err="1"/>
              <a:t>favorable</a:t>
            </a:r>
            <a:r>
              <a:rPr lang="en-GB" dirty="0"/>
              <a:t> terms, your style would be described as </a:t>
            </a:r>
            <a:r>
              <a:rPr lang="en-GB" b="1" i="1" u="sng" dirty="0"/>
              <a:t>relationship oriented</a:t>
            </a:r>
            <a:r>
              <a:rPr lang="en-GB" dirty="0"/>
              <a:t>. In contrast, if you saw the least preferred co-worker in relatively </a:t>
            </a:r>
            <a:r>
              <a:rPr lang="en-GB" dirty="0" err="1"/>
              <a:t>unfavorable</a:t>
            </a:r>
            <a:r>
              <a:rPr lang="en-GB" dirty="0"/>
              <a:t> terms (a low LPC score), you were primarily interested in productivity and getting the job done; thus, your style would be </a:t>
            </a:r>
            <a:r>
              <a:rPr lang="en-GB" dirty="0" err="1"/>
              <a:t>labeled</a:t>
            </a:r>
            <a:r>
              <a:rPr lang="en-GB" dirty="0"/>
              <a:t> as </a:t>
            </a:r>
            <a:r>
              <a:rPr lang="en-GB" b="1" i="1" u="sng" dirty="0"/>
              <a:t>task oriented</a:t>
            </a:r>
            <a:r>
              <a:rPr lang="en-GB" dirty="0"/>
              <a:t>. </a:t>
            </a:r>
          </a:p>
          <a:p>
            <a:r>
              <a:rPr lang="en-GB" dirty="0"/>
              <a:t>Fiedler assumed that a person's leadership style was </a:t>
            </a:r>
            <a:r>
              <a:rPr lang="en-GB" b="1" u="sng" dirty="0"/>
              <a:t>always the same (fixed) </a:t>
            </a:r>
            <a:r>
              <a:rPr lang="en-GB" dirty="0"/>
              <a:t>regardless of the situation. In other words, if you were a relationship-oriented leader, you'd always be one, and the same if you were task oriented. </a:t>
            </a:r>
          </a:p>
          <a:p>
            <a:r>
              <a:rPr lang="en-IN" dirty="0"/>
              <a:t>  </a:t>
            </a:r>
          </a:p>
          <a:p>
            <a:endParaRPr lang="en-IN" dirty="0"/>
          </a:p>
          <a:p>
            <a:endParaRPr lang="en-IN" dirty="0"/>
          </a:p>
        </p:txBody>
      </p:sp>
    </p:spTree>
    <p:extLst>
      <p:ext uri="{BB962C8B-B14F-4D97-AF65-F5344CB8AC3E}">
        <p14:creationId xmlns:p14="http://schemas.microsoft.com/office/powerpoint/2010/main" val="1266409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r>
              <a:rPr lang="en-GB" dirty="0"/>
              <a:t>Fiedler's research </a:t>
            </a:r>
            <a:r>
              <a:rPr lang="en-GB" dirty="0" smtClean="0"/>
              <a:t>concluded three </a:t>
            </a:r>
            <a:r>
              <a:rPr lang="en-GB" dirty="0"/>
              <a:t>contingency dimensions that defined the key situational factors for determining leader </a:t>
            </a:r>
            <a:r>
              <a:rPr lang="en-GB" dirty="0" smtClean="0"/>
              <a:t>effectiveness</a:t>
            </a:r>
            <a:r>
              <a:rPr lang="en-GB" dirty="0"/>
              <a:t>:</a:t>
            </a:r>
            <a:endParaRPr lang="en-GB" dirty="0"/>
          </a:p>
          <a:p>
            <a:r>
              <a:rPr lang="en-GB" b="1" dirty="0"/>
              <a:t>Leader-member relations:</a:t>
            </a:r>
            <a:r>
              <a:rPr lang="en-GB" dirty="0"/>
              <a:t> the degree of confidence, trust, and respect employees had for their leader; rated as either good or poor</a:t>
            </a:r>
          </a:p>
          <a:p>
            <a:r>
              <a:rPr lang="en-GB" b="1" dirty="0"/>
              <a:t>Task structure:</a:t>
            </a:r>
            <a:r>
              <a:rPr lang="en-GB" dirty="0"/>
              <a:t> the degree to which job assignments were formalized and </a:t>
            </a:r>
            <a:r>
              <a:rPr lang="en-GB" dirty="0" err="1"/>
              <a:t>procedurized</a:t>
            </a:r>
            <a:r>
              <a:rPr lang="en-GB" dirty="0"/>
              <a:t>; rated as either high or low</a:t>
            </a:r>
          </a:p>
          <a:p>
            <a:r>
              <a:rPr lang="en-GB" b="1" dirty="0"/>
              <a:t>Position power: </a:t>
            </a:r>
            <a:r>
              <a:rPr lang="en-GB" dirty="0"/>
              <a:t>the degree of influence a leader had over power-based activities such as hiring, firing, discipline, promotions, and salary increases; rated as either strong or </a:t>
            </a:r>
            <a:r>
              <a:rPr lang="en-GB" dirty="0" smtClean="0"/>
              <a:t>weak</a:t>
            </a:r>
            <a:endParaRPr lang="en-IN" dirty="0"/>
          </a:p>
          <a:p>
            <a:endParaRPr lang="en-IN" dirty="0"/>
          </a:p>
        </p:txBody>
      </p:sp>
      <p:sp>
        <p:nvSpPr>
          <p:cNvPr id="4" name="Title 1"/>
          <p:cNvSpPr>
            <a:spLocks noGrp="1"/>
          </p:cNvSpPr>
          <p:nvPr>
            <p:ph type="title"/>
          </p:nvPr>
        </p:nvSpPr>
        <p:spPr/>
        <p:txBody>
          <a:bodyPr>
            <a:normAutofit fontScale="90000"/>
          </a:bodyPr>
          <a:lstStyle/>
          <a:p>
            <a:r>
              <a:rPr lang="en-GB" dirty="0"/>
              <a:t>Fred Fiedler’s contingency model of leadership (1964)</a:t>
            </a:r>
            <a:endParaRPr lang="en-IN" dirty="0"/>
          </a:p>
        </p:txBody>
      </p:sp>
    </p:spTree>
    <p:extLst>
      <p:ext uri="{BB962C8B-B14F-4D97-AF65-F5344CB8AC3E}">
        <p14:creationId xmlns:p14="http://schemas.microsoft.com/office/powerpoint/2010/main" val="1679463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fontScale="90000"/>
          </a:bodyPr>
          <a:lstStyle/>
          <a:p>
            <a:r>
              <a:rPr lang="en-GB" dirty="0"/>
              <a:t>Fred Fiedler’s contingency model of leadership (1964)</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796256"/>
            <a:ext cx="8229600" cy="3385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914400" y="5146536"/>
            <a:ext cx="7848600" cy="1754326"/>
          </a:xfrm>
          <a:prstGeom prst="rect">
            <a:avLst/>
          </a:prstGeom>
          <a:noFill/>
        </p:spPr>
        <p:txBody>
          <a:bodyPr wrap="square" rtlCol="0">
            <a:spAutoFit/>
          </a:bodyPr>
          <a:lstStyle/>
          <a:p>
            <a:r>
              <a:rPr lang="en-GB" b="1" dirty="0"/>
              <a:t>T</a:t>
            </a:r>
            <a:r>
              <a:rPr lang="en-GB" b="1" dirty="0" smtClean="0"/>
              <a:t>ask-oriented </a:t>
            </a:r>
            <a:r>
              <a:rPr lang="en-GB" b="1" dirty="0"/>
              <a:t>leaders </a:t>
            </a:r>
            <a:r>
              <a:rPr lang="en-GB" dirty="0"/>
              <a:t>tended to perform better in situations that were very </a:t>
            </a:r>
            <a:r>
              <a:rPr lang="en-GB" dirty="0" err="1"/>
              <a:t>favorable</a:t>
            </a:r>
            <a:r>
              <a:rPr lang="en-GB" dirty="0"/>
              <a:t> to them and in situations that were very </a:t>
            </a:r>
            <a:r>
              <a:rPr lang="en-GB" dirty="0" err="1" smtClean="0"/>
              <a:t>unfavorable</a:t>
            </a:r>
            <a:r>
              <a:rPr lang="en-GB" dirty="0" smtClean="0"/>
              <a:t>. </a:t>
            </a:r>
          </a:p>
          <a:p>
            <a:r>
              <a:rPr lang="en-GB" b="1" dirty="0" smtClean="0"/>
              <a:t>Relationship-oriented </a:t>
            </a:r>
            <a:r>
              <a:rPr lang="en-GB" b="1" dirty="0"/>
              <a:t>leaders </a:t>
            </a:r>
            <a:r>
              <a:rPr lang="en-GB" dirty="0"/>
              <a:t>seemed to perform better in moderately </a:t>
            </a:r>
            <a:r>
              <a:rPr lang="en-GB" dirty="0" err="1"/>
              <a:t>favorable</a:t>
            </a:r>
            <a:r>
              <a:rPr lang="en-GB" dirty="0"/>
              <a:t> </a:t>
            </a:r>
            <a:r>
              <a:rPr lang="en-GB" dirty="0" smtClean="0"/>
              <a:t>situations.</a:t>
            </a:r>
            <a:endParaRPr lang="en-GB" dirty="0"/>
          </a:p>
          <a:p>
            <a:r>
              <a:rPr lang="en-IN" dirty="0"/>
              <a:t>  </a:t>
            </a:r>
          </a:p>
          <a:p>
            <a:endParaRPr lang="en-IN" dirty="0"/>
          </a:p>
        </p:txBody>
      </p:sp>
    </p:spTree>
    <p:extLst>
      <p:ext uri="{BB962C8B-B14F-4D97-AF65-F5344CB8AC3E}">
        <p14:creationId xmlns:p14="http://schemas.microsoft.com/office/powerpoint/2010/main" val="678070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Drawbacks of Fiedler’s contingency theory</a:t>
            </a:r>
            <a:endParaRPr lang="en-IN" dirty="0"/>
          </a:p>
        </p:txBody>
      </p:sp>
      <p:sp>
        <p:nvSpPr>
          <p:cNvPr id="3" name="Content Placeholder 2"/>
          <p:cNvSpPr>
            <a:spLocks noGrp="1"/>
          </p:cNvSpPr>
          <p:nvPr>
            <p:ph idx="1"/>
          </p:nvPr>
        </p:nvSpPr>
        <p:spPr/>
        <p:txBody>
          <a:bodyPr>
            <a:normAutofit fontScale="92500"/>
          </a:bodyPr>
          <a:lstStyle/>
          <a:p>
            <a:r>
              <a:rPr lang="en-GB" dirty="0"/>
              <a:t>T</a:t>
            </a:r>
            <a:r>
              <a:rPr lang="en-GB" dirty="0" smtClean="0"/>
              <a:t>here </a:t>
            </a:r>
            <a:r>
              <a:rPr lang="en-GB" dirty="0"/>
              <a:t>were problems with the LPC, and the practicality of it needed to be addressed. </a:t>
            </a:r>
            <a:endParaRPr lang="en-GB" dirty="0" smtClean="0"/>
          </a:p>
          <a:p>
            <a:r>
              <a:rPr lang="en-GB" dirty="0" smtClean="0"/>
              <a:t>It's </a:t>
            </a:r>
            <a:r>
              <a:rPr lang="en-GB" dirty="0"/>
              <a:t>probably unrealistic to assume that a person can't change his or her leadership style to fit the situation. Effective leaders can, and do, change their styles to meet the needs of a particular situation. </a:t>
            </a:r>
            <a:endParaRPr lang="en-GB" dirty="0" smtClean="0"/>
          </a:p>
          <a:p>
            <a:r>
              <a:rPr lang="en-GB" dirty="0" smtClean="0"/>
              <a:t>Finally</a:t>
            </a:r>
            <a:r>
              <a:rPr lang="en-GB" dirty="0"/>
              <a:t>, the contingency variables were complex and difficult for practitioners to assess. </a:t>
            </a:r>
          </a:p>
          <a:p>
            <a:pPr marL="0" indent="0">
              <a:buNone/>
            </a:pPr>
            <a:endParaRPr lang="en-IN" dirty="0"/>
          </a:p>
          <a:p>
            <a:endParaRPr lang="en-IN" dirty="0"/>
          </a:p>
        </p:txBody>
      </p:sp>
    </p:spTree>
    <p:extLst>
      <p:ext uri="{BB962C8B-B14F-4D97-AF65-F5344CB8AC3E}">
        <p14:creationId xmlns:p14="http://schemas.microsoft.com/office/powerpoint/2010/main" val="1965721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
            </a:r>
            <a:br>
              <a:rPr lang="en-GB" b="1" dirty="0" smtClean="0"/>
            </a:br>
            <a:r>
              <a:rPr lang="en-GB" sz="4000" b="1" dirty="0" smtClean="0"/>
              <a:t>Hersey </a:t>
            </a:r>
            <a:r>
              <a:rPr lang="en-GB" sz="4000" b="1" dirty="0"/>
              <a:t>and Blanchard's Situational Leadership </a:t>
            </a:r>
            <a:r>
              <a:rPr lang="en-GB" sz="4000" b="1" dirty="0" smtClean="0"/>
              <a:t>Theory (1969)</a:t>
            </a:r>
            <a:r>
              <a:rPr lang="en-GB" sz="4000" dirty="0"/>
              <a:t/>
            </a:r>
            <a:br>
              <a:rPr lang="en-GB" sz="4000" dirty="0"/>
            </a:br>
            <a:r>
              <a:rPr lang="en-IN" dirty="0"/>
              <a:t>  </a:t>
            </a:r>
            <a:br>
              <a:rPr lang="en-IN" dirty="0"/>
            </a:br>
            <a:endParaRPr lang="en-IN" dirty="0"/>
          </a:p>
        </p:txBody>
      </p:sp>
      <p:sp>
        <p:nvSpPr>
          <p:cNvPr id="3" name="Content Placeholder 2"/>
          <p:cNvSpPr>
            <a:spLocks noGrp="1"/>
          </p:cNvSpPr>
          <p:nvPr>
            <p:ph idx="1"/>
          </p:nvPr>
        </p:nvSpPr>
        <p:spPr/>
        <p:txBody>
          <a:bodyPr>
            <a:normAutofit fontScale="85000" lnSpcReduction="10000"/>
          </a:bodyPr>
          <a:lstStyle/>
          <a:p>
            <a:r>
              <a:rPr lang="en-GB" dirty="0"/>
              <a:t>This model called situational leadership theory (SLT) is a contingency theory that focuses on followers' readiness. Hersey and Blanchard argue that successful leadership is achieved by selecting the right leadership style, which is contingent on the level of the followers' </a:t>
            </a:r>
            <a:r>
              <a:rPr lang="en-GB" dirty="0" smtClean="0"/>
              <a:t>readiness</a:t>
            </a:r>
            <a:endParaRPr lang="en-GB" dirty="0"/>
          </a:p>
          <a:p>
            <a:r>
              <a:rPr lang="en-GB" dirty="0"/>
              <a:t>it </a:t>
            </a:r>
            <a:r>
              <a:rPr lang="en-GB" i="1" dirty="0"/>
              <a:t>is </a:t>
            </a:r>
            <a:r>
              <a:rPr lang="en-GB" dirty="0"/>
              <a:t>the followers who accept or reject the leader. Regardless of what the leader does, effectiveness depends on the actions of his or her followers </a:t>
            </a:r>
          </a:p>
          <a:p>
            <a:r>
              <a:rPr lang="en-IN" dirty="0"/>
              <a:t>R</a:t>
            </a:r>
            <a:r>
              <a:rPr lang="en-GB" dirty="0" err="1" smtClean="0"/>
              <a:t>eadiness</a:t>
            </a:r>
            <a:r>
              <a:rPr lang="en-GB" dirty="0" smtClean="0"/>
              <a:t> refers </a:t>
            </a:r>
            <a:r>
              <a:rPr lang="en-GB" dirty="0"/>
              <a:t>to the extent to which people have the ability and willingness to accomplish a specific task</a:t>
            </a:r>
          </a:p>
          <a:p>
            <a:pPr marL="0" indent="0">
              <a:buNone/>
            </a:pPr>
            <a:endParaRPr lang="en-IN" dirty="0"/>
          </a:p>
          <a:p>
            <a:endParaRPr lang="en-IN" dirty="0"/>
          </a:p>
          <a:p>
            <a:endParaRPr lang="en-IN" dirty="0"/>
          </a:p>
          <a:p>
            <a:endParaRPr lang="en-IN" dirty="0"/>
          </a:p>
        </p:txBody>
      </p:sp>
    </p:spTree>
    <p:extLst>
      <p:ext uri="{BB962C8B-B14F-4D97-AF65-F5344CB8AC3E}">
        <p14:creationId xmlns:p14="http://schemas.microsoft.com/office/powerpoint/2010/main" val="1609901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sp>
        <p:nvSpPr>
          <p:cNvPr id="4" name="Title 1"/>
          <p:cNvSpPr>
            <a:spLocks noGrp="1"/>
          </p:cNvSpPr>
          <p:nvPr>
            <p:ph type="title"/>
          </p:nvPr>
        </p:nvSpPr>
        <p:spPr/>
        <p:txBody>
          <a:bodyPr>
            <a:normAutofit fontScale="90000"/>
          </a:bodyPr>
          <a:lstStyle/>
          <a:p>
            <a:r>
              <a:rPr lang="en-GB" b="1" dirty="0" smtClean="0"/>
              <a:t/>
            </a:r>
            <a:br>
              <a:rPr lang="en-GB" b="1" dirty="0" smtClean="0"/>
            </a:br>
            <a:r>
              <a:rPr lang="en-GB" b="1" dirty="0" smtClean="0"/>
              <a:t/>
            </a:r>
            <a:br>
              <a:rPr lang="en-GB" b="1" dirty="0" smtClean="0"/>
            </a:br>
            <a:r>
              <a:rPr lang="en-GB" sz="4000" dirty="0"/>
              <a:t/>
            </a:r>
            <a:br>
              <a:rPr lang="en-GB" sz="4000" dirty="0"/>
            </a:br>
            <a:r>
              <a:rPr lang="en-IN" dirty="0"/>
              <a:t>  </a:t>
            </a:r>
            <a:br>
              <a:rPr lang="en-IN" dirty="0"/>
            </a:b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6106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2288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endParaRPr lang="en-IN" dirty="0"/>
          </a:p>
          <a:p>
            <a:r>
              <a:rPr lang="en-GB" b="1" i="1" dirty="0"/>
              <a:t>Telling </a:t>
            </a:r>
            <a:r>
              <a:rPr lang="en-GB" b="1" dirty="0"/>
              <a:t>(high task–low relationship)</a:t>
            </a:r>
            <a:r>
              <a:rPr lang="en-GB" dirty="0"/>
              <a:t>: The leader defines roles and tells people what, how, when, and where to do various tasks.</a:t>
            </a:r>
          </a:p>
          <a:p>
            <a:r>
              <a:rPr lang="en-GB" b="1" i="1" dirty="0"/>
              <a:t>Selling </a:t>
            </a:r>
            <a:r>
              <a:rPr lang="en-GB" b="1" dirty="0"/>
              <a:t>(high task–high relationship)</a:t>
            </a:r>
            <a:r>
              <a:rPr lang="en-GB" dirty="0"/>
              <a:t>: The leader provides both directive and supportive </a:t>
            </a:r>
            <a:r>
              <a:rPr lang="en-GB" dirty="0" err="1"/>
              <a:t>behavior</a:t>
            </a:r>
            <a:r>
              <a:rPr lang="en-GB" dirty="0"/>
              <a:t>.</a:t>
            </a:r>
          </a:p>
          <a:p>
            <a:r>
              <a:rPr lang="en-GB" b="1" i="1" dirty="0"/>
              <a:t>Participating </a:t>
            </a:r>
            <a:r>
              <a:rPr lang="en-GB" b="1" dirty="0"/>
              <a:t>(low task–high relationship)</a:t>
            </a:r>
            <a:r>
              <a:rPr lang="en-GB" dirty="0"/>
              <a:t>: The leader and follower share in decision making; the main role of the leader is facilitating and communicating.</a:t>
            </a:r>
          </a:p>
          <a:p>
            <a:r>
              <a:rPr lang="en-GB" b="1" i="1" dirty="0"/>
              <a:t>Delegating </a:t>
            </a:r>
            <a:r>
              <a:rPr lang="en-GB" b="1" dirty="0"/>
              <a:t>(low task–low relationship)</a:t>
            </a:r>
            <a:r>
              <a:rPr lang="en-GB" dirty="0"/>
              <a:t>: The leader provides little direction or support.</a:t>
            </a:r>
          </a:p>
          <a:p>
            <a:endParaRPr lang="en-IN" dirty="0"/>
          </a:p>
          <a:p>
            <a:pPr marL="0" indent="0">
              <a:buNone/>
            </a:pPr>
            <a:endParaRPr lang="en-IN" dirty="0"/>
          </a:p>
          <a:p>
            <a:endParaRPr lang="en-IN" dirty="0"/>
          </a:p>
        </p:txBody>
      </p:sp>
      <p:sp>
        <p:nvSpPr>
          <p:cNvPr id="4" name="Title 1"/>
          <p:cNvSpPr>
            <a:spLocks noGrp="1"/>
          </p:cNvSpPr>
          <p:nvPr>
            <p:ph type="title"/>
          </p:nvPr>
        </p:nvSpPr>
        <p:spPr/>
        <p:txBody>
          <a:bodyPr>
            <a:normAutofit fontScale="90000"/>
          </a:bodyPr>
          <a:lstStyle/>
          <a:p>
            <a:r>
              <a:rPr lang="en-GB" b="1" dirty="0" smtClean="0"/>
              <a:t/>
            </a:r>
            <a:br>
              <a:rPr lang="en-GB" b="1" dirty="0" smtClean="0"/>
            </a:br>
            <a:r>
              <a:rPr lang="en-GB" b="1" dirty="0" smtClean="0"/>
              <a:t/>
            </a:r>
            <a:br>
              <a:rPr lang="en-GB" b="1" dirty="0" smtClean="0"/>
            </a:br>
            <a:r>
              <a:rPr lang="en-GB" sz="4000" b="1" dirty="0" smtClean="0"/>
              <a:t>Hersey </a:t>
            </a:r>
            <a:r>
              <a:rPr lang="en-GB" sz="4000" b="1" dirty="0"/>
              <a:t>and Blanchard's Situational Leadership </a:t>
            </a:r>
            <a:r>
              <a:rPr lang="en-GB" sz="4000" b="1" dirty="0" smtClean="0"/>
              <a:t>Theory (1969)</a:t>
            </a:r>
            <a:r>
              <a:rPr lang="en-GB" sz="4000" dirty="0"/>
              <a:t/>
            </a:r>
            <a:br>
              <a:rPr lang="en-GB" sz="4000" dirty="0"/>
            </a:br>
            <a:r>
              <a:rPr lang="en-IN" dirty="0"/>
              <a:t>  </a:t>
            </a:r>
            <a:br>
              <a:rPr lang="en-IN" dirty="0"/>
            </a:br>
            <a:endParaRPr lang="en-IN" dirty="0"/>
          </a:p>
        </p:txBody>
      </p:sp>
    </p:spTree>
    <p:extLst>
      <p:ext uri="{BB962C8B-B14F-4D97-AF65-F5344CB8AC3E}">
        <p14:creationId xmlns:p14="http://schemas.microsoft.com/office/powerpoint/2010/main" val="2351991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txBox="1">
            <a:spLocks noGrp="1"/>
          </p:cNvSpPr>
          <p:nvPr>
            <p:ph idx="1"/>
          </p:nvPr>
        </p:nvSpPr>
        <p:spPr>
          <a:xfrm>
            <a:off x="533400" y="304800"/>
            <a:ext cx="8229600" cy="5176802"/>
          </a:xfrm>
          <a:prstGeom prst="rect">
            <a:avLst/>
          </a:prstGeom>
          <a:noFill/>
        </p:spPr>
        <p:txBody>
          <a:bodyPr wrap="square" rtlCol="0">
            <a:spAutoFit/>
          </a:bodyPr>
          <a:lstStyle/>
          <a:p>
            <a:pPr marL="0" indent="0">
              <a:buNone/>
            </a:pPr>
            <a:r>
              <a:rPr lang="en-GB" sz="2800" dirty="0"/>
              <a:t>F</a:t>
            </a:r>
            <a:r>
              <a:rPr lang="en-GB" sz="2800" dirty="0" smtClean="0"/>
              <a:t>our </a:t>
            </a:r>
            <a:r>
              <a:rPr lang="en-GB" sz="2800" dirty="0"/>
              <a:t>stages of follower readiness:</a:t>
            </a:r>
          </a:p>
          <a:p>
            <a:r>
              <a:rPr lang="en-GB" sz="2800" i="1" dirty="0"/>
              <a:t>R1</a:t>
            </a:r>
            <a:r>
              <a:rPr lang="en-GB" sz="2800" dirty="0"/>
              <a:t>: People are both unable and unwilling to take responsibility for doing something. They're neither competent nor confident.</a:t>
            </a:r>
          </a:p>
          <a:p>
            <a:r>
              <a:rPr lang="en-GB" sz="2800" i="1" dirty="0"/>
              <a:t>R2</a:t>
            </a:r>
            <a:r>
              <a:rPr lang="en-GB" sz="2800" dirty="0"/>
              <a:t>: People are unable but willing to do the necessary job tasks. They're motivated but currently lack the appropriate skills.</a:t>
            </a:r>
          </a:p>
          <a:p>
            <a:r>
              <a:rPr lang="en-GB" sz="2800" i="1" dirty="0"/>
              <a:t>R3</a:t>
            </a:r>
            <a:r>
              <a:rPr lang="en-GB" sz="2800" dirty="0"/>
              <a:t>: People are able but unwilling to do what the leader wants.</a:t>
            </a:r>
          </a:p>
          <a:p>
            <a:r>
              <a:rPr lang="en-GB" sz="2800" i="1" dirty="0"/>
              <a:t>R4</a:t>
            </a:r>
            <a:r>
              <a:rPr lang="en-GB" sz="2800" dirty="0"/>
              <a:t>: People are both able and willing to do what is asked of them</a:t>
            </a:r>
            <a:r>
              <a:rPr lang="en-GB" sz="2800" dirty="0" smtClean="0"/>
              <a:t>.</a:t>
            </a:r>
            <a:endParaRPr lang="en-GB" sz="2800" dirty="0"/>
          </a:p>
        </p:txBody>
      </p:sp>
    </p:spTree>
    <p:extLst>
      <p:ext uri="{BB962C8B-B14F-4D97-AF65-F5344CB8AC3E}">
        <p14:creationId xmlns:p14="http://schemas.microsoft.com/office/powerpoint/2010/main" val="523755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Summing up the theory:</a:t>
            </a:r>
            <a:endParaRPr lang="en-IN" dirty="0"/>
          </a:p>
        </p:txBody>
      </p:sp>
      <p:sp>
        <p:nvSpPr>
          <p:cNvPr id="3" name="Content Placeholder 2"/>
          <p:cNvSpPr>
            <a:spLocks noGrp="1"/>
          </p:cNvSpPr>
          <p:nvPr>
            <p:ph idx="1"/>
          </p:nvPr>
        </p:nvSpPr>
        <p:spPr/>
        <p:txBody>
          <a:bodyPr>
            <a:normAutofit fontScale="77500" lnSpcReduction="20000"/>
          </a:bodyPr>
          <a:lstStyle/>
          <a:p>
            <a:r>
              <a:rPr lang="en-GB" dirty="0"/>
              <a:t>I</a:t>
            </a:r>
            <a:r>
              <a:rPr lang="en-GB" dirty="0" smtClean="0"/>
              <a:t>f </a:t>
            </a:r>
            <a:r>
              <a:rPr lang="en-GB" dirty="0"/>
              <a:t>followers are </a:t>
            </a:r>
            <a:r>
              <a:rPr lang="en-GB" i="1" dirty="0"/>
              <a:t>unable </a:t>
            </a:r>
            <a:r>
              <a:rPr lang="en-GB" dirty="0"/>
              <a:t>and </a:t>
            </a:r>
            <a:r>
              <a:rPr lang="en-GB" i="1" dirty="0"/>
              <a:t>unwilling </a:t>
            </a:r>
            <a:r>
              <a:rPr lang="en-GB" dirty="0"/>
              <a:t>to do a task, the leader needs to give clear and specific directions </a:t>
            </a:r>
            <a:r>
              <a:rPr lang="en-GB" b="1" dirty="0"/>
              <a:t>(telling)</a:t>
            </a:r>
            <a:r>
              <a:rPr lang="en-GB" dirty="0"/>
              <a:t>; </a:t>
            </a:r>
            <a:endParaRPr lang="en-GB" dirty="0" smtClean="0"/>
          </a:p>
          <a:p>
            <a:r>
              <a:rPr lang="en-GB" dirty="0" smtClean="0"/>
              <a:t>If </a:t>
            </a:r>
            <a:r>
              <a:rPr lang="en-GB" dirty="0"/>
              <a:t>followers are </a:t>
            </a:r>
            <a:r>
              <a:rPr lang="en-GB" i="1" dirty="0"/>
              <a:t>unable </a:t>
            </a:r>
            <a:r>
              <a:rPr lang="en-GB" dirty="0"/>
              <a:t>and </a:t>
            </a:r>
            <a:r>
              <a:rPr lang="en-GB" i="1" dirty="0"/>
              <a:t>willing</a:t>
            </a:r>
            <a:r>
              <a:rPr lang="en-GB" dirty="0"/>
              <a:t>, the leader needs to display high task orientation to compensate for the followers' lack of ability and high relationship orientation to get followers to "buy into" the leader's desires </a:t>
            </a:r>
            <a:r>
              <a:rPr lang="en-GB" b="1" dirty="0"/>
              <a:t>(selling)</a:t>
            </a:r>
            <a:r>
              <a:rPr lang="en-GB" dirty="0"/>
              <a:t>; </a:t>
            </a:r>
            <a:endParaRPr lang="en-GB" dirty="0" smtClean="0"/>
          </a:p>
          <a:p>
            <a:r>
              <a:rPr lang="en-GB" dirty="0" smtClean="0"/>
              <a:t>If </a:t>
            </a:r>
            <a:r>
              <a:rPr lang="en-GB" dirty="0"/>
              <a:t>followers are </a:t>
            </a:r>
            <a:r>
              <a:rPr lang="en-GB" i="1" dirty="0"/>
              <a:t>able </a:t>
            </a:r>
            <a:r>
              <a:rPr lang="en-GB" dirty="0"/>
              <a:t>and </a:t>
            </a:r>
            <a:r>
              <a:rPr lang="en-GB" i="1" dirty="0"/>
              <a:t>unwilling</a:t>
            </a:r>
            <a:r>
              <a:rPr lang="en-GB" dirty="0"/>
              <a:t>, the leader needs to use a supportive and participative style </a:t>
            </a:r>
            <a:r>
              <a:rPr lang="en-GB" b="1" dirty="0"/>
              <a:t>(participating)</a:t>
            </a:r>
            <a:r>
              <a:rPr lang="en-GB" dirty="0"/>
              <a:t>; and </a:t>
            </a:r>
            <a:endParaRPr lang="en-GB" dirty="0" smtClean="0"/>
          </a:p>
          <a:p>
            <a:r>
              <a:rPr lang="en-GB" dirty="0" smtClean="0"/>
              <a:t>If </a:t>
            </a:r>
            <a:r>
              <a:rPr lang="en-GB" dirty="0"/>
              <a:t>employees are both </a:t>
            </a:r>
            <a:r>
              <a:rPr lang="en-GB" i="1" dirty="0"/>
              <a:t>able </a:t>
            </a:r>
            <a:r>
              <a:rPr lang="en-GB" dirty="0"/>
              <a:t>and </a:t>
            </a:r>
            <a:r>
              <a:rPr lang="en-GB" i="1" dirty="0"/>
              <a:t>willing</a:t>
            </a:r>
            <a:r>
              <a:rPr lang="en-GB" dirty="0"/>
              <a:t>, the leader doesn't need to do much </a:t>
            </a:r>
            <a:r>
              <a:rPr lang="en-GB" b="1" dirty="0"/>
              <a:t>(delegating</a:t>
            </a:r>
            <a:r>
              <a:rPr lang="en-GB" b="1" dirty="0" smtClean="0"/>
              <a:t>)</a:t>
            </a:r>
            <a:endParaRPr lang="en-IN" dirty="0"/>
          </a:p>
          <a:p>
            <a:endParaRPr lang="en-IN" dirty="0"/>
          </a:p>
        </p:txBody>
      </p:sp>
    </p:spTree>
    <p:extLst>
      <p:ext uri="{BB962C8B-B14F-4D97-AF65-F5344CB8AC3E}">
        <p14:creationId xmlns:p14="http://schemas.microsoft.com/office/powerpoint/2010/main" val="3759546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endParaRPr lang="en-GB" dirty="0" smtClean="0"/>
          </a:p>
          <a:p>
            <a:pPr marL="0" indent="0" algn="ctr">
              <a:buNone/>
            </a:pPr>
            <a:r>
              <a:rPr lang="en-GB" b="1" dirty="0" smtClean="0"/>
              <a:t>Contingencies</a:t>
            </a:r>
            <a:r>
              <a:rPr lang="en-GB" dirty="0" smtClean="0"/>
              <a:t>—</a:t>
            </a:r>
          </a:p>
          <a:p>
            <a:pPr marL="0" indent="0" algn="ctr">
              <a:buNone/>
            </a:pPr>
            <a:r>
              <a:rPr lang="en-GB" dirty="0" smtClean="0"/>
              <a:t>Decision </a:t>
            </a:r>
            <a:r>
              <a:rPr lang="en-GB" dirty="0"/>
              <a:t>significance, </a:t>
            </a:r>
            <a:endParaRPr lang="en-GB" dirty="0" smtClean="0"/>
          </a:p>
          <a:p>
            <a:pPr marL="0" indent="0" algn="ctr">
              <a:buNone/>
            </a:pPr>
            <a:r>
              <a:rPr lang="en-GB" dirty="0" smtClean="0"/>
              <a:t>Importance </a:t>
            </a:r>
            <a:r>
              <a:rPr lang="en-GB" dirty="0"/>
              <a:t>of commitment, </a:t>
            </a:r>
            <a:endParaRPr lang="en-GB" dirty="0" smtClean="0"/>
          </a:p>
          <a:p>
            <a:pPr marL="0" indent="0" algn="ctr">
              <a:buNone/>
            </a:pPr>
            <a:r>
              <a:rPr lang="en-GB" dirty="0" smtClean="0"/>
              <a:t>Leader </a:t>
            </a:r>
            <a:r>
              <a:rPr lang="en-GB" dirty="0"/>
              <a:t>expertise, </a:t>
            </a:r>
            <a:endParaRPr lang="en-GB" dirty="0" smtClean="0"/>
          </a:p>
          <a:p>
            <a:pPr marL="0" indent="0" algn="ctr">
              <a:buNone/>
            </a:pPr>
            <a:r>
              <a:rPr lang="en-GB" dirty="0" smtClean="0"/>
              <a:t>Likelihood </a:t>
            </a:r>
            <a:r>
              <a:rPr lang="en-GB" dirty="0"/>
              <a:t>of commitment, </a:t>
            </a:r>
            <a:endParaRPr lang="en-GB" dirty="0" smtClean="0"/>
          </a:p>
          <a:p>
            <a:pPr marL="0" indent="0" algn="ctr">
              <a:buNone/>
            </a:pPr>
            <a:r>
              <a:rPr lang="en-GB" dirty="0" smtClean="0"/>
              <a:t>Group </a:t>
            </a:r>
            <a:r>
              <a:rPr lang="en-GB" dirty="0"/>
              <a:t>support, </a:t>
            </a:r>
            <a:endParaRPr lang="en-GB" dirty="0" smtClean="0"/>
          </a:p>
          <a:p>
            <a:pPr marL="0" indent="0" algn="ctr">
              <a:buNone/>
            </a:pPr>
            <a:r>
              <a:rPr lang="en-GB" dirty="0" smtClean="0"/>
              <a:t>Group </a:t>
            </a:r>
            <a:r>
              <a:rPr lang="en-GB" dirty="0"/>
              <a:t>expertise, and </a:t>
            </a:r>
            <a:endParaRPr lang="en-GB" dirty="0" smtClean="0"/>
          </a:p>
          <a:p>
            <a:pPr marL="0" indent="0" algn="ctr">
              <a:buNone/>
            </a:pPr>
            <a:r>
              <a:rPr lang="en-GB" dirty="0" smtClean="0"/>
              <a:t>Team competence</a:t>
            </a:r>
          </a:p>
          <a:p>
            <a:pPr marL="0" indent="0" algn="ctr">
              <a:buNone/>
            </a:pPr>
            <a:r>
              <a:rPr lang="en-GB" dirty="0" smtClean="0"/>
              <a:t>—</a:t>
            </a:r>
            <a:r>
              <a:rPr lang="en-GB" b="1" dirty="0"/>
              <a:t>are either present in the situation (H for high) or absent (L for low) </a:t>
            </a:r>
            <a:endParaRPr lang="en-IN" b="1" dirty="0"/>
          </a:p>
          <a:p>
            <a:endParaRPr lang="en-IN" dirty="0"/>
          </a:p>
        </p:txBody>
      </p:sp>
      <p:sp>
        <p:nvSpPr>
          <p:cNvPr id="4" name="Title 1"/>
          <p:cNvSpPr>
            <a:spLocks noGrp="1"/>
          </p:cNvSpPr>
          <p:nvPr>
            <p:ph type="title"/>
          </p:nvPr>
        </p:nvSpPr>
        <p:spPr/>
        <p:txBody>
          <a:bodyPr>
            <a:noAutofit/>
          </a:bodyPr>
          <a:lstStyle/>
          <a:p>
            <a:r>
              <a:rPr lang="en-GB" sz="2800" b="1" dirty="0" smtClean="0"/>
              <a:t>Leader participation model (Victor </a:t>
            </a:r>
            <a:r>
              <a:rPr lang="en-GB" sz="2800" b="1" dirty="0"/>
              <a:t>Vroom and Philip </a:t>
            </a:r>
            <a:r>
              <a:rPr lang="en-GB" sz="2800" b="1" dirty="0" err="1"/>
              <a:t>Yetton</a:t>
            </a:r>
            <a:r>
              <a:rPr lang="en-GB" sz="2800" b="1" dirty="0"/>
              <a:t> (1973, later revised with Arthur </a:t>
            </a:r>
            <a:r>
              <a:rPr lang="en-GB" sz="2800" b="1" dirty="0" err="1"/>
              <a:t>Jago</a:t>
            </a:r>
            <a:r>
              <a:rPr lang="en-GB" sz="2800" b="1" dirty="0"/>
              <a:t> in 1988</a:t>
            </a:r>
            <a:r>
              <a:rPr lang="en-GB" sz="2800" b="1" dirty="0" smtClean="0"/>
              <a:t>)</a:t>
            </a:r>
            <a:endParaRPr lang="en-IN" sz="2800" dirty="0"/>
          </a:p>
        </p:txBody>
      </p:sp>
    </p:spTree>
    <p:extLst>
      <p:ext uri="{BB962C8B-B14F-4D97-AF65-F5344CB8AC3E}">
        <p14:creationId xmlns:p14="http://schemas.microsoft.com/office/powerpoint/2010/main" val="1409014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a:t>Leader participation model (Victor Vroom and Philip </a:t>
            </a:r>
            <a:r>
              <a:rPr lang="en-GB" sz="3200" b="1" dirty="0" err="1"/>
              <a:t>Yetton</a:t>
            </a:r>
            <a:r>
              <a:rPr lang="en-GB" sz="3200" b="1" dirty="0"/>
              <a:t> (1973, later revised with Arthur </a:t>
            </a:r>
            <a:r>
              <a:rPr lang="en-GB" sz="3200" b="1" dirty="0" err="1"/>
              <a:t>Jago</a:t>
            </a:r>
            <a:r>
              <a:rPr lang="en-GB" sz="3200" b="1" dirty="0"/>
              <a:t> in 1988)</a:t>
            </a:r>
            <a:endParaRPr lang="en-IN"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14554550"/>
              </p:ext>
            </p:extLst>
          </p:nvPr>
        </p:nvGraphicFramePr>
        <p:xfrm>
          <a:off x="457200" y="1600200"/>
          <a:ext cx="8229600" cy="4668520"/>
        </p:xfrm>
        <a:graphic>
          <a:graphicData uri="http://schemas.openxmlformats.org/drawingml/2006/table">
            <a:tbl>
              <a:tblPr firstRow="1" bandRow="1">
                <a:tableStyleId>{5C22544A-7EE6-4342-B048-85BDC9FD1C3A}</a:tableStyleId>
              </a:tblPr>
              <a:tblGrid>
                <a:gridCol w="4114800"/>
                <a:gridCol w="4114800"/>
              </a:tblGrid>
              <a:tr h="370840">
                <a:tc gridSpan="2">
                  <a:txBody>
                    <a:bodyPr/>
                    <a:lstStyle/>
                    <a:p>
                      <a:pPr algn="ctr"/>
                      <a:r>
                        <a:rPr lang="en-GB" sz="1800" b="1" i="0" u="none" strike="noStrike" kern="1200" baseline="0" dirty="0" smtClean="0">
                          <a:solidFill>
                            <a:schemeClr val="lt1"/>
                          </a:solidFill>
                          <a:latin typeface="+mn-lt"/>
                          <a:ea typeface="+mn-ea"/>
                          <a:cs typeface="+mn-cs"/>
                        </a:rPr>
                        <a:t>Leadership Styles in the Vroom Leader Participation Model</a:t>
                      </a:r>
                      <a:endParaRPr lang="en-GB" sz="1800" b="0" i="0" u="none" strike="noStrike" kern="1200" baseline="0" dirty="0" smtClean="0">
                        <a:solidFill>
                          <a:schemeClr val="lt1"/>
                        </a:solidFill>
                        <a:latin typeface="+mn-lt"/>
                        <a:ea typeface="+mn-ea"/>
                        <a:cs typeface="+mn-cs"/>
                      </a:endParaRPr>
                    </a:p>
                  </a:txBody>
                  <a:tcPr/>
                </a:tc>
                <a:tc hMerge="1">
                  <a:txBody>
                    <a:bodyPr/>
                    <a:lstStyle/>
                    <a:p>
                      <a:endParaRPr lang="en-IN" dirty="0"/>
                    </a:p>
                  </a:txBody>
                  <a:tcPr/>
                </a:tc>
              </a:tr>
              <a:tr h="370840">
                <a:tc>
                  <a:txBody>
                    <a:bodyPr/>
                    <a:lstStyle/>
                    <a:p>
                      <a:r>
                        <a:rPr lang="en-GB" dirty="0" smtClean="0"/>
                        <a:t>Autocratic Type</a:t>
                      </a:r>
                      <a:r>
                        <a:rPr lang="en-GB" baseline="0" dirty="0" smtClean="0"/>
                        <a:t> I (</a:t>
                      </a:r>
                      <a:r>
                        <a:rPr lang="en-GB" dirty="0" smtClean="0"/>
                        <a:t>Decide)</a:t>
                      </a:r>
                      <a:endParaRPr lang="en-IN" dirty="0"/>
                    </a:p>
                  </a:txBody>
                  <a:tcPr/>
                </a:tc>
                <a:tc>
                  <a:txBody>
                    <a:bodyPr/>
                    <a:lstStyle/>
                    <a:p>
                      <a:r>
                        <a:rPr lang="en-GB" sz="1800" b="0" i="0" u="none" strike="noStrike" kern="1200" baseline="0" dirty="0" smtClean="0">
                          <a:solidFill>
                            <a:schemeClr val="dk1"/>
                          </a:solidFill>
                          <a:latin typeface="+mn-lt"/>
                          <a:ea typeface="+mn-ea"/>
                          <a:cs typeface="+mn-cs"/>
                        </a:rPr>
                        <a:t>Leader makes the decision alone and either announces or sells it to group.</a:t>
                      </a:r>
                    </a:p>
                  </a:txBody>
                  <a:tcPr/>
                </a:tc>
              </a:tr>
              <a:tr h="370840">
                <a:tc>
                  <a:txBody>
                    <a:bodyPr/>
                    <a:lstStyle/>
                    <a:p>
                      <a:r>
                        <a:rPr lang="en-GB" dirty="0" smtClean="0"/>
                        <a:t>Autocratic Type II (Consult individually)</a:t>
                      </a:r>
                      <a:endParaRPr lang="en-IN" dirty="0"/>
                    </a:p>
                  </a:txBody>
                  <a:tcPr/>
                </a:tc>
                <a:tc>
                  <a:txBody>
                    <a:bodyPr/>
                    <a:lstStyle/>
                    <a:p>
                      <a:r>
                        <a:rPr lang="en-GB" sz="1800" b="0" i="0" u="none" strike="noStrike" kern="1200" baseline="0" dirty="0" smtClean="0">
                          <a:solidFill>
                            <a:schemeClr val="dk1"/>
                          </a:solidFill>
                          <a:latin typeface="+mn-lt"/>
                          <a:ea typeface="+mn-ea"/>
                          <a:cs typeface="+mn-cs"/>
                        </a:rPr>
                        <a:t>Leader presents the problem to group members individually, gets their suggestions, and then makes the decision.</a:t>
                      </a:r>
                    </a:p>
                  </a:txBody>
                  <a:tcPr/>
                </a:tc>
              </a:tr>
              <a:tr h="370840">
                <a:tc>
                  <a:txBody>
                    <a:bodyPr/>
                    <a:lstStyle/>
                    <a:p>
                      <a:r>
                        <a:rPr lang="en-GB" dirty="0" smtClean="0"/>
                        <a:t>Consultative Type I (Consult group)</a:t>
                      </a:r>
                      <a:endParaRPr lang="en-IN" dirty="0"/>
                    </a:p>
                  </a:txBody>
                  <a:tcPr/>
                </a:tc>
                <a:tc>
                  <a:txBody>
                    <a:bodyPr/>
                    <a:lstStyle/>
                    <a:p>
                      <a:r>
                        <a:rPr lang="en-GB" sz="1800" b="0" i="0" u="none" strike="noStrike" kern="1200" baseline="0" dirty="0" smtClean="0">
                          <a:solidFill>
                            <a:schemeClr val="dk1"/>
                          </a:solidFill>
                          <a:latin typeface="+mn-lt"/>
                          <a:ea typeface="+mn-ea"/>
                          <a:cs typeface="+mn-cs"/>
                        </a:rPr>
                        <a:t>Leader presents the problem to group members in a meeting, gets their suggestions, and then makes the decision</a:t>
                      </a:r>
                    </a:p>
                  </a:txBody>
                  <a:tcPr/>
                </a:tc>
              </a:tr>
              <a:tr h="370840">
                <a:tc>
                  <a:txBody>
                    <a:bodyPr/>
                    <a:lstStyle/>
                    <a:p>
                      <a:r>
                        <a:rPr lang="en-GB" dirty="0" smtClean="0"/>
                        <a:t>Consultative Type II (Facilitate)</a:t>
                      </a:r>
                      <a:endParaRPr lang="en-IN" dirty="0"/>
                    </a:p>
                  </a:txBody>
                  <a:tcPr/>
                </a:tc>
                <a:tc>
                  <a:txBody>
                    <a:bodyPr/>
                    <a:lstStyle/>
                    <a:p>
                      <a:r>
                        <a:rPr lang="en-GB" sz="1800" b="0" i="0" u="none" strike="noStrike" kern="1200" baseline="0" dirty="0" smtClean="0">
                          <a:solidFill>
                            <a:schemeClr val="dk1"/>
                          </a:solidFill>
                          <a:latin typeface="+mn-lt"/>
                          <a:ea typeface="+mn-ea"/>
                          <a:cs typeface="+mn-cs"/>
                        </a:rPr>
                        <a:t>Leader presents the problem to the group in a meeting and, acting as facilitator, defines the problem and the boundaries within which a decision must be made.</a:t>
                      </a:r>
                    </a:p>
                  </a:txBody>
                  <a:tcPr/>
                </a:tc>
              </a:tr>
              <a:tr h="370840">
                <a:tc>
                  <a:txBody>
                    <a:bodyPr/>
                    <a:lstStyle/>
                    <a:p>
                      <a:r>
                        <a:rPr lang="en-GB" dirty="0" smtClean="0"/>
                        <a:t>Group</a:t>
                      </a:r>
                      <a:r>
                        <a:rPr lang="en-GB" baseline="0" dirty="0" smtClean="0"/>
                        <a:t>-Based Type II (</a:t>
                      </a:r>
                      <a:r>
                        <a:rPr lang="en-GB" dirty="0" smtClean="0"/>
                        <a:t>Delegate)</a:t>
                      </a:r>
                      <a:endParaRPr lang="en-IN" dirty="0"/>
                    </a:p>
                  </a:txBody>
                  <a:tcPr/>
                </a:tc>
                <a:tc>
                  <a:txBody>
                    <a:bodyPr/>
                    <a:lstStyle/>
                    <a:p>
                      <a:r>
                        <a:rPr lang="en-GB" sz="1800" b="0" i="0" u="none" strike="noStrike" kern="1200" baseline="0" dirty="0" smtClean="0">
                          <a:solidFill>
                            <a:schemeClr val="dk1"/>
                          </a:solidFill>
                          <a:latin typeface="+mn-lt"/>
                          <a:ea typeface="+mn-ea"/>
                          <a:cs typeface="+mn-cs"/>
                        </a:rPr>
                        <a:t>Leader permits the group to make the decision within prescribed limits.</a:t>
                      </a:r>
                    </a:p>
                  </a:txBody>
                  <a:tcPr/>
                </a:tc>
              </a:tr>
            </a:tbl>
          </a:graphicData>
        </a:graphic>
      </p:graphicFrame>
    </p:spTree>
    <p:extLst>
      <p:ext uri="{BB962C8B-B14F-4D97-AF65-F5344CB8AC3E}">
        <p14:creationId xmlns:p14="http://schemas.microsoft.com/office/powerpoint/2010/main" val="2337044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381000"/>
            <a:ext cx="7772400" cy="5549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3939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Robert House’s Path-Goal Theory (1971, 1996)</a:t>
            </a:r>
            <a:endParaRPr lang="en-IN" dirty="0"/>
          </a:p>
        </p:txBody>
      </p:sp>
      <p:sp>
        <p:nvSpPr>
          <p:cNvPr id="3" name="Content Placeholder 2"/>
          <p:cNvSpPr>
            <a:spLocks noGrp="1"/>
          </p:cNvSpPr>
          <p:nvPr>
            <p:ph idx="1"/>
          </p:nvPr>
        </p:nvSpPr>
        <p:spPr/>
        <p:txBody>
          <a:bodyPr>
            <a:normAutofit fontScale="77500" lnSpcReduction="20000"/>
          </a:bodyPr>
          <a:lstStyle/>
          <a:p>
            <a:r>
              <a:rPr lang="en-GB" dirty="0"/>
              <a:t>I</a:t>
            </a:r>
            <a:r>
              <a:rPr lang="en-GB" dirty="0" smtClean="0"/>
              <a:t>t's </a:t>
            </a:r>
            <a:r>
              <a:rPr lang="en-GB" dirty="0"/>
              <a:t>the leader's job to assist his or her followers in attaining their goals and to provide the direction or support needed to ensure that their goals are compatible with the overall objectives of the group or organization </a:t>
            </a:r>
          </a:p>
          <a:p>
            <a:r>
              <a:rPr lang="en-GB" dirty="0"/>
              <a:t>The term </a:t>
            </a:r>
            <a:r>
              <a:rPr lang="en-GB" b="1" i="1" dirty="0"/>
              <a:t>path-goal</a:t>
            </a:r>
            <a:r>
              <a:rPr lang="en-GB" i="1" dirty="0"/>
              <a:t> </a:t>
            </a:r>
            <a:r>
              <a:rPr lang="en-GB" dirty="0"/>
              <a:t>is derived from the belief that effective leaders clarify the path to help their followers get from where they are to the achievement of their work goals and make the journey along the path easier by reducing roadblocks and pitfalls</a:t>
            </a:r>
            <a:r>
              <a:rPr lang="en-GB" dirty="0" smtClean="0"/>
              <a:t>.</a:t>
            </a:r>
          </a:p>
          <a:p>
            <a:r>
              <a:rPr lang="en-GB" dirty="0"/>
              <a:t>House assumes that leaders are </a:t>
            </a:r>
            <a:r>
              <a:rPr lang="en-GB" b="1" u="sng" dirty="0"/>
              <a:t>flexible</a:t>
            </a:r>
            <a:r>
              <a:rPr lang="en-GB" dirty="0"/>
              <a:t>. In other words, path-goal theory assumes that the same leader can display any or all of these leadership styles depending on the situation</a:t>
            </a:r>
            <a:r>
              <a:rPr lang="en-GB" dirty="0" smtClean="0"/>
              <a:t>.</a:t>
            </a:r>
            <a:endParaRPr lang="en-IN" dirty="0"/>
          </a:p>
          <a:p>
            <a:endParaRPr lang="en-IN" dirty="0"/>
          </a:p>
          <a:p>
            <a:endParaRPr lang="en-IN" dirty="0"/>
          </a:p>
        </p:txBody>
      </p:sp>
    </p:spTree>
    <p:extLst>
      <p:ext uri="{BB962C8B-B14F-4D97-AF65-F5344CB8AC3E}">
        <p14:creationId xmlns:p14="http://schemas.microsoft.com/office/powerpoint/2010/main" val="1484705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GB" b="1" dirty="0"/>
              <a:t>Directive leader: </a:t>
            </a:r>
            <a:r>
              <a:rPr lang="en-GB" dirty="0" smtClean="0"/>
              <a:t>The leader lets </a:t>
            </a:r>
            <a:r>
              <a:rPr lang="en-GB" dirty="0"/>
              <a:t>subordinates know what's expected of them, schedules work to </a:t>
            </a:r>
            <a:r>
              <a:rPr lang="en-GB" dirty="0" smtClean="0"/>
              <a:t>be done</a:t>
            </a:r>
            <a:r>
              <a:rPr lang="en-GB" dirty="0"/>
              <a:t>, and gives specific guidance on how to accomplish tasks</a:t>
            </a:r>
          </a:p>
          <a:p>
            <a:pPr marL="0" indent="0">
              <a:buNone/>
            </a:pPr>
            <a:endParaRPr lang="en-GB" dirty="0"/>
          </a:p>
          <a:p>
            <a:r>
              <a:rPr lang="en-GB" b="1" dirty="0"/>
              <a:t>Supportive leader:</a:t>
            </a:r>
            <a:r>
              <a:rPr lang="en-GB" dirty="0"/>
              <a:t> </a:t>
            </a:r>
            <a:r>
              <a:rPr lang="en-GB" dirty="0" smtClean="0"/>
              <a:t>The leader is </a:t>
            </a:r>
            <a:r>
              <a:rPr lang="en-GB" dirty="0"/>
              <a:t>friendly and shows concern for the needs of followers</a:t>
            </a:r>
          </a:p>
          <a:p>
            <a:pPr marL="0" indent="0">
              <a:buNone/>
            </a:pPr>
            <a:endParaRPr lang="en-GB" dirty="0"/>
          </a:p>
          <a:p>
            <a:r>
              <a:rPr lang="en-GB" b="1" dirty="0"/>
              <a:t>Participative leader:</a:t>
            </a:r>
            <a:r>
              <a:rPr lang="en-GB" dirty="0"/>
              <a:t> </a:t>
            </a:r>
            <a:r>
              <a:rPr lang="en-GB" dirty="0" smtClean="0"/>
              <a:t>The leader consults </a:t>
            </a:r>
            <a:r>
              <a:rPr lang="en-GB" dirty="0"/>
              <a:t>with group members and uses their suggestions before making a decision</a:t>
            </a:r>
          </a:p>
          <a:p>
            <a:pPr marL="0" indent="0">
              <a:buNone/>
            </a:pPr>
            <a:endParaRPr lang="en-GB" dirty="0"/>
          </a:p>
          <a:p>
            <a:r>
              <a:rPr lang="en-GB" b="1" dirty="0"/>
              <a:t>Achievement-oriented leader: </a:t>
            </a:r>
            <a:r>
              <a:rPr lang="en-GB" dirty="0" smtClean="0"/>
              <a:t>The leader sets </a:t>
            </a:r>
            <a:r>
              <a:rPr lang="en-GB" dirty="0"/>
              <a:t>challenging goals and expects followers to perform at their highest level</a:t>
            </a:r>
            <a:endParaRPr lang="en-IN" dirty="0"/>
          </a:p>
        </p:txBody>
      </p:sp>
      <p:sp>
        <p:nvSpPr>
          <p:cNvPr id="4" name="Title 1"/>
          <p:cNvSpPr>
            <a:spLocks noGrp="1"/>
          </p:cNvSpPr>
          <p:nvPr>
            <p:ph type="title"/>
          </p:nvPr>
        </p:nvSpPr>
        <p:spPr/>
        <p:txBody>
          <a:bodyPr>
            <a:normAutofit fontScale="90000"/>
          </a:bodyPr>
          <a:lstStyle/>
          <a:p>
            <a:r>
              <a:rPr lang="en-GB" dirty="0"/>
              <a:t>Robert House’s Path-Goal Theory (1971, 1996)</a:t>
            </a:r>
            <a:endParaRPr lang="en-IN" dirty="0"/>
          </a:p>
        </p:txBody>
      </p:sp>
    </p:spTree>
    <p:extLst>
      <p:ext uri="{BB962C8B-B14F-4D97-AF65-F5344CB8AC3E}">
        <p14:creationId xmlns:p14="http://schemas.microsoft.com/office/powerpoint/2010/main" val="424749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143000"/>
          </a:xfrm>
        </p:spPr>
        <p:txBody>
          <a:bodyPr/>
          <a:lstStyle/>
          <a:p>
            <a:r>
              <a:rPr lang="en-GB" dirty="0" smtClean="0"/>
              <a:t>Cutting-edge theories of leadership</a:t>
            </a:r>
            <a:endParaRPr lang="en-IN" dirty="0"/>
          </a:p>
        </p:txBody>
      </p:sp>
      <p:sp>
        <p:nvSpPr>
          <p:cNvPr id="3" name="Content Placeholder 2"/>
          <p:cNvSpPr>
            <a:spLocks noGrp="1"/>
          </p:cNvSpPr>
          <p:nvPr>
            <p:ph idx="1"/>
          </p:nvPr>
        </p:nvSpPr>
        <p:spPr>
          <a:xfrm>
            <a:off x="457200" y="3200400"/>
            <a:ext cx="8229600" cy="2925763"/>
          </a:xfrm>
        </p:spPr>
        <p:txBody>
          <a:bodyPr/>
          <a:lstStyle/>
          <a:p>
            <a:r>
              <a:rPr lang="en-GB" dirty="0"/>
              <a:t>T</a:t>
            </a:r>
            <a:r>
              <a:rPr lang="en-GB" dirty="0" smtClean="0"/>
              <a:t>ransformational-transactional leadership</a:t>
            </a:r>
          </a:p>
          <a:p>
            <a:r>
              <a:rPr lang="en-GB" dirty="0" smtClean="0"/>
              <a:t>Charismatic-visionary leadership</a:t>
            </a:r>
          </a:p>
          <a:p>
            <a:r>
              <a:rPr lang="en-GB" dirty="0"/>
              <a:t>T</a:t>
            </a:r>
            <a:r>
              <a:rPr lang="en-GB" dirty="0" smtClean="0"/>
              <a:t>eam leadership</a:t>
            </a:r>
            <a:endParaRPr lang="en-IN" dirty="0"/>
          </a:p>
          <a:p>
            <a:endParaRPr lang="en-IN" dirty="0"/>
          </a:p>
        </p:txBody>
      </p:sp>
    </p:spTree>
    <p:extLst>
      <p:ext uri="{BB962C8B-B14F-4D97-AF65-F5344CB8AC3E}">
        <p14:creationId xmlns:p14="http://schemas.microsoft.com/office/powerpoint/2010/main" val="1901546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Transactional-Transformational Leadership</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29817107"/>
              </p:ext>
            </p:extLst>
          </p:nvPr>
        </p:nvGraphicFramePr>
        <p:xfrm>
          <a:off x="533400" y="2362200"/>
          <a:ext cx="8229600" cy="329692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smtClean="0"/>
                        <a:t>Transactional leadership</a:t>
                      </a:r>
                      <a:endParaRPr lang="en-IN" dirty="0"/>
                    </a:p>
                  </a:txBody>
                  <a:tcPr/>
                </a:tc>
                <a:tc>
                  <a:txBody>
                    <a:bodyPr/>
                    <a:lstStyle/>
                    <a:p>
                      <a:r>
                        <a:rPr lang="en-GB" dirty="0" smtClean="0"/>
                        <a:t>Transformational</a:t>
                      </a:r>
                      <a:r>
                        <a:rPr lang="en-GB" baseline="0" dirty="0" smtClean="0"/>
                        <a:t> leadership</a:t>
                      </a:r>
                      <a:endParaRPr lang="en-IN" dirty="0"/>
                    </a:p>
                  </a:txBody>
                  <a:tcPr/>
                </a:tc>
              </a:tr>
              <a:tr h="370840">
                <a:tc>
                  <a:txBody>
                    <a:bodyPr/>
                    <a:lstStyle/>
                    <a:p>
                      <a:r>
                        <a:rPr lang="en-GB" sz="1800" b="0" i="0" u="none" strike="noStrike" kern="1200" baseline="0" dirty="0" smtClean="0">
                          <a:solidFill>
                            <a:schemeClr val="dk1"/>
                          </a:solidFill>
                          <a:latin typeface="+mn-lt"/>
                          <a:ea typeface="+mn-ea"/>
                          <a:cs typeface="+mn-cs"/>
                        </a:rPr>
                        <a:t>Leaders who guide or motivate their followers in the direction of established goals by clarifying role and task requirements </a:t>
                      </a:r>
                    </a:p>
                  </a:txBody>
                  <a:tcPr/>
                </a:tc>
                <a:tc>
                  <a:txBody>
                    <a:bodyPr/>
                    <a:lstStyle/>
                    <a:p>
                      <a:r>
                        <a:rPr lang="en-GB" sz="1800" b="0" i="0" u="none" strike="noStrike" kern="1200" baseline="0" dirty="0" smtClean="0">
                          <a:solidFill>
                            <a:schemeClr val="dk1"/>
                          </a:solidFill>
                          <a:latin typeface="+mn-lt"/>
                          <a:ea typeface="+mn-ea"/>
                          <a:cs typeface="+mn-cs"/>
                        </a:rPr>
                        <a:t>Leaders who inspire followers to transcend their own self-interests for the good of the organization and are capable of having a profound and extraordinary effect on their followers</a:t>
                      </a:r>
                    </a:p>
                  </a:txBody>
                  <a:tcPr/>
                </a:tc>
              </a:tr>
              <a:tr h="370840">
                <a:tc>
                  <a:txBody>
                    <a:bodyPr/>
                    <a:lstStyle/>
                    <a:p>
                      <a:endParaRPr lang="en-GB" sz="1800" b="0" i="0" u="none" strike="noStrike" kern="1200" baseline="0" dirty="0" smtClean="0">
                        <a:solidFill>
                          <a:schemeClr val="dk1"/>
                        </a:solidFill>
                        <a:latin typeface="+mn-lt"/>
                        <a:ea typeface="+mn-ea"/>
                        <a:cs typeface="+mn-cs"/>
                      </a:endParaRPr>
                    </a:p>
                  </a:txBody>
                  <a:tcPr/>
                </a:tc>
                <a:tc>
                  <a:txBody>
                    <a:bodyPr/>
                    <a:lstStyle/>
                    <a:p>
                      <a:r>
                        <a:rPr lang="en-GB" sz="1800" b="0" i="0" u="none" strike="noStrike" kern="1200" baseline="0" dirty="0" smtClean="0">
                          <a:solidFill>
                            <a:schemeClr val="dk1"/>
                          </a:solidFill>
                          <a:latin typeface="+mn-lt"/>
                          <a:ea typeface="+mn-ea"/>
                          <a:cs typeface="+mn-cs"/>
                        </a:rPr>
                        <a:t>Transformational leadership is more than charisma since the transformational leader attempts to </a:t>
                      </a:r>
                      <a:r>
                        <a:rPr lang="en-GB" sz="1800" b="0" i="0" u="none" strike="noStrike" kern="1200" baseline="0" dirty="0" err="1" smtClean="0">
                          <a:solidFill>
                            <a:schemeClr val="dk1"/>
                          </a:solidFill>
                          <a:latin typeface="+mn-lt"/>
                          <a:ea typeface="+mn-ea"/>
                          <a:cs typeface="+mn-cs"/>
                        </a:rPr>
                        <a:t>instill</a:t>
                      </a:r>
                      <a:r>
                        <a:rPr lang="en-GB" sz="1800" b="0" i="0" u="none" strike="noStrike" kern="1200" baseline="0" dirty="0" smtClean="0">
                          <a:solidFill>
                            <a:schemeClr val="dk1"/>
                          </a:solidFill>
                          <a:latin typeface="+mn-lt"/>
                          <a:ea typeface="+mn-ea"/>
                          <a:cs typeface="+mn-cs"/>
                        </a:rPr>
                        <a:t> in followers the ability to question not only established views but those views held by the leader</a:t>
                      </a:r>
                    </a:p>
                  </a:txBody>
                  <a:tcPr/>
                </a:tc>
              </a:tr>
            </a:tbl>
          </a:graphicData>
        </a:graphic>
      </p:graphicFrame>
    </p:spTree>
    <p:extLst>
      <p:ext uri="{BB962C8B-B14F-4D97-AF65-F5344CB8AC3E}">
        <p14:creationId xmlns:p14="http://schemas.microsoft.com/office/powerpoint/2010/main" val="955472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GB" dirty="0" smtClean="0"/>
              <a:t>Charismatic-Visionary Leadership</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60750780"/>
              </p:ext>
            </p:extLst>
          </p:nvPr>
        </p:nvGraphicFramePr>
        <p:xfrm>
          <a:off x="381000" y="990600"/>
          <a:ext cx="8229600" cy="558292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smtClean="0"/>
                        <a:t>Charismatic leader</a:t>
                      </a:r>
                      <a:endParaRPr lang="en-IN" dirty="0"/>
                    </a:p>
                  </a:txBody>
                  <a:tcPr/>
                </a:tc>
                <a:tc>
                  <a:txBody>
                    <a:bodyPr/>
                    <a:lstStyle/>
                    <a:p>
                      <a:r>
                        <a:rPr lang="en-GB" dirty="0" smtClean="0"/>
                        <a:t>Visionary leader</a:t>
                      </a:r>
                      <a:endParaRPr lang="en-IN" dirty="0"/>
                    </a:p>
                  </a:txBody>
                  <a:tcPr/>
                </a:tc>
              </a:tr>
              <a:tr h="370840">
                <a:tc>
                  <a:txBody>
                    <a:bodyPr/>
                    <a:lstStyle/>
                    <a:p>
                      <a:r>
                        <a:rPr lang="en-GB" sz="1800" b="0" i="0" u="none" strike="noStrike" kern="1200" baseline="0" dirty="0" smtClean="0">
                          <a:solidFill>
                            <a:schemeClr val="dk1"/>
                          </a:solidFill>
                          <a:latin typeface="+mn-lt"/>
                          <a:ea typeface="+mn-ea"/>
                          <a:cs typeface="+mn-cs"/>
                        </a:rPr>
                        <a:t>An enthusiastic, self-confident leader whose personality and actions influence people to behave in certain ways </a:t>
                      </a:r>
                    </a:p>
                  </a:txBody>
                  <a:tcPr/>
                </a:tc>
                <a:tc>
                  <a:txBody>
                    <a:bodyPr/>
                    <a:lstStyle/>
                    <a:p>
                      <a:r>
                        <a:rPr lang="en-GB" sz="1800" b="0" i="0" u="none" strike="noStrike" kern="1200" baseline="0" dirty="0" smtClean="0">
                          <a:solidFill>
                            <a:schemeClr val="dk1"/>
                          </a:solidFill>
                          <a:latin typeface="+mn-lt"/>
                          <a:ea typeface="+mn-ea"/>
                          <a:cs typeface="+mn-cs"/>
                        </a:rPr>
                        <a:t>Leader has the ability to create and articulate a realistic, credible, and attractive vision of the future that improves on the present situation</a:t>
                      </a:r>
                    </a:p>
                  </a:txBody>
                  <a:tcPr/>
                </a:tc>
              </a:tr>
              <a:tr h="370840">
                <a:tc>
                  <a:txBody>
                    <a:bodyPr/>
                    <a:lstStyle/>
                    <a:p>
                      <a:r>
                        <a:rPr lang="en-GB" sz="1800" b="0" i="0" u="none" strike="noStrike" kern="1200" baseline="0" dirty="0" smtClean="0">
                          <a:solidFill>
                            <a:schemeClr val="dk1"/>
                          </a:solidFill>
                          <a:latin typeface="+mn-lt"/>
                          <a:ea typeface="+mn-ea"/>
                          <a:cs typeface="+mn-cs"/>
                        </a:rPr>
                        <a:t>Charismatic leaders have a vision, are able to articulate that vision, are willing to take risks to achieve that vision, are sensitive to both environmental constraints and follower needs, and exhibit </a:t>
                      </a:r>
                      <a:r>
                        <a:rPr lang="en-GB" sz="1800" b="0" i="0" u="none" strike="noStrike" kern="1200" baseline="0" dirty="0" err="1" smtClean="0">
                          <a:solidFill>
                            <a:schemeClr val="dk1"/>
                          </a:solidFill>
                          <a:latin typeface="+mn-lt"/>
                          <a:ea typeface="+mn-ea"/>
                          <a:cs typeface="+mn-cs"/>
                        </a:rPr>
                        <a:t>behaviors</a:t>
                      </a:r>
                      <a:r>
                        <a:rPr lang="en-GB" sz="1800" b="0" i="0" u="none" strike="noStrike" kern="1200" baseline="0" dirty="0" smtClean="0">
                          <a:solidFill>
                            <a:schemeClr val="dk1"/>
                          </a:solidFill>
                          <a:latin typeface="+mn-lt"/>
                          <a:ea typeface="+mn-ea"/>
                          <a:cs typeface="+mn-cs"/>
                        </a:rPr>
                        <a:t> that are out of the ordinary</a:t>
                      </a:r>
                    </a:p>
                  </a:txBody>
                  <a:tcPr/>
                </a:tc>
                <a:tc>
                  <a:txBody>
                    <a:bodyPr/>
                    <a:lstStyle/>
                    <a:p>
                      <a:r>
                        <a:rPr lang="en-GB" dirty="0" smtClean="0"/>
                        <a:t>A vision should offer clear and compelling imagery that taps into people's emotions and inspires enthusiasm and energy to pursue the organization's goals. It should be able to generate possibilities that are inspirational and unique and that offer a new way of doing things and will lead to organizational distinction</a:t>
                      </a:r>
                      <a:endParaRPr lang="en-IN" dirty="0"/>
                    </a:p>
                  </a:txBody>
                  <a:tcPr/>
                </a:tc>
              </a:tr>
              <a:tr h="370840">
                <a:tc>
                  <a:txBody>
                    <a:bodyPr/>
                    <a:lstStyle/>
                    <a:p>
                      <a:endParaRPr lang="en-GB" sz="1800" b="0" i="0" u="none" strike="noStrike" kern="1200" baseline="0" dirty="0" smtClean="0">
                        <a:solidFill>
                          <a:schemeClr val="dk1"/>
                        </a:solidFill>
                        <a:latin typeface="+mn-lt"/>
                        <a:ea typeface="+mn-ea"/>
                        <a:cs typeface="+mn-cs"/>
                      </a:endParaRPr>
                    </a:p>
                  </a:txBody>
                  <a:tcPr/>
                </a:tc>
                <a:tc>
                  <a:txBody>
                    <a:bodyPr/>
                    <a:lstStyle/>
                    <a:p>
                      <a:r>
                        <a:rPr lang="en-GB" dirty="0" smtClean="0"/>
                        <a:t>Leader should have:</a:t>
                      </a:r>
                    </a:p>
                    <a:p>
                      <a:r>
                        <a:rPr lang="en-GB" sz="1800" b="0" i="1" u="none" strike="noStrike" kern="1200" baseline="0" dirty="0" smtClean="0">
                          <a:solidFill>
                            <a:schemeClr val="dk1"/>
                          </a:solidFill>
                          <a:latin typeface="+mn-lt"/>
                          <a:ea typeface="+mn-ea"/>
                          <a:cs typeface="+mn-cs"/>
                        </a:rPr>
                        <a:t>ability to explain the vision to others;</a:t>
                      </a:r>
                    </a:p>
                    <a:p>
                      <a:r>
                        <a:rPr lang="en-GB" sz="1800" b="0" i="1" u="none" strike="noStrike" kern="1200" baseline="0" dirty="0" smtClean="0">
                          <a:solidFill>
                            <a:schemeClr val="dk1"/>
                          </a:solidFill>
                          <a:latin typeface="+mn-lt"/>
                          <a:ea typeface="+mn-ea"/>
                          <a:cs typeface="+mn-cs"/>
                        </a:rPr>
                        <a:t>ability to express the vision not just verbally but through </a:t>
                      </a:r>
                      <a:r>
                        <a:rPr lang="en-GB" sz="1800" b="0" i="1" u="none" strike="noStrike" kern="1200" baseline="0" dirty="0" err="1" smtClean="0">
                          <a:solidFill>
                            <a:schemeClr val="dk1"/>
                          </a:solidFill>
                          <a:latin typeface="+mn-lt"/>
                          <a:ea typeface="+mn-ea"/>
                          <a:cs typeface="+mn-cs"/>
                        </a:rPr>
                        <a:t>behavior</a:t>
                      </a:r>
                      <a:r>
                        <a:rPr lang="en-GB" sz="1800" b="0" i="1" u="none" strike="noStrike" kern="1200" baseline="0" dirty="0" smtClean="0">
                          <a:solidFill>
                            <a:schemeClr val="dk1"/>
                          </a:solidFill>
                          <a:latin typeface="+mn-lt"/>
                          <a:ea typeface="+mn-ea"/>
                          <a:cs typeface="+mn-cs"/>
                        </a:rPr>
                        <a:t>;</a:t>
                      </a:r>
                    </a:p>
                    <a:p>
                      <a:r>
                        <a:rPr lang="en-GB" sz="1800" b="0" i="1" u="none" strike="noStrike" kern="1200" baseline="0" dirty="0" smtClean="0">
                          <a:solidFill>
                            <a:schemeClr val="dk1"/>
                          </a:solidFill>
                          <a:latin typeface="+mn-lt"/>
                          <a:ea typeface="+mn-ea"/>
                          <a:cs typeface="+mn-cs"/>
                        </a:rPr>
                        <a:t>ability to extend or apply the vision to different leadership contexts </a:t>
                      </a:r>
                      <a:endParaRPr lang="en-GB" sz="1800" b="0" i="0" u="none" strike="noStrike" kern="1200" baseline="0" dirty="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22968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Team leadership</a:t>
            </a:r>
            <a:endParaRPr lang="en-IN" dirty="0"/>
          </a:p>
        </p:txBody>
      </p:sp>
      <p:sp>
        <p:nvSpPr>
          <p:cNvPr id="3" name="Content Placeholder 2"/>
          <p:cNvSpPr>
            <a:spLocks noGrp="1"/>
          </p:cNvSpPr>
          <p:nvPr>
            <p:ph idx="1"/>
          </p:nvPr>
        </p:nvSpPr>
        <p:spPr/>
        <p:txBody>
          <a:bodyPr/>
          <a:lstStyle/>
          <a:p>
            <a:r>
              <a:rPr lang="en-GB" dirty="0"/>
              <a:t>C</a:t>
            </a:r>
            <a:r>
              <a:rPr lang="en-GB" dirty="0" smtClean="0"/>
              <a:t>oaching</a:t>
            </a:r>
            <a:r>
              <a:rPr lang="en-GB" dirty="0"/>
              <a:t>, </a:t>
            </a:r>
            <a:endParaRPr lang="en-GB" dirty="0" smtClean="0"/>
          </a:p>
          <a:p>
            <a:r>
              <a:rPr lang="en-GB" dirty="0" smtClean="0"/>
              <a:t>Facilitating</a:t>
            </a:r>
            <a:r>
              <a:rPr lang="en-GB" dirty="0"/>
              <a:t>, </a:t>
            </a:r>
            <a:endParaRPr lang="en-GB" dirty="0" smtClean="0"/>
          </a:p>
          <a:p>
            <a:r>
              <a:rPr lang="en-GB" dirty="0" smtClean="0"/>
              <a:t>Handling </a:t>
            </a:r>
            <a:r>
              <a:rPr lang="en-GB" dirty="0"/>
              <a:t>disciplinary problems, </a:t>
            </a:r>
            <a:endParaRPr lang="en-GB" dirty="0" smtClean="0"/>
          </a:p>
          <a:p>
            <a:r>
              <a:rPr lang="en-GB" dirty="0"/>
              <a:t>R</a:t>
            </a:r>
            <a:r>
              <a:rPr lang="en-GB" dirty="0" smtClean="0"/>
              <a:t>eviewing </a:t>
            </a:r>
            <a:r>
              <a:rPr lang="en-GB" dirty="0"/>
              <a:t>team and individual performance</a:t>
            </a:r>
            <a:r>
              <a:rPr lang="en-GB" dirty="0" smtClean="0"/>
              <a:t>,</a:t>
            </a:r>
          </a:p>
          <a:p>
            <a:r>
              <a:rPr lang="en-GB" dirty="0" smtClean="0"/>
              <a:t>Training</a:t>
            </a:r>
            <a:r>
              <a:rPr lang="en-GB" dirty="0"/>
              <a:t>, and </a:t>
            </a:r>
            <a:endParaRPr lang="en-GB" dirty="0" smtClean="0"/>
          </a:p>
          <a:p>
            <a:r>
              <a:rPr lang="en-GB" dirty="0" smtClean="0"/>
              <a:t>Communication</a:t>
            </a:r>
            <a:endParaRPr lang="en-IN" dirty="0"/>
          </a:p>
          <a:p>
            <a:endParaRPr lang="en-IN" dirty="0"/>
          </a:p>
        </p:txBody>
      </p:sp>
    </p:spTree>
    <p:extLst>
      <p:ext uri="{BB962C8B-B14F-4D97-AF65-F5344CB8AC3E}">
        <p14:creationId xmlns:p14="http://schemas.microsoft.com/office/powerpoint/2010/main" val="3173099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Team leadership</a:t>
            </a:r>
            <a:endParaRPr lang="en-IN" dirty="0"/>
          </a:p>
        </p:txBody>
      </p:sp>
      <p:sp>
        <p:nvSpPr>
          <p:cNvPr id="3" name="Content Placeholder 2"/>
          <p:cNvSpPr>
            <a:spLocks noGrp="1"/>
          </p:cNvSpPr>
          <p:nvPr>
            <p:ph idx="1"/>
          </p:nvPr>
        </p:nvSpPr>
        <p:spPr/>
        <p:txBody>
          <a:bodyPr/>
          <a:lstStyle/>
          <a:p>
            <a:r>
              <a:rPr lang="en-GB" dirty="0"/>
              <a:t>T</a:t>
            </a:r>
            <a:r>
              <a:rPr lang="en-GB" dirty="0" smtClean="0"/>
              <a:t>eam </a:t>
            </a:r>
            <a:r>
              <a:rPr lang="en-GB" dirty="0"/>
              <a:t>leaders are </a:t>
            </a:r>
            <a:r>
              <a:rPr lang="en-GB" i="1" dirty="0"/>
              <a:t>liaisons with external </a:t>
            </a:r>
            <a:r>
              <a:rPr lang="en-GB" i="1" dirty="0" smtClean="0"/>
              <a:t>constituencies</a:t>
            </a:r>
            <a:r>
              <a:rPr lang="en-GB" dirty="0"/>
              <a:t> </a:t>
            </a:r>
            <a:r>
              <a:rPr lang="en-GB" dirty="0" smtClean="0"/>
              <a:t>(</a:t>
            </a:r>
            <a:r>
              <a:rPr lang="en-GB" dirty="0"/>
              <a:t>upper management, other organizational work teams, customers, or </a:t>
            </a:r>
            <a:r>
              <a:rPr lang="en-GB" dirty="0" smtClean="0"/>
              <a:t>suppliers) </a:t>
            </a:r>
            <a:endParaRPr lang="en-GB" dirty="0"/>
          </a:p>
          <a:p>
            <a:r>
              <a:rPr lang="en-GB" dirty="0" smtClean="0"/>
              <a:t>Team leaders are </a:t>
            </a:r>
            <a:r>
              <a:rPr lang="en-GB" dirty="0" err="1" smtClean="0"/>
              <a:t>troubleshooters</a:t>
            </a:r>
            <a:r>
              <a:rPr lang="en-GB" dirty="0" smtClean="0"/>
              <a:t> (solve problems)</a:t>
            </a:r>
          </a:p>
          <a:p>
            <a:r>
              <a:rPr lang="en-GB" dirty="0" smtClean="0"/>
              <a:t>Team leaders are conflict managers</a:t>
            </a:r>
          </a:p>
          <a:p>
            <a:r>
              <a:rPr lang="en-GB" dirty="0" smtClean="0"/>
              <a:t>Team leaders are coaches</a:t>
            </a:r>
            <a:endParaRPr lang="en-IN" dirty="0"/>
          </a:p>
          <a:p>
            <a:endParaRPr lang="en-IN" dirty="0"/>
          </a:p>
        </p:txBody>
      </p:sp>
    </p:spTree>
    <p:extLst>
      <p:ext uri="{BB962C8B-B14F-4D97-AF65-F5344CB8AC3E}">
        <p14:creationId xmlns:p14="http://schemas.microsoft.com/office/powerpoint/2010/main" val="1926208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Contemporary issues in leadership</a:t>
            </a:r>
            <a:br>
              <a:rPr lang="en-GB" dirty="0" smtClean="0"/>
            </a:br>
            <a:r>
              <a:rPr lang="en-GB" b="1" dirty="0" smtClean="0"/>
              <a:t>POWER</a:t>
            </a:r>
            <a:endParaRPr lang="en-IN" b="1" dirty="0"/>
          </a:p>
        </p:txBody>
      </p:sp>
      <p:sp>
        <p:nvSpPr>
          <p:cNvPr id="3" name="Content Placeholder 2"/>
          <p:cNvSpPr>
            <a:spLocks noGrp="1"/>
          </p:cNvSpPr>
          <p:nvPr>
            <p:ph idx="1"/>
          </p:nvPr>
        </p:nvSpPr>
        <p:spPr/>
        <p:txBody>
          <a:bodyPr>
            <a:normAutofit fontScale="92500" lnSpcReduction="20000"/>
          </a:bodyPr>
          <a:lstStyle/>
          <a:p>
            <a:r>
              <a:rPr lang="en-GB" b="1" i="1" dirty="0" smtClean="0"/>
              <a:t>Legitimate power </a:t>
            </a:r>
            <a:r>
              <a:rPr lang="en-GB" dirty="0" smtClean="0"/>
              <a:t>(</a:t>
            </a:r>
            <a:r>
              <a:rPr lang="en-GB" dirty="0"/>
              <a:t>the power a leader has as a result of his or her position in the </a:t>
            </a:r>
            <a:r>
              <a:rPr lang="en-GB" dirty="0" smtClean="0"/>
              <a:t>organization)</a:t>
            </a:r>
          </a:p>
          <a:p>
            <a:r>
              <a:rPr lang="en-GB" b="1" i="1" dirty="0" smtClean="0"/>
              <a:t>Coercive power </a:t>
            </a:r>
            <a:r>
              <a:rPr lang="en-GB" dirty="0" smtClean="0"/>
              <a:t>(</a:t>
            </a:r>
            <a:r>
              <a:rPr lang="en-GB" dirty="0"/>
              <a:t>leader's ability to punish or </a:t>
            </a:r>
            <a:r>
              <a:rPr lang="en-GB" dirty="0" smtClean="0"/>
              <a:t>control)</a:t>
            </a:r>
          </a:p>
          <a:p>
            <a:r>
              <a:rPr lang="en-GB" b="1" i="1" dirty="0" smtClean="0"/>
              <a:t>Reward power</a:t>
            </a:r>
            <a:r>
              <a:rPr lang="en-GB" dirty="0" smtClean="0"/>
              <a:t> (</a:t>
            </a:r>
            <a:r>
              <a:rPr lang="en-GB" dirty="0"/>
              <a:t>power to give positive benefits or </a:t>
            </a:r>
            <a:r>
              <a:rPr lang="en-GB" dirty="0" smtClean="0"/>
              <a:t>rewards)</a:t>
            </a:r>
          </a:p>
          <a:p>
            <a:r>
              <a:rPr lang="en-GB" b="1" i="1" dirty="0" smtClean="0"/>
              <a:t>Expert power </a:t>
            </a:r>
            <a:r>
              <a:rPr lang="en-GB" dirty="0" smtClean="0"/>
              <a:t>(</a:t>
            </a:r>
            <a:r>
              <a:rPr lang="en-GB" dirty="0"/>
              <a:t>based on expertise, special skills, or </a:t>
            </a:r>
            <a:r>
              <a:rPr lang="en-GB" dirty="0" smtClean="0"/>
              <a:t>knowledge)</a:t>
            </a:r>
          </a:p>
          <a:p>
            <a:r>
              <a:rPr lang="en-GB" b="1" i="1" dirty="0" smtClean="0"/>
              <a:t>Referent power</a:t>
            </a:r>
            <a:r>
              <a:rPr lang="en-GB" dirty="0" smtClean="0"/>
              <a:t> (leader has </a:t>
            </a:r>
            <a:r>
              <a:rPr lang="en-IN" dirty="0"/>
              <a:t>desirable resources or personal </a:t>
            </a:r>
            <a:r>
              <a:rPr lang="en-IN" dirty="0" smtClean="0"/>
              <a:t>traits)</a:t>
            </a:r>
            <a:endParaRPr lang="en-IN" dirty="0"/>
          </a:p>
        </p:txBody>
      </p:sp>
    </p:spTree>
    <p:extLst>
      <p:ext uri="{BB962C8B-B14F-4D97-AF65-F5344CB8AC3E}">
        <p14:creationId xmlns:p14="http://schemas.microsoft.com/office/powerpoint/2010/main" val="1414540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TRUST</a:t>
            </a:r>
            <a:endParaRPr lang="en-IN" dirty="0"/>
          </a:p>
        </p:txBody>
      </p:sp>
      <p:sp>
        <p:nvSpPr>
          <p:cNvPr id="3" name="Content Placeholder 2"/>
          <p:cNvSpPr>
            <a:spLocks noGrp="1"/>
          </p:cNvSpPr>
          <p:nvPr>
            <p:ph idx="1"/>
          </p:nvPr>
        </p:nvSpPr>
        <p:spPr/>
        <p:txBody>
          <a:bodyPr>
            <a:normAutofit fontScale="92500" lnSpcReduction="20000"/>
          </a:bodyPr>
          <a:lstStyle/>
          <a:p>
            <a:endParaRPr lang="en-IN" dirty="0"/>
          </a:p>
          <a:p>
            <a:r>
              <a:rPr lang="en-IN" i="1" dirty="0"/>
              <a:t>Integrity</a:t>
            </a:r>
            <a:r>
              <a:rPr lang="en-IN" dirty="0"/>
              <a:t>: honesty and truthfulness</a:t>
            </a:r>
          </a:p>
          <a:p>
            <a:r>
              <a:rPr lang="en-GB" i="1" dirty="0"/>
              <a:t>Competence</a:t>
            </a:r>
            <a:r>
              <a:rPr lang="en-GB" dirty="0"/>
              <a:t>: technical and interpersonal knowledge and skills</a:t>
            </a:r>
          </a:p>
          <a:p>
            <a:r>
              <a:rPr lang="en-GB" i="1" dirty="0"/>
              <a:t>Consistency</a:t>
            </a:r>
            <a:r>
              <a:rPr lang="en-GB" dirty="0"/>
              <a:t>: reliability, predictability, and good judgment in handling situations</a:t>
            </a:r>
          </a:p>
          <a:p>
            <a:r>
              <a:rPr lang="en-GB" i="1" dirty="0"/>
              <a:t>Loyalty</a:t>
            </a:r>
            <a:r>
              <a:rPr lang="en-GB" dirty="0"/>
              <a:t>: willingness to protect a person, physically and emotionally</a:t>
            </a:r>
          </a:p>
          <a:p>
            <a:r>
              <a:rPr lang="en-GB" i="1" dirty="0"/>
              <a:t>Openness</a:t>
            </a:r>
            <a:r>
              <a:rPr lang="en-GB" dirty="0"/>
              <a:t>: willingness to share ideas and information </a:t>
            </a:r>
            <a:r>
              <a:rPr lang="en-GB" dirty="0" smtClean="0"/>
              <a:t>freely</a:t>
            </a:r>
            <a:endParaRPr lang="en-GB" dirty="0"/>
          </a:p>
        </p:txBody>
      </p:sp>
    </p:spTree>
    <p:extLst>
      <p:ext uri="{BB962C8B-B14F-4D97-AF65-F5344CB8AC3E}">
        <p14:creationId xmlns:p14="http://schemas.microsoft.com/office/powerpoint/2010/main" val="2609914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Empowerment</a:t>
            </a:r>
            <a:endParaRPr lang="en-IN" dirty="0"/>
          </a:p>
        </p:txBody>
      </p:sp>
      <p:sp>
        <p:nvSpPr>
          <p:cNvPr id="3" name="Content Placeholder 2"/>
          <p:cNvSpPr>
            <a:spLocks noGrp="1"/>
          </p:cNvSpPr>
          <p:nvPr>
            <p:ph idx="1"/>
          </p:nvPr>
        </p:nvSpPr>
        <p:spPr/>
        <p:txBody>
          <a:bodyPr/>
          <a:lstStyle/>
          <a:p>
            <a:r>
              <a:rPr lang="en-GB" dirty="0" smtClean="0"/>
              <a:t>Providing followers with decision-making opportunities</a:t>
            </a:r>
          </a:p>
          <a:p>
            <a:r>
              <a:rPr lang="en-GB" dirty="0" smtClean="0"/>
              <a:t>Delegation</a:t>
            </a:r>
          </a:p>
          <a:p>
            <a:r>
              <a:rPr lang="en-GB" dirty="0" smtClean="0"/>
              <a:t>Participation</a:t>
            </a:r>
            <a:endParaRPr lang="en-IN" dirty="0"/>
          </a:p>
        </p:txBody>
      </p:sp>
    </p:spTree>
    <p:extLst>
      <p:ext uri="{BB962C8B-B14F-4D97-AF65-F5344CB8AC3E}">
        <p14:creationId xmlns:p14="http://schemas.microsoft.com/office/powerpoint/2010/main" val="3553797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Gender and Culture</a:t>
            </a:r>
            <a:endParaRPr lang="en-IN" dirty="0"/>
          </a:p>
        </p:txBody>
      </p:sp>
      <p:sp>
        <p:nvSpPr>
          <p:cNvPr id="3" name="Content Placeholder 2"/>
          <p:cNvSpPr>
            <a:spLocks noGrp="1"/>
          </p:cNvSpPr>
          <p:nvPr>
            <p:ph idx="1"/>
          </p:nvPr>
        </p:nvSpPr>
        <p:spPr>
          <a:xfrm>
            <a:off x="457200" y="3352800"/>
            <a:ext cx="8229600" cy="2773363"/>
          </a:xfrm>
        </p:spPr>
        <p:txBody>
          <a:bodyPr/>
          <a:lstStyle/>
          <a:p>
            <a:r>
              <a:rPr lang="en-GB" dirty="0" smtClean="0"/>
              <a:t>Are females better than males in terms of leadership?</a:t>
            </a:r>
          </a:p>
          <a:p>
            <a:r>
              <a:rPr lang="en-GB" dirty="0" smtClean="0"/>
              <a:t>Are there cultural differences in leadership?</a:t>
            </a:r>
            <a:endParaRPr lang="en-IN" dirty="0"/>
          </a:p>
        </p:txBody>
      </p:sp>
    </p:spTree>
    <p:extLst>
      <p:ext uri="{BB962C8B-B14F-4D97-AF65-F5344CB8AC3E}">
        <p14:creationId xmlns:p14="http://schemas.microsoft.com/office/powerpoint/2010/main" val="516900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lstStyle/>
          <a:p>
            <a:r>
              <a:rPr lang="en-GB" dirty="0" smtClean="0"/>
              <a:t>Thank you</a:t>
            </a:r>
            <a:endParaRPr lang="en-IN" dirty="0"/>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268688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2364</Words>
  <Application>Microsoft Office PowerPoint</Application>
  <PresentationFormat>On-screen Show (4:3)</PresentationFormat>
  <Paragraphs>218</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Leadership in Management</vt:lpstr>
      <vt:lpstr>Managers vs Leaders</vt:lpstr>
      <vt:lpstr>Leadership theories</vt:lpstr>
      <vt:lpstr>Early Leadership Theories</vt:lpstr>
      <vt:lpstr>Behavioral Theories</vt:lpstr>
      <vt:lpstr>  University of Iowa: Kurt Lewin, Ronald Lippitt, and Ralph K. White (1939)    </vt:lpstr>
      <vt:lpstr>Ohio State University (Late 1940s)</vt:lpstr>
      <vt:lpstr>  University of Michigan: Survey Research Center: Rensis Likert (1950s)     </vt:lpstr>
      <vt:lpstr>  Managerial Grid: Robert R. Blake, Jane S. Mouton, Louis B. Barnes, and Larry E. Greiner (1964)    </vt:lpstr>
      <vt:lpstr>PowerPoint Presentation</vt:lpstr>
      <vt:lpstr>Contingency theories of leadership</vt:lpstr>
      <vt:lpstr>Fred Fiedler’s contingency model of leadership (1964)</vt:lpstr>
      <vt:lpstr>Fred Fiedler’s contingency model of leadership (1964)</vt:lpstr>
      <vt:lpstr>Fred Fiedler’s contingency model of leadership (1964)</vt:lpstr>
      <vt:lpstr>Fred Fiedler’s contingency model of leadership (1964)</vt:lpstr>
      <vt:lpstr>Drawbacks of Fiedler’s contingency theory</vt:lpstr>
      <vt:lpstr>  Hersey and Blanchard's Situational Leadership Theory (1969)    </vt:lpstr>
      <vt:lpstr>      </vt:lpstr>
      <vt:lpstr>  Hersey and Blanchard's Situational Leadership Theory (1969)    </vt:lpstr>
      <vt:lpstr>PowerPoint Presentation</vt:lpstr>
      <vt:lpstr>Summing up the theory:</vt:lpstr>
      <vt:lpstr>Leader participation model (Victor Vroom and Philip Yetton (1973, later revised with Arthur Jago in 1988)</vt:lpstr>
      <vt:lpstr>Leader participation model (Victor Vroom and Philip Yetton (1973, later revised with Arthur Jago in 1988)</vt:lpstr>
      <vt:lpstr>PowerPoint Presentation</vt:lpstr>
      <vt:lpstr>Robert House’s Path-Goal Theory (1971, 1996)</vt:lpstr>
      <vt:lpstr>Robert House’s Path-Goal Theory (1971, 1996)</vt:lpstr>
      <vt:lpstr>Cutting-edge theories of leadership</vt:lpstr>
      <vt:lpstr>Transactional-Transformational Leadership</vt:lpstr>
      <vt:lpstr>Charismatic-Visionary Leadership</vt:lpstr>
      <vt:lpstr>Team leadership</vt:lpstr>
      <vt:lpstr>Team leadership</vt:lpstr>
      <vt:lpstr>Contemporary issues in leadership POWER</vt:lpstr>
      <vt:lpstr>TRUST</vt:lpstr>
      <vt:lpstr>Empowerment</vt:lpstr>
      <vt:lpstr>Gender and Culture</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 in Management</dc:title>
  <dc:creator>HP</dc:creator>
  <cp:lastModifiedBy>HP</cp:lastModifiedBy>
  <cp:revision>13</cp:revision>
  <dcterms:created xsi:type="dcterms:W3CDTF">2006-08-16T00:00:00Z</dcterms:created>
  <dcterms:modified xsi:type="dcterms:W3CDTF">2026-02-21T11:53:20Z</dcterms:modified>
</cp:coreProperties>
</file>