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5" r:id="rId7"/>
    <p:sldId id="261" r:id="rId8"/>
    <p:sldId id="262" r:id="rId9"/>
    <p:sldId id="263"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147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4F8173-BEB2-4EBB-BA9A-8A1B8D4A0851}" type="doc">
      <dgm:prSet loTypeId="urn:microsoft.com/office/officeart/2005/8/layout/process1" loCatId="process" qsTypeId="urn:microsoft.com/office/officeart/2005/8/quickstyle/simple1" qsCatId="simple" csTypeId="urn:microsoft.com/office/officeart/2005/8/colors/accent0_1" csCatId="mainScheme" phldr="1"/>
      <dgm:spPr/>
    </dgm:pt>
    <dgm:pt modelId="{7033C4A5-3CED-47BA-BD3B-BD3F75B7857B}">
      <dgm:prSet phldrT="[Text]"/>
      <dgm:spPr/>
      <dgm:t>
        <a:bodyPr/>
        <a:lstStyle/>
        <a:p>
          <a:r>
            <a:rPr lang="en-GB" dirty="0" smtClean="0"/>
            <a:t>Unsatisfied Need</a:t>
          </a:r>
          <a:endParaRPr lang="en-IN" dirty="0"/>
        </a:p>
      </dgm:t>
    </dgm:pt>
    <dgm:pt modelId="{6F0619EC-7F77-4651-9AD8-3C43A7C0E1DC}" type="parTrans" cxnId="{0436AF6E-1A07-41CF-917C-FDD6A4D7FC98}">
      <dgm:prSet/>
      <dgm:spPr/>
      <dgm:t>
        <a:bodyPr/>
        <a:lstStyle/>
        <a:p>
          <a:endParaRPr lang="en-IN"/>
        </a:p>
      </dgm:t>
    </dgm:pt>
    <dgm:pt modelId="{B4D5749F-273E-4737-96BD-54FAB061326B}" type="sibTrans" cxnId="{0436AF6E-1A07-41CF-917C-FDD6A4D7FC98}">
      <dgm:prSet/>
      <dgm:spPr/>
      <dgm:t>
        <a:bodyPr/>
        <a:lstStyle/>
        <a:p>
          <a:endParaRPr lang="en-IN"/>
        </a:p>
      </dgm:t>
    </dgm:pt>
    <dgm:pt modelId="{986A34DA-BCD1-4AAD-97E6-05AE0553D36B}">
      <dgm:prSet phldrT="[Text]"/>
      <dgm:spPr/>
      <dgm:t>
        <a:bodyPr/>
        <a:lstStyle/>
        <a:p>
          <a:r>
            <a:rPr lang="en-GB" dirty="0" smtClean="0"/>
            <a:t>Tension</a:t>
          </a:r>
          <a:endParaRPr lang="en-IN" dirty="0"/>
        </a:p>
      </dgm:t>
    </dgm:pt>
    <dgm:pt modelId="{04EEED48-730F-42F9-B1FB-BC8746131F8F}" type="parTrans" cxnId="{EF46F06F-C1B7-47B9-8C86-22B2D21E1AED}">
      <dgm:prSet/>
      <dgm:spPr/>
      <dgm:t>
        <a:bodyPr/>
        <a:lstStyle/>
        <a:p>
          <a:endParaRPr lang="en-IN"/>
        </a:p>
      </dgm:t>
    </dgm:pt>
    <dgm:pt modelId="{4951983B-DF27-4614-BCF4-964997FD0824}" type="sibTrans" cxnId="{EF46F06F-C1B7-47B9-8C86-22B2D21E1AED}">
      <dgm:prSet/>
      <dgm:spPr/>
      <dgm:t>
        <a:bodyPr/>
        <a:lstStyle/>
        <a:p>
          <a:endParaRPr lang="en-IN"/>
        </a:p>
      </dgm:t>
    </dgm:pt>
    <dgm:pt modelId="{4A923305-7028-4BB0-A58B-5F999D4B090B}">
      <dgm:prSet phldrT="[Text]"/>
      <dgm:spPr/>
      <dgm:t>
        <a:bodyPr/>
        <a:lstStyle/>
        <a:p>
          <a:r>
            <a:rPr lang="en-GB" dirty="0" smtClean="0"/>
            <a:t>Drives</a:t>
          </a:r>
          <a:endParaRPr lang="en-IN" dirty="0"/>
        </a:p>
      </dgm:t>
    </dgm:pt>
    <dgm:pt modelId="{6CC81D78-3FD3-435F-B9B3-512DC764BFF7}" type="parTrans" cxnId="{081178A2-F8E1-4205-89EB-A24FED78AB04}">
      <dgm:prSet/>
      <dgm:spPr/>
      <dgm:t>
        <a:bodyPr/>
        <a:lstStyle/>
        <a:p>
          <a:endParaRPr lang="en-IN"/>
        </a:p>
      </dgm:t>
    </dgm:pt>
    <dgm:pt modelId="{39293798-D727-4550-A8E7-D91A740F53C4}" type="sibTrans" cxnId="{081178A2-F8E1-4205-89EB-A24FED78AB04}">
      <dgm:prSet/>
      <dgm:spPr/>
      <dgm:t>
        <a:bodyPr/>
        <a:lstStyle/>
        <a:p>
          <a:endParaRPr lang="en-IN"/>
        </a:p>
      </dgm:t>
    </dgm:pt>
    <dgm:pt modelId="{00F4EA80-1872-405D-AB1F-FE189F951F03}">
      <dgm:prSet/>
      <dgm:spPr/>
      <dgm:t>
        <a:bodyPr/>
        <a:lstStyle/>
        <a:p>
          <a:r>
            <a:rPr lang="en-GB" dirty="0" smtClean="0"/>
            <a:t>Search </a:t>
          </a:r>
          <a:r>
            <a:rPr lang="en-GB" dirty="0" err="1" smtClean="0"/>
            <a:t>behavior</a:t>
          </a:r>
          <a:endParaRPr lang="en-IN" dirty="0"/>
        </a:p>
      </dgm:t>
    </dgm:pt>
    <dgm:pt modelId="{A4913F2E-EA39-4AFF-8A44-23A1A1E2F0E0}" type="parTrans" cxnId="{317117C2-4661-4E70-9AAD-C28219A9CDD6}">
      <dgm:prSet/>
      <dgm:spPr/>
      <dgm:t>
        <a:bodyPr/>
        <a:lstStyle/>
        <a:p>
          <a:endParaRPr lang="en-IN"/>
        </a:p>
      </dgm:t>
    </dgm:pt>
    <dgm:pt modelId="{1A83FD6F-DC59-46A7-9BFE-B3EADA4F8E2E}" type="sibTrans" cxnId="{317117C2-4661-4E70-9AAD-C28219A9CDD6}">
      <dgm:prSet/>
      <dgm:spPr/>
      <dgm:t>
        <a:bodyPr/>
        <a:lstStyle/>
        <a:p>
          <a:endParaRPr lang="en-IN"/>
        </a:p>
      </dgm:t>
    </dgm:pt>
    <dgm:pt modelId="{F59B483B-D4D7-4BD8-8E90-4B674F34E17A}">
      <dgm:prSet/>
      <dgm:spPr/>
      <dgm:t>
        <a:bodyPr/>
        <a:lstStyle/>
        <a:p>
          <a:r>
            <a:rPr lang="en-GB" dirty="0" smtClean="0"/>
            <a:t>Satisfied need</a:t>
          </a:r>
          <a:endParaRPr lang="en-IN" dirty="0"/>
        </a:p>
      </dgm:t>
    </dgm:pt>
    <dgm:pt modelId="{A3389ECA-D407-4B50-B757-853C4D433D27}" type="parTrans" cxnId="{3ADF52AE-F483-4CAA-A705-A49089DA835A}">
      <dgm:prSet/>
      <dgm:spPr/>
      <dgm:t>
        <a:bodyPr/>
        <a:lstStyle/>
        <a:p>
          <a:endParaRPr lang="en-IN"/>
        </a:p>
      </dgm:t>
    </dgm:pt>
    <dgm:pt modelId="{2BCBD55F-3B2A-4FFF-B16E-1F1AF1011E8E}" type="sibTrans" cxnId="{3ADF52AE-F483-4CAA-A705-A49089DA835A}">
      <dgm:prSet/>
      <dgm:spPr/>
      <dgm:t>
        <a:bodyPr/>
        <a:lstStyle/>
        <a:p>
          <a:endParaRPr lang="en-IN"/>
        </a:p>
      </dgm:t>
    </dgm:pt>
    <dgm:pt modelId="{2A847CD3-B00D-4281-8098-71F301D1A047}">
      <dgm:prSet/>
      <dgm:spPr/>
      <dgm:t>
        <a:bodyPr/>
        <a:lstStyle/>
        <a:p>
          <a:r>
            <a:rPr lang="en-GB" dirty="0" smtClean="0"/>
            <a:t>Reduction of tension</a:t>
          </a:r>
          <a:endParaRPr lang="en-IN" dirty="0"/>
        </a:p>
      </dgm:t>
    </dgm:pt>
    <dgm:pt modelId="{AE05C841-2FF5-48C2-8A0A-8BBF5B16CB6A}" type="parTrans" cxnId="{890C9B70-C52F-47D2-9AC3-1E6F0AD937B8}">
      <dgm:prSet/>
      <dgm:spPr/>
      <dgm:t>
        <a:bodyPr/>
        <a:lstStyle/>
        <a:p>
          <a:endParaRPr lang="en-IN"/>
        </a:p>
      </dgm:t>
    </dgm:pt>
    <dgm:pt modelId="{23A92C4B-616F-489F-BFD0-1EE5FFBD5B2D}" type="sibTrans" cxnId="{890C9B70-C52F-47D2-9AC3-1E6F0AD937B8}">
      <dgm:prSet/>
      <dgm:spPr/>
      <dgm:t>
        <a:bodyPr/>
        <a:lstStyle/>
        <a:p>
          <a:endParaRPr lang="en-IN"/>
        </a:p>
      </dgm:t>
    </dgm:pt>
    <dgm:pt modelId="{4C54AAAA-8D9C-42A7-90B1-EEFEC2DD49E1}" type="pres">
      <dgm:prSet presAssocID="{294F8173-BEB2-4EBB-BA9A-8A1B8D4A0851}" presName="Name0" presStyleCnt="0">
        <dgm:presLayoutVars>
          <dgm:dir/>
          <dgm:resizeHandles val="exact"/>
        </dgm:presLayoutVars>
      </dgm:prSet>
      <dgm:spPr/>
    </dgm:pt>
    <dgm:pt modelId="{6658103C-7372-4B08-8062-A713EF651246}" type="pres">
      <dgm:prSet presAssocID="{7033C4A5-3CED-47BA-BD3B-BD3F75B7857B}" presName="node" presStyleLbl="node1" presStyleIdx="0" presStyleCnt="6">
        <dgm:presLayoutVars>
          <dgm:bulletEnabled val="1"/>
        </dgm:presLayoutVars>
      </dgm:prSet>
      <dgm:spPr/>
    </dgm:pt>
    <dgm:pt modelId="{43B79253-08E6-4E7D-8AA7-C7BDB6D45EA8}" type="pres">
      <dgm:prSet presAssocID="{B4D5749F-273E-4737-96BD-54FAB061326B}" presName="sibTrans" presStyleLbl="sibTrans2D1" presStyleIdx="0" presStyleCnt="5"/>
      <dgm:spPr/>
    </dgm:pt>
    <dgm:pt modelId="{FD6AF079-DFF3-463B-807C-A13B943E0EA1}" type="pres">
      <dgm:prSet presAssocID="{B4D5749F-273E-4737-96BD-54FAB061326B}" presName="connectorText" presStyleLbl="sibTrans2D1" presStyleIdx="0" presStyleCnt="5"/>
      <dgm:spPr/>
    </dgm:pt>
    <dgm:pt modelId="{C152A578-C533-4709-A684-65516AB01C73}" type="pres">
      <dgm:prSet presAssocID="{986A34DA-BCD1-4AAD-97E6-05AE0553D36B}" presName="node" presStyleLbl="node1" presStyleIdx="1" presStyleCnt="6">
        <dgm:presLayoutVars>
          <dgm:bulletEnabled val="1"/>
        </dgm:presLayoutVars>
      </dgm:prSet>
      <dgm:spPr/>
    </dgm:pt>
    <dgm:pt modelId="{84AC26A1-7DB0-4A96-8A3F-E9F9544AD674}" type="pres">
      <dgm:prSet presAssocID="{4951983B-DF27-4614-BCF4-964997FD0824}" presName="sibTrans" presStyleLbl="sibTrans2D1" presStyleIdx="1" presStyleCnt="5"/>
      <dgm:spPr/>
    </dgm:pt>
    <dgm:pt modelId="{47865B66-930F-4BE1-896E-4A1DE1530480}" type="pres">
      <dgm:prSet presAssocID="{4951983B-DF27-4614-BCF4-964997FD0824}" presName="connectorText" presStyleLbl="sibTrans2D1" presStyleIdx="1" presStyleCnt="5"/>
      <dgm:spPr/>
    </dgm:pt>
    <dgm:pt modelId="{51F48366-9077-4C2C-8D94-410D6CC45C9F}" type="pres">
      <dgm:prSet presAssocID="{4A923305-7028-4BB0-A58B-5F999D4B090B}" presName="node" presStyleLbl="node1" presStyleIdx="2" presStyleCnt="6">
        <dgm:presLayoutVars>
          <dgm:bulletEnabled val="1"/>
        </dgm:presLayoutVars>
      </dgm:prSet>
      <dgm:spPr/>
    </dgm:pt>
    <dgm:pt modelId="{FBED88F7-C23B-4933-84A0-F069E52BD4E0}" type="pres">
      <dgm:prSet presAssocID="{39293798-D727-4550-A8E7-D91A740F53C4}" presName="sibTrans" presStyleLbl="sibTrans2D1" presStyleIdx="2" presStyleCnt="5"/>
      <dgm:spPr/>
    </dgm:pt>
    <dgm:pt modelId="{2AF8D75D-ADFF-4D8F-9CAA-1CCD3E9711AE}" type="pres">
      <dgm:prSet presAssocID="{39293798-D727-4550-A8E7-D91A740F53C4}" presName="connectorText" presStyleLbl="sibTrans2D1" presStyleIdx="2" presStyleCnt="5"/>
      <dgm:spPr/>
    </dgm:pt>
    <dgm:pt modelId="{C2F3CC57-B579-4249-A5B8-AEE862855245}" type="pres">
      <dgm:prSet presAssocID="{00F4EA80-1872-405D-AB1F-FE189F951F03}" presName="node" presStyleLbl="node1" presStyleIdx="3" presStyleCnt="6">
        <dgm:presLayoutVars>
          <dgm:bulletEnabled val="1"/>
        </dgm:presLayoutVars>
      </dgm:prSet>
      <dgm:spPr/>
    </dgm:pt>
    <dgm:pt modelId="{C65212AE-B5CE-4938-A18F-3FEAEE33315B}" type="pres">
      <dgm:prSet presAssocID="{1A83FD6F-DC59-46A7-9BFE-B3EADA4F8E2E}" presName="sibTrans" presStyleLbl="sibTrans2D1" presStyleIdx="3" presStyleCnt="5"/>
      <dgm:spPr/>
    </dgm:pt>
    <dgm:pt modelId="{A82E1C62-5B93-4F67-89EE-C8861CB2B66D}" type="pres">
      <dgm:prSet presAssocID="{1A83FD6F-DC59-46A7-9BFE-B3EADA4F8E2E}" presName="connectorText" presStyleLbl="sibTrans2D1" presStyleIdx="3" presStyleCnt="5"/>
      <dgm:spPr/>
    </dgm:pt>
    <dgm:pt modelId="{4C6AB2AF-E9C9-4E19-9C92-E808163B9626}" type="pres">
      <dgm:prSet presAssocID="{F59B483B-D4D7-4BD8-8E90-4B674F34E17A}" presName="node" presStyleLbl="node1" presStyleIdx="4" presStyleCnt="6">
        <dgm:presLayoutVars>
          <dgm:bulletEnabled val="1"/>
        </dgm:presLayoutVars>
      </dgm:prSet>
      <dgm:spPr/>
    </dgm:pt>
    <dgm:pt modelId="{32191E7A-674F-45EE-844D-ECD38E397E2B}" type="pres">
      <dgm:prSet presAssocID="{2BCBD55F-3B2A-4FFF-B16E-1F1AF1011E8E}" presName="sibTrans" presStyleLbl="sibTrans2D1" presStyleIdx="4" presStyleCnt="5"/>
      <dgm:spPr/>
    </dgm:pt>
    <dgm:pt modelId="{1F53FF07-90F9-44A3-B2F9-4E1106EE9D19}" type="pres">
      <dgm:prSet presAssocID="{2BCBD55F-3B2A-4FFF-B16E-1F1AF1011E8E}" presName="connectorText" presStyleLbl="sibTrans2D1" presStyleIdx="4" presStyleCnt="5"/>
      <dgm:spPr/>
    </dgm:pt>
    <dgm:pt modelId="{D9670A7F-AD8B-493C-B683-C4784D449A3D}" type="pres">
      <dgm:prSet presAssocID="{2A847CD3-B00D-4281-8098-71F301D1A047}" presName="node" presStyleLbl="node1" presStyleIdx="5" presStyleCnt="6">
        <dgm:presLayoutVars>
          <dgm:bulletEnabled val="1"/>
        </dgm:presLayoutVars>
      </dgm:prSet>
      <dgm:spPr/>
    </dgm:pt>
  </dgm:ptLst>
  <dgm:cxnLst>
    <dgm:cxn modelId="{3CFBF275-F73B-455C-85BE-42F4F9DDC57C}" type="presOf" srcId="{B4D5749F-273E-4737-96BD-54FAB061326B}" destId="{43B79253-08E6-4E7D-8AA7-C7BDB6D45EA8}" srcOrd="0" destOrd="0" presId="urn:microsoft.com/office/officeart/2005/8/layout/process1"/>
    <dgm:cxn modelId="{428D3625-8B06-4777-B82E-EB885EA57B16}" type="presOf" srcId="{39293798-D727-4550-A8E7-D91A740F53C4}" destId="{2AF8D75D-ADFF-4D8F-9CAA-1CCD3E9711AE}" srcOrd="1" destOrd="0" presId="urn:microsoft.com/office/officeart/2005/8/layout/process1"/>
    <dgm:cxn modelId="{8EAAC4B9-59D8-4141-B115-195CBFB9BF01}" type="presOf" srcId="{2A847CD3-B00D-4281-8098-71F301D1A047}" destId="{D9670A7F-AD8B-493C-B683-C4784D449A3D}" srcOrd="0" destOrd="0" presId="urn:microsoft.com/office/officeart/2005/8/layout/process1"/>
    <dgm:cxn modelId="{081178A2-F8E1-4205-89EB-A24FED78AB04}" srcId="{294F8173-BEB2-4EBB-BA9A-8A1B8D4A0851}" destId="{4A923305-7028-4BB0-A58B-5F999D4B090B}" srcOrd="2" destOrd="0" parTransId="{6CC81D78-3FD3-435F-B9B3-512DC764BFF7}" sibTransId="{39293798-D727-4550-A8E7-D91A740F53C4}"/>
    <dgm:cxn modelId="{17D117D9-68DF-4596-A040-5AB718EB6962}" type="presOf" srcId="{00F4EA80-1872-405D-AB1F-FE189F951F03}" destId="{C2F3CC57-B579-4249-A5B8-AEE862855245}" srcOrd="0" destOrd="0" presId="urn:microsoft.com/office/officeart/2005/8/layout/process1"/>
    <dgm:cxn modelId="{890C9B70-C52F-47D2-9AC3-1E6F0AD937B8}" srcId="{294F8173-BEB2-4EBB-BA9A-8A1B8D4A0851}" destId="{2A847CD3-B00D-4281-8098-71F301D1A047}" srcOrd="5" destOrd="0" parTransId="{AE05C841-2FF5-48C2-8A0A-8BBF5B16CB6A}" sibTransId="{23A92C4B-616F-489F-BFD0-1EE5FFBD5B2D}"/>
    <dgm:cxn modelId="{07073E33-701C-422B-B034-61C91943E68F}" type="presOf" srcId="{2BCBD55F-3B2A-4FFF-B16E-1F1AF1011E8E}" destId="{1F53FF07-90F9-44A3-B2F9-4E1106EE9D19}" srcOrd="1" destOrd="0" presId="urn:microsoft.com/office/officeart/2005/8/layout/process1"/>
    <dgm:cxn modelId="{4F3406B7-CA48-4E85-A7A6-BC0CDE308E08}" type="presOf" srcId="{986A34DA-BCD1-4AAD-97E6-05AE0553D36B}" destId="{C152A578-C533-4709-A684-65516AB01C73}" srcOrd="0" destOrd="0" presId="urn:microsoft.com/office/officeart/2005/8/layout/process1"/>
    <dgm:cxn modelId="{D0CD7030-21C8-436A-988F-220196C14397}" type="presOf" srcId="{4A923305-7028-4BB0-A58B-5F999D4B090B}" destId="{51F48366-9077-4C2C-8D94-410D6CC45C9F}" srcOrd="0" destOrd="0" presId="urn:microsoft.com/office/officeart/2005/8/layout/process1"/>
    <dgm:cxn modelId="{F7E8DDE7-76E7-4461-BE2C-C8C3016B9831}" type="presOf" srcId="{2BCBD55F-3B2A-4FFF-B16E-1F1AF1011E8E}" destId="{32191E7A-674F-45EE-844D-ECD38E397E2B}" srcOrd="0" destOrd="0" presId="urn:microsoft.com/office/officeart/2005/8/layout/process1"/>
    <dgm:cxn modelId="{74FD0361-B302-4D37-A9BB-3D8ECAD324CF}" type="presOf" srcId="{B4D5749F-273E-4737-96BD-54FAB061326B}" destId="{FD6AF079-DFF3-463B-807C-A13B943E0EA1}" srcOrd="1" destOrd="0" presId="urn:microsoft.com/office/officeart/2005/8/layout/process1"/>
    <dgm:cxn modelId="{0436AF6E-1A07-41CF-917C-FDD6A4D7FC98}" srcId="{294F8173-BEB2-4EBB-BA9A-8A1B8D4A0851}" destId="{7033C4A5-3CED-47BA-BD3B-BD3F75B7857B}" srcOrd="0" destOrd="0" parTransId="{6F0619EC-7F77-4651-9AD8-3C43A7C0E1DC}" sibTransId="{B4D5749F-273E-4737-96BD-54FAB061326B}"/>
    <dgm:cxn modelId="{19A42187-471E-403A-B183-26550EA16572}" type="presOf" srcId="{294F8173-BEB2-4EBB-BA9A-8A1B8D4A0851}" destId="{4C54AAAA-8D9C-42A7-90B1-EEFEC2DD49E1}" srcOrd="0" destOrd="0" presId="urn:microsoft.com/office/officeart/2005/8/layout/process1"/>
    <dgm:cxn modelId="{EF46F06F-C1B7-47B9-8C86-22B2D21E1AED}" srcId="{294F8173-BEB2-4EBB-BA9A-8A1B8D4A0851}" destId="{986A34DA-BCD1-4AAD-97E6-05AE0553D36B}" srcOrd="1" destOrd="0" parTransId="{04EEED48-730F-42F9-B1FB-BC8746131F8F}" sibTransId="{4951983B-DF27-4614-BCF4-964997FD0824}"/>
    <dgm:cxn modelId="{3ADF52AE-F483-4CAA-A705-A49089DA835A}" srcId="{294F8173-BEB2-4EBB-BA9A-8A1B8D4A0851}" destId="{F59B483B-D4D7-4BD8-8E90-4B674F34E17A}" srcOrd="4" destOrd="0" parTransId="{A3389ECA-D407-4B50-B757-853C4D433D27}" sibTransId="{2BCBD55F-3B2A-4FFF-B16E-1F1AF1011E8E}"/>
    <dgm:cxn modelId="{A8E4944D-5DC2-4599-A1C6-EE831B09429E}" type="presOf" srcId="{4951983B-DF27-4614-BCF4-964997FD0824}" destId="{47865B66-930F-4BE1-896E-4A1DE1530480}" srcOrd="1" destOrd="0" presId="urn:microsoft.com/office/officeart/2005/8/layout/process1"/>
    <dgm:cxn modelId="{317117C2-4661-4E70-9AAD-C28219A9CDD6}" srcId="{294F8173-BEB2-4EBB-BA9A-8A1B8D4A0851}" destId="{00F4EA80-1872-405D-AB1F-FE189F951F03}" srcOrd="3" destOrd="0" parTransId="{A4913F2E-EA39-4AFF-8A44-23A1A1E2F0E0}" sibTransId="{1A83FD6F-DC59-46A7-9BFE-B3EADA4F8E2E}"/>
    <dgm:cxn modelId="{B3C13D8E-CE3D-49AB-9A65-0B458263225D}" type="presOf" srcId="{1A83FD6F-DC59-46A7-9BFE-B3EADA4F8E2E}" destId="{A82E1C62-5B93-4F67-89EE-C8861CB2B66D}" srcOrd="1" destOrd="0" presId="urn:microsoft.com/office/officeart/2005/8/layout/process1"/>
    <dgm:cxn modelId="{977CA8BE-82DC-4ABF-993B-6D7F21A48088}" type="presOf" srcId="{4951983B-DF27-4614-BCF4-964997FD0824}" destId="{84AC26A1-7DB0-4A96-8A3F-E9F9544AD674}" srcOrd="0" destOrd="0" presId="urn:microsoft.com/office/officeart/2005/8/layout/process1"/>
    <dgm:cxn modelId="{8D300420-FDE3-43F6-A859-ACEFE06FC353}" type="presOf" srcId="{F59B483B-D4D7-4BD8-8E90-4B674F34E17A}" destId="{4C6AB2AF-E9C9-4E19-9C92-E808163B9626}" srcOrd="0" destOrd="0" presId="urn:microsoft.com/office/officeart/2005/8/layout/process1"/>
    <dgm:cxn modelId="{CE7FD7B1-81E8-4747-9A36-DC8EEC79A0DC}" type="presOf" srcId="{1A83FD6F-DC59-46A7-9BFE-B3EADA4F8E2E}" destId="{C65212AE-B5CE-4938-A18F-3FEAEE33315B}" srcOrd="0" destOrd="0" presId="urn:microsoft.com/office/officeart/2005/8/layout/process1"/>
    <dgm:cxn modelId="{FAD77528-7081-4BED-A74F-A39E3D101C1A}" type="presOf" srcId="{7033C4A5-3CED-47BA-BD3B-BD3F75B7857B}" destId="{6658103C-7372-4B08-8062-A713EF651246}" srcOrd="0" destOrd="0" presId="urn:microsoft.com/office/officeart/2005/8/layout/process1"/>
    <dgm:cxn modelId="{24285D5D-10AD-4634-9268-90E46B76B200}" type="presOf" srcId="{39293798-D727-4550-A8E7-D91A740F53C4}" destId="{FBED88F7-C23B-4933-84A0-F069E52BD4E0}" srcOrd="0" destOrd="0" presId="urn:microsoft.com/office/officeart/2005/8/layout/process1"/>
    <dgm:cxn modelId="{D644AD50-A43A-4801-B681-7C1F564DA82B}" type="presParOf" srcId="{4C54AAAA-8D9C-42A7-90B1-EEFEC2DD49E1}" destId="{6658103C-7372-4B08-8062-A713EF651246}" srcOrd="0" destOrd="0" presId="urn:microsoft.com/office/officeart/2005/8/layout/process1"/>
    <dgm:cxn modelId="{13469BDC-B5B1-4379-9BDC-1E99AA01A7D6}" type="presParOf" srcId="{4C54AAAA-8D9C-42A7-90B1-EEFEC2DD49E1}" destId="{43B79253-08E6-4E7D-8AA7-C7BDB6D45EA8}" srcOrd="1" destOrd="0" presId="urn:microsoft.com/office/officeart/2005/8/layout/process1"/>
    <dgm:cxn modelId="{DAE3E258-1BC6-42EE-A6B3-6798E6A613CC}" type="presParOf" srcId="{43B79253-08E6-4E7D-8AA7-C7BDB6D45EA8}" destId="{FD6AF079-DFF3-463B-807C-A13B943E0EA1}" srcOrd="0" destOrd="0" presId="urn:microsoft.com/office/officeart/2005/8/layout/process1"/>
    <dgm:cxn modelId="{BF7412E8-AAD3-480D-A107-405A6821E8C4}" type="presParOf" srcId="{4C54AAAA-8D9C-42A7-90B1-EEFEC2DD49E1}" destId="{C152A578-C533-4709-A684-65516AB01C73}" srcOrd="2" destOrd="0" presId="urn:microsoft.com/office/officeart/2005/8/layout/process1"/>
    <dgm:cxn modelId="{2E424392-EBF6-4E35-A411-BE159B6E5F9D}" type="presParOf" srcId="{4C54AAAA-8D9C-42A7-90B1-EEFEC2DD49E1}" destId="{84AC26A1-7DB0-4A96-8A3F-E9F9544AD674}" srcOrd="3" destOrd="0" presId="urn:microsoft.com/office/officeart/2005/8/layout/process1"/>
    <dgm:cxn modelId="{7792D136-795A-4BB0-9E3C-E57C7CDE0775}" type="presParOf" srcId="{84AC26A1-7DB0-4A96-8A3F-E9F9544AD674}" destId="{47865B66-930F-4BE1-896E-4A1DE1530480}" srcOrd="0" destOrd="0" presId="urn:microsoft.com/office/officeart/2005/8/layout/process1"/>
    <dgm:cxn modelId="{0D6D7F58-4E3D-43B1-8A44-E5537FE4F25B}" type="presParOf" srcId="{4C54AAAA-8D9C-42A7-90B1-EEFEC2DD49E1}" destId="{51F48366-9077-4C2C-8D94-410D6CC45C9F}" srcOrd="4" destOrd="0" presId="urn:microsoft.com/office/officeart/2005/8/layout/process1"/>
    <dgm:cxn modelId="{CEE5CFB7-BC60-47A2-B293-5648E184B06D}" type="presParOf" srcId="{4C54AAAA-8D9C-42A7-90B1-EEFEC2DD49E1}" destId="{FBED88F7-C23B-4933-84A0-F069E52BD4E0}" srcOrd="5" destOrd="0" presId="urn:microsoft.com/office/officeart/2005/8/layout/process1"/>
    <dgm:cxn modelId="{B5962E77-A581-474C-BA70-AB730B16ED25}" type="presParOf" srcId="{FBED88F7-C23B-4933-84A0-F069E52BD4E0}" destId="{2AF8D75D-ADFF-4D8F-9CAA-1CCD3E9711AE}" srcOrd="0" destOrd="0" presId="urn:microsoft.com/office/officeart/2005/8/layout/process1"/>
    <dgm:cxn modelId="{CF249708-B128-444B-AA67-953A3D32D9F3}" type="presParOf" srcId="{4C54AAAA-8D9C-42A7-90B1-EEFEC2DD49E1}" destId="{C2F3CC57-B579-4249-A5B8-AEE862855245}" srcOrd="6" destOrd="0" presId="urn:microsoft.com/office/officeart/2005/8/layout/process1"/>
    <dgm:cxn modelId="{E41770A3-ED7D-45CB-B272-CC85878CB403}" type="presParOf" srcId="{4C54AAAA-8D9C-42A7-90B1-EEFEC2DD49E1}" destId="{C65212AE-B5CE-4938-A18F-3FEAEE33315B}" srcOrd="7" destOrd="0" presId="urn:microsoft.com/office/officeart/2005/8/layout/process1"/>
    <dgm:cxn modelId="{B0A14C83-83A4-4489-B75C-AF3BA414EF27}" type="presParOf" srcId="{C65212AE-B5CE-4938-A18F-3FEAEE33315B}" destId="{A82E1C62-5B93-4F67-89EE-C8861CB2B66D}" srcOrd="0" destOrd="0" presId="urn:microsoft.com/office/officeart/2005/8/layout/process1"/>
    <dgm:cxn modelId="{9E99606A-EA49-4E7C-86CF-948DFADB9FFE}" type="presParOf" srcId="{4C54AAAA-8D9C-42A7-90B1-EEFEC2DD49E1}" destId="{4C6AB2AF-E9C9-4E19-9C92-E808163B9626}" srcOrd="8" destOrd="0" presId="urn:microsoft.com/office/officeart/2005/8/layout/process1"/>
    <dgm:cxn modelId="{82ED94DC-6213-408A-8A5C-1860B762A25D}" type="presParOf" srcId="{4C54AAAA-8D9C-42A7-90B1-EEFEC2DD49E1}" destId="{32191E7A-674F-45EE-844D-ECD38E397E2B}" srcOrd="9" destOrd="0" presId="urn:microsoft.com/office/officeart/2005/8/layout/process1"/>
    <dgm:cxn modelId="{BA6C4DD4-42EA-43C7-B087-A1437B60D03C}" type="presParOf" srcId="{32191E7A-674F-45EE-844D-ECD38E397E2B}" destId="{1F53FF07-90F9-44A3-B2F9-4E1106EE9D19}" srcOrd="0" destOrd="0" presId="urn:microsoft.com/office/officeart/2005/8/layout/process1"/>
    <dgm:cxn modelId="{6C469F20-CEA1-4E4C-B762-4517F0A623C5}" type="presParOf" srcId="{4C54AAAA-8D9C-42A7-90B1-EEFEC2DD49E1}" destId="{D9670A7F-AD8B-493C-B683-C4784D449A3D}"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58103C-7372-4B08-8062-A713EF651246}">
      <dsp:nvSpPr>
        <dsp:cNvPr id="0" name=""/>
        <dsp:cNvSpPr/>
      </dsp:nvSpPr>
      <dsp:spPr>
        <a:xfrm>
          <a:off x="0" y="1934369"/>
          <a:ext cx="1095375" cy="657225"/>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GB" sz="1600" kern="1200" dirty="0" smtClean="0"/>
            <a:t>Unsatisfied Need</a:t>
          </a:r>
          <a:endParaRPr lang="en-IN" sz="1600" kern="1200" dirty="0"/>
        </a:p>
      </dsp:txBody>
      <dsp:txXfrm>
        <a:off x="19249" y="1953618"/>
        <a:ext cx="1056877" cy="618727"/>
      </dsp:txXfrm>
    </dsp:sp>
    <dsp:sp modelId="{43B79253-08E6-4E7D-8AA7-C7BDB6D45EA8}">
      <dsp:nvSpPr>
        <dsp:cNvPr id="0" name=""/>
        <dsp:cNvSpPr/>
      </dsp:nvSpPr>
      <dsp:spPr>
        <a:xfrm>
          <a:off x="1204912" y="2127155"/>
          <a:ext cx="232219" cy="271653"/>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IN" sz="1100" kern="1200"/>
        </a:p>
      </dsp:txBody>
      <dsp:txXfrm>
        <a:off x="1204912" y="2181486"/>
        <a:ext cx="162553" cy="162991"/>
      </dsp:txXfrm>
    </dsp:sp>
    <dsp:sp modelId="{C152A578-C533-4709-A684-65516AB01C73}">
      <dsp:nvSpPr>
        <dsp:cNvPr id="0" name=""/>
        <dsp:cNvSpPr/>
      </dsp:nvSpPr>
      <dsp:spPr>
        <a:xfrm>
          <a:off x="1533525" y="1934369"/>
          <a:ext cx="1095375" cy="657225"/>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GB" sz="1600" kern="1200" dirty="0" smtClean="0"/>
            <a:t>Tension</a:t>
          </a:r>
          <a:endParaRPr lang="en-IN" sz="1600" kern="1200" dirty="0"/>
        </a:p>
      </dsp:txBody>
      <dsp:txXfrm>
        <a:off x="1552774" y="1953618"/>
        <a:ext cx="1056877" cy="618727"/>
      </dsp:txXfrm>
    </dsp:sp>
    <dsp:sp modelId="{84AC26A1-7DB0-4A96-8A3F-E9F9544AD674}">
      <dsp:nvSpPr>
        <dsp:cNvPr id="0" name=""/>
        <dsp:cNvSpPr/>
      </dsp:nvSpPr>
      <dsp:spPr>
        <a:xfrm>
          <a:off x="2738437" y="2127155"/>
          <a:ext cx="232219" cy="271653"/>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IN" sz="1100" kern="1200"/>
        </a:p>
      </dsp:txBody>
      <dsp:txXfrm>
        <a:off x="2738437" y="2181486"/>
        <a:ext cx="162553" cy="162991"/>
      </dsp:txXfrm>
    </dsp:sp>
    <dsp:sp modelId="{51F48366-9077-4C2C-8D94-410D6CC45C9F}">
      <dsp:nvSpPr>
        <dsp:cNvPr id="0" name=""/>
        <dsp:cNvSpPr/>
      </dsp:nvSpPr>
      <dsp:spPr>
        <a:xfrm>
          <a:off x="3067050" y="1934369"/>
          <a:ext cx="1095375" cy="657225"/>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GB" sz="1600" kern="1200" dirty="0" smtClean="0"/>
            <a:t>Drives</a:t>
          </a:r>
          <a:endParaRPr lang="en-IN" sz="1600" kern="1200" dirty="0"/>
        </a:p>
      </dsp:txBody>
      <dsp:txXfrm>
        <a:off x="3086299" y="1953618"/>
        <a:ext cx="1056877" cy="618727"/>
      </dsp:txXfrm>
    </dsp:sp>
    <dsp:sp modelId="{FBED88F7-C23B-4933-84A0-F069E52BD4E0}">
      <dsp:nvSpPr>
        <dsp:cNvPr id="0" name=""/>
        <dsp:cNvSpPr/>
      </dsp:nvSpPr>
      <dsp:spPr>
        <a:xfrm>
          <a:off x="4271962" y="2127155"/>
          <a:ext cx="232219" cy="271653"/>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IN" sz="1100" kern="1200"/>
        </a:p>
      </dsp:txBody>
      <dsp:txXfrm>
        <a:off x="4271962" y="2181486"/>
        <a:ext cx="162553" cy="162991"/>
      </dsp:txXfrm>
    </dsp:sp>
    <dsp:sp modelId="{C2F3CC57-B579-4249-A5B8-AEE862855245}">
      <dsp:nvSpPr>
        <dsp:cNvPr id="0" name=""/>
        <dsp:cNvSpPr/>
      </dsp:nvSpPr>
      <dsp:spPr>
        <a:xfrm>
          <a:off x="4600575" y="1934369"/>
          <a:ext cx="1095375" cy="657225"/>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GB" sz="1600" kern="1200" dirty="0" smtClean="0"/>
            <a:t>Search </a:t>
          </a:r>
          <a:r>
            <a:rPr lang="en-GB" sz="1600" kern="1200" dirty="0" err="1" smtClean="0"/>
            <a:t>behavior</a:t>
          </a:r>
          <a:endParaRPr lang="en-IN" sz="1600" kern="1200" dirty="0"/>
        </a:p>
      </dsp:txBody>
      <dsp:txXfrm>
        <a:off x="4619824" y="1953618"/>
        <a:ext cx="1056877" cy="618727"/>
      </dsp:txXfrm>
    </dsp:sp>
    <dsp:sp modelId="{C65212AE-B5CE-4938-A18F-3FEAEE33315B}">
      <dsp:nvSpPr>
        <dsp:cNvPr id="0" name=""/>
        <dsp:cNvSpPr/>
      </dsp:nvSpPr>
      <dsp:spPr>
        <a:xfrm>
          <a:off x="5805487" y="2127155"/>
          <a:ext cx="232219" cy="271653"/>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IN" sz="1100" kern="1200"/>
        </a:p>
      </dsp:txBody>
      <dsp:txXfrm>
        <a:off x="5805487" y="2181486"/>
        <a:ext cx="162553" cy="162991"/>
      </dsp:txXfrm>
    </dsp:sp>
    <dsp:sp modelId="{4C6AB2AF-E9C9-4E19-9C92-E808163B9626}">
      <dsp:nvSpPr>
        <dsp:cNvPr id="0" name=""/>
        <dsp:cNvSpPr/>
      </dsp:nvSpPr>
      <dsp:spPr>
        <a:xfrm>
          <a:off x="6134099" y="1934369"/>
          <a:ext cx="1095375" cy="657225"/>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GB" sz="1600" kern="1200" dirty="0" smtClean="0"/>
            <a:t>Satisfied need</a:t>
          </a:r>
          <a:endParaRPr lang="en-IN" sz="1600" kern="1200" dirty="0"/>
        </a:p>
      </dsp:txBody>
      <dsp:txXfrm>
        <a:off x="6153348" y="1953618"/>
        <a:ext cx="1056877" cy="618727"/>
      </dsp:txXfrm>
    </dsp:sp>
    <dsp:sp modelId="{32191E7A-674F-45EE-844D-ECD38E397E2B}">
      <dsp:nvSpPr>
        <dsp:cNvPr id="0" name=""/>
        <dsp:cNvSpPr/>
      </dsp:nvSpPr>
      <dsp:spPr>
        <a:xfrm>
          <a:off x="7339012" y="2127155"/>
          <a:ext cx="232219" cy="271653"/>
        </a:xfrm>
        <a:prstGeom prst="rightArrow">
          <a:avLst>
            <a:gd name="adj1" fmla="val 60000"/>
            <a:gd name="adj2" fmla="val 50000"/>
          </a:avLst>
        </a:prstGeom>
        <a:solidFill>
          <a:schemeClr val="dk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en-IN" sz="1100" kern="1200"/>
        </a:p>
      </dsp:txBody>
      <dsp:txXfrm>
        <a:off x="7339012" y="2181486"/>
        <a:ext cx="162553" cy="162991"/>
      </dsp:txXfrm>
    </dsp:sp>
    <dsp:sp modelId="{D9670A7F-AD8B-493C-B683-C4784D449A3D}">
      <dsp:nvSpPr>
        <dsp:cNvPr id="0" name=""/>
        <dsp:cNvSpPr/>
      </dsp:nvSpPr>
      <dsp:spPr>
        <a:xfrm>
          <a:off x="7667625" y="1934369"/>
          <a:ext cx="1095375" cy="657225"/>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GB" sz="1600" kern="1200" dirty="0" smtClean="0"/>
            <a:t>Reduction of tension</a:t>
          </a:r>
          <a:endParaRPr lang="en-IN" sz="1600" kern="1200" dirty="0"/>
        </a:p>
      </dsp:txBody>
      <dsp:txXfrm>
        <a:off x="7686874" y="1953618"/>
        <a:ext cx="1056877" cy="618727"/>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Motivation at Work</a:t>
            </a:r>
            <a:endParaRPr lang="en-IN" dirty="0"/>
          </a:p>
        </p:txBody>
      </p:sp>
      <p:sp>
        <p:nvSpPr>
          <p:cNvPr id="3" name="Subtitle 2"/>
          <p:cNvSpPr>
            <a:spLocks noGrp="1"/>
          </p:cNvSpPr>
          <p:nvPr>
            <p:ph type="subTitle" idx="1"/>
          </p:nvPr>
        </p:nvSpPr>
        <p:spPr/>
        <p:txBody>
          <a:bodyPr/>
          <a:lstStyle/>
          <a:p>
            <a:r>
              <a:rPr lang="en-GB" dirty="0" smtClean="0"/>
              <a:t>Session 11</a:t>
            </a:r>
            <a:endParaRPr lang="en-IN" dirty="0"/>
          </a:p>
        </p:txBody>
      </p:sp>
    </p:spTree>
    <p:extLst>
      <p:ext uri="{BB962C8B-B14F-4D97-AF65-F5344CB8AC3E}">
        <p14:creationId xmlns:p14="http://schemas.microsoft.com/office/powerpoint/2010/main" val="638193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is Motivation?</a:t>
            </a:r>
            <a:endParaRPr lang="en-IN" dirty="0"/>
          </a:p>
        </p:txBody>
      </p:sp>
      <p:sp>
        <p:nvSpPr>
          <p:cNvPr id="3" name="Content Placeholder 2"/>
          <p:cNvSpPr>
            <a:spLocks noGrp="1"/>
          </p:cNvSpPr>
          <p:nvPr>
            <p:ph idx="1"/>
          </p:nvPr>
        </p:nvSpPr>
        <p:spPr/>
        <p:txBody>
          <a:bodyPr>
            <a:normAutofit fontScale="85000" lnSpcReduction="20000"/>
          </a:bodyPr>
          <a:lstStyle/>
          <a:p>
            <a:r>
              <a:rPr lang="en-GB" dirty="0"/>
              <a:t>Motivation is the willingness to exert high levels of </a:t>
            </a:r>
            <a:r>
              <a:rPr lang="en-GB" u="sng" dirty="0"/>
              <a:t>effort</a:t>
            </a:r>
            <a:r>
              <a:rPr lang="en-GB" dirty="0"/>
              <a:t> to reach </a:t>
            </a:r>
            <a:r>
              <a:rPr lang="en-GB" u="sng" dirty="0"/>
              <a:t>organizational goals</a:t>
            </a:r>
            <a:r>
              <a:rPr lang="en-GB" dirty="0"/>
              <a:t>, conditioned by the effort's ability to satisfy some individual </a:t>
            </a:r>
            <a:r>
              <a:rPr lang="en-GB" u="sng" dirty="0"/>
              <a:t>need</a:t>
            </a:r>
            <a:r>
              <a:rPr lang="en-GB" dirty="0"/>
              <a:t> </a:t>
            </a:r>
          </a:p>
          <a:p>
            <a:r>
              <a:rPr lang="en-GB" dirty="0"/>
              <a:t>The </a:t>
            </a:r>
            <a:r>
              <a:rPr lang="en-GB" i="1" dirty="0"/>
              <a:t>effort </a:t>
            </a:r>
            <a:r>
              <a:rPr lang="en-GB" dirty="0"/>
              <a:t>element is a measure of intensity or drive. Effort that is directed toward, and consistent with, </a:t>
            </a:r>
            <a:r>
              <a:rPr lang="en-GB" i="1" dirty="0"/>
              <a:t>organizational goals </a:t>
            </a:r>
          </a:p>
          <a:p>
            <a:r>
              <a:rPr lang="en-GB" dirty="0"/>
              <a:t>A </a:t>
            </a:r>
            <a:r>
              <a:rPr lang="en-GB" i="1" dirty="0"/>
              <a:t>need</a:t>
            </a:r>
            <a:r>
              <a:rPr lang="en-GB" dirty="0"/>
              <a:t> refers to some internal state that makes certain outcomes appear attractive. An unsatisfied need creates tension that stimulates drives within an individual. These drives lead to a search </a:t>
            </a:r>
            <a:r>
              <a:rPr lang="en-GB" dirty="0" err="1"/>
              <a:t>behavior</a:t>
            </a:r>
            <a:r>
              <a:rPr lang="en-GB" dirty="0"/>
              <a:t> to find particular goals that, if attained, will satisfy the need and reduce the </a:t>
            </a:r>
            <a:r>
              <a:rPr lang="en-GB" dirty="0" smtClean="0"/>
              <a:t>tension</a:t>
            </a:r>
            <a:endParaRPr lang="en-IN" dirty="0"/>
          </a:p>
          <a:p>
            <a:endParaRPr lang="en-IN" dirty="0"/>
          </a:p>
        </p:txBody>
      </p:sp>
    </p:spTree>
    <p:extLst>
      <p:ext uri="{BB962C8B-B14F-4D97-AF65-F5344CB8AC3E}">
        <p14:creationId xmlns:p14="http://schemas.microsoft.com/office/powerpoint/2010/main" val="28733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Motivation Process</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3832242"/>
              </p:ext>
            </p:extLst>
          </p:nvPr>
        </p:nvGraphicFramePr>
        <p:xfrm>
          <a:off x="152400" y="1600200"/>
          <a:ext cx="87630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11421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895600"/>
            <a:ext cx="8229600" cy="1143000"/>
          </a:xfrm>
        </p:spPr>
        <p:txBody>
          <a:bodyPr/>
          <a:lstStyle/>
          <a:p>
            <a:r>
              <a:rPr lang="en-GB" dirty="0" smtClean="0"/>
              <a:t>Early theories of motivation</a:t>
            </a:r>
            <a:endParaRPr lang="en-IN" dirty="0"/>
          </a:p>
        </p:txBody>
      </p:sp>
    </p:spTree>
    <p:extLst>
      <p:ext uri="{BB962C8B-B14F-4D97-AF65-F5344CB8AC3E}">
        <p14:creationId xmlns:p14="http://schemas.microsoft.com/office/powerpoint/2010/main" val="893456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Maslow’s Hierarchy of Needs theory</a:t>
            </a:r>
            <a:endParaRPr lang="en-IN" dirty="0"/>
          </a:p>
        </p:txBody>
      </p:sp>
      <p:sp>
        <p:nvSpPr>
          <p:cNvPr id="3" name="Content Placeholder 2"/>
          <p:cNvSpPr>
            <a:spLocks noGrp="1"/>
          </p:cNvSpPr>
          <p:nvPr>
            <p:ph idx="1"/>
          </p:nvPr>
        </p:nvSpPr>
        <p:spPr>
          <a:xfrm>
            <a:off x="457200" y="1371600"/>
            <a:ext cx="8229600" cy="5105400"/>
          </a:xfrm>
        </p:spPr>
        <p:txBody>
          <a:bodyPr>
            <a:normAutofit fontScale="77500" lnSpcReduction="20000"/>
          </a:bodyPr>
          <a:lstStyle/>
          <a:p>
            <a:pPr marL="0" indent="0">
              <a:buNone/>
            </a:pPr>
            <a:r>
              <a:rPr lang="en-GB" dirty="0"/>
              <a:t>Maslow </a:t>
            </a:r>
            <a:r>
              <a:rPr lang="en-GB" dirty="0" smtClean="0"/>
              <a:t>proposed </a:t>
            </a:r>
            <a:r>
              <a:rPr lang="en-GB" dirty="0"/>
              <a:t>that within every person is a hierarchy of five needs:</a:t>
            </a:r>
          </a:p>
          <a:p>
            <a:pPr marL="514350" indent="-514350">
              <a:buFont typeface="+mj-lt"/>
              <a:buAutoNum type="arabicPeriod"/>
            </a:pPr>
            <a:r>
              <a:rPr lang="en-GB" i="1" dirty="0"/>
              <a:t>Physiological needs: </a:t>
            </a:r>
            <a:r>
              <a:rPr lang="en-GB" dirty="0"/>
              <a:t>food, drink, shelter, sexual satisfaction, and other physical requirements.</a:t>
            </a:r>
          </a:p>
          <a:p>
            <a:pPr marL="514350" indent="-514350">
              <a:buFont typeface="+mj-lt"/>
              <a:buAutoNum type="arabicPeriod"/>
            </a:pPr>
            <a:r>
              <a:rPr lang="en-GB" i="1" dirty="0"/>
              <a:t>Safety needs: </a:t>
            </a:r>
            <a:r>
              <a:rPr lang="en-GB" dirty="0"/>
              <a:t>security and protection from physical and emotional harm, as well as assurance that physical needs will continue to be met.</a:t>
            </a:r>
          </a:p>
          <a:p>
            <a:pPr marL="514350" indent="-514350">
              <a:buFont typeface="+mj-lt"/>
              <a:buAutoNum type="arabicPeriod"/>
            </a:pPr>
            <a:r>
              <a:rPr lang="en-GB" i="1" dirty="0"/>
              <a:t>Social needs: </a:t>
            </a:r>
            <a:r>
              <a:rPr lang="en-GB" dirty="0"/>
              <a:t>affection, belongingness, acceptance, and friendship.</a:t>
            </a:r>
          </a:p>
          <a:p>
            <a:pPr marL="514350" indent="-514350">
              <a:buFont typeface="+mj-lt"/>
              <a:buAutoNum type="arabicPeriod"/>
            </a:pPr>
            <a:r>
              <a:rPr lang="en-GB" i="1" dirty="0"/>
              <a:t>Esteem needs: </a:t>
            </a:r>
            <a:r>
              <a:rPr lang="en-GB" dirty="0"/>
              <a:t>internal esteem factors such as self-respect, autonomy, and achievement and external esteem factors such as status, recognition, and attention.</a:t>
            </a:r>
          </a:p>
          <a:p>
            <a:pPr marL="514350" indent="-514350">
              <a:buFont typeface="+mj-lt"/>
              <a:buAutoNum type="arabicPeriod"/>
            </a:pPr>
            <a:r>
              <a:rPr lang="en-GB" i="1" dirty="0"/>
              <a:t>Self-actualization needs: </a:t>
            </a:r>
            <a:r>
              <a:rPr lang="en-GB" dirty="0"/>
              <a:t>growth, achieving one's potential, and self-</a:t>
            </a:r>
            <a:r>
              <a:rPr lang="en-GB" dirty="0" err="1"/>
              <a:t>fulfillment</a:t>
            </a:r>
            <a:r>
              <a:rPr lang="en-GB" dirty="0"/>
              <a:t>; the drive to become what one is capable of becoming</a:t>
            </a:r>
            <a:r>
              <a:rPr lang="en-GB" dirty="0" smtClean="0"/>
              <a:t>.</a:t>
            </a:r>
            <a:endParaRPr lang="en-IN" dirty="0"/>
          </a:p>
          <a:p>
            <a:endParaRPr lang="en-IN" dirty="0"/>
          </a:p>
        </p:txBody>
      </p:sp>
    </p:spTree>
    <p:extLst>
      <p:ext uri="{BB962C8B-B14F-4D97-AF65-F5344CB8AC3E}">
        <p14:creationId xmlns:p14="http://schemas.microsoft.com/office/powerpoint/2010/main" val="1660069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457200"/>
            <a:ext cx="8305800" cy="5668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85494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172200"/>
          </a:xfrm>
        </p:spPr>
        <p:txBody>
          <a:bodyPr>
            <a:normAutofit fontScale="85000" lnSpcReduction="10000"/>
          </a:bodyPr>
          <a:lstStyle/>
          <a:p>
            <a:r>
              <a:rPr lang="en-GB" dirty="0"/>
              <a:t>Maslow argued that each level in the hierarchy must be substantially satisfied before the next is activated and that once a need is substantially satisfied it no longer motivates </a:t>
            </a:r>
            <a:r>
              <a:rPr lang="en-GB" dirty="0" err="1"/>
              <a:t>behavior</a:t>
            </a:r>
            <a:r>
              <a:rPr lang="en-GB" dirty="0"/>
              <a:t>. </a:t>
            </a:r>
            <a:r>
              <a:rPr lang="en-GB" dirty="0" smtClean="0"/>
              <a:t>Therefore, </a:t>
            </a:r>
            <a:r>
              <a:rPr lang="en-GB" dirty="0"/>
              <a:t>as each need is substantially satisfied, the next need becomes dominant </a:t>
            </a:r>
          </a:p>
          <a:p>
            <a:r>
              <a:rPr lang="en-GB" dirty="0"/>
              <a:t>Maslow's theory proposed that, although no need is ever fully satisfied, a substantially satisfied need will no longer motivate an </a:t>
            </a:r>
            <a:r>
              <a:rPr lang="en-GB" dirty="0" smtClean="0"/>
              <a:t>individual</a:t>
            </a:r>
          </a:p>
          <a:p>
            <a:r>
              <a:rPr lang="en-GB" dirty="0"/>
              <a:t>Maslow separated the five needs into </a:t>
            </a:r>
            <a:r>
              <a:rPr lang="en-GB" u="sng" dirty="0"/>
              <a:t>higher</a:t>
            </a:r>
            <a:r>
              <a:rPr lang="en-GB" dirty="0"/>
              <a:t> and </a:t>
            </a:r>
            <a:r>
              <a:rPr lang="en-GB" u="sng" dirty="0"/>
              <a:t>lower </a:t>
            </a:r>
            <a:r>
              <a:rPr lang="en-GB" dirty="0"/>
              <a:t>levels. Physiological and safety needs were described as </a:t>
            </a:r>
            <a:r>
              <a:rPr lang="en-GB" i="1" u="sng" dirty="0"/>
              <a:t>lower-order needs</a:t>
            </a:r>
            <a:r>
              <a:rPr lang="en-GB" dirty="0"/>
              <a:t>; social, esteem, and self-actualization were described as </a:t>
            </a:r>
            <a:r>
              <a:rPr lang="en-GB" i="1" u="sng" dirty="0"/>
              <a:t>higher-order needs</a:t>
            </a:r>
            <a:r>
              <a:rPr lang="en-GB" dirty="0" smtClean="0"/>
              <a:t>.</a:t>
            </a:r>
          </a:p>
          <a:p>
            <a:r>
              <a:rPr lang="en-GB" u="sng" dirty="0" smtClean="0"/>
              <a:t>Higher-order </a:t>
            </a:r>
            <a:r>
              <a:rPr lang="en-GB" u="sng" dirty="0"/>
              <a:t>needs </a:t>
            </a:r>
            <a:r>
              <a:rPr lang="en-GB" dirty="0"/>
              <a:t>are satisfied </a:t>
            </a:r>
            <a:r>
              <a:rPr lang="en-GB" i="1" dirty="0"/>
              <a:t>internally</a:t>
            </a:r>
            <a:r>
              <a:rPr lang="en-GB" dirty="0"/>
              <a:t> while </a:t>
            </a:r>
            <a:r>
              <a:rPr lang="en-GB" u="sng" dirty="0"/>
              <a:t>lower-order needs</a:t>
            </a:r>
            <a:r>
              <a:rPr lang="en-GB" dirty="0"/>
              <a:t> are predominantly satisfied </a:t>
            </a:r>
            <a:r>
              <a:rPr lang="en-GB" i="1" dirty="0"/>
              <a:t>externally</a:t>
            </a:r>
            <a:r>
              <a:rPr lang="en-GB" dirty="0"/>
              <a:t>. </a:t>
            </a:r>
            <a:r>
              <a:rPr lang="en-GB" dirty="0" smtClean="0"/>
              <a:t> </a:t>
            </a:r>
            <a:r>
              <a:rPr lang="en-IN" dirty="0" smtClean="0"/>
              <a:t>  </a:t>
            </a:r>
            <a:endParaRPr lang="en-IN" dirty="0"/>
          </a:p>
          <a:p>
            <a:endParaRPr lang="en-IN" dirty="0"/>
          </a:p>
        </p:txBody>
      </p:sp>
    </p:spTree>
    <p:extLst>
      <p:ext uri="{BB962C8B-B14F-4D97-AF65-F5344CB8AC3E}">
        <p14:creationId xmlns:p14="http://schemas.microsoft.com/office/powerpoint/2010/main" val="31477792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McGregor's Theory X and Theory </a:t>
            </a:r>
            <a:r>
              <a:rPr lang="en-GB" b="1" dirty="0" smtClean="0"/>
              <a:t>Y</a:t>
            </a:r>
            <a:endParaRPr lang="en-IN" dirty="0"/>
          </a:p>
        </p:txBody>
      </p:sp>
      <p:sp>
        <p:nvSpPr>
          <p:cNvPr id="3" name="Content Placeholder 2"/>
          <p:cNvSpPr>
            <a:spLocks noGrp="1"/>
          </p:cNvSpPr>
          <p:nvPr>
            <p:ph idx="1"/>
          </p:nvPr>
        </p:nvSpPr>
        <p:spPr/>
        <p:txBody>
          <a:bodyPr>
            <a:normAutofit fontScale="85000" lnSpcReduction="10000"/>
          </a:bodyPr>
          <a:lstStyle/>
          <a:p>
            <a:r>
              <a:rPr lang="en-GB" u="sng" dirty="0"/>
              <a:t>Theory X </a:t>
            </a:r>
            <a:r>
              <a:rPr lang="en-GB" dirty="0"/>
              <a:t>presents an essentially </a:t>
            </a:r>
            <a:r>
              <a:rPr lang="en-GB" u="sng" dirty="0"/>
              <a:t>negative</a:t>
            </a:r>
            <a:r>
              <a:rPr lang="en-GB" dirty="0"/>
              <a:t> view of people. It assumes that workers have little ambition, dislike work, want to avoid responsibility, and need to be closely controlled to work effectively. </a:t>
            </a:r>
            <a:endParaRPr lang="en-GB" dirty="0" smtClean="0"/>
          </a:p>
          <a:p>
            <a:r>
              <a:rPr lang="en-GB" u="sng" dirty="0" smtClean="0"/>
              <a:t>Theory </a:t>
            </a:r>
            <a:r>
              <a:rPr lang="en-GB" u="sng" dirty="0"/>
              <a:t>Y </a:t>
            </a:r>
            <a:r>
              <a:rPr lang="en-GB" dirty="0"/>
              <a:t>offers a </a:t>
            </a:r>
            <a:r>
              <a:rPr lang="en-GB" u="sng" dirty="0"/>
              <a:t>positive</a:t>
            </a:r>
            <a:r>
              <a:rPr lang="en-GB" dirty="0"/>
              <a:t> view. It assumes that workers can exercise self-direction, accept and actually seek out responsibility, and consider work to be a natural activity. </a:t>
            </a:r>
            <a:endParaRPr lang="en-GB" dirty="0" smtClean="0"/>
          </a:p>
          <a:p>
            <a:r>
              <a:rPr lang="en-GB" dirty="0" smtClean="0"/>
              <a:t>McGregor </a:t>
            </a:r>
            <a:r>
              <a:rPr lang="en-GB" dirty="0"/>
              <a:t>believed that Theory Y assumptions better captured the true nature of workers and should guide management practice</a:t>
            </a:r>
            <a:r>
              <a:rPr lang="en-GB" dirty="0" smtClean="0"/>
              <a:t>.</a:t>
            </a:r>
            <a:endParaRPr lang="en-GB" dirty="0"/>
          </a:p>
        </p:txBody>
      </p:sp>
    </p:spTree>
    <p:extLst>
      <p:ext uri="{BB962C8B-B14F-4D97-AF65-F5344CB8AC3E}">
        <p14:creationId xmlns:p14="http://schemas.microsoft.com/office/powerpoint/2010/main" val="3909931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248400"/>
          </a:xfrm>
        </p:spPr>
        <p:txBody>
          <a:bodyPr>
            <a:normAutofit/>
          </a:bodyPr>
          <a:lstStyle/>
          <a:p>
            <a:r>
              <a:rPr lang="en-GB" u="sng" dirty="0"/>
              <a:t>Theory X </a:t>
            </a:r>
            <a:r>
              <a:rPr lang="en-GB" dirty="0"/>
              <a:t>assumed that </a:t>
            </a:r>
            <a:r>
              <a:rPr lang="en-GB" u="sng" dirty="0"/>
              <a:t>lower-order needs </a:t>
            </a:r>
            <a:r>
              <a:rPr lang="en-GB" dirty="0"/>
              <a:t>dominated individuals, and </a:t>
            </a:r>
            <a:r>
              <a:rPr lang="en-GB" u="sng" dirty="0"/>
              <a:t>Theory Y</a:t>
            </a:r>
            <a:r>
              <a:rPr lang="en-GB" dirty="0"/>
              <a:t> assumed that </a:t>
            </a:r>
            <a:r>
              <a:rPr lang="en-GB" u="sng" dirty="0"/>
              <a:t>higher-order needs </a:t>
            </a:r>
            <a:r>
              <a:rPr lang="en-GB" dirty="0"/>
              <a:t>dominated. </a:t>
            </a:r>
            <a:endParaRPr lang="en-GB" dirty="0" smtClean="0"/>
          </a:p>
          <a:p>
            <a:pPr marL="0" indent="0">
              <a:buNone/>
            </a:pPr>
            <a:endParaRPr lang="en-GB" dirty="0" smtClean="0"/>
          </a:p>
          <a:p>
            <a:r>
              <a:rPr lang="en-GB" dirty="0" smtClean="0"/>
              <a:t>McGregor </a:t>
            </a:r>
            <a:r>
              <a:rPr lang="en-GB" dirty="0"/>
              <a:t>himself held to the belief that the assumptions of </a:t>
            </a:r>
            <a:r>
              <a:rPr lang="en-GB" i="1" dirty="0"/>
              <a:t>Theory Y</a:t>
            </a:r>
            <a:r>
              <a:rPr lang="en-GB" dirty="0"/>
              <a:t> were more valid than those of </a:t>
            </a:r>
            <a:r>
              <a:rPr lang="en-GB" i="1" dirty="0"/>
              <a:t>Theory X</a:t>
            </a:r>
            <a:r>
              <a:rPr lang="en-GB" dirty="0"/>
              <a:t>. Therefore, he proposed that participation in decision making, responsible and challenging jobs, and good group relations would maximize employee </a:t>
            </a:r>
            <a:r>
              <a:rPr lang="en-GB" dirty="0" smtClean="0"/>
              <a:t>motivation</a:t>
            </a:r>
            <a:endParaRPr lang="en-IN" dirty="0"/>
          </a:p>
          <a:p>
            <a:endParaRPr lang="en-IN" dirty="0"/>
          </a:p>
        </p:txBody>
      </p:sp>
    </p:spTree>
    <p:extLst>
      <p:ext uri="{BB962C8B-B14F-4D97-AF65-F5344CB8AC3E}">
        <p14:creationId xmlns:p14="http://schemas.microsoft.com/office/powerpoint/2010/main" val="4059772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Herzberg's Motivation-Hygiene Theory</a:t>
            </a:r>
          </a:p>
        </p:txBody>
      </p:sp>
      <p:sp>
        <p:nvSpPr>
          <p:cNvPr id="3" name="Content Placeholder 2"/>
          <p:cNvSpPr>
            <a:spLocks noGrp="1"/>
          </p:cNvSpPr>
          <p:nvPr>
            <p:ph idx="1"/>
          </p:nvPr>
        </p:nvSpPr>
        <p:spPr/>
        <p:txBody>
          <a:bodyPr/>
          <a:lstStyle/>
          <a:p>
            <a:r>
              <a:rPr lang="en-GB" dirty="0"/>
              <a:t>Frederick Herzberg's motivation-hygiene theory proposes that </a:t>
            </a:r>
            <a:r>
              <a:rPr lang="en-GB" u="sng" dirty="0"/>
              <a:t>intrinsic factors </a:t>
            </a:r>
            <a:r>
              <a:rPr lang="en-GB" dirty="0"/>
              <a:t>are related to </a:t>
            </a:r>
            <a:r>
              <a:rPr lang="en-GB" u="sng" dirty="0"/>
              <a:t>job satisfaction and motivation</a:t>
            </a:r>
            <a:r>
              <a:rPr lang="en-GB" dirty="0"/>
              <a:t>, whereas </a:t>
            </a:r>
            <a:r>
              <a:rPr lang="en-GB" u="sng" dirty="0"/>
              <a:t>extrinsic factors </a:t>
            </a:r>
            <a:r>
              <a:rPr lang="en-GB" dirty="0"/>
              <a:t>are associated with </a:t>
            </a:r>
            <a:r>
              <a:rPr lang="en-GB" u="sng" dirty="0"/>
              <a:t>job </a:t>
            </a:r>
            <a:r>
              <a:rPr lang="en-GB" u="sng" dirty="0" smtClean="0"/>
              <a:t>dissatisfaction</a:t>
            </a:r>
          </a:p>
          <a:p>
            <a:r>
              <a:rPr lang="en-GB" dirty="0"/>
              <a:t>Herzberg investigated the question "</a:t>
            </a:r>
            <a:r>
              <a:rPr lang="en-GB" i="1" u="sng" dirty="0"/>
              <a:t>What do people want from their jobs?</a:t>
            </a:r>
            <a:r>
              <a:rPr lang="en-GB" dirty="0"/>
              <a:t>" </a:t>
            </a:r>
            <a:endParaRPr lang="en-GB" u="sng" dirty="0"/>
          </a:p>
          <a:p>
            <a:endParaRPr lang="en-IN" dirty="0"/>
          </a:p>
        </p:txBody>
      </p:sp>
    </p:spTree>
    <p:extLst>
      <p:ext uri="{BB962C8B-B14F-4D97-AF65-F5344CB8AC3E}">
        <p14:creationId xmlns:p14="http://schemas.microsoft.com/office/powerpoint/2010/main" val="357212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457200"/>
            <a:ext cx="85344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1328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85000" lnSpcReduction="10000"/>
          </a:bodyPr>
          <a:lstStyle/>
          <a:p>
            <a:r>
              <a:rPr lang="en-GB" dirty="0"/>
              <a:t>According to Herzberg, </a:t>
            </a:r>
            <a:r>
              <a:rPr lang="en-GB" u="sng" dirty="0"/>
              <a:t>the factors that led to job satisfaction were separate and distinct from those that led to job dissatisfaction</a:t>
            </a:r>
            <a:r>
              <a:rPr lang="en-GB" dirty="0"/>
              <a:t>. </a:t>
            </a:r>
            <a:endParaRPr lang="en-GB" dirty="0" smtClean="0"/>
          </a:p>
          <a:p>
            <a:r>
              <a:rPr lang="en-GB" dirty="0" smtClean="0"/>
              <a:t>Therefore</a:t>
            </a:r>
            <a:r>
              <a:rPr lang="en-GB" dirty="0"/>
              <a:t>, managers who sought to eliminate factors that created job dissatisfaction could bring about workplace harmony but not necessarily motivation</a:t>
            </a:r>
            <a:r>
              <a:rPr lang="en-GB" dirty="0" smtClean="0"/>
              <a:t>.</a:t>
            </a:r>
          </a:p>
          <a:p>
            <a:r>
              <a:rPr lang="en-GB" dirty="0" smtClean="0"/>
              <a:t>Because </a:t>
            </a:r>
            <a:r>
              <a:rPr lang="en-GB" dirty="0"/>
              <a:t>they don't motivate employees, the extrinsic factors that create job dissatisfaction were called </a:t>
            </a:r>
            <a:r>
              <a:rPr lang="en-GB" u="sng" dirty="0"/>
              <a:t>hygiene factors</a:t>
            </a:r>
            <a:r>
              <a:rPr lang="en-GB" dirty="0"/>
              <a:t>. When these factors are adequate, people will not be dissatisfied, but they will not be satisfied (or motivated) either. </a:t>
            </a:r>
            <a:endParaRPr lang="en-GB" dirty="0" smtClean="0"/>
          </a:p>
          <a:p>
            <a:r>
              <a:rPr lang="en-GB" dirty="0" smtClean="0"/>
              <a:t>To </a:t>
            </a:r>
            <a:r>
              <a:rPr lang="en-GB" dirty="0"/>
              <a:t>motivate people on their jobs, Herzberg suggested emphasizing </a:t>
            </a:r>
            <a:r>
              <a:rPr lang="en-GB" u="sng" dirty="0"/>
              <a:t>motivators</a:t>
            </a:r>
            <a:r>
              <a:rPr lang="en-GB" dirty="0"/>
              <a:t>, the intrinsic factors that increase job </a:t>
            </a:r>
            <a:r>
              <a:rPr lang="en-GB" dirty="0" smtClean="0"/>
              <a:t>satisfaction</a:t>
            </a:r>
            <a:endParaRPr lang="en-GB" dirty="0"/>
          </a:p>
        </p:txBody>
      </p:sp>
    </p:spTree>
    <p:extLst>
      <p:ext uri="{BB962C8B-B14F-4D97-AF65-F5344CB8AC3E}">
        <p14:creationId xmlns:p14="http://schemas.microsoft.com/office/powerpoint/2010/main" val="2996272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895600"/>
            <a:ext cx="8229600" cy="1143000"/>
          </a:xfrm>
        </p:spPr>
        <p:txBody>
          <a:bodyPr>
            <a:normAutofit fontScale="90000"/>
          </a:bodyPr>
          <a:lstStyle/>
          <a:p>
            <a:r>
              <a:rPr lang="en-IN" b="1" dirty="0"/>
              <a:t>Contemporary Theories of </a:t>
            </a:r>
            <a:r>
              <a:rPr lang="en-IN" b="1" dirty="0" smtClean="0"/>
              <a:t>Motivation</a:t>
            </a:r>
            <a:endParaRPr lang="en-IN" dirty="0"/>
          </a:p>
        </p:txBody>
      </p:sp>
    </p:spTree>
    <p:extLst>
      <p:ext uri="{BB962C8B-B14F-4D97-AF65-F5344CB8AC3E}">
        <p14:creationId xmlns:p14="http://schemas.microsoft.com/office/powerpoint/2010/main" val="2486634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Three-Needs </a:t>
            </a:r>
            <a:r>
              <a:rPr lang="en-IN" b="1" dirty="0" smtClean="0"/>
              <a:t>Theory</a:t>
            </a:r>
            <a:endParaRPr lang="en-IN" dirty="0"/>
          </a:p>
        </p:txBody>
      </p:sp>
      <p:sp>
        <p:nvSpPr>
          <p:cNvPr id="3" name="Content Placeholder 2"/>
          <p:cNvSpPr>
            <a:spLocks noGrp="1"/>
          </p:cNvSpPr>
          <p:nvPr>
            <p:ph idx="1"/>
          </p:nvPr>
        </p:nvSpPr>
        <p:spPr>
          <a:xfrm>
            <a:off x="457200" y="1600200"/>
            <a:ext cx="8229600" cy="4953000"/>
          </a:xfrm>
        </p:spPr>
        <p:txBody>
          <a:bodyPr>
            <a:normAutofit fontScale="92500" lnSpcReduction="20000"/>
          </a:bodyPr>
          <a:lstStyle/>
          <a:p>
            <a:pPr marL="0" indent="0">
              <a:buNone/>
            </a:pPr>
            <a:r>
              <a:rPr lang="en-GB" dirty="0"/>
              <a:t>David McClelland </a:t>
            </a:r>
            <a:r>
              <a:rPr lang="en-GB" dirty="0" smtClean="0"/>
              <a:t>proposed </a:t>
            </a:r>
            <a:r>
              <a:rPr lang="en-GB" dirty="0"/>
              <a:t>the three-needs theory, which says there are </a:t>
            </a:r>
            <a:r>
              <a:rPr lang="en-GB" b="1" dirty="0"/>
              <a:t>three needs </a:t>
            </a:r>
            <a:r>
              <a:rPr lang="en-GB" dirty="0"/>
              <a:t>that are major motives in work</a:t>
            </a:r>
            <a:r>
              <a:rPr lang="en-GB" dirty="0" smtClean="0"/>
              <a:t>. These </a:t>
            </a:r>
            <a:r>
              <a:rPr lang="en-GB" dirty="0"/>
              <a:t>three needs </a:t>
            </a:r>
            <a:r>
              <a:rPr lang="en-GB" dirty="0" smtClean="0"/>
              <a:t>include:</a:t>
            </a:r>
          </a:p>
          <a:p>
            <a:pPr marL="514350" indent="-514350">
              <a:buFont typeface="+mj-lt"/>
              <a:buAutoNum type="arabicPeriod"/>
            </a:pPr>
            <a:r>
              <a:rPr lang="en-GB" u="sng" dirty="0" smtClean="0"/>
              <a:t>the </a:t>
            </a:r>
            <a:r>
              <a:rPr lang="en-GB" u="sng" dirty="0"/>
              <a:t>need for achievement (</a:t>
            </a:r>
            <a:r>
              <a:rPr lang="en-GB" u="sng" dirty="0" err="1"/>
              <a:t>nAch</a:t>
            </a:r>
            <a:r>
              <a:rPr lang="en-GB" u="sng" dirty="0" smtClean="0"/>
              <a:t>):</a:t>
            </a:r>
            <a:r>
              <a:rPr lang="en-GB" dirty="0" smtClean="0"/>
              <a:t> </a:t>
            </a:r>
            <a:r>
              <a:rPr lang="en-GB" dirty="0"/>
              <a:t>which is the drive to excel, to achieve in relation to a set of standards, and to strive to succeed; </a:t>
            </a:r>
            <a:endParaRPr lang="en-GB" dirty="0" smtClean="0"/>
          </a:p>
          <a:p>
            <a:pPr marL="514350" indent="-514350">
              <a:buFont typeface="+mj-lt"/>
              <a:buAutoNum type="arabicPeriod"/>
            </a:pPr>
            <a:r>
              <a:rPr lang="en-GB" u="sng" dirty="0" smtClean="0"/>
              <a:t>the </a:t>
            </a:r>
            <a:r>
              <a:rPr lang="en-GB" u="sng" dirty="0"/>
              <a:t>need for power (</a:t>
            </a:r>
            <a:r>
              <a:rPr lang="en-GB" u="sng" dirty="0" err="1"/>
              <a:t>nPow</a:t>
            </a:r>
            <a:r>
              <a:rPr lang="en-GB" u="sng" dirty="0" smtClean="0"/>
              <a:t>): </a:t>
            </a:r>
            <a:r>
              <a:rPr lang="en-GB" dirty="0"/>
              <a:t>which is the need to make others behave in a way that they would not have behaved otherwise; and </a:t>
            </a:r>
            <a:endParaRPr lang="en-GB" dirty="0" smtClean="0"/>
          </a:p>
          <a:p>
            <a:pPr marL="514350" indent="-514350">
              <a:buFont typeface="+mj-lt"/>
              <a:buAutoNum type="arabicPeriod"/>
            </a:pPr>
            <a:r>
              <a:rPr lang="en-GB" u="sng" dirty="0" smtClean="0"/>
              <a:t>the </a:t>
            </a:r>
            <a:r>
              <a:rPr lang="en-GB" u="sng" dirty="0"/>
              <a:t>need for affiliation (</a:t>
            </a:r>
            <a:r>
              <a:rPr lang="en-GB" u="sng" dirty="0" err="1" smtClean="0"/>
              <a:t>nAff</a:t>
            </a:r>
            <a:r>
              <a:rPr lang="en-GB" u="sng" dirty="0" smtClean="0"/>
              <a:t>):</a:t>
            </a:r>
            <a:r>
              <a:rPr lang="en-GB" dirty="0" smtClean="0"/>
              <a:t> which </a:t>
            </a:r>
            <a:r>
              <a:rPr lang="en-GB" dirty="0"/>
              <a:t>is the desire for friendly and close interpersonal relationships. </a:t>
            </a:r>
          </a:p>
        </p:txBody>
      </p:sp>
    </p:spTree>
    <p:extLst>
      <p:ext uri="{BB962C8B-B14F-4D97-AF65-F5344CB8AC3E}">
        <p14:creationId xmlns:p14="http://schemas.microsoft.com/office/powerpoint/2010/main" val="1018237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219200"/>
            <a:ext cx="8229600" cy="3840163"/>
          </a:xfrm>
        </p:spPr>
        <p:txBody>
          <a:bodyPr/>
          <a:lstStyle/>
          <a:p>
            <a:r>
              <a:rPr lang="en-GB" dirty="0"/>
              <a:t>People with a high need for achievement are striving for personal </a:t>
            </a:r>
            <a:r>
              <a:rPr lang="en-GB" dirty="0" smtClean="0"/>
              <a:t>achievement</a:t>
            </a:r>
          </a:p>
          <a:p>
            <a:r>
              <a:rPr lang="en-GB" dirty="0" smtClean="0"/>
              <a:t>The </a:t>
            </a:r>
            <a:r>
              <a:rPr lang="en-GB" dirty="0"/>
              <a:t>needs for affiliation and power are closely related to managerial </a:t>
            </a:r>
            <a:r>
              <a:rPr lang="en-GB" dirty="0" smtClean="0"/>
              <a:t>success.</a:t>
            </a:r>
          </a:p>
          <a:p>
            <a:r>
              <a:rPr lang="en-GB" dirty="0" smtClean="0"/>
              <a:t>The </a:t>
            </a:r>
            <a:r>
              <a:rPr lang="en-GB" dirty="0"/>
              <a:t>best managers tend to be high in the need for power and low in the need for affiliation</a:t>
            </a:r>
            <a:r>
              <a:rPr lang="en-GB" dirty="0" smtClean="0"/>
              <a:t>.</a:t>
            </a:r>
            <a:endParaRPr lang="en-GB" dirty="0"/>
          </a:p>
        </p:txBody>
      </p:sp>
    </p:spTree>
    <p:extLst>
      <p:ext uri="{BB962C8B-B14F-4D97-AF65-F5344CB8AC3E}">
        <p14:creationId xmlns:p14="http://schemas.microsoft.com/office/powerpoint/2010/main" val="9236623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Goal-Setting </a:t>
            </a:r>
            <a:r>
              <a:rPr lang="en-IN" b="1" dirty="0" smtClean="0"/>
              <a:t>Theory</a:t>
            </a:r>
            <a:endParaRPr lang="en-IN" dirty="0"/>
          </a:p>
        </p:txBody>
      </p:sp>
      <p:sp>
        <p:nvSpPr>
          <p:cNvPr id="3" name="Content Placeholder 2"/>
          <p:cNvSpPr>
            <a:spLocks noGrp="1"/>
          </p:cNvSpPr>
          <p:nvPr>
            <p:ph idx="1"/>
          </p:nvPr>
        </p:nvSpPr>
        <p:spPr/>
        <p:txBody>
          <a:bodyPr>
            <a:normAutofit lnSpcReduction="10000"/>
          </a:bodyPr>
          <a:lstStyle/>
          <a:p>
            <a:r>
              <a:rPr lang="en-GB" u="sng" dirty="0"/>
              <a:t>S</a:t>
            </a:r>
            <a:r>
              <a:rPr lang="en-GB" u="sng" dirty="0" smtClean="0"/>
              <a:t>pecific </a:t>
            </a:r>
            <a:r>
              <a:rPr lang="en-GB" u="sng" dirty="0"/>
              <a:t>goals </a:t>
            </a:r>
            <a:r>
              <a:rPr lang="en-GB" dirty="0"/>
              <a:t>increase performance and that </a:t>
            </a:r>
            <a:r>
              <a:rPr lang="en-GB" u="sng" dirty="0"/>
              <a:t>difficult goals</a:t>
            </a:r>
            <a:r>
              <a:rPr lang="en-GB" dirty="0"/>
              <a:t>, when accepted, result in </a:t>
            </a:r>
            <a:r>
              <a:rPr lang="en-GB" i="1" dirty="0"/>
              <a:t>higher performance</a:t>
            </a:r>
            <a:r>
              <a:rPr lang="en-GB" dirty="0"/>
              <a:t> than do easy goals </a:t>
            </a:r>
          </a:p>
          <a:p>
            <a:r>
              <a:rPr lang="en-GB" dirty="0"/>
              <a:t>Intention to work toward a goal is a major source of job motivation </a:t>
            </a:r>
          </a:p>
          <a:p>
            <a:r>
              <a:rPr lang="en-GB" dirty="0"/>
              <a:t>Specific, hard goals produce a higher level of output than does the generalized goal of "do your best." The specificity of the goal itself acts as an internal stimulus. </a:t>
            </a:r>
            <a:endParaRPr lang="en-GB" dirty="0" smtClean="0"/>
          </a:p>
        </p:txBody>
      </p:sp>
    </p:spTree>
    <p:extLst>
      <p:ext uri="{BB962C8B-B14F-4D97-AF65-F5344CB8AC3E}">
        <p14:creationId xmlns:p14="http://schemas.microsoft.com/office/powerpoint/2010/main" val="1440465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Factors influencing goals-performance relationship</a:t>
            </a:r>
            <a:endParaRPr lang="en-IN" dirty="0"/>
          </a:p>
        </p:txBody>
      </p:sp>
      <p:sp>
        <p:nvSpPr>
          <p:cNvPr id="3" name="Content Placeholder 2"/>
          <p:cNvSpPr>
            <a:spLocks noGrp="1"/>
          </p:cNvSpPr>
          <p:nvPr>
            <p:ph idx="1"/>
          </p:nvPr>
        </p:nvSpPr>
        <p:spPr>
          <a:xfrm>
            <a:off x="457200" y="1447800"/>
            <a:ext cx="8229600" cy="5105400"/>
          </a:xfrm>
        </p:spPr>
        <p:txBody>
          <a:bodyPr>
            <a:normAutofit fontScale="70000" lnSpcReduction="20000"/>
          </a:bodyPr>
          <a:lstStyle/>
          <a:p>
            <a:r>
              <a:rPr lang="en-GB" dirty="0"/>
              <a:t>People will do better when they get </a:t>
            </a:r>
            <a:r>
              <a:rPr lang="en-GB" u="sng" dirty="0"/>
              <a:t>feedback</a:t>
            </a:r>
            <a:r>
              <a:rPr lang="en-GB" dirty="0"/>
              <a:t> on how well they're progressing toward their goals because feedback helps identify discrepancies between what they have done and what they want to do; that is, feedback acts to guide </a:t>
            </a:r>
            <a:r>
              <a:rPr lang="en-GB" dirty="0" err="1"/>
              <a:t>behavior</a:t>
            </a:r>
            <a:r>
              <a:rPr lang="en-GB" dirty="0"/>
              <a:t> </a:t>
            </a:r>
            <a:r>
              <a:rPr lang="en-IN" dirty="0"/>
              <a:t>  </a:t>
            </a:r>
            <a:endParaRPr lang="en-IN" dirty="0" smtClean="0"/>
          </a:p>
          <a:p>
            <a:pPr marL="0" indent="0">
              <a:buNone/>
            </a:pPr>
            <a:endParaRPr lang="en-IN" dirty="0"/>
          </a:p>
          <a:p>
            <a:r>
              <a:rPr lang="en-GB" u="sng" dirty="0" smtClean="0"/>
              <a:t>Goal commitment</a:t>
            </a:r>
            <a:r>
              <a:rPr lang="en-GB" dirty="0" smtClean="0"/>
              <a:t>: </a:t>
            </a:r>
            <a:r>
              <a:rPr lang="en-GB" dirty="0"/>
              <a:t>an individual is committed to the goal—that is, an individual is determined not to lower or abandon the goal </a:t>
            </a:r>
            <a:endParaRPr lang="en-GB" dirty="0" smtClean="0"/>
          </a:p>
          <a:p>
            <a:pPr marL="0" indent="0">
              <a:buNone/>
            </a:pPr>
            <a:endParaRPr lang="en-GB" dirty="0"/>
          </a:p>
          <a:p>
            <a:r>
              <a:rPr lang="en-GB" u="sng" dirty="0" smtClean="0"/>
              <a:t>Self-efficacy</a:t>
            </a:r>
            <a:r>
              <a:rPr lang="en-GB" dirty="0" smtClean="0"/>
              <a:t>: </a:t>
            </a:r>
            <a:r>
              <a:rPr lang="en-GB" dirty="0"/>
              <a:t>an individual's belief that he or she is capable of performing a </a:t>
            </a:r>
            <a:r>
              <a:rPr lang="en-GB" dirty="0" smtClean="0"/>
              <a:t>task. The </a:t>
            </a:r>
            <a:r>
              <a:rPr lang="en-GB" dirty="0"/>
              <a:t>higher your self-efficacy, the more confidence you have in your ability to succeed in a task </a:t>
            </a:r>
            <a:endParaRPr lang="en-GB" dirty="0" smtClean="0"/>
          </a:p>
          <a:p>
            <a:pPr marL="0" indent="0">
              <a:buNone/>
            </a:pPr>
            <a:endParaRPr lang="en-GB" dirty="0"/>
          </a:p>
          <a:p>
            <a:r>
              <a:rPr lang="en-GB" u="sng" dirty="0" smtClean="0"/>
              <a:t>National culture</a:t>
            </a:r>
            <a:r>
              <a:rPr lang="en-GB" dirty="0" smtClean="0"/>
              <a:t>: </a:t>
            </a:r>
            <a:r>
              <a:rPr lang="en-GB" dirty="0"/>
              <a:t>subordinates will be reasonably independent </a:t>
            </a:r>
            <a:r>
              <a:rPr lang="en-GB" dirty="0" smtClean="0"/>
              <a:t>, </a:t>
            </a:r>
            <a:r>
              <a:rPr lang="en-GB" dirty="0"/>
              <a:t>that managers and employees will seek challenging </a:t>
            </a:r>
            <a:r>
              <a:rPr lang="en-GB" dirty="0" smtClean="0"/>
              <a:t>goals, </a:t>
            </a:r>
            <a:r>
              <a:rPr lang="en-GB" dirty="0"/>
              <a:t>and that performance is considered important by both managers and subordinates </a:t>
            </a:r>
          </a:p>
        </p:txBody>
      </p:sp>
    </p:spTree>
    <p:extLst>
      <p:ext uri="{BB962C8B-B14F-4D97-AF65-F5344CB8AC3E}">
        <p14:creationId xmlns:p14="http://schemas.microsoft.com/office/powerpoint/2010/main" val="1569429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Reinforcement </a:t>
            </a:r>
            <a:r>
              <a:rPr lang="en-IN" b="1" dirty="0" smtClean="0"/>
              <a:t>Theory</a:t>
            </a:r>
            <a:endParaRPr lang="en-IN" dirty="0"/>
          </a:p>
        </p:txBody>
      </p:sp>
      <p:sp>
        <p:nvSpPr>
          <p:cNvPr id="3" name="Content Placeholder 2"/>
          <p:cNvSpPr>
            <a:spLocks noGrp="1"/>
          </p:cNvSpPr>
          <p:nvPr>
            <p:ph idx="1"/>
          </p:nvPr>
        </p:nvSpPr>
        <p:spPr>
          <a:xfrm>
            <a:off x="457200" y="1371600"/>
            <a:ext cx="8229600" cy="4754563"/>
          </a:xfrm>
        </p:spPr>
        <p:txBody>
          <a:bodyPr>
            <a:normAutofit fontScale="85000" lnSpcReduction="20000"/>
          </a:bodyPr>
          <a:lstStyle/>
          <a:p>
            <a:r>
              <a:rPr lang="en-GB" dirty="0" err="1"/>
              <a:t>B</a:t>
            </a:r>
            <a:r>
              <a:rPr lang="en-GB" dirty="0" err="1" smtClean="0"/>
              <a:t>ehavior</a:t>
            </a:r>
            <a:r>
              <a:rPr lang="en-GB" dirty="0" smtClean="0"/>
              <a:t> </a:t>
            </a:r>
            <a:r>
              <a:rPr lang="en-GB" dirty="0"/>
              <a:t>is a function of its consequences. </a:t>
            </a:r>
          </a:p>
          <a:p>
            <a:r>
              <a:rPr lang="en-GB" dirty="0"/>
              <a:t>Reinforcement theory argues that </a:t>
            </a:r>
            <a:r>
              <a:rPr lang="en-GB" u="sng" dirty="0" err="1"/>
              <a:t>behavior</a:t>
            </a:r>
            <a:r>
              <a:rPr lang="en-GB" u="sng" dirty="0"/>
              <a:t> is externally caused</a:t>
            </a:r>
            <a:r>
              <a:rPr lang="en-GB" dirty="0"/>
              <a:t>. </a:t>
            </a:r>
            <a:endParaRPr lang="en-GB" dirty="0" smtClean="0"/>
          </a:p>
          <a:p>
            <a:r>
              <a:rPr lang="en-GB" dirty="0" smtClean="0"/>
              <a:t>What </a:t>
            </a:r>
            <a:r>
              <a:rPr lang="en-GB" dirty="0"/>
              <a:t>controls </a:t>
            </a:r>
            <a:r>
              <a:rPr lang="en-GB" dirty="0" err="1"/>
              <a:t>behavior</a:t>
            </a:r>
            <a:r>
              <a:rPr lang="en-GB" dirty="0"/>
              <a:t> are </a:t>
            </a:r>
            <a:r>
              <a:rPr lang="en-GB" b="1" dirty="0" err="1"/>
              <a:t>reinforcers</a:t>
            </a:r>
            <a:r>
              <a:rPr lang="en-GB" dirty="0"/>
              <a:t>, consequences that, when given immediately following a </a:t>
            </a:r>
            <a:r>
              <a:rPr lang="en-GB" dirty="0" err="1"/>
              <a:t>behavior</a:t>
            </a:r>
            <a:r>
              <a:rPr lang="en-GB" dirty="0"/>
              <a:t>, increase </a:t>
            </a:r>
            <a:r>
              <a:rPr lang="en-GB" dirty="0" smtClean="0"/>
              <a:t>the </a:t>
            </a:r>
            <a:r>
              <a:rPr lang="en-GB" dirty="0"/>
              <a:t>probability that the </a:t>
            </a:r>
            <a:r>
              <a:rPr lang="en-GB" dirty="0" err="1"/>
              <a:t>behavior</a:t>
            </a:r>
            <a:r>
              <a:rPr lang="en-GB" dirty="0"/>
              <a:t> will be repeated.</a:t>
            </a:r>
          </a:p>
          <a:p>
            <a:r>
              <a:rPr lang="en-GB" dirty="0"/>
              <a:t>According to </a:t>
            </a:r>
            <a:r>
              <a:rPr lang="en-GB" u="sng" dirty="0"/>
              <a:t>B. F. Skinner</a:t>
            </a:r>
            <a:r>
              <a:rPr lang="en-GB" dirty="0"/>
              <a:t>, reinforcement theory can be explained as follows: People will most likely engage in desired </a:t>
            </a:r>
            <a:r>
              <a:rPr lang="en-GB" dirty="0" err="1"/>
              <a:t>behaviors</a:t>
            </a:r>
            <a:r>
              <a:rPr lang="en-GB" dirty="0"/>
              <a:t> if they are </a:t>
            </a:r>
            <a:r>
              <a:rPr lang="en-GB" b="1" dirty="0"/>
              <a:t>rewarded</a:t>
            </a:r>
            <a:r>
              <a:rPr lang="en-GB" dirty="0"/>
              <a:t> for doing so; these rewards are most effective if they immediately follow a desired </a:t>
            </a:r>
            <a:r>
              <a:rPr lang="en-GB" dirty="0" err="1"/>
              <a:t>behavior</a:t>
            </a:r>
            <a:r>
              <a:rPr lang="en-GB" dirty="0"/>
              <a:t>, and </a:t>
            </a:r>
            <a:r>
              <a:rPr lang="en-GB" dirty="0" err="1"/>
              <a:t>behavior</a:t>
            </a:r>
            <a:r>
              <a:rPr lang="en-GB" dirty="0"/>
              <a:t> that isn't rewarded, or is </a:t>
            </a:r>
            <a:r>
              <a:rPr lang="en-GB" b="1" dirty="0"/>
              <a:t>punished</a:t>
            </a:r>
            <a:r>
              <a:rPr lang="en-GB" dirty="0"/>
              <a:t>, is less likely to be </a:t>
            </a:r>
            <a:r>
              <a:rPr lang="en-GB" dirty="0" smtClean="0"/>
              <a:t>repeated </a:t>
            </a:r>
            <a:r>
              <a:rPr lang="en-IN" dirty="0" smtClean="0"/>
              <a:t>  </a:t>
            </a:r>
            <a:endParaRPr lang="en-IN" dirty="0"/>
          </a:p>
          <a:p>
            <a:endParaRPr lang="en-IN" dirty="0"/>
          </a:p>
        </p:txBody>
      </p:sp>
    </p:spTree>
    <p:extLst>
      <p:ext uri="{BB962C8B-B14F-4D97-AF65-F5344CB8AC3E}">
        <p14:creationId xmlns:p14="http://schemas.microsoft.com/office/powerpoint/2010/main" val="3543627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Designing Motivating </a:t>
            </a:r>
            <a:r>
              <a:rPr lang="en-IN" b="1" dirty="0" smtClean="0"/>
              <a:t>Jobs</a:t>
            </a:r>
            <a:endParaRPr lang="en-IN" dirty="0"/>
          </a:p>
        </p:txBody>
      </p:sp>
      <p:sp>
        <p:nvSpPr>
          <p:cNvPr id="3" name="Content Placeholder 2"/>
          <p:cNvSpPr>
            <a:spLocks noGrp="1"/>
          </p:cNvSpPr>
          <p:nvPr>
            <p:ph idx="1"/>
          </p:nvPr>
        </p:nvSpPr>
        <p:spPr/>
        <p:txBody>
          <a:bodyPr>
            <a:normAutofit fontScale="92500" lnSpcReduction="20000"/>
          </a:bodyPr>
          <a:lstStyle/>
          <a:p>
            <a:r>
              <a:rPr lang="en-GB" u="sng" dirty="0" smtClean="0"/>
              <a:t>Job design</a:t>
            </a:r>
            <a:r>
              <a:rPr lang="en-GB" dirty="0" smtClean="0"/>
              <a:t>: </a:t>
            </a:r>
            <a:r>
              <a:rPr lang="en-GB" dirty="0"/>
              <a:t>the way tasks are combined to form complete jobs </a:t>
            </a:r>
          </a:p>
          <a:p>
            <a:r>
              <a:rPr lang="en-GB" u="sng" dirty="0" smtClean="0"/>
              <a:t>Job enlargement</a:t>
            </a:r>
            <a:r>
              <a:rPr lang="en-GB" dirty="0" smtClean="0"/>
              <a:t>: </a:t>
            </a:r>
            <a:r>
              <a:rPr lang="en-GB" dirty="0"/>
              <a:t>the horizontal expansion of a job through increasing job scope—the number of different tasks required in a job and the frequency with which these tasks are repeated. </a:t>
            </a:r>
            <a:endParaRPr lang="en-GB" dirty="0" smtClean="0"/>
          </a:p>
          <a:p>
            <a:r>
              <a:rPr lang="en-GB" u="sng" dirty="0" smtClean="0"/>
              <a:t>Job enrichment</a:t>
            </a:r>
            <a:r>
              <a:rPr lang="en-GB" dirty="0" smtClean="0"/>
              <a:t>: </a:t>
            </a:r>
            <a:r>
              <a:rPr lang="en-GB" dirty="0"/>
              <a:t>increases job depth, which is the degree of control employees have over their work. In other words, employees are empowered to assume some of the tasks typically done by their managers </a:t>
            </a:r>
          </a:p>
          <a:p>
            <a:endParaRPr lang="en-IN" dirty="0"/>
          </a:p>
        </p:txBody>
      </p:sp>
    </p:spTree>
    <p:extLst>
      <p:ext uri="{BB962C8B-B14F-4D97-AF65-F5344CB8AC3E}">
        <p14:creationId xmlns:p14="http://schemas.microsoft.com/office/powerpoint/2010/main" val="25532789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Job characteristics model (JCM)</a:t>
            </a:r>
            <a:endParaRPr lang="en-IN" dirty="0"/>
          </a:p>
        </p:txBody>
      </p:sp>
      <p:sp>
        <p:nvSpPr>
          <p:cNvPr id="3" name="Content Placeholder 2"/>
          <p:cNvSpPr>
            <a:spLocks noGrp="1"/>
          </p:cNvSpPr>
          <p:nvPr>
            <p:ph idx="1"/>
          </p:nvPr>
        </p:nvSpPr>
        <p:spPr>
          <a:xfrm>
            <a:off x="457200" y="1295400"/>
            <a:ext cx="8229600" cy="5105400"/>
          </a:xfrm>
        </p:spPr>
        <p:txBody>
          <a:bodyPr>
            <a:normAutofit fontScale="70000" lnSpcReduction="20000"/>
          </a:bodyPr>
          <a:lstStyle/>
          <a:p>
            <a:pPr marL="0" indent="0">
              <a:buNone/>
            </a:pPr>
            <a:r>
              <a:rPr lang="en-GB" dirty="0"/>
              <a:t>According to the JCM, any job can be described in terms of five core dimensions, defined as follows:</a:t>
            </a:r>
          </a:p>
          <a:p>
            <a:r>
              <a:rPr lang="en-GB" b="1" dirty="0"/>
              <a:t>Skill variety, </a:t>
            </a:r>
            <a:r>
              <a:rPr lang="en-GB" dirty="0"/>
              <a:t>the degree to which a job requires a variety of activities so that an employee can use a number of different skills and talents</a:t>
            </a:r>
          </a:p>
          <a:p>
            <a:r>
              <a:rPr lang="en-GB" b="1" dirty="0"/>
              <a:t>Task identity, </a:t>
            </a:r>
            <a:r>
              <a:rPr lang="en-GB" dirty="0"/>
              <a:t>the degree to which a job requires completion of a whole and identifiable piece of work</a:t>
            </a:r>
          </a:p>
          <a:p>
            <a:r>
              <a:rPr lang="en-GB" b="1" dirty="0"/>
              <a:t>Task significance</a:t>
            </a:r>
            <a:r>
              <a:rPr lang="en-GB" dirty="0"/>
              <a:t>, the degree to which a job has a substantial impact on the lives or work of other people</a:t>
            </a:r>
          </a:p>
          <a:p>
            <a:r>
              <a:rPr lang="en-GB" b="1" dirty="0"/>
              <a:t>Autonomy, </a:t>
            </a:r>
            <a:r>
              <a:rPr lang="en-GB" dirty="0"/>
              <a:t>the degree to which a job provides substantial freedom, independence, and </a:t>
            </a:r>
            <a:r>
              <a:rPr lang="en-GB" dirty="0" smtClean="0"/>
              <a:t>discretion </a:t>
            </a:r>
            <a:r>
              <a:rPr lang="en-GB" dirty="0"/>
              <a:t>to the individual in scheduling the work and determining the procedures to be used in carrying it out</a:t>
            </a:r>
          </a:p>
          <a:p>
            <a:r>
              <a:rPr lang="en-GB" b="1" dirty="0"/>
              <a:t>Feedback</a:t>
            </a:r>
            <a:r>
              <a:rPr lang="en-GB" dirty="0"/>
              <a:t>, the degree to which carrying out work activities required by a job results in the individual's obtaining direct and clear information about the effectiveness of his or her </a:t>
            </a:r>
            <a:r>
              <a:rPr lang="en-GB" dirty="0" smtClean="0"/>
              <a:t>performance</a:t>
            </a:r>
            <a:endParaRPr lang="en-GB" dirty="0"/>
          </a:p>
        </p:txBody>
      </p:sp>
    </p:spTree>
    <p:extLst>
      <p:ext uri="{BB962C8B-B14F-4D97-AF65-F5344CB8AC3E}">
        <p14:creationId xmlns:p14="http://schemas.microsoft.com/office/powerpoint/2010/main" val="35445333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normAutofit/>
          </a:bodyPr>
          <a:lstStyle/>
          <a:p>
            <a:pPr marL="0" indent="0" algn="ctr">
              <a:buNone/>
            </a:pPr>
            <a:r>
              <a:rPr lang="en-GB" dirty="0"/>
              <a:t>From a motivational standpoint, the JCM suggests that internal rewards are obtained when an employee </a:t>
            </a:r>
            <a:r>
              <a:rPr lang="en-GB" i="1" dirty="0"/>
              <a:t>learns </a:t>
            </a:r>
            <a:r>
              <a:rPr lang="en-GB" dirty="0"/>
              <a:t>(</a:t>
            </a:r>
            <a:r>
              <a:rPr lang="en-GB" u="sng" dirty="0"/>
              <a:t>knowledge of results through feedback</a:t>
            </a:r>
            <a:r>
              <a:rPr lang="en-GB" dirty="0"/>
              <a:t>) that he or she </a:t>
            </a:r>
            <a:r>
              <a:rPr lang="en-GB" i="1" dirty="0"/>
              <a:t>personally </a:t>
            </a:r>
            <a:r>
              <a:rPr lang="en-GB" dirty="0"/>
              <a:t>(</a:t>
            </a:r>
            <a:r>
              <a:rPr lang="en-GB" u="sng" dirty="0"/>
              <a:t>experienced responsibility through autonomy of work</a:t>
            </a:r>
            <a:r>
              <a:rPr lang="en-GB" dirty="0"/>
              <a:t>) has performed well on a task that he or she </a:t>
            </a:r>
            <a:r>
              <a:rPr lang="en-GB" i="1" dirty="0"/>
              <a:t>cares about </a:t>
            </a:r>
            <a:r>
              <a:rPr lang="en-GB" dirty="0"/>
              <a:t>(</a:t>
            </a:r>
            <a:r>
              <a:rPr lang="en-GB" u="sng" dirty="0"/>
              <a:t>experienced meaningfulness through skill variety, task identity, and/or task significance</a:t>
            </a:r>
            <a:r>
              <a:rPr lang="en-GB" dirty="0" smtClean="0"/>
              <a:t>).</a:t>
            </a:r>
            <a:r>
              <a:rPr lang="en-IN" dirty="0" smtClean="0"/>
              <a:t> </a:t>
            </a:r>
            <a:endParaRPr lang="en-IN" dirty="0"/>
          </a:p>
          <a:p>
            <a:endParaRPr lang="en-IN" dirty="0"/>
          </a:p>
        </p:txBody>
      </p:sp>
    </p:spTree>
    <p:extLst>
      <p:ext uri="{BB962C8B-B14F-4D97-AF65-F5344CB8AC3E}">
        <p14:creationId xmlns:p14="http://schemas.microsoft.com/office/powerpoint/2010/main" val="21975021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Methods of Job redesign according to JCM</a:t>
            </a:r>
            <a:endParaRPr lang="en-IN" dirty="0"/>
          </a:p>
        </p:txBody>
      </p:sp>
      <p:sp>
        <p:nvSpPr>
          <p:cNvPr id="3" name="Content Placeholder 2"/>
          <p:cNvSpPr>
            <a:spLocks noGrp="1"/>
          </p:cNvSpPr>
          <p:nvPr>
            <p:ph idx="1"/>
          </p:nvPr>
        </p:nvSpPr>
        <p:spPr>
          <a:xfrm>
            <a:off x="457200" y="1447800"/>
            <a:ext cx="8229600" cy="5181600"/>
          </a:xfrm>
        </p:spPr>
        <p:txBody>
          <a:bodyPr>
            <a:normAutofit fontScale="47500" lnSpcReduction="20000"/>
          </a:bodyPr>
          <a:lstStyle/>
          <a:p>
            <a:endParaRPr lang="en-IN" dirty="0"/>
          </a:p>
          <a:p>
            <a:pPr marL="514350" indent="-514350">
              <a:buFont typeface="+mj-lt"/>
              <a:buAutoNum type="arabicPeriod"/>
            </a:pPr>
            <a:r>
              <a:rPr lang="en-GB" i="1" dirty="0"/>
              <a:t>Combine tasks</a:t>
            </a:r>
            <a:r>
              <a:rPr lang="en-GB" dirty="0"/>
              <a:t>. Managers should put existing fragmented tasks back together to form a new, larger module of work (job enlargement) to increase skill variety and task identity</a:t>
            </a:r>
            <a:r>
              <a:rPr lang="en-GB" dirty="0" smtClean="0"/>
              <a:t>.</a:t>
            </a:r>
          </a:p>
          <a:p>
            <a:pPr marL="514350" indent="-514350">
              <a:buFont typeface="+mj-lt"/>
              <a:buAutoNum type="arabicPeriod"/>
            </a:pPr>
            <a:endParaRPr lang="en-GB" dirty="0" smtClean="0"/>
          </a:p>
          <a:p>
            <a:pPr marL="514350" indent="-514350">
              <a:buFont typeface="+mj-lt"/>
              <a:buAutoNum type="arabicPeriod"/>
            </a:pPr>
            <a:endParaRPr lang="en-GB" dirty="0"/>
          </a:p>
          <a:p>
            <a:pPr marL="514350" indent="-514350">
              <a:buFont typeface="+mj-lt"/>
              <a:buAutoNum type="arabicPeriod"/>
            </a:pPr>
            <a:r>
              <a:rPr lang="en-GB" i="1" dirty="0"/>
              <a:t>Create natural work units</a:t>
            </a:r>
            <a:r>
              <a:rPr lang="en-GB" dirty="0"/>
              <a:t>. Managers should design tasks that form an identifiable and meaningful whole to increase employee "ownership" of the work and encourage employees to view their work as meaningful and important rather than as irrelevant and boring</a:t>
            </a:r>
            <a:r>
              <a:rPr lang="en-GB" dirty="0" smtClean="0"/>
              <a:t>.</a:t>
            </a:r>
          </a:p>
          <a:p>
            <a:pPr marL="514350" indent="-514350">
              <a:buFont typeface="+mj-lt"/>
              <a:buAutoNum type="arabicPeriod"/>
            </a:pPr>
            <a:endParaRPr lang="en-GB" dirty="0" smtClean="0"/>
          </a:p>
          <a:p>
            <a:pPr marL="514350" indent="-514350">
              <a:buFont typeface="+mj-lt"/>
              <a:buAutoNum type="arabicPeriod"/>
            </a:pPr>
            <a:endParaRPr lang="en-GB" dirty="0"/>
          </a:p>
          <a:p>
            <a:pPr marL="514350" indent="-514350">
              <a:buFont typeface="+mj-lt"/>
              <a:buAutoNum type="arabicPeriod"/>
            </a:pPr>
            <a:r>
              <a:rPr lang="en-GB" i="1" dirty="0"/>
              <a:t>Establish client relationships</a:t>
            </a:r>
            <a:r>
              <a:rPr lang="en-GB" dirty="0"/>
              <a:t>. The client is the external or internal user of the product or service on which the employee works. Whenever possible, managers should establish direct </a:t>
            </a:r>
            <a:r>
              <a:rPr lang="en-GB" dirty="0"/>
              <a:t>r</a:t>
            </a:r>
            <a:r>
              <a:rPr lang="en-GB" dirty="0" smtClean="0"/>
              <a:t>elationships </a:t>
            </a:r>
            <a:r>
              <a:rPr lang="en-GB" dirty="0"/>
              <a:t>between workers and their clients to increase skill variety, autonomy, and feedback</a:t>
            </a:r>
            <a:r>
              <a:rPr lang="en-GB" dirty="0" smtClean="0"/>
              <a:t>.</a:t>
            </a:r>
          </a:p>
          <a:p>
            <a:pPr marL="0" indent="0">
              <a:buNone/>
            </a:pPr>
            <a:r>
              <a:rPr lang="en-GB" dirty="0" smtClean="0"/>
              <a:t> </a:t>
            </a:r>
          </a:p>
          <a:p>
            <a:pPr marL="0" indent="0">
              <a:buNone/>
            </a:pPr>
            <a:endParaRPr lang="en-GB" dirty="0" smtClean="0"/>
          </a:p>
          <a:p>
            <a:pPr marL="514350" indent="-514350">
              <a:buAutoNum type="arabicPeriod" startAt="4"/>
            </a:pPr>
            <a:r>
              <a:rPr lang="en-GB" i="1" dirty="0" smtClean="0"/>
              <a:t>Expand </a:t>
            </a:r>
            <a:r>
              <a:rPr lang="en-GB" i="1" dirty="0"/>
              <a:t>jobs vertically</a:t>
            </a:r>
            <a:r>
              <a:rPr lang="en-GB" dirty="0"/>
              <a:t>. Vertical expansion (job enrichment) gives employees responsibilities and controls that were formerly reserved for managers. It partially closes the gap between the "doing" and the "controlling" aspects of the job and increases employee autonomy</a:t>
            </a:r>
            <a:r>
              <a:rPr lang="en-GB" dirty="0" smtClean="0"/>
              <a:t>.</a:t>
            </a:r>
          </a:p>
          <a:p>
            <a:pPr marL="0" indent="0">
              <a:buNone/>
            </a:pPr>
            <a:endParaRPr lang="en-GB" dirty="0" smtClean="0"/>
          </a:p>
          <a:p>
            <a:pPr marL="0" indent="0">
              <a:buNone/>
            </a:pPr>
            <a:endParaRPr lang="en-GB" dirty="0"/>
          </a:p>
          <a:p>
            <a:pPr marL="0" indent="0">
              <a:buNone/>
            </a:pPr>
            <a:r>
              <a:rPr lang="en-GB" i="1" dirty="0" smtClean="0"/>
              <a:t>5.        Open </a:t>
            </a:r>
            <a:r>
              <a:rPr lang="en-GB" i="1" dirty="0"/>
              <a:t>feedback channels</a:t>
            </a:r>
            <a:r>
              <a:rPr lang="en-GB" dirty="0"/>
              <a:t>. Feedback lets employees know not only how well they are performing their jobs but also whether their job performance is improving, deteriorating, or remaining constant. Ideally, employees should receive performance feedback directly as they do their jobs rather than from managers on an occasional basis. </a:t>
            </a:r>
          </a:p>
        </p:txBody>
      </p:sp>
    </p:spTree>
    <p:extLst>
      <p:ext uri="{BB962C8B-B14F-4D97-AF65-F5344CB8AC3E}">
        <p14:creationId xmlns:p14="http://schemas.microsoft.com/office/powerpoint/2010/main" val="22993992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Equity </a:t>
            </a:r>
            <a:r>
              <a:rPr lang="en-IN" b="1" dirty="0" smtClean="0"/>
              <a:t>Theory</a:t>
            </a:r>
            <a:endParaRPr lang="en-IN" dirty="0"/>
          </a:p>
        </p:txBody>
      </p:sp>
      <p:sp>
        <p:nvSpPr>
          <p:cNvPr id="3" name="Content Placeholder 2"/>
          <p:cNvSpPr>
            <a:spLocks noGrp="1"/>
          </p:cNvSpPr>
          <p:nvPr>
            <p:ph idx="1"/>
          </p:nvPr>
        </p:nvSpPr>
        <p:spPr/>
        <p:txBody>
          <a:bodyPr>
            <a:normAutofit fontScale="77500" lnSpcReduction="20000"/>
          </a:bodyPr>
          <a:lstStyle/>
          <a:p>
            <a:r>
              <a:rPr lang="en-GB" dirty="0"/>
              <a:t>The term </a:t>
            </a:r>
            <a:r>
              <a:rPr lang="en-GB" i="1" dirty="0"/>
              <a:t>equity </a:t>
            </a:r>
            <a:r>
              <a:rPr lang="en-GB" dirty="0"/>
              <a:t>is related to the concept of fairness and equal treatment compared with others who behave in similar ways </a:t>
            </a:r>
          </a:p>
          <a:p>
            <a:r>
              <a:rPr lang="en-GB" dirty="0"/>
              <a:t>Equity theory, developed by </a:t>
            </a:r>
            <a:r>
              <a:rPr lang="en-GB" b="1" dirty="0"/>
              <a:t>J. Stacey Adams</a:t>
            </a:r>
            <a:r>
              <a:rPr lang="en-GB" dirty="0"/>
              <a:t>, proposes that employees perceive what they get from a job situation (</a:t>
            </a:r>
            <a:r>
              <a:rPr lang="en-GB" b="1" dirty="0"/>
              <a:t>outcomes</a:t>
            </a:r>
            <a:r>
              <a:rPr lang="en-GB" dirty="0"/>
              <a:t>) in relation to what they put into it (</a:t>
            </a:r>
            <a:r>
              <a:rPr lang="en-GB" b="1" dirty="0"/>
              <a:t>inputs</a:t>
            </a:r>
            <a:r>
              <a:rPr lang="en-GB" dirty="0"/>
              <a:t>) and then compare their inputs-outcomes ratio with the inputs-outcomes ratios of relevant others </a:t>
            </a:r>
            <a:endParaRPr lang="en-GB" dirty="0" smtClean="0"/>
          </a:p>
          <a:p>
            <a:r>
              <a:rPr lang="en-GB" dirty="0"/>
              <a:t>If an employee perceives her ratio to be equal to those of relevant others, </a:t>
            </a:r>
            <a:r>
              <a:rPr lang="en-GB" b="1" dirty="0"/>
              <a:t>a state of equity </a:t>
            </a:r>
            <a:r>
              <a:rPr lang="en-GB" dirty="0"/>
              <a:t>exists. In other words, she perceives that her situation is fair—that justice prevails. However, if the ratio is unequal, </a:t>
            </a:r>
            <a:r>
              <a:rPr lang="en-GB" b="1" dirty="0"/>
              <a:t>inequity</a:t>
            </a:r>
            <a:r>
              <a:rPr lang="en-GB" dirty="0"/>
              <a:t> exists and she views herself as </a:t>
            </a:r>
            <a:r>
              <a:rPr lang="en-GB" dirty="0" err="1"/>
              <a:t>underrewarded</a:t>
            </a:r>
            <a:r>
              <a:rPr lang="en-GB" dirty="0"/>
              <a:t> or </a:t>
            </a:r>
            <a:r>
              <a:rPr lang="en-GB" dirty="0" err="1"/>
              <a:t>overrewarded</a:t>
            </a:r>
            <a:r>
              <a:rPr lang="en-GB" dirty="0"/>
              <a:t>. </a:t>
            </a:r>
            <a:endParaRPr lang="en-IN" dirty="0"/>
          </a:p>
          <a:p>
            <a:endParaRPr lang="en-IN" dirty="0"/>
          </a:p>
        </p:txBody>
      </p:sp>
    </p:spTree>
    <p:extLst>
      <p:ext uri="{BB962C8B-B14F-4D97-AF65-F5344CB8AC3E}">
        <p14:creationId xmlns:p14="http://schemas.microsoft.com/office/powerpoint/2010/main" val="34926337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It is considered to be an equity when:</a:t>
            </a:r>
            <a:endParaRPr lang="en-IN"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90737" y="2096294"/>
            <a:ext cx="4962525" cy="3533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523908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096000"/>
          </a:xfrm>
        </p:spPr>
        <p:txBody>
          <a:bodyPr>
            <a:normAutofit fontScale="92500" lnSpcReduction="20000"/>
          </a:bodyPr>
          <a:lstStyle/>
          <a:p>
            <a:r>
              <a:rPr lang="en-GB" dirty="0"/>
              <a:t>Equity theory proposes that employees might (1) distort either their own or others' inputs or outcomes, (2) behave in some way to induce others to change their inputs or outcomes, (3) behave in some way to change their own inputs or outcomes, (4) choose a different comparison person, or (5) quit their job. These types of employee reactions have generally proved to be correct</a:t>
            </a:r>
          </a:p>
          <a:p>
            <a:r>
              <a:rPr lang="en-GB" dirty="0"/>
              <a:t>Employee motivation is influenced significantly by </a:t>
            </a:r>
            <a:r>
              <a:rPr lang="en-GB" u="sng" dirty="0"/>
              <a:t>relative rewards </a:t>
            </a:r>
            <a:r>
              <a:rPr lang="en-GB" dirty="0"/>
              <a:t>as well as by </a:t>
            </a:r>
            <a:r>
              <a:rPr lang="en-GB" u="sng" dirty="0"/>
              <a:t>absolute rewards</a:t>
            </a:r>
            <a:r>
              <a:rPr lang="en-GB" dirty="0"/>
              <a:t>. Whenever employees perceive inequity, they'll act to correct the </a:t>
            </a:r>
            <a:r>
              <a:rPr lang="en-GB" dirty="0" smtClean="0"/>
              <a:t>situation. The </a:t>
            </a:r>
            <a:r>
              <a:rPr lang="en-GB" dirty="0"/>
              <a:t>result might be lower or higher productivity, improved or reduced quality of output, increased absenteeism, or voluntary resignation</a:t>
            </a:r>
            <a:r>
              <a:rPr lang="en-GB" dirty="0" smtClean="0"/>
              <a:t>.</a:t>
            </a:r>
            <a:r>
              <a:rPr lang="en-IN" dirty="0" smtClean="0"/>
              <a:t>  </a:t>
            </a:r>
            <a:endParaRPr lang="en-IN" dirty="0"/>
          </a:p>
          <a:p>
            <a:endParaRPr lang="en-IN" dirty="0"/>
          </a:p>
        </p:txBody>
      </p:sp>
    </p:spTree>
    <p:extLst>
      <p:ext uri="{BB962C8B-B14F-4D97-AF65-F5344CB8AC3E}">
        <p14:creationId xmlns:p14="http://schemas.microsoft.com/office/powerpoint/2010/main" val="38518836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096000"/>
          </a:xfrm>
        </p:spPr>
        <p:txBody>
          <a:bodyPr>
            <a:normAutofit fontScale="77500" lnSpcReduction="20000"/>
          </a:bodyPr>
          <a:lstStyle/>
          <a:p>
            <a:r>
              <a:rPr lang="en-GB" dirty="0"/>
              <a:t>The other aspect we need to examine in equity theory is who these </a:t>
            </a:r>
            <a:r>
              <a:rPr lang="en-GB" b="1" dirty="0"/>
              <a:t>"others" </a:t>
            </a:r>
            <a:r>
              <a:rPr lang="en-GB" dirty="0"/>
              <a:t>are against whom people compare themselves. </a:t>
            </a:r>
            <a:endParaRPr lang="en-GB" dirty="0" smtClean="0"/>
          </a:p>
          <a:p>
            <a:r>
              <a:rPr lang="en-GB" dirty="0" smtClean="0"/>
              <a:t>The </a:t>
            </a:r>
            <a:r>
              <a:rPr lang="en-GB" b="1" dirty="0"/>
              <a:t>referent</a:t>
            </a:r>
            <a:r>
              <a:rPr lang="en-GB" dirty="0"/>
              <a:t> is an important variable in equity </a:t>
            </a:r>
            <a:r>
              <a:rPr lang="en-GB" dirty="0" smtClean="0"/>
              <a:t>theory. </a:t>
            </a:r>
          </a:p>
          <a:p>
            <a:r>
              <a:rPr lang="en-GB" i="1" dirty="0" smtClean="0"/>
              <a:t>Three </a:t>
            </a:r>
            <a:r>
              <a:rPr lang="en-GB" i="1" dirty="0"/>
              <a:t>referent categories </a:t>
            </a:r>
            <a:r>
              <a:rPr lang="en-GB" dirty="0"/>
              <a:t>have been defined: </a:t>
            </a:r>
            <a:r>
              <a:rPr lang="en-GB" b="1" dirty="0"/>
              <a:t>other</a:t>
            </a:r>
            <a:r>
              <a:rPr lang="en-GB" dirty="0"/>
              <a:t>, </a:t>
            </a:r>
            <a:r>
              <a:rPr lang="en-GB" b="1" dirty="0"/>
              <a:t>system</a:t>
            </a:r>
            <a:r>
              <a:rPr lang="en-GB" dirty="0"/>
              <a:t>, and </a:t>
            </a:r>
            <a:r>
              <a:rPr lang="en-GB" b="1" dirty="0"/>
              <a:t>self</a:t>
            </a:r>
            <a:r>
              <a:rPr lang="en-GB" dirty="0"/>
              <a:t>. </a:t>
            </a:r>
            <a:endParaRPr lang="en-GB" dirty="0" smtClean="0"/>
          </a:p>
          <a:p>
            <a:r>
              <a:rPr lang="en-GB" dirty="0" smtClean="0"/>
              <a:t>The </a:t>
            </a:r>
            <a:r>
              <a:rPr lang="en-GB" dirty="0"/>
              <a:t>"</a:t>
            </a:r>
            <a:r>
              <a:rPr lang="en-GB" b="1" dirty="0"/>
              <a:t>other</a:t>
            </a:r>
            <a:r>
              <a:rPr lang="en-GB" dirty="0"/>
              <a:t>" category includes other individuals with similar jobs in the same organization but also includes friends, </a:t>
            </a:r>
            <a:r>
              <a:rPr lang="en-GB" dirty="0" err="1"/>
              <a:t>neighbors</a:t>
            </a:r>
            <a:r>
              <a:rPr lang="en-GB" dirty="0"/>
              <a:t>, or professional associates. </a:t>
            </a:r>
            <a:endParaRPr lang="en-GB" dirty="0" smtClean="0"/>
          </a:p>
          <a:p>
            <a:r>
              <a:rPr lang="en-GB" dirty="0" smtClean="0"/>
              <a:t>The </a:t>
            </a:r>
            <a:r>
              <a:rPr lang="en-GB" dirty="0"/>
              <a:t>"</a:t>
            </a:r>
            <a:r>
              <a:rPr lang="en-GB" b="1" dirty="0"/>
              <a:t>system</a:t>
            </a:r>
            <a:r>
              <a:rPr lang="en-GB" dirty="0"/>
              <a:t>" category includes organizational pay policies and procedures and the administration of the system. Whatever precedents have been established by the organization regarding pay allocation are major elements of this category. </a:t>
            </a:r>
            <a:endParaRPr lang="en-GB" dirty="0" smtClean="0"/>
          </a:p>
          <a:p>
            <a:r>
              <a:rPr lang="en-GB" dirty="0" smtClean="0"/>
              <a:t>The </a:t>
            </a:r>
            <a:r>
              <a:rPr lang="en-GB" dirty="0"/>
              <a:t>"</a:t>
            </a:r>
            <a:r>
              <a:rPr lang="en-GB" b="1" dirty="0"/>
              <a:t>self</a:t>
            </a:r>
            <a:r>
              <a:rPr lang="en-GB" dirty="0"/>
              <a:t>" category refers to inputs-outcomes ratios that are unique to the individual. It reflects past personal experiences and contacts and is influenced by criteria such as past jobs or family commitments. </a:t>
            </a:r>
          </a:p>
        </p:txBody>
      </p:sp>
    </p:spTree>
    <p:extLst>
      <p:ext uri="{BB962C8B-B14F-4D97-AF65-F5344CB8AC3E}">
        <p14:creationId xmlns:p14="http://schemas.microsoft.com/office/powerpoint/2010/main" val="34124206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Expectancy </a:t>
            </a:r>
            <a:r>
              <a:rPr lang="en-IN" b="1" dirty="0" smtClean="0"/>
              <a:t>Theory (Victor Vroom)</a:t>
            </a:r>
            <a:endParaRPr lang="en-IN" dirty="0"/>
          </a:p>
        </p:txBody>
      </p:sp>
      <p:sp>
        <p:nvSpPr>
          <p:cNvPr id="3" name="Content Placeholder 2"/>
          <p:cNvSpPr>
            <a:spLocks noGrp="1"/>
          </p:cNvSpPr>
          <p:nvPr>
            <p:ph idx="1"/>
          </p:nvPr>
        </p:nvSpPr>
        <p:spPr/>
        <p:txBody>
          <a:bodyPr>
            <a:normAutofit fontScale="62500" lnSpcReduction="20000"/>
          </a:bodyPr>
          <a:lstStyle/>
          <a:p>
            <a:r>
              <a:rPr lang="en-GB" dirty="0"/>
              <a:t>Expectancy theory states that an individual tends to act in a certain way based on the </a:t>
            </a:r>
            <a:r>
              <a:rPr lang="en-GB" b="1" dirty="0"/>
              <a:t>expectation</a:t>
            </a:r>
            <a:r>
              <a:rPr lang="en-GB" dirty="0"/>
              <a:t> that the act will be followed by a given outcome and on the attractiveness of that outcome to the individual. </a:t>
            </a:r>
            <a:endParaRPr lang="en-GB" dirty="0" smtClean="0"/>
          </a:p>
          <a:p>
            <a:r>
              <a:rPr lang="en-GB" dirty="0" smtClean="0"/>
              <a:t>It </a:t>
            </a:r>
            <a:r>
              <a:rPr lang="en-GB" dirty="0"/>
              <a:t>includes </a:t>
            </a:r>
            <a:r>
              <a:rPr lang="en-GB" u="sng" dirty="0"/>
              <a:t>three variables or </a:t>
            </a:r>
            <a:r>
              <a:rPr lang="en-GB" u="sng" dirty="0" smtClean="0"/>
              <a:t>relationships</a:t>
            </a:r>
            <a:r>
              <a:rPr lang="en-GB" dirty="0" smtClean="0"/>
              <a:t>: </a:t>
            </a:r>
            <a:endParaRPr lang="en-GB" dirty="0"/>
          </a:p>
          <a:p>
            <a:endParaRPr lang="en-IN" dirty="0"/>
          </a:p>
          <a:p>
            <a:pPr marL="514350" indent="-514350">
              <a:buFont typeface="+mj-lt"/>
              <a:buAutoNum type="arabicPeriod"/>
            </a:pPr>
            <a:r>
              <a:rPr lang="en-GB" i="1" dirty="0"/>
              <a:t>Expectancy </a:t>
            </a:r>
            <a:r>
              <a:rPr lang="en-GB" dirty="0"/>
              <a:t>or </a:t>
            </a:r>
            <a:r>
              <a:rPr lang="en-GB" i="1" dirty="0"/>
              <a:t>effort-performance linkage </a:t>
            </a:r>
            <a:r>
              <a:rPr lang="en-GB" dirty="0"/>
              <a:t>is the probability perceived by the </a:t>
            </a:r>
            <a:r>
              <a:rPr lang="en-GB" dirty="0" smtClean="0"/>
              <a:t>individual </a:t>
            </a:r>
            <a:r>
              <a:rPr lang="en-GB" dirty="0"/>
              <a:t>that exerting a given amount of effort will lead to a certain level of performance.</a:t>
            </a:r>
          </a:p>
          <a:p>
            <a:pPr marL="514350" indent="-514350">
              <a:buFont typeface="+mj-lt"/>
              <a:buAutoNum type="arabicPeriod"/>
            </a:pPr>
            <a:r>
              <a:rPr lang="en-GB" i="1" dirty="0"/>
              <a:t>Instrumentality </a:t>
            </a:r>
            <a:r>
              <a:rPr lang="en-GB" dirty="0"/>
              <a:t>or </a:t>
            </a:r>
            <a:r>
              <a:rPr lang="en-GB" i="1" dirty="0"/>
              <a:t>performance-reward linkage </a:t>
            </a:r>
            <a:r>
              <a:rPr lang="en-GB" dirty="0"/>
              <a:t>is the degree to which the individual believes that performing at a particular level is instrumental in attaining the desired outcome.</a:t>
            </a:r>
          </a:p>
          <a:p>
            <a:pPr marL="514350" indent="-514350">
              <a:buFont typeface="+mj-lt"/>
              <a:buAutoNum type="arabicPeriod"/>
            </a:pPr>
            <a:r>
              <a:rPr lang="en-GB" i="1" dirty="0"/>
              <a:t>Valence </a:t>
            </a:r>
            <a:r>
              <a:rPr lang="en-GB" dirty="0"/>
              <a:t>or </a:t>
            </a:r>
            <a:r>
              <a:rPr lang="en-GB" i="1" dirty="0"/>
              <a:t>attractiveness of reward </a:t>
            </a:r>
            <a:r>
              <a:rPr lang="en-GB" dirty="0"/>
              <a:t>is the importance that the individual places on the potential outcome or reward that can be achieved on the job. Valence considers both the goals and needs of the individual</a:t>
            </a:r>
            <a:r>
              <a:rPr lang="en-GB" dirty="0" smtClean="0"/>
              <a:t>.</a:t>
            </a:r>
            <a:r>
              <a:rPr lang="en-IN" dirty="0" smtClean="0"/>
              <a:t>  </a:t>
            </a:r>
            <a:endParaRPr lang="en-IN" dirty="0"/>
          </a:p>
          <a:p>
            <a:endParaRPr lang="en-IN" dirty="0"/>
          </a:p>
        </p:txBody>
      </p:sp>
    </p:spTree>
    <p:extLst>
      <p:ext uri="{BB962C8B-B14F-4D97-AF65-F5344CB8AC3E}">
        <p14:creationId xmlns:p14="http://schemas.microsoft.com/office/powerpoint/2010/main" val="31603405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Key questions regarding Expectancy Theory</a:t>
            </a:r>
            <a:endParaRPr lang="en-IN" dirty="0"/>
          </a:p>
        </p:txBody>
      </p:sp>
      <p:sp>
        <p:nvSpPr>
          <p:cNvPr id="3" name="Content Placeholder 2"/>
          <p:cNvSpPr>
            <a:spLocks noGrp="1"/>
          </p:cNvSpPr>
          <p:nvPr>
            <p:ph idx="1"/>
          </p:nvPr>
        </p:nvSpPr>
        <p:spPr/>
        <p:txBody>
          <a:bodyPr>
            <a:normAutofit/>
          </a:bodyPr>
          <a:lstStyle/>
          <a:p>
            <a:r>
              <a:rPr lang="en-GB" dirty="0"/>
              <a:t>First, what perceived outcomes does the job offer the employee? Outcomes (rewards) may be positive—things such as pay, security, companionship, trust, fringe benefits, a chance to use talents or skills, or congenial relationships. Or the employee may view the outcomes as negative—fatigue, boredom, frustration, anxiety, harsh supervision, or threat of dismissal. </a:t>
            </a:r>
          </a:p>
        </p:txBody>
      </p:sp>
    </p:spTree>
    <p:extLst>
      <p:ext uri="{BB962C8B-B14F-4D97-AF65-F5344CB8AC3E}">
        <p14:creationId xmlns:p14="http://schemas.microsoft.com/office/powerpoint/2010/main" val="1870720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r>
              <a:rPr lang="en-GB" dirty="0"/>
              <a:t>Second, how attractive are the outcomes or rewards to employees? Are they valued positively, negatively, or neutrally? This obviously is a personal and internal issue that depends on the individual's needs, attitudes, and personality. A person who finds a particular reward attractive—that is, values it positively—would rather get it than not get it. Others may find it negative and, therefore, prefer not getting it. Still others may be neutral about the outcome</a:t>
            </a:r>
            <a:r>
              <a:rPr lang="en-GB" dirty="0" smtClean="0"/>
              <a:t>.</a:t>
            </a:r>
            <a:endParaRPr lang="en-GB" dirty="0"/>
          </a:p>
        </p:txBody>
      </p:sp>
    </p:spTree>
    <p:extLst>
      <p:ext uri="{BB962C8B-B14F-4D97-AF65-F5344CB8AC3E}">
        <p14:creationId xmlns:p14="http://schemas.microsoft.com/office/powerpoint/2010/main" val="38153271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92500" lnSpcReduction="10000"/>
          </a:bodyPr>
          <a:lstStyle/>
          <a:p>
            <a:r>
              <a:rPr lang="en-GB" dirty="0"/>
              <a:t>Third, what kind of </a:t>
            </a:r>
            <a:r>
              <a:rPr lang="en-GB" dirty="0" err="1"/>
              <a:t>behavior</a:t>
            </a:r>
            <a:r>
              <a:rPr lang="en-GB" dirty="0"/>
              <a:t> must the employee exhibit in order to achieve these rewards? The rewards aren't likely to have any effect on an individual employee's performance unless he or she knows, clearly and unambiguously, what must be done to achieve them. </a:t>
            </a:r>
            <a:endParaRPr lang="en-GB" dirty="0" smtClean="0"/>
          </a:p>
          <a:p>
            <a:pPr marL="0" indent="0">
              <a:buNone/>
            </a:pPr>
            <a:endParaRPr lang="en-GB" dirty="0" smtClean="0"/>
          </a:p>
          <a:p>
            <a:r>
              <a:rPr lang="en-GB" dirty="0"/>
              <a:t>Finally, how does the employee view his or her chances of doing what is asked? After an employee has considered his or her own skills and ability to control those variables that lead to success, what's the likelihood that he or she can successfully perform at the necessary level</a:t>
            </a:r>
            <a:r>
              <a:rPr lang="en-GB" dirty="0" smtClean="0"/>
              <a:t>?</a:t>
            </a:r>
            <a:endParaRPr lang="en-GB" dirty="0"/>
          </a:p>
        </p:txBody>
      </p:sp>
    </p:spTree>
    <p:extLst>
      <p:ext uri="{BB962C8B-B14F-4D97-AF65-F5344CB8AC3E}">
        <p14:creationId xmlns:p14="http://schemas.microsoft.com/office/powerpoint/2010/main" val="26565380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Current Issues in Motivation</a:t>
            </a:r>
            <a:endParaRPr lang="en-IN" dirty="0"/>
          </a:p>
        </p:txBody>
      </p:sp>
      <p:sp>
        <p:nvSpPr>
          <p:cNvPr id="3" name="Content Placeholder 2"/>
          <p:cNvSpPr>
            <a:spLocks noGrp="1"/>
          </p:cNvSpPr>
          <p:nvPr>
            <p:ph idx="1"/>
          </p:nvPr>
        </p:nvSpPr>
        <p:spPr/>
        <p:txBody>
          <a:bodyPr>
            <a:normAutofit fontScale="77500" lnSpcReduction="20000"/>
          </a:bodyPr>
          <a:lstStyle/>
          <a:p>
            <a:r>
              <a:rPr lang="en-GB" dirty="0" smtClean="0"/>
              <a:t>Motivating a diverse workforce: </a:t>
            </a:r>
            <a:r>
              <a:rPr lang="en-IN" b="1" dirty="0"/>
              <a:t>Flexible Working Schedules</a:t>
            </a:r>
            <a:endParaRPr lang="en-IN" dirty="0"/>
          </a:p>
          <a:p>
            <a:pPr marL="514350" indent="-514350">
              <a:buFont typeface="+mj-lt"/>
              <a:buAutoNum type="arabicPeriod"/>
            </a:pPr>
            <a:r>
              <a:rPr lang="en-GB" dirty="0"/>
              <a:t>A </a:t>
            </a:r>
            <a:r>
              <a:rPr lang="en-GB" b="1" dirty="0"/>
              <a:t>compressed workweek </a:t>
            </a:r>
            <a:r>
              <a:rPr lang="en-GB" dirty="0"/>
              <a:t>is a workweek in which employees work longer hours per day but fewer days per week. </a:t>
            </a:r>
          </a:p>
          <a:p>
            <a:pPr marL="514350" indent="-514350">
              <a:buFont typeface="+mj-lt"/>
              <a:buAutoNum type="arabicPeriod"/>
            </a:pPr>
            <a:r>
              <a:rPr lang="en-GB" b="1" dirty="0" smtClean="0"/>
              <a:t>Flexible </a:t>
            </a:r>
            <a:r>
              <a:rPr lang="en-GB" b="1" dirty="0"/>
              <a:t>work hours </a:t>
            </a:r>
            <a:r>
              <a:rPr lang="en-GB" dirty="0"/>
              <a:t>(also popularly known as </a:t>
            </a:r>
            <a:r>
              <a:rPr lang="en-GB" b="1" dirty="0" err="1"/>
              <a:t>flextime</a:t>
            </a:r>
            <a:r>
              <a:rPr lang="en-GB" dirty="0"/>
              <a:t>), which is a scheduling system in which employees are required to work a specific number of hours a week but are free to vary those hours within certain limits </a:t>
            </a:r>
          </a:p>
          <a:p>
            <a:pPr marL="514350" indent="-514350">
              <a:buFont typeface="+mj-lt"/>
              <a:buAutoNum type="arabicPeriod"/>
            </a:pPr>
            <a:r>
              <a:rPr lang="en-IN" b="1" dirty="0" smtClean="0"/>
              <a:t>Job sharing:</a:t>
            </a:r>
            <a:r>
              <a:rPr lang="en-IN" dirty="0" smtClean="0"/>
              <a:t> </a:t>
            </a:r>
            <a:r>
              <a:rPr lang="en-GB" dirty="0"/>
              <a:t>the practice of having two or more people split a full-time job </a:t>
            </a:r>
          </a:p>
          <a:p>
            <a:pPr marL="514350" indent="-514350">
              <a:buFont typeface="+mj-lt"/>
              <a:buAutoNum type="arabicPeriod"/>
            </a:pPr>
            <a:r>
              <a:rPr lang="en-IN" b="1" dirty="0" smtClean="0"/>
              <a:t>Telecommuting: </a:t>
            </a:r>
            <a:r>
              <a:rPr lang="en-GB" dirty="0"/>
              <a:t>employees work at home and are linked to the workplace by computer and modem. </a:t>
            </a:r>
          </a:p>
        </p:txBody>
      </p:sp>
    </p:spTree>
    <p:extLst>
      <p:ext uri="{BB962C8B-B14F-4D97-AF65-F5344CB8AC3E}">
        <p14:creationId xmlns:p14="http://schemas.microsoft.com/office/powerpoint/2010/main" val="4005308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85000" lnSpcReduction="20000"/>
          </a:bodyPr>
          <a:lstStyle/>
          <a:p>
            <a:r>
              <a:rPr lang="en-GB" b="1" dirty="0"/>
              <a:t>Pay-for-performance programs </a:t>
            </a:r>
            <a:r>
              <a:rPr lang="en-GB" dirty="0"/>
              <a:t>are compensation plans that pay employees on the basis of some performance measure</a:t>
            </a:r>
          </a:p>
          <a:p>
            <a:r>
              <a:rPr lang="en-GB" b="1" dirty="0" smtClean="0"/>
              <a:t>Cultural </a:t>
            </a:r>
            <a:r>
              <a:rPr lang="en-GB" b="1" dirty="0"/>
              <a:t>differences in </a:t>
            </a:r>
            <a:r>
              <a:rPr lang="en-GB" b="1" dirty="0" smtClean="0"/>
              <a:t>motivation</a:t>
            </a:r>
          </a:p>
          <a:p>
            <a:r>
              <a:rPr lang="en-GB" b="1" dirty="0" smtClean="0"/>
              <a:t>Open book management: </a:t>
            </a:r>
            <a:r>
              <a:rPr lang="en-GB" dirty="0"/>
              <a:t>Many organizations of various sizes are involving their employees in workplace decisions by </a:t>
            </a:r>
            <a:r>
              <a:rPr lang="en-GB" b="1" dirty="0"/>
              <a:t>opening up the financial statements </a:t>
            </a:r>
            <a:r>
              <a:rPr lang="en-GB" dirty="0"/>
              <a:t>(</a:t>
            </a:r>
            <a:r>
              <a:rPr lang="en-GB" u="sng" dirty="0"/>
              <a:t>the "books</a:t>
            </a:r>
            <a:r>
              <a:rPr lang="en-GB" dirty="0"/>
              <a:t>"). They share that information so that employees will be motivated to make better decisions about their work and better able to understand the implications of what they do, how they do it, and the ultimate impact on the bottom line. This approach is called </a:t>
            </a:r>
            <a:r>
              <a:rPr lang="en-GB" b="1" dirty="0"/>
              <a:t>open-book </a:t>
            </a:r>
            <a:r>
              <a:rPr lang="en-GB" b="1" dirty="0" smtClean="0"/>
              <a:t>management. </a:t>
            </a:r>
            <a:r>
              <a:rPr lang="en-GB" dirty="0"/>
              <a:t>The </a:t>
            </a:r>
            <a:r>
              <a:rPr lang="en-GB" u="sng" dirty="0"/>
              <a:t>goal of open-book management</a:t>
            </a:r>
            <a:r>
              <a:rPr lang="en-GB" dirty="0"/>
              <a:t> is to get employees to think like an owner by seeing the impact their decisions and actions have on financial </a:t>
            </a:r>
            <a:r>
              <a:rPr lang="en-GB" dirty="0" smtClean="0"/>
              <a:t>results.</a:t>
            </a:r>
            <a:endParaRPr lang="en-IN" b="1" dirty="0"/>
          </a:p>
          <a:p>
            <a:endParaRPr lang="en-IN" dirty="0"/>
          </a:p>
          <a:p>
            <a:endParaRPr lang="en-IN" dirty="0"/>
          </a:p>
        </p:txBody>
      </p:sp>
    </p:spTree>
    <p:extLst>
      <p:ext uri="{BB962C8B-B14F-4D97-AF65-F5344CB8AC3E}">
        <p14:creationId xmlns:p14="http://schemas.microsoft.com/office/powerpoint/2010/main" val="26292306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Motivating the “new workforce”</a:t>
            </a:r>
            <a:endParaRPr lang="en-IN" dirty="0"/>
          </a:p>
        </p:txBody>
      </p:sp>
      <p:sp>
        <p:nvSpPr>
          <p:cNvPr id="3" name="Content Placeholder 2"/>
          <p:cNvSpPr>
            <a:spLocks noGrp="1"/>
          </p:cNvSpPr>
          <p:nvPr>
            <p:ph idx="1"/>
          </p:nvPr>
        </p:nvSpPr>
        <p:spPr/>
        <p:txBody>
          <a:bodyPr/>
          <a:lstStyle/>
          <a:p>
            <a:r>
              <a:rPr lang="en-IN" b="1" dirty="0"/>
              <a:t>Motivating Professionals</a:t>
            </a:r>
            <a:endParaRPr lang="en-IN" dirty="0"/>
          </a:p>
          <a:p>
            <a:r>
              <a:rPr lang="en-IN" b="1" dirty="0"/>
              <a:t>Motivating Contingent Workers</a:t>
            </a:r>
            <a:endParaRPr lang="en-IN" dirty="0"/>
          </a:p>
          <a:p>
            <a:r>
              <a:rPr lang="en-IN" b="1" dirty="0"/>
              <a:t>Motivating Low-Skilled, Minimum-Wage </a:t>
            </a:r>
            <a:r>
              <a:rPr lang="en-IN" b="1" dirty="0" smtClean="0"/>
              <a:t>Employees</a:t>
            </a:r>
            <a:endParaRPr lang="en-IN" dirty="0"/>
          </a:p>
        </p:txBody>
      </p:sp>
    </p:spTree>
    <p:extLst>
      <p:ext uri="{BB962C8B-B14F-4D97-AF65-F5344CB8AC3E}">
        <p14:creationId xmlns:p14="http://schemas.microsoft.com/office/powerpoint/2010/main" val="40242749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Suggestions for motivating employees</a:t>
            </a:r>
            <a:endParaRPr lang="en-IN" dirty="0"/>
          </a:p>
        </p:txBody>
      </p:sp>
      <p:sp>
        <p:nvSpPr>
          <p:cNvPr id="3" name="Content Placeholder 2"/>
          <p:cNvSpPr>
            <a:spLocks noGrp="1"/>
          </p:cNvSpPr>
          <p:nvPr>
            <p:ph idx="1"/>
          </p:nvPr>
        </p:nvSpPr>
        <p:spPr/>
        <p:txBody>
          <a:bodyPr>
            <a:normAutofit fontScale="77500" lnSpcReduction="20000"/>
          </a:bodyPr>
          <a:lstStyle/>
          <a:p>
            <a:r>
              <a:rPr lang="en-GB" i="1" dirty="0"/>
              <a:t>Recognize individual differences. </a:t>
            </a:r>
            <a:r>
              <a:rPr lang="en-GB" dirty="0" smtClean="0"/>
              <a:t>Employees </a:t>
            </a:r>
            <a:r>
              <a:rPr lang="en-GB" dirty="0"/>
              <a:t>aren't identical. They have different needs, attitudes, personality, and other important individual variables</a:t>
            </a:r>
            <a:r>
              <a:rPr lang="en-GB" dirty="0" smtClean="0"/>
              <a:t>.</a:t>
            </a:r>
          </a:p>
          <a:p>
            <a:r>
              <a:rPr lang="en-IN" i="1" dirty="0"/>
              <a:t>Match people to jobs</a:t>
            </a:r>
            <a:r>
              <a:rPr lang="en-IN" dirty="0"/>
              <a:t>. </a:t>
            </a:r>
          </a:p>
          <a:p>
            <a:r>
              <a:rPr lang="en-GB" i="1" dirty="0"/>
              <a:t>Use goals</a:t>
            </a:r>
            <a:r>
              <a:rPr lang="en-GB" dirty="0"/>
              <a:t>. </a:t>
            </a:r>
            <a:r>
              <a:rPr lang="en-GB" dirty="0" smtClean="0"/>
              <a:t>Employees </a:t>
            </a:r>
            <a:r>
              <a:rPr lang="en-GB" dirty="0"/>
              <a:t>have hard, specific goals and feedback on how well they're doing in achieving those goals. </a:t>
            </a:r>
            <a:endParaRPr lang="en-GB" dirty="0" smtClean="0"/>
          </a:p>
          <a:p>
            <a:r>
              <a:rPr lang="en-GB" i="1" dirty="0"/>
              <a:t>Ensure that goals are perceived as attainable</a:t>
            </a:r>
            <a:r>
              <a:rPr lang="en-GB" dirty="0"/>
              <a:t>. </a:t>
            </a:r>
          </a:p>
          <a:p>
            <a:r>
              <a:rPr lang="en-IN" i="1" dirty="0"/>
              <a:t>Individualize rewards</a:t>
            </a:r>
            <a:r>
              <a:rPr lang="en-IN" dirty="0"/>
              <a:t>. </a:t>
            </a:r>
          </a:p>
          <a:p>
            <a:r>
              <a:rPr lang="en-IN" i="1" dirty="0"/>
              <a:t>Link rewards to performance</a:t>
            </a:r>
            <a:r>
              <a:rPr lang="en-IN" dirty="0"/>
              <a:t>. </a:t>
            </a:r>
          </a:p>
          <a:p>
            <a:r>
              <a:rPr lang="en-GB" i="1" dirty="0"/>
              <a:t>Check the system for equity</a:t>
            </a:r>
            <a:r>
              <a:rPr lang="en-GB" dirty="0"/>
              <a:t>. </a:t>
            </a:r>
          </a:p>
          <a:p>
            <a:r>
              <a:rPr lang="en-IN" i="1" dirty="0"/>
              <a:t>Don't ignore money</a:t>
            </a:r>
            <a:r>
              <a:rPr lang="en-IN"/>
              <a:t>. </a:t>
            </a:r>
            <a:endParaRPr lang="en-IN" dirty="0"/>
          </a:p>
          <a:p>
            <a:endParaRPr lang="en-GB" dirty="0"/>
          </a:p>
          <a:p>
            <a:pPr marL="0" indent="0">
              <a:buNone/>
            </a:pPr>
            <a:endParaRPr lang="en-GB" dirty="0"/>
          </a:p>
          <a:p>
            <a:endParaRPr lang="en-IN" dirty="0"/>
          </a:p>
        </p:txBody>
      </p:sp>
    </p:spTree>
    <p:extLst>
      <p:ext uri="{BB962C8B-B14F-4D97-AF65-F5344CB8AC3E}">
        <p14:creationId xmlns:p14="http://schemas.microsoft.com/office/powerpoint/2010/main" val="31155383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TotalTime>
  <Words>2783</Words>
  <Application>Microsoft Office PowerPoint</Application>
  <PresentationFormat>On-screen Show (4:3)</PresentationFormat>
  <Paragraphs>141</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Motivation at Work</vt:lpstr>
      <vt:lpstr>What is Motivation?</vt:lpstr>
      <vt:lpstr>Motivation Process</vt:lpstr>
      <vt:lpstr>Early theories of motivation</vt:lpstr>
      <vt:lpstr>Maslow’s Hierarchy of Needs theory</vt:lpstr>
      <vt:lpstr>PowerPoint Presentation</vt:lpstr>
      <vt:lpstr>PowerPoint Presentation</vt:lpstr>
      <vt:lpstr>McGregor's Theory X and Theory Y</vt:lpstr>
      <vt:lpstr>PowerPoint Presentation</vt:lpstr>
      <vt:lpstr>Herzberg's Motivation-Hygiene Theory</vt:lpstr>
      <vt:lpstr>PowerPoint Presentation</vt:lpstr>
      <vt:lpstr>PowerPoint Presentation</vt:lpstr>
      <vt:lpstr>Contemporary Theories of Motivation</vt:lpstr>
      <vt:lpstr>Three-Needs Theory</vt:lpstr>
      <vt:lpstr>PowerPoint Presentation</vt:lpstr>
      <vt:lpstr>Goal-Setting Theory</vt:lpstr>
      <vt:lpstr>Factors influencing goals-performance relationship</vt:lpstr>
      <vt:lpstr>Reinforcement Theory</vt:lpstr>
      <vt:lpstr>Designing Motivating Jobs</vt:lpstr>
      <vt:lpstr>Job characteristics model (JCM)</vt:lpstr>
      <vt:lpstr>PowerPoint Presentation</vt:lpstr>
      <vt:lpstr>Methods of Job redesign according to JCM</vt:lpstr>
      <vt:lpstr>Equity Theory</vt:lpstr>
      <vt:lpstr>It is considered to be an equity when:</vt:lpstr>
      <vt:lpstr>PowerPoint Presentation</vt:lpstr>
      <vt:lpstr>PowerPoint Presentation</vt:lpstr>
      <vt:lpstr>Expectancy Theory (Victor Vroom)</vt:lpstr>
      <vt:lpstr>Key questions regarding Expectancy Theory</vt:lpstr>
      <vt:lpstr>PowerPoint Presentation</vt:lpstr>
      <vt:lpstr>PowerPoint Presentation</vt:lpstr>
      <vt:lpstr>Current Issues in Motivation</vt:lpstr>
      <vt:lpstr>PowerPoint Presentation</vt:lpstr>
      <vt:lpstr>Motivating the “new workforce”</vt:lpstr>
      <vt:lpstr>Suggestions for motivating employees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Motivation at Work</dc:title>
  <dc:creator>HP</dc:creator>
  <cp:lastModifiedBy>HP</cp:lastModifiedBy>
  <cp:revision>10</cp:revision>
  <dcterms:created xsi:type="dcterms:W3CDTF">2006-08-16T00:00:00Z</dcterms:created>
  <dcterms:modified xsi:type="dcterms:W3CDTF">2026-02-26T11:17:38Z</dcterms:modified>
</cp:coreProperties>
</file>