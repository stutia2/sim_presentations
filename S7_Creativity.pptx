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71" r:id="rId18"/>
    <p:sldId id="272" r:id="rId19"/>
    <p:sldId id="273" r:id="rId20"/>
    <p:sldId id="280" r:id="rId21"/>
    <p:sldId id="274" r:id="rId22"/>
    <p:sldId id="275" r:id="rId23"/>
    <p:sldId id="276" r:id="rId24"/>
    <p:sldId id="277" r:id="rId25"/>
    <p:sldId id="278" r:id="rId26"/>
    <p:sldId id="279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Creativity, Innovation and Entrepreneurship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Session-7</a:t>
            </a:r>
          </a:p>
          <a:p>
            <a:r>
              <a:rPr lang="en-GB" dirty="0" smtClean="0"/>
              <a:t>26</a:t>
            </a:r>
            <a:r>
              <a:rPr lang="en-GB" baseline="30000" dirty="0" smtClean="0"/>
              <a:t>th</a:t>
            </a:r>
            <a:r>
              <a:rPr lang="en-GB" dirty="0" smtClean="0"/>
              <a:t> May,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435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Creativity refers to the constellation of personality and intellectual traits shown by individuals who, when given a measure of free rein, spend significant amounts of time engaged in the creative process.</a:t>
            </a:r>
          </a:p>
          <a:p>
            <a:r>
              <a:rPr lang="en-GB" dirty="0"/>
              <a:t>Creativity is the emergence in action of a novel relational product, growing out of the uniqueness of the individual on the one hand, and the materials, events, people, or circumstances of his life on the other.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35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Creativity is the novelty that is useful.</a:t>
            </a:r>
          </a:p>
          <a:p>
            <a:endParaRPr lang="en-GB" dirty="0"/>
          </a:p>
          <a:p>
            <a:r>
              <a:rPr lang="en-GB" dirty="0"/>
              <a:t>Creativity is the production of novel and useful ideas by an individual or small group of individuals working together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260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Organizational Innovation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Organizational innovation is the successful implementation of creative ideas within an organization.</a:t>
            </a:r>
          </a:p>
          <a:p>
            <a:endParaRPr lang="en-GB" dirty="0"/>
          </a:p>
          <a:p>
            <a:r>
              <a:rPr lang="en-GB" dirty="0"/>
              <a:t>Innovation is the development and implementation of new ideas by people who over time engage in transactions with others within an institutional order.</a:t>
            </a:r>
          </a:p>
          <a:p>
            <a:endParaRPr lang="en-GB" dirty="0"/>
          </a:p>
          <a:p>
            <a:r>
              <a:rPr lang="en-GB" dirty="0"/>
              <a:t>Innovation </a:t>
            </a:r>
            <a:r>
              <a:rPr lang="en-GB" dirty="0" err="1"/>
              <a:t>os</a:t>
            </a:r>
            <a:r>
              <a:rPr lang="en-GB" dirty="0"/>
              <a:t> the generation, acceptance, and implementation of new ideas, processes, products, or services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588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Quality of problem solvers that promote 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1. Personality traits: Persistence, curiosity, energy, intellectual honesty</a:t>
            </a:r>
          </a:p>
          <a:p>
            <a:pPr marL="0" indent="0">
              <a:buNone/>
            </a:pPr>
            <a:r>
              <a:rPr lang="en-GB" dirty="0"/>
              <a:t>2. Self-motivation: Being self-driven, enthusiastic, attracted by the challenge of the problem, belief in or commitment to the idea</a:t>
            </a:r>
          </a:p>
          <a:p>
            <a:pPr marL="0" indent="0">
              <a:buNone/>
            </a:pPr>
            <a:r>
              <a:rPr lang="en-GB" dirty="0"/>
              <a:t>3. Special cognitive abilities: general problem-solving abilities and tactics for creative thinking</a:t>
            </a:r>
          </a:p>
          <a:p>
            <a:pPr marL="0" indent="0">
              <a:buNone/>
            </a:pPr>
            <a:r>
              <a:rPr lang="en-GB" dirty="0"/>
              <a:t>4. Risk orientation: unconventional, attracted to challenge</a:t>
            </a:r>
          </a:p>
          <a:p>
            <a:pPr marL="0" indent="0">
              <a:buNone/>
            </a:pPr>
            <a:r>
              <a:rPr lang="en-GB" dirty="0"/>
              <a:t>5. Expertise in the area: talent, experience, acquired knowledge in the specific field</a:t>
            </a:r>
          </a:p>
          <a:p>
            <a:pPr marL="0" indent="0">
              <a:buNone/>
            </a:pPr>
            <a:r>
              <a:rPr lang="en-GB" dirty="0"/>
              <a:t>6. Qualities of the group: synergy from working in a team</a:t>
            </a:r>
          </a:p>
          <a:p>
            <a:pPr marL="0" indent="0">
              <a:buNone/>
            </a:pPr>
            <a:r>
              <a:rPr lang="en-GB" dirty="0"/>
              <a:t>7. Diverse experience: of various domains</a:t>
            </a:r>
          </a:p>
          <a:p>
            <a:pPr marL="0" indent="0">
              <a:buNone/>
            </a:pPr>
            <a:r>
              <a:rPr lang="en-GB" dirty="0"/>
              <a:t>8. Social skill: good social and/or political skill, good rapport with others, good listener and a good team player</a:t>
            </a:r>
          </a:p>
          <a:p>
            <a:pPr marL="0" indent="0">
              <a:buNone/>
            </a:pPr>
            <a:r>
              <a:rPr lang="en-GB" dirty="0"/>
              <a:t>9. Brilliance and </a:t>
            </a:r>
            <a:r>
              <a:rPr lang="en-GB" dirty="0" err="1"/>
              <a:t>naivete</a:t>
            </a:r>
            <a:r>
              <a:rPr lang="en-GB" dirty="0"/>
              <a:t>: being naive or new to the field, not biased by perceptions or bound by old ways of doing </a:t>
            </a:r>
            <a:r>
              <a:rPr lang="en-GB" dirty="0" smtClean="0"/>
              <a:t>things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1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Qualities of problem solvers that inhibit 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1. Unmotivated: not being challenged by the problem; being pessimistic about the outcome; lazy</a:t>
            </a:r>
          </a:p>
          <a:p>
            <a:pPr marL="0" indent="0">
              <a:buNone/>
            </a:pPr>
            <a:r>
              <a:rPr lang="en-GB" dirty="0"/>
              <a:t>2. Unskilled: lack of ability or experience in the problem area</a:t>
            </a:r>
          </a:p>
          <a:p>
            <a:pPr marL="0" indent="0">
              <a:buNone/>
            </a:pPr>
            <a:r>
              <a:rPr lang="en-GB" dirty="0"/>
              <a:t>3. Inflexible: opinionated, unwilling to do things differently</a:t>
            </a:r>
          </a:p>
          <a:p>
            <a:pPr marL="0" indent="0">
              <a:buNone/>
            </a:pPr>
            <a:r>
              <a:rPr lang="en-GB" dirty="0"/>
              <a:t>4. Externally motivated: being motivated by money, recognition, responding to restrictions and goals set by others, being competitive and jealous of someone else's success</a:t>
            </a:r>
          </a:p>
          <a:p>
            <a:pPr marL="0" indent="0">
              <a:buNone/>
            </a:pPr>
            <a:r>
              <a:rPr lang="en-GB" dirty="0"/>
              <a:t>5. Socially unskilled: lack of social and political skills, such as being a poor team player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09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 model of individual creativity (3 components)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1. Domain-relevant skills: Factual knowledge, technical skills, special talents in the domain</a:t>
            </a:r>
          </a:p>
          <a:p>
            <a:pPr marL="0" indent="0">
              <a:buNone/>
            </a:pPr>
            <a:r>
              <a:rPr lang="en-GB" dirty="0"/>
              <a:t>2. Creativity-relevant skills: include a cognitive style </a:t>
            </a:r>
            <a:r>
              <a:rPr lang="en-GB" dirty="0" err="1"/>
              <a:t>favorable</a:t>
            </a:r>
            <a:r>
              <a:rPr lang="en-GB" dirty="0"/>
              <a:t> to taking new perspectives on problems, an application of heuristics for the exploration of new cognitive pathways, a working style conducive to persistent, energetic pursuit of one's work</a:t>
            </a:r>
          </a:p>
          <a:p>
            <a:pPr marL="0" indent="0">
              <a:buNone/>
            </a:pPr>
            <a:r>
              <a:rPr lang="en-GB" dirty="0"/>
              <a:t>3. Intrinsic task motivation: includes the individual's baseline attitude toward the task and the individual's perceptions of his or her reasons for undertaking the task in a given </a:t>
            </a:r>
            <a:r>
              <a:rPr lang="en-GB" dirty="0" smtClean="0"/>
              <a:t>instance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Steps of the individual creative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1. Presentation of the task or the problem: Internal source/External source</a:t>
            </a:r>
          </a:p>
          <a:p>
            <a:pPr marL="0" indent="0">
              <a:buNone/>
            </a:pPr>
            <a:r>
              <a:rPr lang="en-GB" dirty="0"/>
              <a:t>2. Preparation: Gathering information and resources</a:t>
            </a:r>
          </a:p>
          <a:p>
            <a:pPr marL="0" indent="0">
              <a:buNone/>
            </a:pPr>
            <a:r>
              <a:rPr lang="en-GB" dirty="0"/>
              <a:t>3. Idea generation: Producing one or more ideas or products</a:t>
            </a:r>
          </a:p>
          <a:p>
            <a:pPr marL="0" indent="0">
              <a:buNone/>
            </a:pPr>
            <a:r>
              <a:rPr lang="en-GB" dirty="0"/>
              <a:t>4. Idea validation: Checking ideas against criteria for the task</a:t>
            </a:r>
          </a:p>
          <a:p>
            <a:pPr marL="0" indent="0">
              <a:buNone/>
            </a:pPr>
            <a:r>
              <a:rPr lang="en-GB" dirty="0"/>
              <a:t>5. Outcome assessment: </a:t>
            </a:r>
            <a:r>
              <a:rPr lang="en-GB" dirty="0" smtClean="0"/>
              <a:t>Success/failure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03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Qualities of environments that promote 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1. Freedom: in deciding what to do or how to accomplish a task, a sense of control over one's own work and ideas</a:t>
            </a:r>
          </a:p>
          <a:p>
            <a:pPr marL="0" indent="0">
              <a:buNone/>
            </a:pPr>
            <a:r>
              <a:rPr lang="en-GB" dirty="0"/>
              <a:t>2. Good project management</a:t>
            </a:r>
          </a:p>
          <a:p>
            <a:pPr marL="0" indent="0">
              <a:buNone/>
            </a:pPr>
            <a:r>
              <a:rPr lang="en-GB" dirty="0"/>
              <a:t>3. Sufficient resources</a:t>
            </a:r>
          </a:p>
          <a:p>
            <a:pPr marL="0" indent="0">
              <a:buNone/>
            </a:pPr>
            <a:r>
              <a:rPr lang="en-GB" dirty="0"/>
              <a:t>4. Various organizational characteristics: a mechanism for considering new ideas, a corporate climate marked by cooperation and collaboration across levels and divisions, an atmosphere where innovation is prized and failure is not fatal</a:t>
            </a:r>
          </a:p>
          <a:p>
            <a:pPr marL="0" indent="0">
              <a:buNone/>
            </a:pPr>
            <a:r>
              <a:rPr lang="en-GB" dirty="0"/>
              <a:t>5. Encouragement</a:t>
            </a:r>
          </a:p>
          <a:p>
            <a:pPr marL="0" indent="0">
              <a:buNone/>
            </a:pPr>
            <a:r>
              <a:rPr lang="en-GB" dirty="0"/>
              <a:t>6. Recognition</a:t>
            </a:r>
          </a:p>
          <a:p>
            <a:pPr marL="0" indent="0">
              <a:buNone/>
            </a:pPr>
            <a:r>
              <a:rPr lang="en-GB" dirty="0"/>
              <a:t>7. Sufficient time</a:t>
            </a:r>
          </a:p>
          <a:p>
            <a:pPr marL="0" indent="0">
              <a:buNone/>
            </a:pPr>
            <a:r>
              <a:rPr lang="en-GB" dirty="0"/>
              <a:t>8. Challenge</a:t>
            </a:r>
          </a:p>
          <a:p>
            <a:pPr marL="0" indent="0">
              <a:buNone/>
            </a:pPr>
            <a:r>
              <a:rPr lang="en-GB" dirty="0"/>
              <a:t>9. Pressure: a sense of urgency that is internally generated from competition with outside organizations, or from a general desire to accomplish something </a:t>
            </a:r>
            <a:r>
              <a:rPr lang="en-GB" dirty="0" smtClean="0"/>
              <a:t>important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6506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Qualities of environments that inhibit creativity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1. Various organizational characteristics: inappropriate reward systems, excessive red tape, corporate climate marked by a lack of cooperation across divisions and levels, little regard for innovation in general</a:t>
            </a:r>
          </a:p>
          <a:p>
            <a:pPr marL="0" indent="0">
              <a:buNone/>
            </a:pPr>
            <a:r>
              <a:rPr lang="en-GB" dirty="0"/>
              <a:t>2. Constraint: lack of freedom in deciding what to do or how to accomplish the task, lack of sense over one's own work and ideas</a:t>
            </a:r>
          </a:p>
          <a:p>
            <a:pPr marL="0" indent="0">
              <a:buNone/>
            </a:pPr>
            <a:r>
              <a:rPr lang="en-GB" dirty="0"/>
              <a:t>3. Organizational disinterest</a:t>
            </a:r>
          </a:p>
          <a:p>
            <a:pPr marL="0" indent="0">
              <a:buNone/>
            </a:pPr>
            <a:r>
              <a:rPr lang="en-GB" dirty="0"/>
              <a:t>4. Poor project management</a:t>
            </a:r>
          </a:p>
          <a:p>
            <a:pPr marL="0" indent="0">
              <a:buNone/>
            </a:pPr>
            <a:r>
              <a:rPr lang="en-GB" dirty="0"/>
              <a:t>5. Evaluation: inappropriate or inequitable evaluation and feedback systems, unrealistic expectations, environment focused on criticism and external evaluation</a:t>
            </a:r>
          </a:p>
          <a:p>
            <a:pPr marL="0" indent="0">
              <a:buNone/>
            </a:pPr>
            <a:r>
              <a:rPr lang="en-GB" dirty="0"/>
              <a:t>6. Insufficient resources</a:t>
            </a:r>
          </a:p>
          <a:p>
            <a:pPr marL="0" indent="0">
              <a:buNone/>
            </a:pPr>
            <a:r>
              <a:rPr lang="en-GB" dirty="0"/>
              <a:t>7. Time pressure</a:t>
            </a:r>
          </a:p>
          <a:p>
            <a:pPr marL="0" indent="0">
              <a:buNone/>
            </a:pPr>
            <a:r>
              <a:rPr lang="en-GB" dirty="0"/>
              <a:t>8. </a:t>
            </a:r>
            <a:r>
              <a:rPr lang="en-GB" dirty="0" smtClean="0"/>
              <a:t>Overemphasis </a:t>
            </a:r>
            <a:r>
              <a:rPr lang="en-GB" dirty="0"/>
              <a:t>on the status quo</a:t>
            </a:r>
          </a:p>
          <a:p>
            <a:pPr marL="0" indent="0">
              <a:buNone/>
            </a:pPr>
            <a:r>
              <a:rPr lang="en-GB" dirty="0"/>
              <a:t>9. Competition: interpersonal or intergroup activity within the organization, fostering a self-defensive </a:t>
            </a:r>
            <a:r>
              <a:rPr lang="en-GB" dirty="0" smtClean="0"/>
              <a:t>attitude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724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Organizational Innovation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Stage 1: Setting the agenda: Mission statement for the organization or division</a:t>
            </a:r>
          </a:p>
          <a:p>
            <a:pPr marL="0" indent="0">
              <a:buNone/>
            </a:pPr>
            <a:r>
              <a:rPr lang="en-GB" dirty="0"/>
              <a:t>Stage 2: Setting the stage: Certain broad goals stated, resources gathered to meet them; work context established; market research carried out</a:t>
            </a:r>
          </a:p>
          <a:p>
            <a:pPr marL="0" indent="0">
              <a:buNone/>
            </a:pPr>
            <a:r>
              <a:rPr lang="en-GB" dirty="0"/>
              <a:t>Stage 3: Producing the ideas: Individuals or project teams generate ideas or trial products</a:t>
            </a:r>
          </a:p>
          <a:p>
            <a:pPr marL="0" indent="0">
              <a:buNone/>
            </a:pPr>
            <a:r>
              <a:rPr lang="en-GB" dirty="0"/>
              <a:t>Stage 4: Testing and implementing the ideas: Development, market tests, Organization-wide consideration of ideas</a:t>
            </a:r>
          </a:p>
          <a:p>
            <a:pPr marL="0" indent="0">
              <a:buNone/>
            </a:pPr>
            <a:r>
              <a:rPr lang="en-GB" dirty="0"/>
              <a:t>Stage 5: Outcome assessment: Success/failure/progress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09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Process of Organizational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Innovation development: </a:t>
            </a:r>
            <a:r>
              <a:rPr lang="en-GB" dirty="0"/>
              <a:t>Organization evaluates, modifies, and improves on a creative idea</a:t>
            </a:r>
          </a:p>
          <a:p>
            <a:r>
              <a:rPr lang="en-GB" b="1" dirty="0"/>
              <a:t>Application:</a:t>
            </a:r>
            <a:r>
              <a:rPr lang="en-GB" dirty="0"/>
              <a:t> Organization uses developed idea in design, manufacturing, or delivery of new products, services or processes</a:t>
            </a:r>
          </a:p>
          <a:p>
            <a:r>
              <a:rPr lang="en-GB" b="1" dirty="0"/>
              <a:t>Launch:</a:t>
            </a:r>
            <a:r>
              <a:rPr lang="en-GB" dirty="0"/>
              <a:t> Organization introduces new products or services to the marketplace</a:t>
            </a:r>
          </a:p>
          <a:p>
            <a:r>
              <a:rPr lang="en-GB" b="1" dirty="0"/>
              <a:t>Growth: </a:t>
            </a:r>
            <a:r>
              <a:rPr lang="en-GB" dirty="0"/>
              <a:t>Demand for new products or services grows</a:t>
            </a:r>
          </a:p>
          <a:p>
            <a:r>
              <a:rPr lang="en-GB" b="1" dirty="0"/>
              <a:t>Maturity: </a:t>
            </a:r>
            <a:r>
              <a:rPr lang="en-GB" dirty="0"/>
              <a:t>Most competing organizations have access to the idea</a:t>
            </a:r>
          </a:p>
          <a:p>
            <a:r>
              <a:rPr lang="en-GB" b="1" dirty="0"/>
              <a:t>Decline: </a:t>
            </a:r>
            <a:r>
              <a:rPr lang="en-GB" dirty="0"/>
              <a:t>Demand for an innovation decreases, and substitute innovations are developed and </a:t>
            </a:r>
            <a:r>
              <a:rPr lang="en-GB" dirty="0" smtClean="0"/>
              <a:t>applied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607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Forms of Innovation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i="1" dirty="0"/>
              <a:t>Radical Versus Incremental </a:t>
            </a:r>
            <a:r>
              <a:rPr lang="en-IN" b="1" i="1" dirty="0" smtClean="0"/>
              <a:t>Innovations: </a:t>
            </a:r>
            <a:r>
              <a:rPr lang="en-GB" b="1" dirty="0"/>
              <a:t>Radical innovations </a:t>
            </a:r>
            <a:r>
              <a:rPr lang="en-GB" dirty="0"/>
              <a:t>are new products, services</a:t>
            </a:r>
            <a:r>
              <a:rPr lang="en-GB" dirty="0" smtClean="0"/>
              <a:t>, or </a:t>
            </a:r>
            <a:r>
              <a:rPr lang="en-GB" dirty="0"/>
              <a:t>technologies developed by an organization </a:t>
            </a:r>
            <a:r>
              <a:rPr lang="en-GB" dirty="0" smtClean="0"/>
              <a:t>that completely </a:t>
            </a:r>
            <a:r>
              <a:rPr lang="en-GB" dirty="0"/>
              <a:t>replace the existing products, </a:t>
            </a:r>
            <a:r>
              <a:rPr lang="en-GB" dirty="0" smtClean="0"/>
              <a:t>services, or </a:t>
            </a:r>
            <a:r>
              <a:rPr lang="en-GB" dirty="0"/>
              <a:t>technologies in an </a:t>
            </a:r>
            <a:r>
              <a:rPr lang="en-GB" dirty="0" smtClean="0"/>
              <a:t>industry. </a:t>
            </a:r>
          </a:p>
          <a:p>
            <a:r>
              <a:rPr lang="en-GB" b="1" dirty="0" smtClean="0"/>
              <a:t>Incremental</a:t>
            </a:r>
            <a:r>
              <a:rPr lang="en-GB" b="1" dirty="0"/>
              <a:t> </a:t>
            </a:r>
            <a:r>
              <a:rPr lang="en-GB" b="1" dirty="0" smtClean="0"/>
              <a:t>innovations </a:t>
            </a:r>
            <a:r>
              <a:rPr lang="en-GB" dirty="0"/>
              <a:t>are new products, services, or </a:t>
            </a:r>
            <a:r>
              <a:rPr lang="en-GB" dirty="0" smtClean="0"/>
              <a:t>processes that </a:t>
            </a:r>
            <a:r>
              <a:rPr lang="en-GB" dirty="0"/>
              <a:t>modify existing ones. </a:t>
            </a:r>
            <a:endParaRPr lang="en-GB" dirty="0" smtClean="0"/>
          </a:p>
          <a:p>
            <a:r>
              <a:rPr lang="en-GB" dirty="0" smtClean="0"/>
              <a:t>Firms that </a:t>
            </a:r>
            <a:r>
              <a:rPr lang="en-IN" dirty="0" smtClean="0"/>
              <a:t>implement </a:t>
            </a:r>
            <a:r>
              <a:rPr lang="en-IN" b="1" dirty="0"/>
              <a:t>radical innovations </a:t>
            </a:r>
            <a:r>
              <a:rPr lang="en-IN" dirty="0" smtClean="0"/>
              <a:t>fundamentally </a:t>
            </a:r>
            <a:r>
              <a:rPr lang="en-GB" dirty="0" smtClean="0"/>
              <a:t>shift </a:t>
            </a:r>
            <a:r>
              <a:rPr lang="en-GB" dirty="0"/>
              <a:t>the nature of competition and the </a:t>
            </a:r>
            <a:r>
              <a:rPr lang="en-GB" dirty="0" smtClean="0"/>
              <a:t>interaction of </a:t>
            </a:r>
            <a:r>
              <a:rPr lang="en-GB" dirty="0"/>
              <a:t>firms within their environments. </a:t>
            </a:r>
            <a:endParaRPr lang="en-GB" dirty="0" smtClean="0"/>
          </a:p>
          <a:p>
            <a:r>
              <a:rPr lang="en-GB" dirty="0" smtClean="0"/>
              <a:t>Firms</a:t>
            </a:r>
            <a:r>
              <a:rPr lang="en-GB" dirty="0"/>
              <a:t> </a:t>
            </a:r>
            <a:r>
              <a:rPr lang="en-IN" dirty="0" smtClean="0"/>
              <a:t>that </a:t>
            </a:r>
            <a:r>
              <a:rPr lang="en-IN" dirty="0"/>
              <a:t>implement </a:t>
            </a:r>
            <a:r>
              <a:rPr lang="en-IN" b="1" dirty="0"/>
              <a:t>incremental innovations</a:t>
            </a:r>
            <a:r>
              <a:rPr lang="en-IN" dirty="0"/>
              <a:t> </a:t>
            </a:r>
            <a:r>
              <a:rPr lang="en-IN" dirty="0" smtClean="0"/>
              <a:t>alter, </a:t>
            </a:r>
            <a:r>
              <a:rPr lang="en-GB" dirty="0" smtClean="0"/>
              <a:t>but </a:t>
            </a:r>
            <a:r>
              <a:rPr lang="en-GB" dirty="0"/>
              <a:t>do not fundamentally change, </a:t>
            </a:r>
            <a:r>
              <a:rPr lang="en-GB" dirty="0" smtClean="0"/>
              <a:t>competitive </a:t>
            </a:r>
            <a:r>
              <a:rPr lang="en-IN" dirty="0" smtClean="0"/>
              <a:t>interaction </a:t>
            </a:r>
            <a:r>
              <a:rPr lang="en-IN" dirty="0"/>
              <a:t>in an industry.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808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Technical Versus Managerial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Technical innovations </a:t>
            </a:r>
            <a:r>
              <a:rPr lang="en-GB" dirty="0"/>
              <a:t>are changes </a:t>
            </a:r>
            <a:r>
              <a:rPr lang="en-GB" dirty="0" smtClean="0"/>
              <a:t>in the </a:t>
            </a:r>
            <a:r>
              <a:rPr lang="en-GB" dirty="0"/>
              <a:t>physical appearance or performance of a product or service or of the physical </a:t>
            </a:r>
            <a:r>
              <a:rPr lang="en-GB" dirty="0" smtClean="0"/>
              <a:t>processes through </a:t>
            </a:r>
            <a:r>
              <a:rPr lang="en-GB" dirty="0"/>
              <a:t>which a product or service is manufactured</a:t>
            </a:r>
            <a:r>
              <a:rPr lang="en-GB" dirty="0" smtClean="0"/>
              <a:t>.</a:t>
            </a:r>
          </a:p>
          <a:p>
            <a:r>
              <a:rPr lang="en-IN" b="1" dirty="0"/>
              <a:t>Managerial innovations </a:t>
            </a:r>
            <a:r>
              <a:rPr lang="en-IN" dirty="0"/>
              <a:t>are </a:t>
            </a:r>
            <a:r>
              <a:rPr lang="en-IN" dirty="0" smtClean="0"/>
              <a:t>changes </a:t>
            </a:r>
            <a:r>
              <a:rPr lang="en-GB" dirty="0" smtClean="0"/>
              <a:t>in </a:t>
            </a:r>
            <a:r>
              <a:rPr lang="en-GB" dirty="0"/>
              <a:t>the management process by which products and services are conceived, built, </a:t>
            </a:r>
            <a:r>
              <a:rPr lang="en-GB" dirty="0" smtClean="0"/>
              <a:t>and </a:t>
            </a:r>
            <a:r>
              <a:rPr lang="en-IN" dirty="0" smtClean="0"/>
              <a:t>delivered </a:t>
            </a:r>
            <a:r>
              <a:rPr lang="en-IN" dirty="0"/>
              <a:t>to </a:t>
            </a:r>
            <a:r>
              <a:rPr lang="en-IN" dirty="0" smtClean="0"/>
              <a:t>customers. Example: </a:t>
            </a:r>
            <a:r>
              <a:rPr lang="en-IN" dirty="0" err="1" smtClean="0"/>
              <a:t>reingeneering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273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1" dirty="0"/>
              <a:t>Product Versus Process Innovations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Product </a:t>
            </a:r>
            <a:r>
              <a:rPr lang="en-IN" b="1" dirty="0" smtClean="0"/>
              <a:t>innovations </a:t>
            </a:r>
            <a:r>
              <a:rPr lang="en-GB" dirty="0" smtClean="0"/>
              <a:t>are </a:t>
            </a:r>
            <a:r>
              <a:rPr lang="en-GB" dirty="0"/>
              <a:t>changes in the physical characteristics or performance of existing products </a:t>
            </a:r>
            <a:r>
              <a:rPr lang="en-GB" dirty="0" smtClean="0"/>
              <a:t>or services </a:t>
            </a:r>
            <a:r>
              <a:rPr lang="en-GB" dirty="0"/>
              <a:t>or the creation of brand-new products or </a:t>
            </a:r>
            <a:r>
              <a:rPr lang="en-GB" dirty="0" smtClean="0"/>
              <a:t>services</a:t>
            </a:r>
          </a:p>
          <a:p>
            <a:r>
              <a:rPr lang="en-IN" b="1" dirty="0"/>
              <a:t>Process innovations </a:t>
            </a:r>
            <a:r>
              <a:rPr lang="en-IN" dirty="0" smtClean="0"/>
              <a:t>are </a:t>
            </a:r>
            <a:r>
              <a:rPr lang="en-GB" dirty="0" smtClean="0"/>
              <a:t>changes </a:t>
            </a:r>
            <a:r>
              <a:rPr lang="en-GB" dirty="0"/>
              <a:t>in the way products or services are manufactured, created, or distributed.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502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Product Life cycle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1"/>
            <a:ext cx="7467599" cy="4439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5755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Why do organizations fail to innovate?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Lack of resources</a:t>
            </a:r>
          </a:p>
          <a:p>
            <a:r>
              <a:rPr lang="en-GB" dirty="0" smtClean="0"/>
              <a:t>Failure to recognize opportunities</a:t>
            </a:r>
          </a:p>
          <a:p>
            <a:r>
              <a:rPr lang="en-GB" dirty="0" smtClean="0"/>
              <a:t>Resistance to change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966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How to promote innovation in organizations?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Reward system</a:t>
            </a:r>
          </a:p>
          <a:p>
            <a:r>
              <a:rPr lang="en-GB" dirty="0" smtClean="0"/>
              <a:t>Strong organizational culture</a:t>
            </a:r>
          </a:p>
          <a:p>
            <a:r>
              <a:rPr lang="en-GB" dirty="0" smtClean="0"/>
              <a:t>Furthering </a:t>
            </a:r>
            <a:r>
              <a:rPr lang="en-GB" dirty="0" err="1" smtClean="0"/>
              <a:t>intrapreneurship</a:t>
            </a:r>
            <a:r>
              <a:rPr lang="en-GB" dirty="0" smtClean="0"/>
              <a:t>: </a:t>
            </a:r>
            <a:r>
              <a:rPr lang="en-GB" b="1" dirty="0" smtClean="0"/>
              <a:t>Inventors</a:t>
            </a:r>
            <a:r>
              <a:rPr lang="en-GB" dirty="0" smtClean="0"/>
              <a:t> (</a:t>
            </a:r>
            <a:r>
              <a:rPr lang="en-GB" dirty="0"/>
              <a:t>person who actually conceives of and develops the new idea</a:t>
            </a:r>
            <a:r>
              <a:rPr lang="en-GB" dirty="0" smtClean="0"/>
              <a:t>, product</a:t>
            </a:r>
            <a:r>
              <a:rPr lang="en-GB" dirty="0"/>
              <a:t>, or service by means of the creative </a:t>
            </a:r>
            <a:r>
              <a:rPr lang="en-GB" dirty="0" smtClean="0"/>
              <a:t>process), </a:t>
            </a:r>
            <a:r>
              <a:rPr lang="en-GB" b="1" dirty="0" smtClean="0"/>
              <a:t>Product champion</a:t>
            </a:r>
            <a:r>
              <a:rPr lang="en-GB" dirty="0" smtClean="0"/>
              <a:t> (</a:t>
            </a:r>
            <a:r>
              <a:rPr lang="en-GB" dirty="0"/>
              <a:t>a middle manager who learns about the project and becomes </a:t>
            </a:r>
            <a:r>
              <a:rPr lang="en-GB" dirty="0" smtClean="0"/>
              <a:t>committed to </a:t>
            </a:r>
            <a:r>
              <a:rPr lang="en-GB" dirty="0"/>
              <a:t>it. He helps overcome organizational resistance and convinces others to </a:t>
            </a:r>
            <a:r>
              <a:rPr lang="en-GB" dirty="0" smtClean="0"/>
              <a:t>take </a:t>
            </a:r>
            <a:r>
              <a:rPr lang="en-IN" dirty="0" smtClean="0"/>
              <a:t>the </a:t>
            </a:r>
            <a:r>
              <a:rPr lang="en-IN" dirty="0"/>
              <a:t>innovation </a:t>
            </a:r>
            <a:r>
              <a:rPr lang="en-IN" dirty="0" smtClean="0"/>
              <a:t>seriously), </a:t>
            </a:r>
            <a:r>
              <a:rPr lang="en-IN" b="1" dirty="0" smtClean="0"/>
              <a:t>Sponsor</a:t>
            </a:r>
            <a:r>
              <a:rPr lang="en-IN" dirty="0" smtClean="0"/>
              <a:t> (</a:t>
            </a:r>
            <a:r>
              <a:rPr lang="en-GB" dirty="0"/>
              <a:t>a top-level manager who approves of and supports a project. </a:t>
            </a:r>
            <a:r>
              <a:rPr lang="en-GB" dirty="0" smtClean="0"/>
              <a:t>This person </a:t>
            </a:r>
            <a:r>
              <a:rPr lang="en-GB" dirty="0"/>
              <a:t>may fight for the budget needed to develop an idea, overcome </a:t>
            </a:r>
            <a:r>
              <a:rPr lang="en-GB" dirty="0" smtClean="0"/>
              <a:t>arguments against </a:t>
            </a:r>
            <a:r>
              <a:rPr lang="en-GB" dirty="0"/>
              <a:t>a project, and use organizational politics to ensure the project’s </a:t>
            </a:r>
            <a:r>
              <a:rPr lang="en-GB" dirty="0" smtClean="0"/>
              <a:t>survival)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100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THE NATURE OF ENTREPRENEURSHIP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0"/>
            <a:ext cx="8229600" cy="3078163"/>
          </a:xfrm>
        </p:spPr>
        <p:txBody>
          <a:bodyPr/>
          <a:lstStyle/>
          <a:p>
            <a:r>
              <a:rPr lang="en-GB" dirty="0"/>
              <a:t>Entrepreneurship is the process of planning, organizing, operating, and assuming </a:t>
            </a:r>
            <a:r>
              <a:rPr lang="en-GB" dirty="0" smtClean="0"/>
              <a:t>the risks </a:t>
            </a:r>
            <a:r>
              <a:rPr lang="en-GB" dirty="0"/>
              <a:t>of a business venture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885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Understanding entrepreneurial orientation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Innovativeness: </a:t>
            </a:r>
            <a:r>
              <a:rPr lang="en-IN" dirty="0" smtClean="0"/>
              <a:t>The </a:t>
            </a:r>
            <a:r>
              <a:rPr lang="en-IN" dirty="0"/>
              <a:t>tendency to </a:t>
            </a:r>
            <a:r>
              <a:rPr lang="en-IN" dirty="0" smtClean="0"/>
              <a:t>pursue novel </a:t>
            </a:r>
            <a:r>
              <a:rPr lang="en-IN" dirty="0"/>
              <a:t>ideas, </a:t>
            </a:r>
            <a:r>
              <a:rPr lang="en-IN" dirty="0" smtClean="0"/>
              <a:t>creative processes</a:t>
            </a:r>
            <a:r>
              <a:rPr lang="en-IN" dirty="0"/>
              <a:t>, </a:t>
            </a:r>
            <a:r>
              <a:rPr lang="en-IN" dirty="0" smtClean="0"/>
              <a:t>and experimentation.</a:t>
            </a:r>
          </a:p>
          <a:p>
            <a:r>
              <a:rPr lang="en-IN" b="1" dirty="0" err="1" smtClean="0"/>
              <a:t>Proactiveness</a:t>
            </a:r>
            <a:r>
              <a:rPr lang="en-IN" b="1" dirty="0" smtClean="0"/>
              <a:t>: </a:t>
            </a:r>
            <a:r>
              <a:rPr lang="en-IN" dirty="0" smtClean="0"/>
              <a:t>The </a:t>
            </a:r>
            <a:r>
              <a:rPr lang="en-IN" dirty="0"/>
              <a:t>tendency to </a:t>
            </a:r>
            <a:r>
              <a:rPr lang="en-IN" dirty="0" smtClean="0"/>
              <a:t>anticipate and </a:t>
            </a:r>
            <a:r>
              <a:rPr lang="en-IN" dirty="0"/>
              <a:t>act on </a:t>
            </a:r>
            <a:r>
              <a:rPr lang="en-IN" dirty="0" smtClean="0"/>
              <a:t>future opportunities </a:t>
            </a:r>
            <a:r>
              <a:rPr lang="en-IN" dirty="0"/>
              <a:t>rather </a:t>
            </a:r>
            <a:r>
              <a:rPr lang="en-IN" dirty="0" smtClean="0"/>
              <a:t>than rely </a:t>
            </a:r>
            <a:r>
              <a:rPr lang="en-IN" dirty="0"/>
              <a:t>solely on </a:t>
            </a:r>
            <a:r>
              <a:rPr lang="en-IN" dirty="0" smtClean="0"/>
              <a:t>existing products </a:t>
            </a:r>
            <a:r>
              <a:rPr lang="en-IN" dirty="0"/>
              <a:t>and services</a:t>
            </a:r>
            <a:r>
              <a:rPr lang="en-IN" dirty="0" smtClean="0"/>
              <a:t>.</a:t>
            </a:r>
          </a:p>
          <a:p>
            <a:r>
              <a:rPr lang="en-IN" b="1" dirty="0"/>
              <a:t>Risk </a:t>
            </a:r>
            <a:r>
              <a:rPr lang="en-IN" b="1" dirty="0" smtClean="0"/>
              <a:t>Taking: </a:t>
            </a:r>
            <a:r>
              <a:rPr lang="en-GB" dirty="0" smtClean="0"/>
              <a:t>The </a:t>
            </a:r>
            <a:r>
              <a:rPr lang="en-GB" dirty="0"/>
              <a:t>tendency to take </a:t>
            </a:r>
            <a:r>
              <a:rPr lang="en-GB" dirty="0" smtClean="0"/>
              <a:t>bold </a:t>
            </a:r>
            <a:r>
              <a:rPr lang="en-IN" dirty="0" smtClean="0"/>
              <a:t>actions </a:t>
            </a:r>
            <a:r>
              <a:rPr lang="en-IN" dirty="0"/>
              <a:t>rather than </a:t>
            </a:r>
            <a:r>
              <a:rPr lang="en-IN" dirty="0" smtClean="0"/>
              <a:t>being cautious</a:t>
            </a:r>
            <a:r>
              <a:rPr lang="en-IN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939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ROLE OF ENTREPRENEURSHIP IN SOCIETY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Job creation</a:t>
            </a:r>
          </a:p>
          <a:p>
            <a:r>
              <a:rPr lang="en-GB" dirty="0" smtClean="0"/>
              <a:t>Innovation</a:t>
            </a:r>
          </a:p>
          <a:p>
            <a:r>
              <a:rPr lang="en-GB" dirty="0" smtClean="0"/>
              <a:t>Importance to new business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356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STRATEGY FOR ENTREPRENEURIAL</a:t>
            </a:r>
            <a:br>
              <a:rPr lang="en-IN" dirty="0"/>
            </a:br>
            <a:r>
              <a:rPr lang="en-IN" dirty="0"/>
              <a:t>ORGANIZATIONS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Choosing an </a:t>
            </a:r>
            <a:r>
              <a:rPr lang="en-IN" b="1" dirty="0" smtClean="0"/>
              <a:t>Industry: Finance, Services, Manufacturing, Retailing</a:t>
            </a:r>
          </a:p>
          <a:p>
            <a:r>
              <a:rPr lang="en-IN" b="1" dirty="0"/>
              <a:t>Emphasizing Distinctive </a:t>
            </a:r>
            <a:r>
              <a:rPr lang="en-IN" b="1" dirty="0" smtClean="0"/>
              <a:t>Competencies: </a:t>
            </a:r>
            <a:r>
              <a:rPr lang="en-GB" b="1" i="1" dirty="0"/>
              <a:t>Identifying Niches in Established </a:t>
            </a:r>
            <a:r>
              <a:rPr lang="en-GB" b="1" i="1" dirty="0" smtClean="0"/>
              <a:t>Markets: </a:t>
            </a:r>
            <a:r>
              <a:rPr lang="en-GB" dirty="0"/>
              <a:t>An </a:t>
            </a:r>
            <a:r>
              <a:rPr lang="en-GB" b="1" dirty="0"/>
              <a:t>established market </a:t>
            </a:r>
            <a:r>
              <a:rPr lang="en-GB" dirty="0"/>
              <a:t>is one </a:t>
            </a:r>
            <a:r>
              <a:rPr lang="en-GB" dirty="0" smtClean="0"/>
              <a:t>in which </a:t>
            </a:r>
            <a:r>
              <a:rPr lang="en-GB" dirty="0"/>
              <a:t>several large firms compete according to relatively well-defined </a:t>
            </a:r>
            <a:r>
              <a:rPr lang="en-GB" dirty="0" smtClean="0"/>
              <a:t>criteria. </a:t>
            </a:r>
            <a:r>
              <a:rPr lang="en-GB" dirty="0"/>
              <a:t>A </a:t>
            </a:r>
            <a:r>
              <a:rPr lang="en-GB" b="1" dirty="0"/>
              <a:t>niche </a:t>
            </a:r>
            <a:r>
              <a:rPr lang="en-GB" dirty="0"/>
              <a:t>is simply a segment of a market that is not currently being </a:t>
            </a:r>
            <a:r>
              <a:rPr lang="en-GB" dirty="0" smtClean="0"/>
              <a:t>exploited. </a:t>
            </a:r>
            <a:r>
              <a:rPr lang="en-IN" b="1" i="1" dirty="0"/>
              <a:t>Identifying New </a:t>
            </a:r>
            <a:r>
              <a:rPr lang="en-IN" b="1" i="1" dirty="0" smtClean="0"/>
              <a:t>Markets. </a:t>
            </a:r>
            <a:r>
              <a:rPr lang="en-GB" b="1" i="1" dirty="0"/>
              <a:t>First-Mover Advantages </a:t>
            </a:r>
            <a:r>
              <a:rPr lang="en-GB" dirty="0"/>
              <a:t>A </a:t>
            </a:r>
            <a:r>
              <a:rPr lang="en-GB" b="1" dirty="0"/>
              <a:t>first-mover advantage </a:t>
            </a:r>
            <a:r>
              <a:rPr lang="en-GB" dirty="0"/>
              <a:t>is any advantage that comes to </a:t>
            </a:r>
            <a:r>
              <a:rPr lang="en-GB" dirty="0" smtClean="0"/>
              <a:t>a firm </a:t>
            </a:r>
            <a:r>
              <a:rPr lang="en-GB" dirty="0"/>
              <a:t>because it exploits an opportunity before any other firm </a:t>
            </a:r>
            <a:r>
              <a:rPr lang="en-GB" dirty="0" smtClean="0"/>
              <a:t>does</a:t>
            </a:r>
          </a:p>
          <a:p>
            <a:r>
              <a:rPr lang="en-IN" b="1" dirty="0"/>
              <a:t>Writing a Business </a:t>
            </a:r>
            <a:r>
              <a:rPr lang="en-IN" b="1" dirty="0" smtClean="0"/>
              <a:t>Plan: </a:t>
            </a:r>
            <a:r>
              <a:rPr lang="en-GB" dirty="0"/>
              <a:t>In a </a:t>
            </a:r>
            <a:r>
              <a:rPr lang="en-GB" b="1" dirty="0"/>
              <a:t>business plan</a:t>
            </a:r>
            <a:r>
              <a:rPr lang="en-GB" dirty="0"/>
              <a:t>, the entrepreneur summarizes </a:t>
            </a:r>
            <a:r>
              <a:rPr lang="en-GB" dirty="0" smtClean="0"/>
              <a:t>the business </a:t>
            </a:r>
            <a:r>
              <a:rPr lang="en-GB" dirty="0"/>
              <a:t>strategy and how that strategy is to be implemented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085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GB" dirty="0"/>
              <a:t>Are You Ready to Be an Entrepreneur?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900" dirty="0"/>
              <a:t>1. What is new and novel about your idea? Are you solving a problem or unmet need?</a:t>
            </a:r>
          </a:p>
          <a:p>
            <a:pPr marL="0" indent="0">
              <a:buNone/>
            </a:pPr>
            <a:r>
              <a:rPr lang="en-GB" sz="1900" dirty="0"/>
              <a:t>2. Are there similar products/services out there? If so, what makes yours better?</a:t>
            </a:r>
          </a:p>
          <a:p>
            <a:pPr marL="0" indent="0">
              <a:buNone/>
            </a:pPr>
            <a:r>
              <a:rPr lang="en-GB" sz="1900" dirty="0"/>
              <a:t>3. Who is your target market? How many people would use your product or service?</a:t>
            </a:r>
          </a:p>
          <a:p>
            <a:pPr marL="0" indent="0">
              <a:buNone/>
            </a:pPr>
            <a:r>
              <a:rPr lang="en-GB" sz="1900" dirty="0"/>
              <a:t>4. Have you talked with potential customers to get their feedback? Would they buy your </a:t>
            </a:r>
            <a:r>
              <a:rPr lang="en-GB" sz="1900" dirty="0" smtClean="0"/>
              <a:t>product/</a:t>
            </a:r>
            <a:r>
              <a:rPr lang="en-IN" sz="1900" dirty="0" smtClean="0"/>
              <a:t>service</a:t>
            </a:r>
            <a:r>
              <a:rPr lang="en-IN" sz="1900" dirty="0"/>
              <a:t>?</a:t>
            </a:r>
          </a:p>
          <a:p>
            <a:pPr marL="0" indent="0">
              <a:buNone/>
            </a:pPr>
            <a:r>
              <a:rPr lang="en-GB" sz="1900" dirty="0"/>
              <a:t>5. What about production costs? How much do you think the market will pay?</a:t>
            </a:r>
          </a:p>
          <a:p>
            <a:pPr marL="0" indent="0">
              <a:buNone/>
            </a:pPr>
            <a:r>
              <a:rPr lang="en-GB" sz="1900" dirty="0"/>
              <a:t>6. How defensible is the concept? Is there good intellectual property?</a:t>
            </a:r>
          </a:p>
          <a:p>
            <a:pPr marL="0" indent="0">
              <a:buNone/>
            </a:pPr>
            <a:r>
              <a:rPr lang="en-GB" sz="1900" dirty="0"/>
              <a:t>7. Is this innovation strategic to my business?</a:t>
            </a:r>
          </a:p>
          <a:p>
            <a:pPr marL="0" indent="0">
              <a:buNone/>
            </a:pPr>
            <a:r>
              <a:rPr lang="en-GB" sz="1900" dirty="0"/>
              <a:t>8. Is the innovation easy to communicate?</a:t>
            </a:r>
          </a:p>
          <a:p>
            <a:pPr marL="0" indent="0">
              <a:buNone/>
            </a:pPr>
            <a:r>
              <a:rPr lang="en-GB" sz="1900" dirty="0"/>
              <a:t>9. How might this product evolve over time? Would it be possible to expand it into a product line? Can </a:t>
            </a:r>
            <a:r>
              <a:rPr lang="en-GB" sz="1900" dirty="0" smtClean="0"/>
              <a:t>it be </a:t>
            </a:r>
            <a:r>
              <a:rPr lang="en-GB" sz="1900" dirty="0"/>
              <a:t>updated/enhanced in future versions?</a:t>
            </a:r>
          </a:p>
          <a:p>
            <a:pPr marL="0" indent="0">
              <a:buNone/>
            </a:pPr>
            <a:r>
              <a:rPr lang="en-GB" sz="1900" dirty="0"/>
              <a:t>10. Where would someone buy this product/service?</a:t>
            </a:r>
          </a:p>
          <a:p>
            <a:pPr marL="0" indent="0">
              <a:buNone/>
            </a:pPr>
            <a:r>
              <a:rPr lang="en-GB" sz="1900" dirty="0"/>
              <a:t>11. How will the product/service be marketed? What are the costs to sell and market it?</a:t>
            </a:r>
          </a:p>
          <a:p>
            <a:pPr marL="0" indent="0">
              <a:buNone/>
            </a:pPr>
            <a:r>
              <a:rPr lang="en-GB" sz="1900" dirty="0"/>
              <a:t>12. What are the challenges involved in developing this product/service?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256174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Entrepreneurial Personality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600" i="1" dirty="0"/>
              <a:t>Ambitious: </a:t>
            </a:r>
            <a:r>
              <a:rPr lang="en-GB" sz="1600" dirty="0"/>
              <a:t>They are competitive and have a high need for achievement.</a:t>
            </a:r>
          </a:p>
          <a:p>
            <a:r>
              <a:rPr lang="en-GB" sz="1600" i="1" dirty="0" smtClean="0"/>
              <a:t>Independent</a:t>
            </a:r>
            <a:r>
              <a:rPr lang="en-GB" sz="1600" i="1" dirty="0"/>
              <a:t>: </a:t>
            </a:r>
            <a:r>
              <a:rPr lang="en-GB" sz="1600" dirty="0"/>
              <a:t>They are individualists and self-starters who prefer to lead rather than follow.</a:t>
            </a:r>
          </a:p>
          <a:p>
            <a:r>
              <a:rPr lang="en-GB" sz="1600" i="1" dirty="0" smtClean="0"/>
              <a:t>Self-confident</a:t>
            </a:r>
            <a:r>
              <a:rPr lang="en-GB" sz="1600" i="1" dirty="0"/>
              <a:t>: </a:t>
            </a:r>
            <a:r>
              <a:rPr lang="en-GB" sz="1600" dirty="0"/>
              <a:t>They understand the challenges of starting and operating a business and are decisive </a:t>
            </a:r>
            <a:r>
              <a:rPr lang="en-GB" sz="1600" dirty="0" smtClean="0"/>
              <a:t>and confident </a:t>
            </a:r>
            <a:r>
              <a:rPr lang="en-GB" sz="1600" dirty="0"/>
              <a:t>in their ability to solve problems.</a:t>
            </a:r>
          </a:p>
          <a:p>
            <a:r>
              <a:rPr lang="en-GB" sz="1600" i="1" dirty="0" smtClean="0"/>
              <a:t>Risk-takers</a:t>
            </a:r>
            <a:r>
              <a:rPr lang="en-GB" sz="1600" i="1" dirty="0"/>
              <a:t>: </a:t>
            </a:r>
            <a:r>
              <a:rPr lang="en-GB" sz="1600" dirty="0"/>
              <a:t>Although they are not averse to risk, most successful entrepreneurs </a:t>
            </a:r>
            <a:r>
              <a:rPr lang="en-GB" sz="1600" dirty="0" err="1"/>
              <a:t>favor</a:t>
            </a:r>
            <a:r>
              <a:rPr lang="en-GB" sz="1600" dirty="0"/>
              <a:t> </a:t>
            </a:r>
            <a:r>
              <a:rPr lang="en-GB" sz="1600" dirty="0" smtClean="0"/>
              <a:t>business opportunities </a:t>
            </a:r>
            <a:r>
              <a:rPr lang="en-GB" sz="1600" dirty="0"/>
              <a:t>that carry a moderate degree of risk where they can better control the outcome over </a:t>
            </a:r>
            <a:r>
              <a:rPr lang="en-GB" sz="1600" dirty="0" smtClean="0"/>
              <a:t>highly risky </a:t>
            </a:r>
            <a:r>
              <a:rPr lang="en-GB" sz="1600" dirty="0"/>
              <a:t>ventures where luck plays a large role.</a:t>
            </a:r>
          </a:p>
          <a:p>
            <a:r>
              <a:rPr lang="en-GB" sz="1600" i="1" dirty="0" smtClean="0"/>
              <a:t>Visionary</a:t>
            </a:r>
            <a:r>
              <a:rPr lang="en-GB" sz="1600" i="1" dirty="0"/>
              <a:t>: </a:t>
            </a:r>
            <a:r>
              <a:rPr lang="en-GB" sz="1600" dirty="0"/>
              <a:t>Their ability to spot trends and act on them sets entrepreneurs apart from </a:t>
            </a:r>
            <a:r>
              <a:rPr lang="en-GB" sz="1600" dirty="0" smtClean="0"/>
              <a:t>small-business </a:t>
            </a:r>
            <a:r>
              <a:rPr lang="en-IN" sz="1600" dirty="0" smtClean="0"/>
              <a:t>owners </a:t>
            </a:r>
            <a:r>
              <a:rPr lang="en-IN" sz="1600" dirty="0"/>
              <a:t>and managers.</a:t>
            </a:r>
          </a:p>
          <a:p>
            <a:r>
              <a:rPr lang="en-GB" sz="1600" i="1" dirty="0" smtClean="0"/>
              <a:t>Creative</a:t>
            </a:r>
            <a:r>
              <a:rPr lang="en-GB" sz="1600" i="1" dirty="0"/>
              <a:t>: </a:t>
            </a:r>
            <a:r>
              <a:rPr lang="en-GB" sz="1600" dirty="0"/>
              <a:t>To compete with larger firms, entrepreneurs need to have creative product designs, </a:t>
            </a:r>
            <a:r>
              <a:rPr lang="en-GB" sz="1600" dirty="0" smtClean="0"/>
              <a:t>bold marketing </a:t>
            </a:r>
            <a:r>
              <a:rPr lang="en-GB" sz="1600" dirty="0"/>
              <a:t>strategies, and innovative solutions to managerial problems.</a:t>
            </a:r>
          </a:p>
          <a:p>
            <a:r>
              <a:rPr lang="en-GB" sz="1600" i="1" dirty="0" smtClean="0"/>
              <a:t>Energetic</a:t>
            </a:r>
            <a:r>
              <a:rPr lang="en-GB" sz="1600" i="1" dirty="0"/>
              <a:t>: </a:t>
            </a:r>
            <a:r>
              <a:rPr lang="en-GB" sz="1600" dirty="0"/>
              <a:t>Starting and operating a business takes long hours. Even so, some entrepreneurs start </a:t>
            </a:r>
            <a:r>
              <a:rPr lang="en-GB" sz="1600" dirty="0" smtClean="0"/>
              <a:t>their companies </a:t>
            </a:r>
            <a:r>
              <a:rPr lang="en-GB" sz="1600" dirty="0"/>
              <a:t>while still employed full-time elsewhere.</a:t>
            </a:r>
          </a:p>
          <a:p>
            <a:r>
              <a:rPr lang="en-GB" sz="1600" i="1" dirty="0" smtClean="0"/>
              <a:t>Passionate</a:t>
            </a:r>
            <a:r>
              <a:rPr lang="en-GB" sz="1600" i="1" dirty="0"/>
              <a:t>. </a:t>
            </a:r>
            <a:r>
              <a:rPr lang="en-GB" sz="1600" dirty="0"/>
              <a:t>Entrepreneurs love their work, as Miho </a:t>
            </a:r>
            <a:r>
              <a:rPr lang="en-GB" sz="1600" dirty="0" err="1"/>
              <a:t>Inagi</a:t>
            </a:r>
            <a:r>
              <a:rPr lang="en-GB" sz="1600" dirty="0"/>
              <a:t> demonstrated by opening a bagel shop in </a:t>
            </a:r>
            <a:r>
              <a:rPr lang="en-GB" sz="1600" dirty="0" smtClean="0"/>
              <a:t>Tokyo despite </a:t>
            </a:r>
            <a:r>
              <a:rPr lang="en-GB" sz="1600" dirty="0"/>
              <a:t>the odds against it being a success.</a:t>
            </a:r>
          </a:p>
          <a:p>
            <a:r>
              <a:rPr lang="en-GB" sz="1600" i="1" dirty="0" smtClean="0"/>
              <a:t>Committed</a:t>
            </a:r>
            <a:r>
              <a:rPr lang="en-GB" sz="1600" dirty="0"/>
              <a:t>. Because they are so committed to their companies, entrepreneurs are willing to </a:t>
            </a:r>
            <a:r>
              <a:rPr lang="en-GB" sz="1600" dirty="0" smtClean="0"/>
              <a:t>make </a:t>
            </a:r>
            <a:r>
              <a:rPr lang="en-GB" sz="1600" dirty="0"/>
              <a:t>personal sacrifices to achieve their goals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21913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small businesses thrive?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i="1" dirty="0" smtClean="0"/>
              <a:t>Independence </a:t>
            </a:r>
            <a:r>
              <a:rPr lang="en-GB" i="1" dirty="0"/>
              <a:t>and a better lifestyle: </a:t>
            </a:r>
            <a:r>
              <a:rPr lang="en-GB" dirty="0"/>
              <a:t>Large corporations no longer represent job security or offer the </a:t>
            </a:r>
            <a:r>
              <a:rPr lang="en-GB" dirty="0" err="1" smtClean="0"/>
              <a:t>fasttrack</a:t>
            </a:r>
            <a:r>
              <a:rPr lang="en-GB" dirty="0"/>
              <a:t> </a:t>
            </a:r>
            <a:r>
              <a:rPr lang="en-GB" dirty="0" smtClean="0"/>
              <a:t>career </a:t>
            </a:r>
            <a:r>
              <a:rPr lang="en-GB" dirty="0"/>
              <a:t>opportunities they once did. Mid-career employees leave the corporate </a:t>
            </a:r>
            <a:r>
              <a:rPr lang="en-GB" dirty="0" smtClean="0"/>
              <a:t>world—either voluntarily </a:t>
            </a:r>
            <a:r>
              <a:rPr lang="en-GB" dirty="0"/>
              <a:t>or as a result of downsizing—in search of the new opportunities that </a:t>
            </a:r>
            <a:r>
              <a:rPr lang="en-GB" dirty="0" smtClean="0"/>
              <a:t>self-employment provides</a:t>
            </a:r>
            <a:r>
              <a:rPr lang="en-GB" dirty="0"/>
              <a:t>. Many new college and business school graduates shun the corporate world altogether to </a:t>
            </a:r>
            <a:r>
              <a:rPr lang="en-GB" dirty="0" smtClean="0"/>
              <a:t>start their </a:t>
            </a:r>
            <a:r>
              <a:rPr lang="en-GB" dirty="0"/>
              <a:t>own companies or look for work in smaller firms.</a:t>
            </a:r>
          </a:p>
          <a:p>
            <a:r>
              <a:rPr lang="en-GB" i="1" dirty="0" smtClean="0"/>
              <a:t>Personal </a:t>
            </a:r>
            <a:r>
              <a:rPr lang="en-GB" i="1" dirty="0"/>
              <a:t>satisfaction from work: </a:t>
            </a:r>
            <a:r>
              <a:rPr lang="en-GB" dirty="0"/>
              <a:t>Many small-business owners cite this as one of the primary reasons </a:t>
            </a:r>
            <a:r>
              <a:rPr lang="en-GB" dirty="0" smtClean="0"/>
              <a:t>for starting </a:t>
            </a:r>
            <a:r>
              <a:rPr lang="en-GB" dirty="0"/>
              <a:t>their companies. They love what they do.</a:t>
            </a:r>
          </a:p>
          <a:p>
            <a:r>
              <a:rPr lang="en-GB" i="1" dirty="0" smtClean="0"/>
              <a:t>Best </a:t>
            </a:r>
            <a:r>
              <a:rPr lang="en-GB" i="1" dirty="0"/>
              <a:t>route to success: </a:t>
            </a:r>
            <a:r>
              <a:rPr lang="en-GB" dirty="0"/>
              <a:t>Business ownership provides greater advancement opportunities for women </a:t>
            </a:r>
            <a:r>
              <a:rPr lang="en-GB" dirty="0" smtClean="0"/>
              <a:t>and minorities</a:t>
            </a:r>
            <a:r>
              <a:rPr lang="en-GB" dirty="0"/>
              <a:t>, as we will discuss later in this chapter. It also offers small-business owners the potential </a:t>
            </a:r>
            <a:r>
              <a:rPr lang="en-GB" dirty="0" smtClean="0"/>
              <a:t>for </a:t>
            </a:r>
            <a:r>
              <a:rPr lang="en-IN" dirty="0" smtClean="0"/>
              <a:t>profit</a:t>
            </a:r>
            <a:r>
              <a:rPr lang="en-IN" dirty="0"/>
              <a:t>.</a:t>
            </a:r>
          </a:p>
          <a:p>
            <a:r>
              <a:rPr lang="en-GB" i="1" dirty="0" smtClean="0"/>
              <a:t>Rapidly </a:t>
            </a:r>
            <a:r>
              <a:rPr lang="en-GB" i="1" dirty="0"/>
              <a:t>changing technology: </a:t>
            </a:r>
            <a:r>
              <a:rPr lang="en-GB" dirty="0"/>
              <a:t>Technology advances and decreased costs provide individuals and </a:t>
            </a:r>
            <a:r>
              <a:rPr lang="en-GB" dirty="0" smtClean="0"/>
              <a:t>small companies </a:t>
            </a:r>
            <a:r>
              <a:rPr lang="en-GB" dirty="0"/>
              <a:t>with the power to compete in industries that were formerly closed to them.</a:t>
            </a:r>
          </a:p>
          <a:p>
            <a:r>
              <a:rPr lang="en-GB" i="1" dirty="0" smtClean="0"/>
              <a:t>Major </a:t>
            </a:r>
            <a:r>
              <a:rPr lang="en-GB" i="1" dirty="0"/>
              <a:t>corporate restructuring and downsizing: </a:t>
            </a:r>
            <a:r>
              <a:rPr lang="en-GB" dirty="0"/>
              <a:t>These force many employees to look for other jobs </a:t>
            </a:r>
            <a:r>
              <a:rPr lang="en-GB" dirty="0" smtClean="0"/>
              <a:t>or careers</a:t>
            </a:r>
            <a:r>
              <a:rPr lang="en-GB" dirty="0"/>
              <a:t>. They may also provide the opportunity to buy a business unit that a company no longer wants.</a:t>
            </a:r>
          </a:p>
          <a:p>
            <a:r>
              <a:rPr lang="en-GB" i="1" dirty="0" smtClean="0"/>
              <a:t>Outsourcing</a:t>
            </a:r>
            <a:r>
              <a:rPr lang="en-GB" i="1" dirty="0"/>
              <a:t>: </a:t>
            </a:r>
            <a:r>
              <a:rPr lang="en-GB" dirty="0"/>
              <a:t>As a result of downsizing, corporations may contract with outside firms for services </a:t>
            </a:r>
            <a:r>
              <a:rPr lang="en-GB" dirty="0" smtClean="0"/>
              <a:t>they used </a:t>
            </a:r>
            <a:r>
              <a:rPr lang="en-GB" dirty="0"/>
              <a:t>to provide in-house. Outsourcing creates opportunities for smaller companies that offer </a:t>
            </a:r>
            <a:r>
              <a:rPr lang="en-GB" dirty="0" smtClean="0"/>
              <a:t>these </a:t>
            </a:r>
            <a:r>
              <a:rPr lang="en-IN" dirty="0" smtClean="0"/>
              <a:t>specialized </a:t>
            </a:r>
            <a:r>
              <a:rPr lang="en-IN" dirty="0"/>
              <a:t>goods and services.</a:t>
            </a:r>
          </a:p>
          <a:p>
            <a:r>
              <a:rPr lang="en-GB" i="1" dirty="0" smtClean="0"/>
              <a:t>Small </a:t>
            </a:r>
            <a:r>
              <a:rPr lang="en-GB" i="1" dirty="0"/>
              <a:t>businesses are resilient: </a:t>
            </a:r>
            <a:r>
              <a:rPr lang="en-GB" dirty="0"/>
              <a:t>They are able to respond fairly quickly to changing economic conditions </a:t>
            </a:r>
            <a:r>
              <a:rPr lang="en-GB" dirty="0" smtClean="0"/>
              <a:t>by </a:t>
            </a:r>
            <a:r>
              <a:rPr lang="en-IN" dirty="0" smtClean="0"/>
              <a:t>refocusing </a:t>
            </a:r>
            <a:r>
              <a:rPr lang="en-IN" dirty="0"/>
              <a:t>their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615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Blue Ocean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154363"/>
          </a:xfrm>
        </p:spPr>
        <p:txBody>
          <a:bodyPr/>
          <a:lstStyle/>
          <a:p>
            <a:r>
              <a:rPr lang="en-GB" dirty="0"/>
              <a:t>A blue ocean strategy involves creating a new, untapped market rather than competing with rivals in an </a:t>
            </a:r>
            <a:r>
              <a:rPr lang="en-GB" dirty="0" smtClean="0"/>
              <a:t>existing market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246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Cooperative arrangements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 smtClean="0"/>
              <a:t>Joint Ventures: </a:t>
            </a:r>
            <a:r>
              <a:rPr lang="en-GB" dirty="0" smtClean="0"/>
              <a:t>Joint </a:t>
            </a:r>
            <a:r>
              <a:rPr lang="en-GB" dirty="0"/>
              <a:t>ventures involve two or more organizations that contribute to the creation of a new entity</a:t>
            </a:r>
            <a:r>
              <a:rPr lang="en-GB" dirty="0" smtClean="0"/>
              <a:t>.</a:t>
            </a:r>
          </a:p>
          <a:p>
            <a:r>
              <a:rPr lang="en-IN" b="1" dirty="0" smtClean="0"/>
              <a:t>Strategic Alliances: </a:t>
            </a:r>
            <a:r>
              <a:rPr lang="en-GB" dirty="0" smtClean="0"/>
              <a:t>Strategic </a:t>
            </a:r>
            <a:r>
              <a:rPr lang="en-GB" dirty="0"/>
              <a:t>alliances are cooperative arrangements governed by contract between two or </a:t>
            </a:r>
            <a:r>
              <a:rPr lang="en-GB" dirty="0" smtClean="0"/>
              <a:t>more organizations </a:t>
            </a:r>
            <a:r>
              <a:rPr lang="en-GB" dirty="0"/>
              <a:t>that do not involve creating new entities</a:t>
            </a:r>
            <a:r>
              <a:rPr lang="en-GB" dirty="0" smtClean="0"/>
              <a:t>.</a:t>
            </a:r>
          </a:p>
          <a:p>
            <a:r>
              <a:rPr lang="en-IN" b="1" dirty="0"/>
              <a:t>Mergers </a:t>
            </a:r>
            <a:r>
              <a:rPr lang="en-IN" b="1" dirty="0" smtClean="0"/>
              <a:t>and Acquisitions: </a:t>
            </a:r>
            <a:r>
              <a:rPr lang="en-GB" dirty="0" smtClean="0"/>
              <a:t>Mergers </a:t>
            </a:r>
            <a:r>
              <a:rPr lang="en-GB" dirty="0"/>
              <a:t>and Acquisitions combine two organizations into one. Mergers typically occur </a:t>
            </a:r>
            <a:r>
              <a:rPr lang="en-GB" dirty="0" smtClean="0"/>
              <a:t>between </a:t>
            </a:r>
            <a:r>
              <a:rPr lang="en-IN" dirty="0" smtClean="0"/>
              <a:t>like-size </a:t>
            </a:r>
            <a:r>
              <a:rPr lang="en-IN" dirty="0"/>
              <a:t>firms.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635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2286</Words>
  <Application>Microsoft Office PowerPoint</Application>
  <PresentationFormat>On-screen Show (4:3)</PresentationFormat>
  <Paragraphs>146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Creativity, Innovation and Entrepreneurship</vt:lpstr>
      <vt:lpstr>Creativity</vt:lpstr>
      <vt:lpstr>Creativity</vt:lpstr>
      <vt:lpstr>Organizational Innovation</vt:lpstr>
      <vt:lpstr>Quality of problem solvers that promote creativity</vt:lpstr>
      <vt:lpstr>Qualities of problem solvers that inhibit creativity</vt:lpstr>
      <vt:lpstr>A model of individual creativity (3 components)</vt:lpstr>
      <vt:lpstr>Steps of the individual creative process</vt:lpstr>
      <vt:lpstr>Qualities of environments that promote creativity</vt:lpstr>
      <vt:lpstr>Qualities of environments that inhibit creativity</vt:lpstr>
      <vt:lpstr>Organizational Innovation model</vt:lpstr>
      <vt:lpstr>Process of Organizational Innovation</vt:lpstr>
      <vt:lpstr>Forms of Innovation</vt:lpstr>
      <vt:lpstr>Technical Versus Managerial Innovations</vt:lpstr>
      <vt:lpstr>Product Versus Process Innovations</vt:lpstr>
      <vt:lpstr>Product Life cycle</vt:lpstr>
      <vt:lpstr>Why do organizations fail to innovate?</vt:lpstr>
      <vt:lpstr>How to promote innovation in organizations?</vt:lpstr>
      <vt:lpstr>THE NATURE OF ENTREPRENEURSHIP</vt:lpstr>
      <vt:lpstr>Understanding entrepreneurial orientation</vt:lpstr>
      <vt:lpstr>THE ROLE OF ENTREPRENEURSHIP IN SOCIETY</vt:lpstr>
      <vt:lpstr>STRATEGY FOR ENTREPRENEURIAL ORGANIZATIONS</vt:lpstr>
      <vt:lpstr>Are You Ready to Be an Entrepreneur?</vt:lpstr>
      <vt:lpstr>The Entrepreneurial Personality</vt:lpstr>
      <vt:lpstr>Why small businesses thrive?</vt:lpstr>
      <vt:lpstr>Blue Ocean Strategy</vt:lpstr>
      <vt:lpstr>Cooperative arrangements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Creativity, Innovation and Entrepreneurship</dc:title>
  <dc:creator>HP</dc:creator>
  <cp:lastModifiedBy>HP</cp:lastModifiedBy>
  <cp:revision>8</cp:revision>
  <dcterms:created xsi:type="dcterms:W3CDTF">2006-08-16T00:00:00Z</dcterms:created>
  <dcterms:modified xsi:type="dcterms:W3CDTF">2026-02-24T11:10:19Z</dcterms:modified>
</cp:coreProperties>
</file>