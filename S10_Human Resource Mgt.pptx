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6" r:id="rId11"/>
    <p:sldId id="268" r:id="rId12"/>
    <p:sldId id="264"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1" r:id="rId35"/>
    <p:sldId id="290" r:id="rId36"/>
    <p:sldId id="292" r:id="rId37"/>
    <p:sldId id="293"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147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BA3EEBD-AEFE-4766-AF89-9A4B5B0BCCF4}" type="doc">
      <dgm:prSet loTypeId="urn:microsoft.com/office/officeart/2005/8/layout/cycle4" loCatId="matrix" qsTypeId="urn:microsoft.com/office/officeart/2005/8/quickstyle/simple1" qsCatId="simple" csTypeId="urn:microsoft.com/office/officeart/2005/8/colors/accent0_1" csCatId="mainScheme" phldr="1"/>
      <dgm:spPr/>
      <dgm:t>
        <a:bodyPr/>
        <a:lstStyle/>
        <a:p>
          <a:endParaRPr lang="en-IN"/>
        </a:p>
      </dgm:t>
    </dgm:pt>
    <dgm:pt modelId="{DAA7B385-4336-4373-A2C6-ABA4E36B778B}">
      <dgm:prSet phldrT="[Text]"/>
      <dgm:spPr/>
      <dgm:t>
        <a:bodyPr/>
        <a:lstStyle/>
        <a:p>
          <a:r>
            <a:rPr lang="en-GB" dirty="0" smtClean="0"/>
            <a:t>Correct decision</a:t>
          </a:r>
          <a:endParaRPr lang="en-IN" dirty="0"/>
        </a:p>
      </dgm:t>
    </dgm:pt>
    <dgm:pt modelId="{25B0D5C1-F9B8-4D2D-B058-A15585BC333B}" type="parTrans" cxnId="{F650EBB9-7E9A-40FD-9C58-8FBFB34B0A5D}">
      <dgm:prSet/>
      <dgm:spPr/>
      <dgm:t>
        <a:bodyPr/>
        <a:lstStyle/>
        <a:p>
          <a:endParaRPr lang="en-IN"/>
        </a:p>
      </dgm:t>
    </dgm:pt>
    <dgm:pt modelId="{E328DBF9-6BE1-4E8D-847A-12997950F496}" type="sibTrans" cxnId="{F650EBB9-7E9A-40FD-9C58-8FBFB34B0A5D}">
      <dgm:prSet/>
      <dgm:spPr/>
      <dgm:t>
        <a:bodyPr/>
        <a:lstStyle/>
        <a:p>
          <a:endParaRPr lang="en-IN"/>
        </a:p>
      </dgm:t>
    </dgm:pt>
    <dgm:pt modelId="{935F48AC-4DE7-485A-8B78-F91DDF050575}">
      <dgm:prSet phldrT="[Text]"/>
      <dgm:spPr/>
      <dgm:t>
        <a:bodyPr/>
        <a:lstStyle/>
        <a:p>
          <a:r>
            <a:rPr lang="en-GB" dirty="0" smtClean="0"/>
            <a:t>Successful job performance</a:t>
          </a:r>
          <a:endParaRPr lang="en-IN" dirty="0"/>
        </a:p>
      </dgm:t>
    </dgm:pt>
    <dgm:pt modelId="{EBA8149D-9EE5-4E04-BE2C-A05E76AE8053}" type="parTrans" cxnId="{B4D80B83-265F-432F-9DE4-98AAFE35AED3}">
      <dgm:prSet/>
      <dgm:spPr/>
      <dgm:t>
        <a:bodyPr/>
        <a:lstStyle/>
        <a:p>
          <a:endParaRPr lang="en-IN"/>
        </a:p>
      </dgm:t>
    </dgm:pt>
    <dgm:pt modelId="{97C06220-66CA-4994-BFCA-85701F2CC29D}" type="sibTrans" cxnId="{B4D80B83-265F-432F-9DE4-98AAFE35AED3}">
      <dgm:prSet/>
      <dgm:spPr/>
      <dgm:t>
        <a:bodyPr/>
        <a:lstStyle/>
        <a:p>
          <a:endParaRPr lang="en-IN"/>
        </a:p>
      </dgm:t>
    </dgm:pt>
    <dgm:pt modelId="{EEC07C16-BF40-4FD5-8A3E-FF609F581E7D}">
      <dgm:prSet phldrT="[Text]"/>
      <dgm:spPr/>
      <dgm:t>
        <a:bodyPr/>
        <a:lstStyle/>
        <a:p>
          <a:r>
            <a:rPr lang="en-GB" dirty="0" smtClean="0"/>
            <a:t>Reject error</a:t>
          </a:r>
          <a:endParaRPr lang="en-IN" dirty="0"/>
        </a:p>
      </dgm:t>
    </dgm:pt>
    <dgm:pt modelId="{379833B2-35ED-43F2-A081-709595C8807A}" type="parTrans" cxnId="{60CCE734-DC96-4B98-8985-AB4E4E9EAEE7}">
      <dgm:prSet/>
      <dgm:spPr/>
      <dgm:t>
        <a:bodyPr/>
        <a:lstStyle/>
        <a:p>
          <a:endParaRPr lang="en-IN"/>
        </a:p>
      </dgm:t>
    </dgm:pt>
    <dgm:pt modelId="{A39A5CD5-38D9-4FB3-9144-D98FCAD8EB9B}" type="sibTrans" cxnId="{60CCE734-DC96-4B98-8985-AB4E4E9EAEE7}">
      <dgm:prSet/>
      <dgm:spPr/>
      <dgm:t>
        <a:bodyPr/>
        <a:lstStyle/>
        <a:p>
          <a:endParaRPr lang="en-IN"/>
        </a:p>
      </dgm:t>
    </dgm:pt>
    <dgm:pt modelId="{DF76177A-2D01-46FC-A262-D51841F5649B}">
      <dgm:prSet phldrT="[Text]"/>
      <dgm:spPr/>
      <dgm:t>
        <a:bodyPr/>
        <a:lstStyle/>
        <a:p>
          <a:r>
            <a:rPr lang="en-GB" dirty="0" smtClean="0"/>
            <a:t>Successful job performance</a:t>
          </a:r>
          <a:endParaRPr lang="en-IN" dirty="0"/>
        </a:p>
      </dgm:t>
    </dgm:pt>
    <dgm:pt modelId="{3692E4BF-F02D-4992-9DB6-02B86BCA5689}" type="parTrans" cxnId="{F4ED4BF8-444C-4FEA-AD3F-CF7833356A93}">
      <dgm:prSet/>
      <dgm:spPr/>
      <dgm:t>
        <a:bodyPr/>
        <a:lstStyle/>
        <a:p>
          <a:endParaRPr lang="en-IN"/>
        </a:p>
      </dgm:t>
    </dgm:pt>
    <dgm:pt modelId="{9E5107BA-1CC5-4BD5-8F91-2419A25B78D8}" type="sibTrans" cxnId="{F4ED4BF8-444C-4FEA-AD3F-CF7833356A93}">
      <dgm:prSet/>
      <dgm:spPr/>
      <dgm:t>
        <a:bodyPr/>
        <a:lstStyle/>
        <a:p>
          <a:endParaRPr lang="en-IN"/>
        </a:p>
      </dgm:t>
    </dgm:pt>
    <dgm:pt modelId="{D1947974-937A-467C-9BF8-2070F4E2494E}">
      <dgm:prSet phldrT="[Text]"/>
      <dgm:spPr/>
      <dgm:t>
        <a:bodyPr/>
        <a:lstStyle/>
        <a:p>
          <a:r>
            <a:rPr lang="en-GB" dirty="0" smtClean="0"/>
            <a:t>Correct decision</a:t>
          </a:r>
          <a:endParaRPr lang="en-IN" dirty="0"/>
        </a:p>
      </dgm:t>
    </dgm:pt>
    <dgm:pt modelId="{C8ECCE56-85E7-4AB6-A6FC-F532D37ACEA1}" type="parTrans" cxnId="{071D8523-9CDA-40A3-9B84-7847C92AFE4B}">
      <dgm:prSet/>
      <dgm:spPr/>
      <dgm:t>
        <a:bodyPr/>
        <a:lstStyle/>
        <a:p>
          <a:endParaRPr lang="en-IN"/>
        </a:p>
      </dgm:t>
    </dgm:pt>
    <dgm:pt modelId="{A1BECA0A-AEB8-4C6F-9437-AA32E543E613}" type="sibTrans" cxnId="{071D8523-9CDA-40A3-9B84-7847C92AFE4B}">
      <dgm:prSet/>
      <dgm:spPr/>
      <dgm:t>
        <a:bodyPr/>
        <a:lstStyle/>
        <a:p>
          <a:endParaRPr lang="en-IN"/>
        </a:p>
      </dgm:t>
    </dgm:pt>
    <dgm:pt modelId="{860CBE49-7B6C-46AE-BA0A-9EE0B40BE8B0}">
      <dgm:prSet phldrT="[Text]"/>
      <dgm:spPr/>
      <dgm:t>
        <a:bodyPr/>
        <a:lstStyle/>
        <a:p>
          <a:r>
            <a:rPr lang="en-GB" dirty="0" smtClean="0"/>
            <a:t>Unsuccessful job performance</a:t>
          </a:r>
          <a:endParaRPr lang="en-IN" dirty="0"/>
        </a:p>
      </dgm:t>
    </dgm:pt>
    <dgm:pt modelId="{6E1FC0F0-3227-4F33-8849-C24BB7D75C67}" type="parTrans" cxnId="{FD460524-CD70-43DE-935F-DD85B1E999EE}">
      <dgm:prSet/>
      <dgm:spPr/>
      <dgm:t>
        <a:bodyPr/>
        <a:lstStyle/>
        <a:p>
          <a:endParaRPr lang="en-IN"/>
        </a:p>
      </dgm:t>
    </dgm:pt>
    <dgm:pt modelId="{605224F0-9108-44BD-A129-F4AE263199BE}" type="sibTrans" cxnId="{FD460524-CD70-43DE-935F-DD85B1E999EE}">
      <dgm:prSet/>
      <dgm:spPr/>
      <dgm:t>
        <a:bodyPr/>
        <a:lstStyle/>
        <a:p>
          <a:endParaRPr lang="en-IN"/>
        </a:p>
      </dgm:t>
    </dgm:pt>
    <dgm:pt modelId="{A51BD0AD-52B2-4D80-A144-22AEF89D9254}">
      <dgm:prSet phldrT="[Text]"/>
      <dgm:spPr/>
      <dgm:t>
        <a:bodyPr/>
        <a:lstStyle/>
        <a:p>
          <a:r>
            <a:rPr lang="en-GB" dirty="0" smtClean="0"/>
            <a:t>Accept error</a:t>
          </a:r>
          <a:endParaRPr lang="en-IN" dirty="0"/>
        </a:p>
      </dgm:t>
    </dgm:pt>
    <dgm:pt modelId="{B840875F-3CE6-46FC-BFBA-AE51B5548601}" type="parTrans" cxnId="{013977D9-7333-4ADC-BE5F-BC4767769496}">
      <dgm:prSet/>
      <dgm:spPr/>
      <dgm:t>
        <a:bodyPr/>
        <a:lstStyle/>
        <a:p>
          <a:endParaRPr lang="en-IN"/>
        </a:p>
      </dgm:t>
    </dgm:pt>
    <dgm:pt modelId="{F54E231F-4A3C-418D-9322-871ADE9FDB43}" type="sibTrans" cxnId="{013977D9-7333-4ADC-BE5F-BC4767769496}">
      <dgm:prSet/>
      <dgm:spPr/>
      <dgm:t>
        <a:bodyPr/>
        <a:lstStyle/>
        <a:p>
          <a:endParaRPr lang="en-IN"/>
        </a:p>
      </dgm:t>
    </dgm:pt>
    <dgm:pt modelId="{7EC483B0-DC9C-41C3-9999-AD140A9CC07C}">
      <dgm:prSet phldrT="[Text]"/>
      <dgm:spPr/>
      <dgm:t>
        <a:bodyPr/>
        <a:lstStyle/>
        <a:p>
          <a:r>
            <a:rPr lang="en-GB" dirty="0" smtClean="0"/>
            <a:t>Unsuccessful job performance</a:t>
          </a:r>
          <a:endParaRPr lang="en-IN" dirty="0"/>
        </a:p>
      </dgm:t>
    </dgm:pt>
    <dgm:pt modelId="{182A4C57-75BB-4C77-9698-E210D785C5C1}" type="parTrans" cxnId="{77D9ADCF-3883-436E-93D5-8A08F0CC9767}">
      <dgm:prSet/>
      <dgm:spPr/>
      <dgm:t>
        <a:bodyPr/>
        <a:lstStyle/>
        <a:p>
          <a:endParaRPr lang="en-IN"/>
        </a:p>
      </dgm:t>
    </dgm:pt>
    <dgm:pt modelId="{22759B2C-1944-485A-9E74-3830F99000C0}" type="sibTrans" cxnId="{77D9ADCF-3883-436E-93D5-8A08F0CC9767}">
      <dgm:prSet/>
      <dgm:spPr/>
      <dgm:t>
        <a:bodyPr/>
        <a:lstStyle/>
        <a:p>
          <a:endParaRPr lang="en-IN"/>
        </a:p>
      </dgm:t>
    </dgm:pt>
    <dgm:pt modelId="{99B95074-E11A-407D-BDE7-C15ECC616DCA}">
      <dgm:prSet phldrT="[Text]"/>
      <dgm:spPr/>
      <dgm:t>
        <a:bodyPr/>
        <a:lstStyle/>
        <a:p>
          <a:r>
            <a:rPr lang="en-GB" dirty="0" smtClean="0"/>
            <a:t>Accept the candidate</a:t>
          </a:r>
          <a:endParaRPr lang="en-IN" dirty="0"/>
        </a:p>
      </dgm:t>
    </dgm:pt>
    <dgm:pt modelId="{16EDF971-2674-41FB-AEDA-0B28C8DF63BA}" type="parTrans" cxnId="{78CA68FD-53B4-4EE3-9A9D-4E80285CFD6F}">
      <dgm:prSet/>
      <dgm:spPr/>
      <dgm:t>
        <a:bodyPr/>
        <a:lstStyle/>
        <a:p>
          <a:endParaRPr lang="en-IN"/>
        </a:p>
      </dgm:t>
    </dgm:pt>
    <dgm:pt modelId="{237089B4-E9F0-4ABF-83C3-0204C78425F2}" type="sibTrans" cxnId="{78CA68FD-53B4-4EE3-9A9D-4E80285CFD6F}">
      <dgm:prSet/>
      <dgm:spPr/>
      <dgm:t>
        <a:bodyPr/>
        <a:lstStyle/>
        <a:p>
          <a:endParaRPr lang="en-IN"/>
        </a:p>
      </dgm:t>
    </dgm:pt>
    <dgm:pt modelId="{D7A5DF42-2FE0-4B80-A49F-F20FC6EE2305}">
      <dgm:prSet phldrT="[Text]"/>
      <dgm:spPr/>
      <dgm:t>
        <a:bodyPr/>
        <a:lstStyle/>
        <a:p>
          <a:r>
            <a:rPr lang="en-GB" dirty="0" smtClean="0"/>
            <a:t>Reject the candidate</a:t>
          </a:r>
          <a:endParaRPr lang="en-IN" dirty="0"/>
        </a:p>
      </dgm:t>
    </dgm:pt>
    <dgm:pt modelId="{71125012-441F-4196-A6B4-3659734F0A27}" type="parTrans" cxnId="{E3C86BD2-3A3D-47AD-A8F3-2887499C5FCF}">
      <dgm:prSet/>
      <dgm:spPr/>
      <dgm:t>
        <a:bodyPr/>
        <a:lstStyle/>
        <a:p>
          <a:endParaRPr lang="en-IN"/>
        </a:p>
      </dgm:t>
    </dgm:pt>
    <dgm:pt modelId="{EA6A888C-4D46-4FD6-BAC3-DBC2F5354611}" type="sibTrans" cxnId="{E3C86BD2-3A3D-47AD-A8F3-2887499C5FCF}">
      <dgm:prSet/>
      <dgm:spPr/>
      <dgm:t>
        <a:bodyPr/>
        <a:lstStyle/>
        <a:p>
          <a:endParaRPr lang="en-IN"/>
        </a:p>
      </dgm:t>
    </dgm:pt>
    <dgm:pt modelId="{DF154C34-BD52-470F-8827-40EDB51AA8B6}">
      <dgm:prSet phldrT="[Text]"/>
      <dgm:spPr/>
      <dgm:t>
        <a:bodyPr/>
        <a:lstStyle/>
        <a:p>
          <a:r>
            <a:rPr lang="en-GB" dirty="0" smtClean="0"/>
            <a:t>Reject the candidate</a:t>
          </a:r>
          <a:endParaRPr lang="en-IN" dirty="0"/>
        </a:p>
      </dgm:t>
    </dgm:pt>
    <dgm:pt modelId="{7A4EB69C-C58A-4243-BFF2-9435A53024EE}" type="parTrans" cxnId="{4CF1A436-36FB-4FF3-8AA5-93DEFFC14BC5}">
      <dgm:prSet/>
      <dgm:spPr/>
      <dgm:t>
        <a:bodyPr/>
        <a:lstStyle/>
        <a:p>
          <a:endParaRPr lang="en-IN"/>
        </a:p>
      </dgm:t>
    </dgm:pt>
    <dgm:pt modelId="{2C6BF46C-C7A8-477E-93BC-4284677EF351}" type="sibTrans" cxnId="{4CF1A436-36FB-4FF3-8AA5-93DEFFC14BC5}">
      <dgm:prSet/>
      <dgm:spPr/>
      <dgm:t>
        <a:bodyPr/>
        <a:lstStyle/>
        <a:p>
          <a:endParaRPr lang="en-IN"/>
        </a:p>
      </dgm:t>
    </dgm:pt>
    <dgm:pt modelId="{75DE9046-5A2D-4C8B-AFBC-1B0E9E81A1F2}">
      <dgm:prSet phldrT="[Text]"/>
      <dgm:spPr/>
      <dgm:t>
        <a:bodyPr/>
        <a:lstStyle/>
        <a:p>
          <a:endParaRPr lang="en-IN" dirty="0"/>
        </a:p>
      </dgm:t>
    </dgm:pt>
    <dgm:pt modelId="{922BBF86-9E1E-40EC-B123-B5F16DD293CB}" type="parTrans" cxnId="{C69AA482-5015-40AA-94C0-A0BAD9AD75BD}">
      <dgm:prSet/>
      <dgm:spPr/>
      <dgm:t>
        <a:bodyPr/>
        <a:lstStyle/>
        <a:p>
          <a:endParaRPr lang="en-IN"/>
        </a:p>
      </dgm:t>
    </dgm:pt>
    <dgm:pt modelId="{DC2C56F0-18D8-4A41-B390-334DC28BA751}" type="sibTrans" cxnId="{C69AA482-5015-40AA-94C0-A0BAD9AD75BD}">
      <dgm:prSet/>
      <dgm:spPr/>
      <dgm:t>
        <a:bodyPr/>
        <a:lstStyle/>
        <a:p>
          <a:endParaRPr lang="en-IN"/>
        </a:p>
      </dgm:t>
    </dgm:pt>
    <dgm:pt modelId="{79446246-5E31-48D8-B539-F5D228242993}">
      <dgm:prSet phldrT="[Text]"/>
      <dgm:spPr/>
      <dgm:t>
        <a:bodyPr/>
        <a:lstStyle/>
        <a:p>
          <a:r>
            <a:rPr lang="en-GB" dirty="0" smtClean="0"/>
            <a:t>Accept the candidate</a:t>
          </a:r>
          <a:endParaRPr lang="en-IN" dirty="0"/>
        </a:p>
      </dgm:t>
    </dgm:pt>
    <dgm:pt modelId="{9E5C6F9C-67CC-4457-933E-F103FD74FECE}" type="parTrans" cxnId="{DD193CAD-050D-4F48-8339-E0CE94BAC69F}">
      <dgm:prSet/>
      <dgm:spPr/>
      <dgm:t>
        <a:bodyPr/>
        <a:lstStyle/>
        <a:p>
          <a:endParaRPr lang="en-IN"/>
        </a:p>
      </dgm:t>
    </dgm:pt>
    <dgm:pt modelId="{DC567D9A-06BB-424D-A175-156E6FEE86AE}" type="sibTrans" cxnId="{DD193CAD-050D-4F48-8339-E0CE94BAC69F}">
      <dgm:prSet/>
      <dgm:spPr/>
      <dgm:t>
        <a:bodyPr/>
        <a:lstStyle/>
        <a:p>
          <a:endParaRPr lang="en-IN"/>
        </a:p>
      </dgm:t>
    </dgm:pt>
    <dgm:pt modelId="{7BBA7B1A-5C1F-4718-BD1D-562AAF0C3D75}" type="pres">
      <dgm:prSet presAssocID="{FBA3EEBD-AEFE-4766-AF89-9A4B5B0BCCF4}" presName="cycleMatrixDiagram" presStyleCnt="0">
        <dgm:presLayoutVars>
          <dgm:chMax val="1"/>
          <dgm:dir/>
          <dgm:animLvl val="lvl"/>
          <dgm:resizeHandles val="exact"/>
        </dgm:presLayoutVars>
      </dgm:prSet>
      <dgm:spPr/>
    </dgm:pt>
    <dgm:pt modelId="{0F401DC4-2146-4D98-9F94-E90856CFEAF5}" type="pres">
      <dgm:prSet presAssocID="{FBA3EEBD-AEFE-4766-AF89-9A4B5B0BCCF4}" presName="children" presStyleCnt="0"/>
      <dgm:spPr/>
    </dgm:pt>
    <dgm:pt modelId="{FA192059-2DA0-4456-AC36-A755958EE53A}" type="pres">
      <dgm:prSet presAssocID="{FBA3EEBD-AEFE-4766-AF89-9A4B5B0BCCF4}" presName="child1group" presStyleCnt="0"/>
      <dgm:spPr/>
    </dgm:pt>
    <dgm:pt modelId="{81525C52-D324-44BC-9C63-FFCE9FDDB4BC}" type="pres">
      <dgm:prSet presAssocID="{FBA3EEBD-AEFE-4766-AF89-9A4B5B0BCCF4}" presName="child1" presStyleLbl="bgAcc1" presStyleIdx="0" presStyleCnt="4"/>
      <dgm:spPr/>
      <dgm:t>
        <a:bodyPr/>
        <a:lstStyle/>
        <a:p>
          <a:endParaRPr lang="en-IN"/>
        </a:p>
      </dgm:t>
    </dgm:pt>
    <dgm:pt modelId="{65701855-68B3-43E8-8CA7-EF8FD403E06C}" type="pres">
      <dgm:prSet presAssocID="{FBA3EEBD-AEFE-4766-AF89-9A4B5B0BCCF4}" presName="child1Text" presStyleLbl="bgAcc1" presStyleIdx="0" presStyleCnt="4">
        <dgm:presLayoutVars>
          <dgm:bulletEnabled val="1"/>
        </dgm:presLayoutVars>
      </dgm:prSet>
      <dgm:spPr/>
      <dgm:t>
        <a:bodyPr/>
        <a:lstStyle/>
        <a:p>
          <a:endParaRPr lang="en-IN"/>
        </a:p>
      </dgm:t>
    </dgm:pt>
    <dgm:pt modelId="{89DB6D2C-2BCA-48F9-838C-B22C9023E273}" type="pres">
      <dgm:prSet presAssocID="{FBA3EEBD-AEFE-4766-AF89-9A4B5B0BCCF4}" presName="child2group" presStyleCnt="0"/>
      <dgm:spPr/>
    </dgm:pt>
    <dgm:pt modelId="{9750417F-1CFD-453D-9841-8412C181DE82}" type="pres">
      <dgm:prSet presAssocID="{FBA3EEBD-AEFE-4766-AF89-9A4B5B0BCCF4}" presName="child2" presStyleLbl="bgAcc1" presStyleIdx="1" presStyleCnt="4"/>
      <dgm:spPr/>
    </dgm:pt>
    <dgm:pt modelId="{BB375C81-33C4-42B9-A20C-1F617869CE99}" type="pres">
      <dgm:prSet presAssocID="{FBA3EEBD-AEFE-4766-AF89-9A4B5B0BCCF4}" presName="child2Text" presStyleLbl="bgAcc1" presStyleIdx="1" presStyleCnt="4">
        <dgm:presLayoutVars>
          <dgm:bulletEnabled val="1"/>
        </dgm:presLayoutVars>
      </dgm:prSet>
      <dgm:spPr/>
    </dgm:pt>
    <dgm:pt modelId="{BB219CB1-5978-428B-AE03-E25676A67BB4}" type="pres">
      <dgm:prSet presAssocID="{FBA3EEBD-AEFE-4766-AF89-9A4B5B0BCCF4}" presName="child3group" presStyleCnt="0"/>
      <dgm:spPr/>
    </dgm:pt>
    <dgm:pt modelId="{621EDE92-718B-4956-9BC5-2AA383574015}" type="pres">
      <dgm:prSet presAssocID="{FBA3EEBD-AEFE-4766-AF89-9A4B5B0BCCF4}" presName="child3" presStyleLbl="bgAcc1" presStyleIdx="2" presStyleCnt="4"/>
      <dgm:spPr/>
    </dgm:pt>
    <dgm:pt modelId="{1403D515-3385-4CED-81FD-EC7C8477A32E}" type="pres">
      <dgm:prSet presAssocID="{FBA3EEBD-AEFE-4766-AF89-9A4B5B0BCCF4}" presName="child3Text" presStyleLbl="bgAcc1" presStyleIdx="2" presStyleCnt="4">
        <dgm:presLayoutVars>
          <dgm:bulletEnabled val="1"/>
        </dgm:presLayoutVars>
      </dgm:prSet>
      <dgm:spPr/>
    </dgm:pt>
    <dgm:pt modelId="{7F91BB73-5CF7-4A02-A9C3-7A91F6C5FE30}" type="pres">
      <dgm:prSet presAssocID="{FBA3EEBD-AEFE-4766-AF89-9A4B5B0BCCF4}" presName="child4group" presStyleCnt="0"/>
      <dgm:spPr/>
    </dgm:pt>
    <dgm:pt modelId="{A24AEBEA-4091-4758-B846-6BD88972A26C}" type="pres">
      <dgm:prSet presAssocID="{FBA3EEBD-AEFE-4766-AF89-9A4B5B0BCCF4}" presName="child4" presStyleLbl="bgAcc1" presStyleIdx="3" presStyleCnt="4"/>
      <dgm:spPr/>
    </dgm:pt>
    <dgm:pt modelId="{875E3DE6-3CA9-442D-9F04-2E4E0E42E8A0}" type="pres">
      <dgm:prSet presAssocID="{FBA3EEBD-AEFE-4766-AF89-9A4B5B0BCCF4}" presName="child4Text" presStyleLbl="bgAcc1" presStyleIdx="3" presStyleCnt="4">
        <dgm:presLayoutVars>
          <dgm:bulletEnabled val="1"/>
        </dgm:presLayoutVars>
      </dgm:prSet>
      <dgm:spPr/>
    </dgm:pt>
    <dgm:pt modelId="{D52369E6-5F7D-410C-8A53-054A91956FFB}" type="pres">
      <dgm:prSet presAssocID="{FBA3EEBD-AEFE-4766-AF89-9A4B5B0BCCF4}" presName="childPlaceholder" presStyleCnt="0"/>
      <dgm:spPr/>
    </dgm:pt>
    <dgm:pt modelId="{28A26828-EC0E-47DD-A470-6C4B30A8BD98}" type="pres">
      <dgm:prSet presAssocID="{FBA3EEBD-AEFE-4766-AF89-9A4B5B0BCCF4}" presName="circle" presStyleCnt="0"/>
      <dgm:spPr/>
    </dgm:pt>
    <dgm:pt modelId="{5309AF2F-3AFF-4BAA-BB94-D74A3678DDBA}" type="pres">
      <dgm:prSet presAssocID="{FBA3EEBD-AEFE-4766-AF89-9A4B5B0BCCF4}" presName="quadrant1" presStyleLbl="node1" presStyleIdx="0" presStyleCnt="4">
        <dgm:presLayoutVars>
          <dgm:chMax val="1"/>
          <dgm:bulletEnabled val="1"/>
        </dgm:presLayoutVars>
      </dgm:prSet>
      <dgm:spPr/>
    </dgm:pt>
    <dgm:pt modelId="{92127804-D140-436F-AE2E-4E9B2A2D113C}" type="pres">
      <dgm:prSet presAssocID="{FBA3EEBD-AEFE-4766-AF89-9A4B5B0BCCF4}" presName="quadrant2" presStyleLbl="node1" presStyleIdx="1" presStyleCnt="4">
        <dgm:presLayoutVars>
          <dgm:chMax val="1"/>
          <dgm:bulletEnabled val="1"/>
        </dgm:presLayoutVars>
      </dgm:prSet>
      <dgm:spPr/>
    </dgm:pt>
    <dgm:pt modelId="{FCC1A00F-1CF2-442B-9F30-40851539B78E}" type="pres">
      <dgm:prSet presAssocID="{FBA3EEBD-AEFE-4766-AF89-9A4B5B0BCCF4}" presName="quadrant3" presStyleLbl="node1" presStyleIdx="2" presStyleCnt="4">
        <dgm:presLayoutVars>
          <dgm:chMax val="1"/>
          <dgm:bulletEnabled val="1"/>
        </dgm:presLayoutVars>
      </dgm:prSet>
      <dgm:spPr/>
    </dgm:pt>
    <dgm:pt modelId="{20DB7B6A-94F5-4D21-A578-85FBB7FF8150}" type="pres">
      <dgm:prSet presAssocID="{FBA3EEBD-AEFE-4766-AF89-9A4B5B0BCCF4}" presName="quadrant4" presStyleLbl="node1" presStyleIdx="3" presStyleCnt="4">
        <dgm:presLayoutVars>
          <dgm:chMax val="1"/>
          <dgm:bulletEnabled val="1"/>
        </dgm:presLayoutVars>
      </dgm:prSet>
      <dgm:spPr/>
    </dgm:pt>
    <dgm:pt modelId="{B0D31B80-E6E3-4F24-A3EA-164073D74866}" type="pres">
      <dgm:prSet presAssocID="{FBA3EEBD-AEFE-4766-AF89-9A4B5B0BCCF4}" presName="quadrantPlaceholder" presStyleCnt="0"/>
      <dgm:spPr/>
    </dgm:pt>
    <dgm:pt modelId="{98F11B6A-1C0D-4624-9180-595A05653D2B}" type="pres">
      <dgm:prSet presAssocID="{FBA3EEBD-AEFE-4766-AF89-9A4B5B0BCCF4}" presName="center1" presStyleLbl="fgShp" presStyleIdx="0" presStyleCnt="2"/>
      <dgm:spPr/>
    </dgm:pt>
    <dgm:pt modelId="{86CEA3FD-BFC5-4D11-BD29-CCB92B102924}" type="pres">
      <dgm:prSet presAssocID="{FBA3EEBD-AEFE-4766-AF89-9A4B5B0BCCF4}" presName="center2" presStyleLbl="fgShp" presStyleIdx="1" presStyleCnt="2"/>
      <dgm:spPr/>
    </dgm:pt>
  </dgm:ptLst>
  <dgm:cxnLst>
    <dgm:cxn modelId="{5BC71CEC-7434-4711-B016-133E482464FF}" type="presOf" srcId="{7EC483B0-DC9C-41C3-9999-AD140A9CC07C}" destId="{A24AEBEA-4091-4758-B846-6BD88972A26C}" srcOrd="0" destOrd="0" presId="urn:microsoft.com/office/officeart/2005/8/layout/cycle4"/>
    <dgm:cxn modelId="{77D9ADCF-3883-436E-93D5-8A08F0CC9767}" srcId="{A51BD0AD-52B2-4D80-A144-22AEF89D9254}" destId="{7EC483B0-DC9C-41C3-9999-AD140A9CC07C}" srcOrd="0" destOrd="0" parTransId="{182A4C57-75BB-4C77-9698-E210D785C5C1}" sibTransId="{22759B2C-1944-485A-9E74-3830F99000C0}"/>
    <dgm:cxn modelId="{01A5F84E-45A4-41FF-BAA4-EE1F12369D21}" type="presOf" srcId="{FBA3EEBD-AEFE-4766-AF89-9A4B5B0BCCF4}" destId="{7BBA7B1A-5C1F-4718-BD1D-562AAF0C3D75}" srcOrd="0" destOrd="0" presId="urn:microsoft.com/office/officeart/2005/8/layout/cycle4"/>
    <dgm:cxn modelId="{78CA68FD-53B4-4EE3-9A9D-4E80285CFD6F}" srcId="{DAA7B385-4336-4373-A2C6-ABA4E36B778B}" destId="{99B95074-E11A-407D-BDE7-C15ECC616DCA}" srcOrd="1" destOrd="0" parTransId="{16EDF971-2674-41FB-AEDA-0B28C8DF63BA}" sibTransId="{237089B4-E9F0-4ABF-83C3-0204C78425F2}"/>
    <dgm:cxn modelId="{DB445E1E-2BC0-46E3-8D5F-6F5BC123EC26}" type="presOf" srcId="{79446246-5E31-48D8-B539-F5D228242993}" destId="{A24AEBEA-4091-4758-B846-6BD88972A26C}" srcOrd="0" destOrd="1" presId="urn:microsoft.com/office/officeart/2005/8/layout/cycle4"/>
    <dgm:cxn modelId="{FD460524-CD70-43DE-935F-DD85B1E999EE}" srcId="{D1947974-937A-467C-9BF8-2070F4E2494E}" destId="{860CBE49-7B6C-46AE-BA0A-9EE0B40BE8B0}" srcOrd="0" destOrd="0" parTransId="{6E1FC0F0-3227-4F33-8849-C24BB7D75C67}" sibTransId="{605224F0-9108-44BD-A129-F4AE263199BE}"/>
    <dgm:cxn modelId="{38314105-0484-4CCB-9199-B5998D0B8798}" type="presOf" srcId="{D7A5DF42-2FE0-4B80-A49F-F20FC6EE2305}" destId="{BB375C81-33C4-42B9-A20C-1F617869CE99}" srcOrd="1" destOrd="1" presId="urn:microsoft.com/office/officeart/2005/8/layout/cycle4"/>
    <dgm:cxn modelId="{F4ED4BF8-444C-4FEA-AD3F-CF7833356A93}" srcId="{EEC07C16-BF40-4FD5-8A3E-FF609F581E7D}" destId="{DF76177A-2D01-46FC-A262-D51841F5649B}" srcOrd="0" destOrd="0" parTransId="{3692E4BF-F02D-4992-9DB6-02B86BCA5689}" sibTransId="{9E5107BA-1CC5-4BD5-8F91-2419A25B78D8}"/>
    <dgm:cxn modelId="{F650EBB9-7E9A-40FD-9C58-8FBFB34B0A5D}" srcId="{FBA3EEBD-AEFE-4766-AF89-9A4B5B0BCCF4}" destId="{DAA7B385-4336-4373-A2C6-ABA4E36B778B}" srcOrd="0" destOrd="0" parTransId="{25B0D5C1-F9B8-4D2D-B058-A15585BC333B}" sibTransId="{E328DBF9-6BE1-4E8D-847A-12997950F496}"/>
    <dgm:cxn modelId="{2403E3EC-BF75-4AEE-B744-F22F1BD1E1F4}" type="presOf" srcId="{DF76177A-2D01-46FC-A262-D51841F5649B}" destId="{9750417F-1CFD-453D-9841-8412C181DE82}" srcOrd="0" destOrd="0" presId="urn:microsoft.com/office/officeart/2005/8/layout/cycle4"/>
    <dgm:cxn modelId="{013977D9-7333-4ADC-BE5F-BC4767769496}" srcId="{FBA3EEBD-AEFE-4766-AF89-9A4B5B0BCCF4}" destId="{A51BD0AD-52B2-4D80-A144-22AEF89D9254}" srcOrd="3" destOrd="0" parTransId="{B840875F-3CE6-46FC-BFBA-AE51B5548601}" sibTransId="{F54E231F-4A3C-418D-9322-871ADE9FDB43}"/>
    <dgm:cxn modelId="{4CF1A436-36FB-4FF3-8AA5-93DEFFC14BC5}" srcId="{D1947974-937A-467C-9BF8-2070F4E2494E}" destId="{DF154C34-BD52-470F-8827-40EDB51AA8B6}" srcOrd="1" destOrd="0" parTransId="{7A4EB69C-C58A-4243-BFF2-9435A53024EE}" sibTransId="{2C6BF46C-C7A8-477E-93BC-4284677EF351}"/>
    <dgm:cxn modelId="{DA0B61DA-438A-4AE1-B934-B159D1FAC120}" type="presOf" srcId="{860CBE49-7B6C-46AE-BA0A-9EE0B40BE8B0}" destId="{1403D515-3385-4CED-81FD-EC7C8477A32E}" srcOrd="1" destOrd="0" presId="urn:microsoft.com/office/officeart/2005/8/layout/cycle4"/>
    <dgm:cxn modelId="{DD193CAD-050D-4F48-8339-E0CE94BAC69F}" srcId="{A51BD0AD-52B2-4D80-A144-22AEF89D9254}" destId="{79446246-5E31-48D8-B539-F5D228242993}" srcOrd="1" destOrd="0" parTransId="{9E5C6F9C-67CC-4457-933E-F103FD74FECE}" sibTransId="{DC567D9A-06BB-424D-A175-156E6FEE86AE}"/>
    <dgm:cxn modelId="{62ED8DD1-CCE4-4230-9DBE-520796060E2B}" type="presOf" srcId="{935F48AC-4DE7-485A-8B78-F91DDF050575}" destId="{81525C52-D324-44BC-9C63-FFCE9FDDB4BC}" srcOrd="0" destOrd="0" presId="urn:microsoft.com/office/officeart/2005/8/layout/cycle4"/>
    <dgm:cxn modelId="{C69AA482-5015-40AA-94C0-A0BAD9AD75BD}" srcId="{A51BD0AD-52B2-4D80-A144-22AEF89D9254}" destId="{75DE9046-5A2D-4C8B-AFBC-1B0E9E81A1F2}" srcOrd="2" destOrd="0" parTransId="{922BBF86-9E1E-40EC-B123-B5F16DD293CB}" sibTransId="{DC2C56F0-18D8-4A41-B390-334DC28BA751}"/>
    <dgm:cxn modelId="{5ED497E7-7CB1-4218-8E5F-FC2C7D5F09B0}" type="presOf" srcId="{DF154C34-BD52-470F-8827-40EDB51AA8B6}" destId="{621EDE92-718B-4956-9BC5-2AA383574015}" srcOrd="0" destOrd="1" presId="urn:microsoft.com/office/officeart/2005/8/layout/cycle4"/>
    <dgm:cxn modelId="{A6BA50B6-59A4-4B5D-8F9F-DFEE8FA0DDDB}" type="presOf" srcId="{DF76177A-2D01-46FC-A262-D51841F5649B}" destId="{BB375C81-33C4-42B9-A20C-1F617869CE99}" srcOrd="1" destOrd="0" presId="urn:microsoft.com/office/officeart/2005/8/layout/cycle4"/>
    <dgm:cxn modelId="{4C366926-AFDA-4DAB-844F-47C5B26C1930}" type="presOf" srcId="{D7A5DF42-2FE0-4B80-A49F-F20FC6EE2305}" destId="{9750417F-1CFD-453D-9841-8412C181DE82}" srcOrd="0" destOrd="1" presId="urn:microsoft.com/office/officeart/2005/8/layout/cycle4"/>
    <dgm:cxn modelId="{038A6974-9E7C-4836-89D3-F97AF7C4162F}" type="presOf" srcId="{860CBE49-7B6C-46AE-BA0A-9EE0B40BE8B0}" destId="{621EDE92-718B-4956-9BC5-2AA383574015}" srcOrd="0" destOrd="0" presId="urn:microsoft.com/office/officeart/2005/8/layout/cycle4"/>
    <dgm:cxn modelId="{4DF60936-2ADA-4D90-A430-F3FF1E442A03}" type="presOf" srcId="{99B95074-E11A-407D-BDE7-C15ECC616DCA}" destId="{81525C52-D324-44BC-9C63-FFCE9FDDB4BC}" srcOrd="0" destOrd="1" presId="urn:microsoft.com/office/officeart/2005/8/layout/cycle4"/>
    <dgm:cxn modelId="{3F574C1A-0631-45A7-A804-C9E5FFED704E}" type="presOf" srcId="{75DE9046-5A2D-4C8B-AFBC-1B0E9E81A1F2}" destId="{A24AEBEA-4091-4758-B846-6BD88972A26C}" srcOrd="0" destOrd="2" presId="urn:microsoft.com/office/officeart/2005/8/layout/cycle4"/>
    <dgm:cxn modelId="{0DFF3A4F-D065-414D-B955-2843C1DE7F55}" type="presOf" srcId="{DF154C34-BD52-470F-8827-40EDB51AA8B6}" destId="{1403D515-3385-4CED-81FD-EC7C8477A32E}" srcOrd="1" destOrd="1" presId="urn:microsoft.com/office/officeart/2005/8/layout/cycle4"/>
    <dgm:cxn modelId="{876E22DD-94FD-4BC8-9A27-00C20512394F}" type="presOf" srcId="{EEC07C16-BF40-4FD5-8A3E-FF609F581E7D}" destId="{92127804-D140-436F-AE2E-4E9B2A2D113C}" srcOrd="0" destOrd="0" presId="urn:microsoft.com/office/officeart/2005/8/layout/cycle4"/>
    <dgm:cxn modelId="{E3C86BD2-3A3D-47AD-A8F3-2887499C5FCF}" srcId="{EEC07C16-BF40-4FD5-8A3E-FF609F581E7D}" destId="{D7A5DF42-2FE0-4B80-A49F-F20FC6EE2305}" srcOrd="1" destOrd="0" parTransId="{71125012-441F-4196-A6B4-3659734F0A27}" sibTransId="{EA6A888C-4D46-4FD6-BAC3-DBC2F5354611}"/>
    <dgm:cxn modelId="{0BD1BD61-9877-4B3B-A602-7569A8572C6A}" type="presOf" srcId="{935F48AC-4DE7-485A-8B78-F91DDF050575}" destId="{65701855-68B3-43E8-8CA7-EF8FD403E06C}" srcOrd="1" destOrd="0" presId="urn:microsoft.com/office/officeart/2005/8/layout/cycle4"/>
    <dgm:cxn modelId="{B4D80B83-265F-432F-9DE4-98AAFE35AED3}" srcId="{DAA7B385-4336-4373-A2C6-ABA4E36B778B}" destId="{935F48AC-4DE7-485A-8B78-F91DDF050575}" srcOrd="0" destOrd="0" parTransId="{EBA8149D-9EE5-4E04-BE2C-A05E76AE8053}" sibTransId="{97C06220-66CA-4994-BFCA-85701F2CC29D}"/>
    <dgm:cxn modelId="{09709826-54D7-47FF-98C4-A9B697642EF4}" type="presOf" srcId="{A51BD0AD-52B2-4D80-A144-22AEF89D9254}" destId="{20DB7B6A-94F5-4D21-A578-85FBB7FF8150}" srcOrd="0" destOrd="0" presId="urn:microsoft.com/office/officeart/2005/8/layout/cycle4"/>
    <dgm:cxn modelId="{60CCE734-DC96-4B98-8985-AB4E4E9EAEE7}" srcId="{FBA3EEBD-AEFE-4766-AF89-9A4B5B0BCCF4}" destId="{EEC07C16-BF40-4FD5-8A3E-FF609F581E7D}" srcOrd="1" destOrd="0" parTransId="{379833B2-35ED-43F2-A081-709595C8807A}" sibTransId="{A39A5CD5-38D9-4FB3-9144-D98FCAD8EB9B}"/>
    <dgm:cxn modelId="{11F02CD7-FCC0-44EC-9ED5-B4BB6D07A96E}" type="presOf" srcId="{99B95074-E11A-407D-BDE7-C15ECC616DCA}" destId="{65701855-68B3-43E8-8CA7-EF8FD403E06C}" srcOrd="1" destOrd="1" presId="urn:microsoft.com/office/officeart/2005/8/layout/cycle4"/>
    <dgm:cxn modelId="{98507985-6D06-40AF-8D4E-597FD81D80B8}" type="presOf" srcId="{7EC483B0-DC9C-41C3-9999-AD140A9CC07C}" destId="{875E3DE6-3CA9-442D-9F04-2E4E0E42E8A0}" srcOrd="1" destOrd="0" presId="urn:microsoft.com/office/officeart/2005/8/layout/cycle4"/>
    <dgm:cxn modelId="{94E65345-E5C1-43FA-9FF9-E5280C6E42F9}" type="presOf" srcId="{75DE9046-5A2D-4C8B-AFBC-1B0E9E81A1F2}" destId="{875E3DE6-3CA9-442D-9F04-2E4E0E42E8A0}" srcOrd="1" destOrd="2" presId="urn:microsoft.com/office/officeart/2005/8/layout/cycle4"/>
    <dgm:cxn modelId="{7EECDE26-3617-4223-9804-5FE9B4245F4B}" type="presOf" srcId="{79446246-5E31-48D8-B539-F5D228242993}" destId="{875E3DE6-3CA9-442D-9F04-2E4E0E42E8A0}" srcOrd="1" destOrd="1" presId="urn:microsoft.com/office/officeart/2005/8/layout/cycle4"/>
    <dgm:cxn modelId="{74EB63A4-7806-4F3B-A46A-FFE3F48C6EB7}" type="presOf" srcId="{DAA7B385-4336-4373-A2C6-ABA4E36B778B}" destId="{5309AF2F-3AFF-4BAA-BB94-D74A3678DDBA}" srcOrd="0" destOrd="0" presId="urn:microsoft.com/office/officeart/2005/8/layout/cycle4"/>
    <dgm:cxn modelId="{E654F5E0-A60B-4E9C-8045-054BFFBCA457}" type="presOf" srcId="{D1947974-937A-467C-9BF8-2070F4E2494E}" destId="{FCC1A00F-1CF2-442B-9F30-40851539B78E}" srcOrd="0" destOrd="0" presId="urn:microsoft.com/office/officeart/2005/8/layout/cycle4"/>
    <dgm:cxn modelId="{071D8523-9CDA-40A3-9B84-7847C92AFE4B}" srcId="{FBA3EEBD-AEFE-4766-AF89-9A4B5B0BCCF4}" destId="{D1947974-937A-467C-9BF8-2070F4E2494E}" srcOrd="2" destOrd="0" parTransId="{C8ECCE56-85E7-4AB6-A6FC-F532D37ACEA1}" sibTransId="{A1BECA0A-AEB8-4C6F-9437-AA32E543E613}"/>
    <dgm:cxn modelId="{FDF5DBCE-666F-4C72-B354-A453262A60BF}" type="presParOf" srcId="{7BBA7B1A-5C1F-4718-BD1D-562AAF0C3D75}" destId="{0F401DC4-2146-4D98-9F94-E90856CFEAF5}" srcOrd="0" destOrd="0" presId="urn:microsoft.com/office/officeart/2005/8/layout/cycle4"/>
    <dgm:cxn modelId="{257F7AF0-1D69-41F2-9864-3785D2390546}" type="presParOf" srcId="{0F401DC4-2146-4D98-9F94-E90856CFEAF5}" destId="{FA192059-2DA0-4456-AC36-A755958EE53A}" srcOrd="0" destOrd="0" presId="urn:microsoft.com/office/officeart/2005/8/layout/cycle4"/>
    <dgm:cxn modelId="{C5DBC729-A12B-40D8-AA9C-19E8B34FE09C}" type="presParOf" srcId="{FA192059-2DA0-4456-AC36-A755958EE53A}" destId="{81525C52-D324-44BC-9C63-FFCE9FDDB4BC}" srcOrd="0" destOrd="0" presId="urn:microsoft.com/office/officeart/2005/8/layout/cycle4"/>
    <dgm:cxn modelId="{1EEE6DC4-E1EC-4CFE-92DA-1EF33904BF78}" type="presParOf" srcId="{FA192059-2DA0-4456-AC36-A755958EE53A}" destId="{65701855-68B3-43E8-8CA7-EF8FD403E06C}" srcOrd="1" destOrd="0" presId="urn:microsoft.com/office/officeart/2005/8/layout/cycle4"/>
    <dgm:cxn modelId="{6F471629-0BF2-46E7-9F84-354BECDF8EB8}" type="presParOf" srcId="{0F401DC4-2146-4D98-9F94-E90856CFEAF5}" destId="{89DB6D2C-2BCA-48F9-838C-B22C9023E273}" srcOrd="1" destOrd="0" presId="urn:microsoft.com/office/officeart/2005/8/layout/cycle4"/>
    <dgm:cxn modelId="{AC059936-4FDF-4B22-A8E8-F42F03DCC6A0}" type="presParOf" srcId="{89DB6D2C-2BCA-48F9-838C-B22C9023E273}" destId="{9750417F-1CFD-453D-9841-8412C181DE82}" srcOrd="0" destOrd="0" presId="urn:microsoft.com/office/officeart/2005/8/layout/cycle4"/>
    <dgm:cxn modelId="{7409FB01-6BDF-4BDC-A701-988D17923FBF}" type="presParOf" srcId="{89DB6D2C-2BCA-48F9-838C-B22C9023E273}" destId="{BB375C81-33C4-42B9-A20C-1F617869CE99}" srcOrd="1" destOrd="0" presId="urn:microsoft.com/office/officeart/2005/8/layout/cycle4"/>
    <dgm:cxn modelId="{EDD9FEEA-F7C7-40C1-BBD6-5F10B82846FC}" type="presParOf" srcId="{0F401DC4-2146-4D98-9F94-E90856CFEAF5}" destId="{BB219CB1-5978-428B-AE03-E25676A67BB4}" srcOrd="2" destOrd="0" presId="urn:microsoft.com/office/officeart/2005/8/layout/cycle4"/>
    <dgm:cxn modelId="{38A17EF2-9A81-4280-A9C1-49879FDCBCDD}" type="presParOf" srcId="{BB219CB1-5978-428B-AE03-E25676A67BB4}" destId="{621EDE92-718B-4956-9BC5-2AA383574015}" srcOrd="0" destOrd="0" presId="urn:microsoft.com/office/officeart/2005/8/layout/cycle4"/>
    <dgm:cxn modelId="{7603718A-9BDB-4682-82A5-6C40086585F4}" type="presParOf" srcId="{BB219CB1-5978-428B-AE03-E25676A67BB4}" destId="{1403D515-3385-4CED-81FD-EC7C8477A32E}" srcOrd="1" destOrd="0" presId="urn:microsoft.com/office/officeart/2005/8/layout/cycle4"/>
    <dgm:cxn modelId="{D8672C29-8DAB-4E8F-93F4-7E735670247A}" type="presParOf" srcId="{0F401DC4-2146-4D98-9F94-E90856CFEAF5}" destId="{7F91BB73-5CF7-4A02-A9C3-7A91F6C5FE30}" srcOrd="3" destOrd="0" presId="urn:microsoft.com/office/officeart/2005/8/layout/cycle4"/>
    <dgm:cxn modelId="{46B9E5F1-E52E-4A7D-85A2-48A5D15301AA}" type="presParOf" srcId="{7F91BB73-5CF7-4A02-A9C3-7A91F6C5FE30}" destId="{A24AEBEA-4091-4758-B846-6BD88972A26C}" srcOrd="0" destOrd="0" presId="urn:microsoft.com/office/officeart/2005/8/layout/cycle4"/>
    <dgm:cxn modelId="{9D18C9A9-E188-47FE-9D51-CB7B25568131}" type="presParOf" srcId="{7F91BB73-5CF7-4A02-A9C3-7A91F6C5FE30}" destId="{875E3DE6-3CA9-442D-9F04-2E4E0E42E8A0}" srcOrd="1" destOrd="0" presId="urn:microsoft.com/office/officeart/2005/8/layout/cycle4"/>
    <dgm:cxn modelId="{EA930121-DE2D-43CA-9735-72D3EEC620B3}" type="presParOf" srcId="{0F401DC4-2146-4D98-9F94-E90856CFEAF5}" destId="{D52369E6-5F7D-410C-8A53-054A91956FFB}" srcOrd="4" destOrd="0" presId="urn:microsoft.com/office/officeart/2005/8/layout/cycle4"/>
    <dgm:cxn modelId="{3FA5D66B-925D-417A-9F80-58709E237CC8}" type="presParOf" srcId="{7BBA7B1A-5C1F-4718-BD1D-562AAF0C3D75}" destId="{28A26828-EC0E-47DD-A470-6C4B30A8BD98}" srcOrd="1" destOrd="0" presId="urn:microsoft.com/office/officeart/2005/8/layout/cycle4"/>
    <dgm:cxn modelId="{A34ED8BA-7172-4010-B9A9-84F06774DD45}" type="presParOf" srcId="{28A26828-EC0E-47DD-A470-6C4B30A8BD98}" destId="{5309AF2F-3AFF-4BAA-BB94-D74A3678DDBA}" srcOrd="0" destOrd="0" presId="urn:microsoft.com/office/officeart/2005/8/layout/cycle4"/>
    <dgm:cxn modelId="{09C892E4-9880-46CF-A4E5-33378451CC84}" type="presParOf" srcId="{28A26828-EC0E-47DD-A470-6C4B30A8BD98}" destId="{92127804-D140-436F-AE2E-4E9B2A2D113C}" srcOrd="1" destOrd="0" presId="urn:microsoft.com/office/officeart/2005/8/layout/cycle4"/>
    <dgm:cxn modelId="{3B947C71-3E08-47B3-A381-1D00B56F5C5E}" type="presParOf" srcId="{28A26828-EC0E-47DD-A470-6C4B30A8BD98}" destId="{FCC1A00F-1CF2-442B-9F30-40851539B78E}" srcOrd="2" destOrd="0" presId="urn:microsoft.com/office/officeart/2005/8/layout/cycle4"/>
    <dgm:cxn modelId="{FECBF105-A777-424D-A100-222C756804F0}" type="presParOf" srcId="{28A26828-EC0E-47DD-A470-6C4B30A8BD98}" destId="{20DB7B6A-94F5-4D21-A578-85FBB7FF8150}" srcOrd="3" destOrd="0" presId="urn:microsoft.com/office/officeart/2005/8/layout/cycle4"/>
    <dgm:cxn modelId="{48DD9A49-6A3A-432B-9B71-F8CECA0104E8}" type="presParOf" srcId="{28A26828-EC0E-47DD-A470-6C4B30A8BD98}" destId="{B0D31B80-E6E3-4F24-A3EA-164073D74866}" srcOrd="4" destOrd="0" presId="urn:microsoft.com/office/officeart/2005/8/layout/cycle4"/>
    <dgm:cxn modelId="{DCCFEC67-5E88-434B-AE49-9708D7760B12}" type="presParOf" srcId="{7BBA7B1A-5C1F-4718-BD1D-562AAF0C3D75}" destId="{98F11B6A-1C0D-4624-9180-595A05653D2B}" srcOrd="2" destOrd="0" presId="urn:microsoft.com/office/officeart/2005/8/layout/cycle4"/>
    <dgm:cxn modelId="{FCBCB141-E53D-413F-862B-F885DBD51EED}" type="presParOf" srcId="{7BBA7B1A-5C1F-4718-BD1D-562AAF0C3D75}" destId="{86CEA3FD-BFC5-4D11-BD29-CCB92B102924}" srcOrd="3" destOrd="0" presId="urn:microsoft.com/office/officeart/2005/8/layout/cycle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1EDE92-718B-4956-9BC5-2AA383574015}">
      <dsp:nvSpPr>
        <dsp:cNvPr id="0" name=""/>
        <dsp:cNvSpPr/>
      </dsp:nvSpPr>
      <dsp:spPr>
        <a:xfrm>
          <a:off x="5022932" y="3958526"/>
          <a:ext cx="2875753" cy="1862836"/>
        </a:xfrm>
        <a:prstGeom prst="roundRect">
          <a:avLst>
            <a:gd name="adj" fmla="val 10000"/>
          </a:avLst>
        </a:prstGeom>
        <a:solidFill>
          <a:schemeClr val="dk1">
            <a:alpha val="90000"/>
            <a:tint val="40000"/>
            <a:hueOff val="0"/>
            <a:satOff val="0"/>
            <a:lumOff val="0"/>
            <a:alphaOff val="0"/>
          </a:schemeClr>
        </a:solidFill>
        <a:ln w="2540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14300" lvl="1" indent="-114300" algn="l" defTabSz="666750">
            <a:lnSpc>
              <a:spcPct val="90000"/>
            </a:lnSpc>
            <a:spcBef>
              <a:spcPct val="0"/>
            </a:spcBef>
            <a:spcAft>
              <a:spcPct val="15000"/>
            </a:spcAft>
            <a:buChar char="••"/>
          </a:pPr>
          <a:r>
            <a:rPr lang="en-GB" sz="1500" kern="1200" dirty="0" smtClean="0"/>
            <a:t>Unsuccessful job performance</a:t>
          </a:r>
          <a:endParaRPr lang="en-IN" sz="1500" kern="1200" dirty="0"/>
        </a:p>
        <a:p>
          <a:pPr marL="114300" lvl="1" indent="-114300" algn="l" defTabSz="666750">
            <a:lnSpc>
              <a:spcPct val="90000"/>
            </a:lnSpc>
            <a:spcBef>
              <a:spcPct val="0"/>
            </a:spcBef>
            <a:spcAft>
              <a:spcPct val="15000"/>
            </a:spcAft>
            <a:buChar char="••"/>
          </a:pPr>
          <a:r>
            <a:rPr lang="en-GB" sz="1500" kern="1200" dirty="0" smtClean="0"/>
            <a:t>Reject the candidate</a:t>
          </a:r>
          <a:endParaRPr lang="en-IN" sz="1500" kern="1200" dirty="0"/>
        </a:p>
      </dsp:txBody>
      <dsp:txXfrm>
        <a:off x="5926578" y="4465155"/>
        <a:ext cx="1931187" cy="1315287"/>
      </dsp:txXfrm>
    </dsp:sp>
    <dsp:sp modelId="{A24AEBEA-4091-4758-B846-6BD88972A26C}">
      <dsp:nvSpPr>
        <dsp:cNvPr id="0" name=""/>
        <dsp:cNvSpPr/>
      </dsp:nvSpPr>
      <dsp:spPr>
        <a:xfrm>
          <a:off x="330914" y="3958526"/>
          <a:ext cx="2875753" cy="1862836"/>
        </a:xfrm>
        <a:prstGeom prst="roundRect">
          <a:avLst>
            <a:gd name="adj" fmla="val 10000"/>
          </a:avLst>
        </a:prstGeom>
        <a:solidFill>
          <a:schemeClr val="dk1">
            <a:alpha val="90000"/>
            <a:tint val="40000"/>
            <a:hueOff val="0"/>
            <a:satOff val="0"/>
            <a:lumOff val="0"/>
            <a:alphaOff val="0"/>
          </a:schemeClr>
        </a:solidFill>
        <a:ln w="2540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14300" lvl="1" indent="-114300" algn="l" defTabSz="666750">
            <a:lnSpc>
              <a:spcPct val="90000"/>
            </a:lnSpc>
            <a:spcBef>
              <a:spcPct val="0"/>
            </a:spcBef>
            <a:spcAft>
              <a:spcPct val="15000"/>
            </a:spcAft>
            <a:buChar char="••"/>
          </a:pPr>
          <a:r>
            <a:rPr lang="en-GB" sz="1500" kern="1200" dirty="0" smtClean="0"/>
            <a:t>Unsuccessful job performance</a:t>
          </a:r>
          <a:endParaRPr lang="en-IN" sz="1500" kern="1200" dirty="0"/>
        </a:p>
        <a:p>
          <a:pPr marL="114300" lvl="1" indent="-114300" algn="l" defTabSz="666750">
            <a:lnSpc>
              <a:spcPct val="90000"/>
            </a:lnSpc>
            <a:spcBef>
              <a:spcPct val="0"/>
            </a:spcBef>
            <a:spcAft>
              <a:spcPct val="15000"/>
            </a:spcAft>
            <a:buChar char="••"/>
          </a:pPr>
          <a:r>
            <a:rPr lang="en-GB" sz="1500" kern="1200" dirty="0" smtClean="0"/>
            <a:t>Accept the candidate</a:t>
          </a:r>
          <a:endParaRPr lang="en-IN" sz="1500" kern="1200" dirty="0"/>
        </a:p>
        <a:p>
          <a:pPr marL="114300" lvl="1" indent="-114300" algn="l" defTabSz="666750">
            <a:lnSpc>
              <a:spcPct val="90000"/>
            </a:lnSpc>
            <a:spcBef>
              <a:spcPct val="0"/>
            </a:spcBef>
            <a:spcAft>
              <a:spcPct val="15000"/>
            </a:spcAft>
            <a:buChar char="••"/>
          </a:pPr>
          <a:endParaRPr lang="en-IN" sz="1500" kern="1200" dirty="0"/>
        </a:p>
      </dsp:txBody>
      <dsp:txXfrm>
        <a:off x="371834" y="4465155"/>
        <a:ext cx="1931187" cy="1315287"/>
      </dsp:txXfrm>
    </dsp:sp>
    <dsp:sp modelId="{9750417F-1CFD-453D-9841-8412C181DE82}">
      <dsp:nvSpPr>
        <dsp:cNvPr id="0" name=""/>
        <dsp:cNvSpPr/>
      </dsp:nvSpPr>
      <dsp:spPr>
        <a:xfrm>
          <a:off x="5022932" y="0"/>
          <a:ext cx="2875753" cy="1862836"/>
        </a:xfrm>
        <a:prstGeom prst="roundRect">
          <a:avLst>
            <a:gd name="adj" fmla="val 10000"/>
          </a:avLst>
        </a:prstGeom>
        <a:solidFill>
          <a:schemeClr val="dk1">
            <a:alpha val="90000"/>
            <a:tint val="40000"/>
            <a:hueOff val="0"/>
            <a:satOff val="0"/>
            <a:lumOff val="0"/>
            <a:alphaOff val="0"/>
          </a:schemeClr>
        </a:solidFill>
        <a:ln w="2540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14300" lvl="1" indent="-114300" algn="l" defTabSz="666750">
            <a:lnSpc>
              <a:spcPct val="90000"/>
            </a:lnSpc>
            <a:spcBef>
              <a:spcPct val="0"/>
            </a:spcBef>
            <a:spcAft>
              <a:spcPct val="15000"/>
            </a:spcAft>
            <a:buChar char="••"/>
          </a:pPr>
          <a:r>
            <a:rPr lang="en-GB" sz="1500" kern="1200" dirty="0" smtClean="0"/>
            <a:t>Successful job performance</a:t>
          </a:r>
          <a:endParaRPr lang="en-IN" sz="1500" kern="1200" dirty="0"/>
        </a:p>
        <a:p>
          <a:pPr marL="114300" lvl="1" indent="-114300" algn="l" defTabSz="666750">
            <a:lnSpc>
              <a:spcPct val="90000"/>
            </a:lnSpc>
            <a:spcBef>
              <a:spcPct val="0"/>
            </a:spcBef>
            <a:spcAft>
              <a:spcPct val="15000"/>
            </a:spcAft>
            <a:buChar char="••"/>
          </a:pPr>
          <a:r>
            <a:rPr lang="en-GB" sz="1500" kern="1200" dirty="0" smtClean="0"/>
            <a:t>Reject the candidate</a:t>
          </a:r>
          <a:endParaRPr lang="en-IN" sz="1500" kern="1200" dirty="0"/>
        </a:p>
      </dsp:txBody>
      <dsp:txXfrm>
        <a:off x="5926578" y="40920"/>
        <a:ext cx="1931187" cy="1315287"/>
      </dsp:txXfrm>
    </dsp:sp>
    <dsp:sp modelId="{81525C52-D324-44BC-9C63-FFCE9FDDB4BC}">
      <dsp:nvSpPr>
        <dsp:cNvPr id="0" name=""/>
        <dsp:cNvSpPr/>
      </dsp:nvSpPr>
      <dsp:spPr>
        <a:xfrm>
          <a:off x="330914" y="0"/>
          <a:ext cx="2875753" cy="1862836"/>
        </a:xfrm>
        <a:prstGeom prst="roundRect">
          <a:avLst>
            <a:gd name="adj" fmla="val 10000"/>
          </a:avLst>
        </a:prstGeom>
        <a:solidFill>
          <a:schemeClr val="dk1">
            <a:alpha val="90000"/>
            <a:tint val="40000"/>
            <a:hueOff val="0"/>
            <a:satOff val="0"/>
            <a:lumOff val="0"/>
            <a:alphaOff val="0"/>
          </a:schemeClr>
        </a:solidFill>
        <a:ln w="2540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14300" lvl="1" indent="-114300" algn="l" defTabSz="666750">
            <a:lnSpc>
              <a:spcPct val="90000"/>
            </a:lnSpc>
            <a:spcBef>
              <a:spcPct val="0"/>
            </a:spcBef>
            <a:spcAft>
              <a:spcPct val="15000"/>
            </a:spcAft>
            <a:buChar char="••"/>
          </a:pPr>
          <a:r>
            <a:rPr lang="en-GB" sz="1500" kern="1200" dirty="0" smtClean="0"/>
            <a:t>Successful job performance</a:t>
          </a:r>
          <a:endParaRPr lang="en-IN" sz="1500" kern="1200" dirty="0"/>
        </a:p>
        <a:p>
          <a:pPr marL="114300" lvl="1" indent="-114300" algn="l" defTabSz="666750">
            <a:lnSpc>
              <a:spcPct val="90000"/>
            </a:lnSpc>
            <a:spcBef>
              <a:spcPct val="0"/>
            </a:spcBef>
            <a:spcAft>
              <a:spcPct val="15000"/>
            </a:spcAft>
            <a:buChar char="••"/>
          </a:pPr>
          <a:r>
            <a:rPr lang="en-GB" sz="1500" kern="1200" dirty="0" smtClean="0"/>
            <a:t>Accept the candidate</a:t>
          </a:r>
          <a:endParaRPr lang="en-IN" sz="1500" kern="1200" dirty="0"/>
        </a:p>
      </dsp:txBody>
      <dsp:txXfrm>
        <a:off x="371834" y="40920"/>
        <a:ext cx="1931187" cy="1315287"/>
      </dsp:txXfrm>
    </dsp:sp>
    <dsp:sp modelId="{5309AF2F-3AFF-4BAA-BB94-D74A3678DDBA}">
      <dsp:nvSpPr>
        <dsp:cNvPr id="0" name=""/>
        <dsp:cNvSpPr/>
      </dsp:nvSpPr>
      <dsp:spPr>
        <a:xfrm>
          <a:off x="1535936" y="331817"/>
          <a:ext cx="2520650" cy="2520650"/>
        </a:xfrm>
        <a:prstGeom prst="pieWedge">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0472" tIns="220472" rIns="220472" bIns="220472" numCol="1" spcCol="1270" anchor="ctr" anchorCtr="0">
          <a:noAutofit/>
        </a:bodyPr>
        <a:lstStyle/>
        <a:p>
          <a:pPr lvl="0" algn="ctr" defTabSz="1377950">
            <a:lnSpc>
              <a:spcPct val="90000"/>
            </a:lnSpc>
            <a:spcBef>
              <a:spcPct val="0"/>
            </a:spcBef>
            <a:spcAft>
              <a:spcPct val="35000"/>
            </a:spcAft>
          </a:pPr>
          <a:r>
            <a:rPr lang="en-GB" sz="3100" kern="1200" dirty="0" smtClean="0"/>
            <a:t>Correct decision</a:t>
          </a:r>
          <a:endParaRPr lang="en-IN" sz="3100" kern="1200" dirty="0"/>
        </a:p>
      </dsp:txBody>
      <dsp:txXfrm>
        <a:off x="2274217" y="1070098"/>
        <a:ext cx="1782369" cy="1782369"/>
      </dsp:txXfrm>
    </dsp:sp>
    <dsp:sp modelId="{92127804-D140-436F-AE2E-4E9B2A2D113C}">
      <dsp:nvSpPr>
        <dsp:cNvPr id="0" name=""/>
        <dsp:cNvSpPr/>
      </dsp:nvSpPr>
      <dsp:spPr>
        <a:xfrm rot="5400000">
          <a:off x="4173013" y="331817"/>
          <a:ext cx="2520650" cy="2520650"/>
        </a:xfrm>
        <a:prstGeom prst="pieWedge">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0472" tIns="220472" rIns="220472" bIns="220472" numCol="1" spcCol="1270" anchor="ctr" anchorCtr="0">
          <a:noAutofit/>
        </a:bodyPr>
        <a:lstStyle/>
        <a:p>
          <a:pPr lvl="0" algn="ctr" defTabSz="1377950">
            <a:lnSpc>
              <a:spcPct val="90000"/>
            </a:lnSpc>
            <a:spcBef>
              <a:spcPct val="0"/>
            </a:spcBef>
            <a:spcAft>
              <a:spcPct val="35000"/>
            </a:spcAft>
          </a:pPr>
          <a:r>
            <a:rPr lang="en-GB" sz="3100" kern="1200" dirty="0" smtClean="0"/>
            <a:t>Reject error</a:t>
          </a:r>
          <a:endParaRPr lang="en-IN" sz="3100" kern="1200" dirty="0"/>
        </a:p>
      </dsp:txBody>
      <dsp:txXfrm rot="-5400000">
        <a:off x="4173013" y="1070098"/>
        <a:ext cx="1782369" cy="1782369"/>
      </dsp:txXfrm>
    </dsp:sp>
    <dsp:sp modelId="{FCC1A00F-1CF2-442B-9F30-40851539B78E}">
      <dsp:nvSpPr>
        <dsp:cNvPr id="0" name=""/>
        <dsp:cNvSpPr/>
      </dsp:nvSpPr>
      <dsp:spPr>
        <a:xfrm rot="10800000">
          <a:off x="4173013" y="2968895"/>
          <a:ext cx="2520650" cy="2520650"/>
        </a:xfrm>
        <a:prstGeom prst="pieWedge">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0472" tIns="220472" rIns="220472" bIns="220472" numCol="1" spcCol="1270" anchor="ctr" anchorCtr="0">
          <a:noAutofit/>
        </a:bodyPr>
        <a:lstStyle/>
        <a:p>
          <a:pPr lvl="0" algn="ctr" defTabSz="1377950">
            <a:lnSpc>
              <a:spcPct val="90000"/>
            </a:lnSpc>
            <a:spcBef>
              <a:spcPct val="0"/>
            </a:spcBef>
            <a:spcAft>
              <a:spcPct val="35000"/>
            </a:spcAft>
          </a:pPr>
          <a:r>
            <a:rPr lang="en-GB" sz="3100" kern="1200" dirty="0" smtClean="0"/>
            <a:t>Correct decision</a:t>
          </a:r>
          <a:endParaRPr lang="en-IN" sz="3100" kern="1200" dirty="0"/>
        </a:p>
      </dsp:txBody>
      <dsp:txXfrm rot="10800000">
        <a:off x="4173013" y="2968895"/>
        <a:ext cx="1782369" cy="1782369"/>
      </dsp:txXfrm>
    </dsp:sp>
    <dsp:sp modelId="{20DB7B6A-94F5-4D21-A578-85FBB7FF8150}">
      <dsp:nvSpPr>
        <dsp:cNvPr id="0" name=""/>
        <dsp:cNvSpPr/>
      </dsp:nvSpPr>
      <dsp:spPr>
        <a:xfrm rot="16200000">
          <a:off x="1535936" y="2968895"/>
          <a:ext cx="2520650" cy="2520650"/>
        </a:xfrm>
        <a:prstGeom prst="pieWedge">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0472" tIns="220472" rIns="220472" bIns="220472" numCol="1" spcCol="1270" anchor="ctr" anchorCtr="0">
          <a:noAutofit/>
        </a:bodyPr>
        <a:lstStyle/>
        <a:p>
          <a:pPr lvl="0" algn="ctr" defTabSz="1377950">
            <a:lnSpc>
              <a:spcPct val="90000"/>
            </a:lnSpc>
            <a:spcBef>
              <a:spcPct val="0"/>
            </a:spcBef>
            <a:spcAft>
              <a:spcPct val="35000"/>
            </a:spcAft>
          </a:pPr>
          <a:r>
            <a:rPr lang="en-GB" sz="3100" kern="1200" dirty="0" smtClean="0"/>
            <a:t>Accept error</a:t>
          </a:r>
          <a:endParaRPr lang="en-IN" sz="3100" kern="1200" dirty="0"/>
        </a:p>
      </dsp:txBody>
      <dsp:txXfrm rot="5400000">
        <a:off x="2274217" y="2968895"/>
        <a:ext cx="1782369" cy="1782369"/>
      </dsp:txXfrm>
    </dsp:sp>
    <dsp:sp modelId="{98F11B6A-1C0D-4624-9180-595A05653D2B}">
      <dsp:nvSpPr>
        <dsp:cNvPr id="0" name=""/>
        <dsp:cNvSpPr/>
      </dsp:nvSpPr>
      <dsp:spPr>
        <a:xfrm>
          <a:off x="3679653" y="2386758"/>
          <a:ext cx="870293" cy="756777"/>
        </a:xfrm>
        <a:prstGeom prst="circularArrow">
          <a:avLst/>
        </a:prstGeom>
        <a:solidFill>
          <a:schemeClr val="dk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6CEA3FD-BFC5-4D11-BD29-CCB92B102924}">
      <dsp:nvSpPr>
        <dsp:cNvPr id="0" name=""/>
        <dsp:cNvSpPr/>
      </dsp:nvSpPr>
      <dsp:spPr>
        <a:xfrm rot="10800000">
          <a:off x="3679653" y="2677826"/>
          <a:ext cx="870293" cy="756777"/>
        </a:xfrm>
        <a:prstGeom prst="circularArrow">
          <a:avLst/>
        </a:prstGeom>
        <a:solidFill>
          <a:schemeClr val="dk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Human Resource Management (HRM)</a:t>
            </a:r>
            <a:endParaRPr lang="en-IN" dirty="0"/>
          </a:p>
        </p:txBody>
      </p:sp>
      <p:sp>
        <p:nvSpPr>
          <p:cNvPr id="3" name="Subtitle 2"/>
          <p:cNvSpPr>
            <a:spLocks noGrp="1"/>
          </p:cNvSpPr>
          <p:nvPr>
            <p:ph type="subTitle" idx="1"/>
          </p:nvPr>
        </p:nvSpPr>
        <p:spPr/>
        <p:txBody>
          <a:bodyPr/>
          <a:lstStyle/>
          <a:p>
            <a:r>
              <a:rPr lang="en-GB" dirty="0" smtClean="0"/>
              <a:t>Session 10</a:t>
            </a:r>
          </a:p>
          <a:p>
            <a:r>
              <a:rPr lang="en-GB" dirty="0" smtClean="0"/>
              <a:t>16</a:t>
            </a:r>
            <a:r>
              <a:rPr lang="en-GB" baseline="30000" dirty="0" smtClean="0"/>
              <a:t>th</a:t>
            </a:r>
            <a:r>
              <a:rPr lang="en-GB" dirty="0" smtClean="0"/>
              <a:t> June, 2026</a:t>
            </a:r>
            <a:endParaRPr lang="en-IN" dirty="0"/>
          </a:p>
        </p:txBody>
      </p:sp>
    </p:spTree>
    <p:extLst>
      <p:ext uri="{BB962C8B-B14F-4D97-AF65-F5344CB8AC3E}">
        <p14:creationId xmlns:p14="http://schemas.microsoft.com/office/powerpoint/2010/main" val="39103984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Why Human Resource Management is important?</a:t>
            </a:r>
            <a:endParaRPr lang="en-IN" dirty="0"/>
          </a:p>
        </p:txBody>
      </p:sp>
      <p:sp>
        <p:nvSpPr>
          <p:cNvPr id="3" name="Content Placeholder 2"/>
          <p:cNvSpPr>
            <a:spLocks noGrp="1"/>
          </p:cNvSpPr>
          <p:nvPr>
            <p:ph idx="1"/>
          </p:nvPr>
        </p:nvSpPr>
        <p:spPr/>
        <p:txBody>
          <a:bodyPr>
            <a:normAutofit fontScale="92500" lnSpcReduction="10000"/>
          </a:bodyPr>
          <a:lstStyle/>
          <a:p>
            <a:r>
              <a:rPr lang="en-GB" i="1" dirty="0"/>
              <a:t>Can </a:t>
            </a:r>
            <a:r>
              <a:rPr lang="en-GB" dirty="0"/>
              <a:t>HRM be an important strategic tool? </a:t>
            </a:r>
            <a:endParaRPr lang="en-GB" dirty="0" smtClean="0"/>
          </a:p>
          <a:p>
            <a:r>
              <a:rPr lang="en-GB" i="1" dirty="0" smtClean="0"/>
              <a:t>Can </a:t>
            </a:r>
            <a:r>
              <a:rPr lang="en-GB" dirty="0"/>
              <a:t>it help establish an organization's sustainable competitive advantage? </a:t>
            </a:r>
          </a:p>
          <a:p>
            <a:r>
              <a:rPr lang="en-IN" dirty="0" smtClean="0"/>
              <a:t>HRM results in </a:t>
            </a:r>
            <a:r>
              <a:rPr lang="en-IN" b="1" dirty="0" smtClean="0"/>
              <a:t>high-performance work practices </a:t>
            </a:r>
            <a:r>
              <a:rPr lang="en-IN" dirty="0" smtClean="0"/>
              <a:t>such as </a:t>
            </a:r>
            <a:r>
              <a:rPr lang="en-GB" dirty="0"/>
              <a:t>a </a:t>
            </a:r>
            <a:r>
              <a:rPr lang="en-GB" i="1" dirty="0"/>
              <a:t>commitment to improving the knowledge, skills, and abilities of an organization's employees</a:t>
            </a:r>
            <a:r>
              <a:rPr lang="en-GB" dirty="0"/>
              <a:t>, </a:t>
            </a:r>
            <a:r>
              <a:rPr lang="en-GB" i="1" dirty="0"/>
              <a:t>increasing their motivation</a:t>
            </a:r>
            <a:r>
              <a:rPr lang="en-GB" dirty="0"/>
              <a:t>, </a:t>
            </a:r>
            <a:r>
              <a:rPr lang="en-GB" i="1" dirty="0"/>
              <a:t>reducing loafing on the job</a:t>
            </a:r>
            <a:r>
              <a:rPr lang="en-GB" dirty="0"/>
              <a:t>, and </a:t>
            </a:r>
            <a:r>
              <a:rPr lang="en-GB" i="1" dirty="0"/>
              <a:t>enhancing the retention of quality employees </a:t>
            </a:r>
            <a:r>
              <a:rPr lang="en-GB" dirty="0"/>
              <a:t>while </a:t>
            </a:r>
            <a:r>
              <a:rPr lang="en-GB" i="1" dirty="0"/>
              <a:t>encouraging nonperformers to </a:t>
            </a:r>
            <a:r>
              <a:rPr lang="en-GB" i="1" dirty="0" smtClean="0"/>
              <a:t>leave</a:t>
            </a:r>
            <a:r>
              <a:rPr lang="en-IN" i="1" dirty="0" smtClean="0"/>
              <a:t>  </a:t>
            </a:r>
            <a:endParaRPr lang="en-IN" i="1" dirty="0"/>
          </a:p>
          <a:p>
            <a:endParaRPr lang="en-IN" dirty="0"/>
          </a:p>
        </p:txBody>
      </p:sp>
    </p:spTree>
    <p:extLst>
      <p:ext uri="{BB962C8B-B14F-4D97-AF65-F5344CB8AC3E}">
        <p14:creationId xmlns:p14="http://schemas.microsoft.com/office/powerpoint/2010/main" val="1757120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HRM Process</a:t>
            </a:r>
            <a:endParaRPr lang="en-IN"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4800" y="1219200"/>
            <a:ext cx="85344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38264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Human Resource Planning (HRP)</a:t>
            </a:r>
            <a:endParaRPr lang="en-IN" dirty="0"/>
          </a:p>
        </p:txBody>
      </p:sp>
      <p:sp>
        <p:nvSpPr>
          <p:cNvPr id="3" name="Content Placeholder 2"/>
          <p:cNvSpPr>
            <a:spLocks noGrp="1"/>
          </p:cNvSpPr>
          <p:nvPr>
            <p:ph idx="1"/>
          </p:nvPr>
        </p:nvSpPr>
        <p:spPr/>
        <p:txBody>
          <a:bodyPr>
            <a:normAutofit fontScale="92500" lnSpcReduction="10000"/>
          </a:bodyPr>
          <a:lstStyle/>
          <a:p>
            <a:r>
              <a:rPr lang="en-GB" dirty="0" smtClean="0"/>
              <a:t>HRP </a:t>
            </a:r>
            <a:r>
              <a:rPr lang="en-GB" dirty="0"/>
              <a:t>is the process by which managers ensure that they have the right number and kinds of people in the right places, and at the right times, who are capable of effectively and efficiently performing assigned tasks. </a:t>
            </a:r>
            <a:endParaRPr lang="en-GB" dirty="0" smtClean="0"/>
          </a:p>
          <a:p>
            <a:r>
              <a:rPr lang="en-GB" dirty="0" smtClean="0"/>
              <a:t>HRP </a:t>
            </a:r>
            <a:r>
              <a:rPr lang="en-GB" dirty="0"/>
              <a:t>can be condensed into two steps: (1) </a:t>
            </a:r>
            <a:r>
              <a:rPr lang="en-GB" u="sng" dirty="0"/>
              <a:t>assessing current human resources </a:t>
            </a:r>
            <a:r>
              <a:rPr lang="en-GB" dirty="0"/>
              <a:t>and (2) </a:t>
            </a:r>
            <a:r>
              <a:rPr lang="en-GB" u="sng" dirty="0"/>
              <a:t>assessing future human resource needs and developing a program to meet those future needs</a:t>
            </a:r>
            <a:r>
              <a:rPr lang="en-GB" dirty="0" smtClean="0"/>
              <a:t>.</a:t>
            </a:r>
            <a:r>
              <a:rPr lang="en-IN" dirty="0" smtClean="0"/>
              <a:t> </a:t>
            </a:r>
            <a:endParaRPr lang="en-IN" dirty="0"/>
          </a:p>
          <a:p>
            <a:endParaRPr lang="en-IN" dirty="0"/>
          </a:p>
        </p:txBody>
      </p:sp>
    </p:spTree>
    <p:extLst>
      <p:ext uri="{BB962C8B-B14F-4D97-AF65-F5344CB8AC3E}">
        <p14:creationId xmlns:p14="http://schemas.microsoft.com/office/powerpoint/2010/main" val="2203202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IN" b="1" dirty="0"/>
              <a:t>Current </a:t>
            </a:r>
            <a:r>
              <a:rPr lang="en-IN" b="1" dirty="0" smtClean="0"/>
              <a:t>Assessment</a:t>
            </a:r>
            <a:endParaRPr lang="en-IN" dirty="0"/>
          </a:p>
        </p:txBody>
      </p:sp>
      <p:sp>
        <p:nvSpPr>
          <p:cNvPr id="3" name="Content Placeholder 2"/>
          <p:cNvSpPr>
            <a:spLocks noGrp="1"/>
          </p:cNvSpPr>
          <p:nvPr>
            <p:ph idx="1"/>
          </p:nvPr>
        </p:nvSpPr>
        <p:spPr>
          <a:xfrm>
            <a:off x="457200" y="1066800"/>
            <a:ext cx="8229600" cy="5059363"/>
          </a:xfrm>
        </p:spPr>
        <p:txBody>
          <a:bodyPr>
            <a:normAutofit fontScale="70000" lnSpcReduction="20000"/>
          </a:bodyPr>
          <a:lstStyle/>
          <a:p>
            <a:r>
              <a:rPr lang="en-GB" dirty="0"/>
              <a:t>Managers begin HR planning by reviewing the organization's current human resource status, usually through a </a:t>
            </a:r>
            <a:r>
              <a:rPr lang="en-GB" i="1" dirty="0"/>
              <a:t>human resource inventory</a:t>
            </a:r>
            <a:r>
              <a:rPr lang="en-GB" dirty="0"/>
              <a:t>. This information is derived from </a:t>
            </a:r>
            <a:r>
              <a:rPr lang="en-GB" u="sng" dirty="0"/>
              <a:t>forms filled out by employees</a:t>
            </a:r>
            <a:r>
              <a:rPr lang="en-GB" dirty="0"/>
              <a:t>, which includes items such as name, education, training, prior employment, languages spoken, special capabilities, and specialized skills </a:t>
            </a:r>
          </a:p>
          <a:p>
            <a:r>
              <a:rPr lang="en-GB" dirty="0"/>
              <a:t>Another part of the current assessment is the </a:t>
            </a:r>
            <a:r>
              <a:rPr lang="en-GB" u="sng" dirty="0"/>
              <a:t>job analysis</a:t>
            </a:r>
            <a:r>
              <a:rPr lang="en-GB" dirty="0"/>
              <a:t>, which is an assessment that defines jobs and the </a:t>
            </a:r>
            <a:r>
              <a:rPr lang="en-GB" dirty="0" err="1"/>
              <a:t>behaviors</a:t>
            </a:r>
            <a:r>
              <a:rPr lang="en-GB" dirty="0"/>
              <a:t> necessary to perform </a:t>
            </a:r>
            <a:r>
              <a:rPr lang="en-GB" dirty="0" smtClean="0"/>
              <a:t>them. </a:t>
            </a:r>
            <a:r>
              <a:rPr lang="en-GB" dirty="0"/>
              <a:t>What </a:t>
            </a:r>
            <a:r>
              <a:rPr lang="en-GB" u="sng" dirty="0"/>
              <a:t>minimal knowledge, skills, and abilities </a:t>
            </a:r>
            <a:r>
              <a:rPr lang="en-GB" dirty="0"/>
              <a:t>are necessary to be able to adequately perform this job? </a:t>
            </a:r>
            <a:endParaRPr lang="en-GB" dirty="0" smtClean="0"/>
          </a:p>
          <a:p>
            <a:r>
              <a:rPr lang="en-GB" dirty="0"/>
              <a:t>Information for a job analysis can be gathered through the following methods: </a:t>
            </a:r>
            <a:r>
              <a:rPr lang="en-GB" i="1" dirty="0"/>
              <a:t>directly observing or filming individuals on the job</a:t>
            </a:r>
            <a:r>
              <a:rPr lang="en-GB" dirty="0"/>
              <a:t>, </a:t>
            </a:r>
            <a:r>
              <a:rPr lang="en-GB" i="1" dirty="0"/>
              <a:t>interviewing employees individually or in a group</a:t>
            </a:r>
            <a:r>
              <a:rPr lang="en-GB" dirty="0"/>
              <a:t>, </a:t>
            </a:r>
            <a:r>
              <a:rPr lang="en-GB" i="1" dirty="0"/>
              <a:t>having employees complete a structured questionnaire</a:t>
            </a:r>
            <a:r>
              <a:rPr lang="en-GB" dirty="0"/>
              <a:t>, </a:t>
            </a:r>
            <a:r>
              <a:rPr lang="en-GB" i="1" dirty="0"/>
              <a:t>having job "experts" (usually managers) identify a job's specific characteristics</a:t>
            </a:r>
            <a:r>
              <a:rPr lang="en-GB" dirty="0"/>
              <a:t>, and </a:t>
            </a:r>
            <a:r>
              <a:rPr lang="en-GB" i="1" dirty="0"/>
              <a:t>having employees record their daily activities in a diary or </a:t>
            </a:r>
            <a:r>
              <a:rPr lang="en-GB" i="1" dirty="0" smtClean="0"/>
              <a:t>notebook</a:t>
            </a:r>
            <a:endParaRPr lang="en-IN" i="1" dirty="0"/>
          </a:p>
          <a:p>
            <a:endParaRPr lang="en-IN" dirty="0"/>
          </a:p>
        </p:txBody>
      </p:sp>
    </p:spTree>
    <p:extLst>
      <p:ext uri="{BB962C8B-B14F-4D97-AF65-F5344CB8AC3E}">
        <p14:creationId xmlns:p14="http://schemas.microsoft.com/office/powerpoint/2010/main" val="481546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92500" lnSpcReduction="10000"/>
          </a:bodyPr>
          <a:lstStyle/>
          <a:p>
            <a:r>
              <a:rPr lang="en-GB" dirty="0"/>
              <a:t>With information from the job analysis, managers develop or revise </a:t>
            </a:r>
            <a:r>
              <a:rPr lang="en-GB" b="1" dirty="0"/>
              <a:t>job descriptions </a:t>
            </a:r>
            <a:r>
              <a:rPr lang="en-GB" dirty="0"/>
              <a:t>and </a:t>
            </a:r>
            <a:r>
              <a:rPr lang="en-GB" b="1" dirty="0"/>
              <a:t>job specifications</a:t>
            </a:r>
            <a:r>
              <a:rPr lang="en-GB" dirty="0"/>
              <a:t>. </a:t>
            </a:r>
            <a:endParaRPr lang="en-GB" dirty="0" smtClean="0"/>
          </a:p>
          <a:p>
            <a:r>
              <a:rPr lang="en-GB" dirty="0" smtClean="0"/>
              <a:t>A </a:t>
            </a:r>
            <a:r>
              <a:rPr lang="en-GB" b="1" dirty="0"/>
              <a:t>job description </a:t>
            </a:r>
            <a:r>
              <a:rPr lang="en-GB" dirty="0"/>
              <a:t>is a written statement of what a jobholder does, how it is done, and why it is done. It typically describes </a:t>
            </a:r>
            <a:r>
              <a:rPr lang="en-GB" u="sng" dirty="0"/>
              <a:t>job content</a:t>
            </a:r>
            <a:r>
              <a:rPr lang="en-GB" dirty="0"/>
              <a:t>, </a:t>
            </a:r>
            <a:r>
              <a:rPr lang="en-GB" u="sng" dirty="0"/>
              <a:t>environment</a:t>
            </a:r>
            <a:r>
              <a:rPr lang="en-GB" dirty="0"/>
              <a:t>, and </a:t>
            </a:r>
            <a:r>
              <a:rPr lang="en-GB" u="sng" dirty="0"/>
              <a:t>conditions of employment</a:t>
            </a:r>
            <a:r>
              <a:rPr lang="en-GB" dirty="0"/>
              <a:t>. </a:t>
            </a:r>
            <a:endParaRPr lang="en-GB" dirty="0" smtClean="0"/>
          </a:p>
          <a:p>
            <a:r>
              <a:rPr lang="en-GB" dirty="0" smtClean="0"/>
              <a:t>A </a:t>
            </a:r>
            <a:r>
              <a:rPr lang="en-GB" b="1" dirty="0"/>
              <a:t>job specification </a:t>
            </a:r>
            <a:r>
              <a:rPr lang="en-GB" dirty="0"/>
              <a:t>states the minimum qualifications that a person must possess to perform a given job successfully. It identifies the </a:t>
            </a:r>
            <a:r>
              <a:rPr lang="en-GB" u="sng" dirty="0"/>
              <a:t>knowledge</a:t>
            </a:r>
            <a:r>
              <a:rPr lang="en-GB" dirty="0"/>
              <a:t>, </a:t>
            </a:r>
            <a:r>
              <a:rPr lang="en-GB" u="sng" dirty="0"/>
              <a:t>skills</a:t>
            </a:r>
            <a:r>
              <a:rPr lang="en-GB" dirty="0"/>
              <a:t>, and </a:t>
            </a:r>
            <a:r>
              <a:rPr lang="en-GB" u="sng" dirty="0"/>
              <a:t>attitudes needed to do the job effectively</a:t>
            </a:r>
            <a:r>
              <a:rPr lang="en-GB" dirty="0"/>
              <a:t>. </a:t>
            </a:r>
            <a:r>
              <a:rPr lang="en-IN" dirty="0" smtClean="0"/>
              <a:t>  </a:t>
            </a:r>
            <a:endParaRPr lang="en-IN" dirty="0"/>
          </a:p>
          <a:p>
            <a:endParaRPr lang="en-IN" dirty="0"/>
          </a:p>
        </p:txBody>
      </p:sp>
    </p:spTree>
    <p:extLst>
      <p:ext uri="{BB962C8B-B14F-4D97-AF65-F5344CB8AC3E}">
        <p14:creationId xmlns:p14="http://schemas.microsoft.com/office/powerpoint/2010/main" val="1574607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Meeting Future Human Resource </a:t>
            </a:r>
            <a:r>
              <a:rPr lang="en-GB" b="1" dirty="0" smtClean="0"/>
              <a:t>Needs</a:t>
            </a:r>
            <a:endParaRPr lang="en-IN" dirty="0"/>
          </a:p>
        </p:txBody>
      </p:sp>
      <p:sp>
        <p:nvSpPr>
          <p:cNvPr id="3" name="Content Placeholder 2"/>
          <p:cNvSpPr>
            <a:spLocks noGrp="1"/>
          </p:cNvSpPr>
          <p:nvPr>
            <p:ph idx="1"/>
          </p:nvPr>
        </p:nvSpPr>
        <p:spPr/>
        <p:txBody>
          <a:bodyPr>
            <a:normAutofit/>
          </a:bodyPr>
          <a:lstStyle/>
          <a:p>
            <a:r>
              <a:rPr lang="en-GB" dirty="0"/>
              <a:t>Future human resource needs are determined by the organization's goals and strategies</a:t>
            </a:r>
            <a:r>
              <a:rPr lang="en-GB" dirty="0" smtClean="0"/>
              <a:t>.</a:t>
            </a:r>
          </a:p>
          <a:p>
            <a:r>
              <a:rPr lang="en-GB" dirty="0" smtClean="0"/>
              <a:t>Demand </a:t>
            </a:r>
            <a:r>
              <a:rPr lang="en-GB" dirty="0"/>
              <a:t>for employees is a result of demand for the organization's products or services. </a:t>
            </a:r>
            <a:endParaRPr lang="en-GB" dirty="0" smtClean="0"/>
          </a:p>
          <a:p>
            <a:r>
              <a:rPr lang="en-GB" dirty="0" smtClean="0"/>
              <a:t>On </a:t>
            </a:r>
            <a:r>
              <a:rPr lang="en-GB" dirty="0"/>
              <a:t>the basis of its estimate of total revenue, managers can attempt to establish the number and mix of employees needed to reach that revenue </a:t>
            </a:r>
            <a:r>
              <a:rPr lang="en-IN" dirty="0" smtClean="0"/>
              <a:t>  </a:t>
            </a:r>
            <a:endParaRPr lang="en-IN" dirty="0"/>
          </a:p>
          <a:p>
            <a:endParaRPr lang="en-IN" dirty="0"/>
          </a:p>
        </p:txBody>
      </p:sp>
    </p:spTree>
    <p:extLst>
      <p:ext uri="{BB962C8B-B14F-4D97-AF65-F5344CB8AC3E}">
        <p14:creationId xmlns:p14="http://schemas.microsoft.com/office/powerpoint/2010/main" val="462441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Recruitment</a:t>
            </a:r>
            <a:endParaRPr lang="en-IN" dirty="0"/>
          </a:p>
        </p:txBody>
      </p:sp>
      <p:sp>
        <p:nvSpPr>
          <p:cNvPr id="3" name="Content Placeholder 2"/>
          <p:cNvSpPr>
            <a:spLocks noGrp="1"/>
          </p:cNvSpPr>
          <p:nvPr>
            <p:ph idx="1"/>
          </p:nvPr>
        </p:nvSpPr>
        <p:spPr>
          <a:xfrm>
            <a:off x="457200" y="3657600"/>
            <a:ext cx="8229600" cy="2468563"/>
          </a:xfrm>
        </p:spPr>
        <p:txBody>
          <a:bodyPr/>
          <a:lstStyle/>
          <a:p>
            <a:pPr marL="0" indent="0" algn="ctr">
              <a:buNone/>
            </a:pPr>
            <a:r>
              <a:rPr lang="en-GB" dirty="0"/>
              <a:t>T</a:t>
            </a:r>
            <a:r>
              <a:rPr lang="en-GB" dirty="0" smtClean="0"/>
              <a:t>he </a:t>
            </a:r>
            <a:r>
              <a:rPr lang="en-GB" dirty="0"/>
              <a:t>process of locating, identifying, and attracting capable </a:t>
            </a:r>
            <a:r>
              <a:rPr lang="en-GB" dirty="0" smtClean="0"/>
              <a:t>applicants</a:t>
            </a:r>
            <a:r>
              <a:rPr lang="en-IN" dirty="0" smtClean="0"/>
              <a:t>  </a:t>
            </a:r>
            <a:endParaRPr lang="en-IN" dirty="0"/>
          </a:p>
          <a:p>
            <a:endParaRPr lang="en-IN" dirty="0"/>
          </a:p>
        </p:txBody>
      </p:sp>
    </p:spTree>
    <p:extLst>
      <p:ext uri="{BB962C8B-B14F-4D97-AF65-F5344CB8AC3E}">
        <p14:creationId xmlns:p14="http://schemas.microsoft.com/office/powerpoint/2010/main" val="1575636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Sources of Recruitment</a:t>
            </a:r>
            <a:endParaRPr lang="en-IN" dirty="0"/>
          </a:p>
        </p:txBody>
      </p:sp>
      <p:sp>
        <p:nvSpPr>
          <p:cNvPr id="3" name="Content Placeholder 2"/>
          <p:cNvSpPr>
            <a:spLocks noGrp="1"/>
          </p:cNvSpPr>
          <p:nvPr>
            <p:ph idx="1"/>
          </p:nvPr>
        </p:nvSpPr>
        <p:spPr/>
        <p:txBody>
          <a:bodyPr>
            <a:normAutofit fontScale="92500" lnSpcReduction="10000"/>
          </a:bodyPr>
          <a:lstStyle/>
          <a:p>
            <a:r>
              <a:rPr lang="en-GB" dirty="0"/>
              <a:t>The source that's used is influenced by three factors: </a:t>
            </a:r>
            <a:endParaRPr lang="en-GB" dirty="0" smtClean="0"/>
          </a:p>
          <a:p>
            <a:pPr marL="0" indent="0">
              <a:buNone/>
            </a:pPr>
            <a:r>
              <a:rPr lang="en-GB" dirty="0" smtClean="0"/>
              <a:t>(</a:t>
            </a:r>
            <a:r>
              <a:rPr lang="en-GB" dirty="0"/>
              <a:t>1) </a:t>
            </a:r>
            <a:r>
              <a:rPr lang="en-GB" u="sng" dirty="0"/>
              <a:t>the local </a:t>
            </a:r>
            <a:r>
              <a:rPr lang="en-GB" u="sng" dirty="0" err="1"/>
              <a:t>labor</a:t>
            </a:r>
            <a:r>
              <a:rPr lang="en-GB" u="sng" dirty="0"/>
              <a:t> market</a:t>
            </a:r>
            <a:r>
              <a:rPr lang="en-GB" dirty="0"/>
              <a:t>—it's generally easier to recruit in large </a:t>
            </a:r>
            <a:r>
              <a:rPr lang="en-GB" dirty="0" err="1"/>
              <a:t>labor</a:t>
            </a:r>
            <a:r>
              <a:rPr lang="en-GB" dirty="0"/>
              <a:t> markets; </a:t>
            </a:r>
            <a:endParaRPr lang="en-GB" dirty="0" smtClean="0"/>
          </a:p>
          <a:p>
            <a:pPr marL="0" indent="0">
              <a:buNone/>
            </a:pPr>
            <a:r>
              <a:rPr lang="en-GB" dirty="0" smtClean="0"/>
              <a:t>(</a:t>
            </a:r>
            <a:r>
              <a:rPr lang="en-GB" dirty="0"/>
              <a:t>2) </a:t>
            </a:r>
            <a:r>
              <a:rPr lang="en-GB" u="sng" dirty="0"/>
              <a:t>the type or level of position</a:t>
            </a:r>
            <a:r>
              <a:rPr lang="en-GB" dirty="0"/>
              <a:t>—the more specialized the position, the more that recruitments efforts might have to be regional or national searches; and </a:t>
            </a:r>
            <a:endParaRPr lang="en-GB" dirty="0" smtClean="0"/>
          </a:p>
          <a:p>
            <a:pPr marL="0" indent="0">
              <a:buNone/>
            </a:pPr>
            <a:r>
              <a:rPr lang="en-GB" dirty="0" smtClean="0"/>
              <a:t>(</a:t>
            </a:r>
            <a:r>
              <a:rPr lang="en-GB" dirty="0"/>
              <a:t>3) </a:t>
            </a:r>
            <a:r>
              <a:rPr lang="en-GB" u="sng" dirty="0"/>
              <a:t>the size of the organization</a:t>
            </a:r>
            <a:r>
              <a:rPr lang="en-GB" dirty="0"/>
              <a:t>—in general, the larger the organization, the easier it is to </a:t>
            </a:r>
            <a:r>
              <a:rPr lang="en-GB" dirty="0" smtClean="0"/>
              <a:t>recruit</a:t>
            </a:r>
            <a:r>
              <a:rPr lang="en-IN" dirty="0" smtClean="0"/>
              <a:t>  </a:t>
            </a:r>
            <a:endParaRPr lang="en-IN" dirty="0"/>
          </a:p>
          <a:p>
            <a:endParaRPr lang="en-IN" dirty="0"/>
          </a:p>
        </p:txBody>
      </p:sp>
    </p:spTree>
    <p:extLst>
      <p:ext uri="{BB962C8B-B14F-4D97-AF65-F5344CB8AC3E}">
        <p14:creationId xmlns:p14="http://schemas.microsoft.com/office/powerpoint/2010/main" val="2521809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GB" dirty="0" smtClean="0"/>
              <a:t>Sources of Recruitment</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45212272"/>
              </p:ext>
            </p:extLst>
          </p:nvPr>
        </p:nvGraphicFramePr>
        <p:xfrm>
          <a:off x="457200" y="762000"/>
          <a:ext cx="8229601" cy="5491480"/>
        </p:xfrm>
        <a:graphic>
          <a:graphicData uri="http://schemas.openxmlformats.org/drawingml/2006/table">
            <a:tbl>
              <a:tblPr firstRow="1" bandRow="1">
                <a:tableStyleId>{5C22544A-7EE6-4342-B048-85BDC9FD1C3A}</a:tableStyleId>
              </a:tblPr>
              <a:tblGrid>
                <a:gridCol w="1676400"/>
                <a:gridCol w="3810001"/>
                <a:gridCol w="2743200"/>
              </a:tblGrid>
              <a:tr h="370840">
                <a:tc>
                  <a:txBody>
                    <a:bodyPr/>
                    <a:lstStyle/>
                    <a:p>
                      <a:r>
                        <a:rPr lang="en-GB" dirty="0" smtClean="0"/>
                        <a:t>Source</a:t>
                      </a:r>
                      <a:endParaRPr lang="en-IN" dirty="0"/>
                    </a:p>
                  </a:txBody>
                  <a:tcPr/>
                </a:tc>
                <a:tc>
                  <a:txBody>
                    <a:bodyPr/>
                    <a:lstStyle/>
                    <a:p>
                      <a:r>
                        <a:rPr lang="en-GB" dirty="0" smtClean="0"/>
                        <a:t>Advantages</a:t>
                      </a:r>
                      <a:endParaRPr lang="en-IN" dirty="0"/>
                    </a:p>
                  </a:txBody>
                  <a:tcPr/>
                </a:tc>
                <a:tc>
                  <a:txBody>
                    <a:bodyPr/>
                    <a:lstStyle/>
                    <a:p>
                      <a:r>
                        <a:rPr lang="en-GB" dirty="0" smtClean="0"/>
                        <a:t>Disadvantages</a:t>
                      </a:r>
                      <a:endParaRPr lang="en-IN" dirty="0"/>
                    </a:p>
                  </a:txBody>
                  <a:tcPr/>
                </a:tc>
              </a:tr>
              <a:tr h="370840">
                <a:tc>
                  <a:txBody>
                    <a:bodyPr/>
                    <a:lstStyle/>
                    <a:p>
                      <a:r>
                        <a:rPr lang="en-IN" sz="1800" b="1" i="0" u="none" strike="noStrike" kern="1200" baseline="0" dirty="0" smtClean="0">
                          <a:solidFill>
                            <a:schemeClr val="dk1"/>
                          </a:solidFill>
                          <a:latin typeface="+mn-lt"/>
                          <a:ea typeface="+mn-ea"/>
                          <a:cs typeface="+mn-cs"/>
                        </a:rPr>
                        <a:t>Internal search</a:t>
                      </a:r>
                    </a:p>
                  </a:txBody>
                  <a:tcPr/>
                </a:tc>
                <a:tc>
                  <a:txBody>
                    <a:bodyPr/>
                    <a:lstStyle/>
                    <a:p>
                      <a:r>
                        <a:rPr lang="en-GB" sz="1800" b="0" i="0" u="none" strike="noStrike" kern="1200" baseline="0" dirty="0" smtClean="0">
                          <a:solidFill>
                            <a:schemeClr val="dk1"/>
                          </a:solidFill>
                          <a:latin typeface="+mn-lt"/>
                          <a:ea typeface="+mn-ea"/>
                          <a:cs typeface="+mn-cs"/>
                        </a:rPr>
                        <a:t>Low cost; builds employee morale; candidates are familiar with organization</a:t>
                      </a:r>
                    </a:p>
                  </a:txBody>
                  <a:tcPr/>
                </a:tc>
                <a:tc>
                  <a:txBody>
                    <a:bodyPr/>
                    <a:lstStyle/>
                    <a:p>
                      <a:r>
                        <a:rPr lang="en-GB" sz="1800" b="0" i="0" u="none" strike="noStrike" kern="1200" baseline="0" dirty="0" smtClean="0">
                          <a:solidFill>
                            <a:schemeClr val="dk1"/>
                          </a:solidFill>
                          <a:latin typeface="+mn-lt"/>
                          <a:ea typeface="+mn-ea"/>
                          <a:cs typeface="+mn-cs"/>
                        </a:rPr>
                        <a:t>Limited supply; may not increase proportion of employees from protected groups</a:t>
                      </a:r>
                    </a:p>
                  </a:txBody>
                  <a:tcPr/>
                </a:tc>
              </a:tr>
              <a:tr h="370840">
                <a:tc>
                  <a:txBody>
                    <a:bodyPr/>
                    <a:lstStyle/>
                    <a:p>
                      <a:r>
                        <a:rPr lang="en-IN" sz="1800" b="1" i="0" u="none" strike="noStrike" kern="1200" baseline="0" dirty="0" smtClean="0">
                          <a:solidFill>
                            <a:schemeClr val="dk1"/>
                          </a:solidFill>
                          <a:latin typeface="+mn-lt"/>
                          <a:ea typeface="+mn-ea"/>
                          <a:cs typeface="+mn-cs"/>
                        </a:rPr>
                        <a:t>Advertisements</a:t>
                      </a:r>
                    </a:p>
                  </a:txBody>
                  <a:tcPr/>
                </a:tc>
                <a:tc>
                  <a:txBody>
                    <a:bodyPr/>
                    <a:lstStyle/>
                    <a:p>
                      <a:r>
                        <a:rPr lang="en-GB" sz="1800" b="0" i="0" u="none" strike="noStrike" kern="1200" baseline="0" dirty="0" smtClean="0">
                          <a:solidFill>
                            <a:schemeClr val="dk1"/>
                          </a:solidFill>
                          <a:latin typeface="+mn-lt"/>
                          <a:ea typeface="+mn-ea"/>
                          <a:cs typeface="+mn-cs"/>
                        </a:rPr>
                        <a:t>Wide distribution; can be targeted to specific groups</a:t>
                      </a:r>
                    </a:p>
                  </a:txBody>
                  <a:tcPr/>
                </a:tc>
                <a:tc>
                  <a:txBody>
                    <a:bodyPr/>
                    <a:lstStyle/>
                    <a:p>
                      <a:r>
                        <a:rPr lang="en-IN" sz="1800" b="0" i="0" u="none" strike="noStrike" kern="1200" baseline="0" dirty="0" smtClean="0">
                          <a:solidFill>
                            <a:schemeClr val="dk1"/>
                          </a:solidFill>
                          <a:latin typeface="+mn-lt"/>
                          <a:ea typeface="+mn-ea"/>
                          <a:cs typeface="+mn-cs"/>
                        </a:rPr>
                        <a:t>Generates many unqualified candidates</a:t>
                      </a:r>
                    </a:p>
                  </a:txBody>
                  <a:tcPr/>
                </a:tc>
              </a:tr>
              <a:tr h="370840">
                <a:tc>
                  <a:txBody>
                    <a:bodyPr/>
                    <a:lstStyle/>
                    <a:p>
                      <a:r>
                        <a:rPr lang="en-IN" sz="1800" b="1" i="0" u="none" strike="noStrike" kern="1200" baseline="0" dirty="0" smtClean="0">
                          <a:solidFill>
                            <a:schemeClr val="dk1"/>
                          </a:solidFill>
                          <a:latin typeface="+mn-lt"/>
                          <a:ea typeface="+mn-ea"/>
                          <a:cs typeface="+mn-cs"/>
                        </a:rPr>
                        <a:t>Employee referrals </a:t>
                      </a:r>
                    </a:p>
                  </a:txBody>
                  <a:tcPr/>
                </a:tc>
                <a:tc>
                  <a:txBody>
                    <a:bodyPr/>
                    <a:lstStyle/>
                    <a:p>
                      <a:r>
                        <a:rPr lang="en-GB" sz="1800" b="0" i="0" u="none" strike="noStrike" kern="1200" baseline="0" dirty="0" smtClean="0">
                          <a:solidFill>
                            <a:schemeClr val="dk1"/>
                          </a:solidFill>
                          <a:latin typeface="+mn-lt"/>
                          <a:ea typeface="+mn-ea"/>
                          <a:cs typeface="+mn-cs"/>
                        </a:rPr>
                        <a:t>Knowledge about the organization provided by current employee; can generate strong candidates because a good referral reflects on the recommender</a:t>
                      </a:r>
                    </a:p>
                  </a:txBody>
                  <a:tcPr/>
                </a:tc>
                <a:tc>
                  <a:txBody>
                    <a:bodyPr/>
                    <a:lstStyle/>
                    <a:p>
                      <a:r>
                        <a:rPr lang="en-GB" sz="1800" b="0" i="0" u="none" strike="noStrike" kern="1200" baseline="0" dirty="0" smtClean="0">
                          <a:solidFill>
                            <a:schemeClr val="dk1"/>
                          </a:solidFill>
                          <a:latin typeface="+mn-lt"/>
                          <a:ea typeface="+mn-ea"/>
                          <a:cs typeface="+mn-cs"/>
                        </a:rPr>
                        <a:t>May not increase the diversity and mix of employees</a:t>
                      </a:r>
                    </a:p>
                  </a:txBody>
                  <a:tcPr/>
                </a:tc>
              </a:tr>
              <a:tr h="370840">
                <a:tc>
                  <a:txBody>
                    <a:bodyPr/>
                    <a:lstStyle/>
                    <a:p>
                      <a:r>
                        <a:rPr lang="en-IN" sz="1800" b="1" i="0" u="none" strike="noStrike" kern="1200" baseline="0" dirty="0" smtClean="0">
                          <a:solidFill>
                            <a:schemeClr val="dk1"/>
                          </a:solidFill>
                          <a:latin typeface="+mn-lt"/>
                          <a:ea typeface="+mn-ea"/>
                          <a:cs typeface="+mn-cs"/>
                        </a:rPr>
                        <a:t>Public employment agencies</a:t>
                      </a:r>
                    </a:p>
                  </a:txBody>
                  <a:tcPr/>
                </a:tc>
                <a:tc>
                  <a:txBody>
                    <a:bodyPr/>
                    <a:lstStyle/>
                    <a:p>
                      <a:r>
                        <a:rPr lang="en-IN" sz="1800" b="0" i="0" u="none" strike="noStrike" kern="1200" baseline="0" dirty="0" smtClean="0">
                          <a:solidFill>
                            <a:schemeClr val="dk1"/>
                          </a:solidFill>
                          <a:latin typeface="+mn-lt"/>
                          <a:ea typeface="+mn-ea"/>
                          <a:cs typeface="+mn-cs"/>
                        </a:rPr>
                        <a:t>Free or nominal cost</a:t>
                      </a:r>
                    </a:p>
                  </a:txBody>
                  <a:tcPr/>
                </a:tc>
                <a:tc>
                  <a:txBody>
                    <a:bodyPr/>
                    <a:lstStyle/>
                    <a:p>
                      <a:r>
                        <a:rPr lang="en-GB" sz="1800" b="0" i="0" u="none" strike="noStrike" kern="1200" baseline="0" dirty="0" smtClean="0">
                          <a:solidFill>
                            <a:schemeClr val="dk1"/>
                          </a:solidFill>
                          <a:latin typeface="+mn-lt"/>
                          <a:ea typeface="+mn-ea"/>
                          <a:cs typeface="+mn-cs"/>
                        </a:rPr>
                        <a:t>Candidates tend to be unskilled or minimally trained</a:t>
                      </a:r>
                    </a:p>
                  </a:txBody>
                  <a:tcPr/>
                </a:tc>
              </a:tr>
              <a:tr h="370840">
                <a:tc>
                  <a:txBody>
                    <a:bodyPr/>
                    <a:lstStyle/>
                    <a:p>
                      <a:r>
                        <a:rPr lang="en-IN" sz="1800" b="1" i="0" u="none" strike="noStrike" kern="1200" baseline="0" dirty="0" smtClean="0">
                          <a:solidFill>
                            <a:schemeClr val="dk1"/>
                          </a:solidFill>
                          <a:latin typeface="+mn-lt"/>
                          <a:ea typeface="+mn-ea"/>
                          <a:cs typeface="+mn-cs"/>
                        </a:rPr>
                        <a:t>Private employment agencies</a:t>
                      </a:r>
                    </a:p>
                  </a:txBody>
                  <a:tcPr/>
                </a:tc>
                <a:tc>
                  <a:txBody>
                    <a:bodyPr/>
                    <a:lstStyle/>
                    <a:p>
                      <a:r>
                        <a:rPr lang="en-GB" sz="1800" b="0" i="0" u="none" strike="noStrike" kern="1200" baseline="0" dirty="0" smtClean="0">
                          <a:solidFill>
                            <a:schemeClr val="dk1"/>
                          </a:solidFill>
                          <a:latin typeface="+mn-lt"/>
                          <a:ea typeface="+mn-ea"/>
                          <a:cs typeface="+mn-cs"/>
                        </a:rPr>
                        <a:t>Wide contacts; careful screening; short-term guarantees often given</a:t>
                      </a:r>
                    </a:p>
                  </a:txBody>
                  <a:tcPr/>
                </a:tc>
                <a:tc>
                  <a:txBody>
                    <a:bodyPr/>
                    <a:lstStyle/>
                    <a:p>
                      <a:r>
                        <a:rPr lang="en-IN" sz="1800" b="0" i="0" u="none" strike="noStrike" kern="1200" baseline="0" dirty="0" smtClean="0">
                          <a:solidFill>
                            <a:schemeClr val="dk1"/>
                          </a:solidFill>
                          <a:latin typeface="+mn-lt"/>
                          <a:ea typeface="+mn-ea"/>
                          <a:cs typeface="+mn-cs"/>
                        </a:rPr>
                        <a:t>High cost </a:t>
                      </a:r>
                    </a:p>
                  </a:txBody>
                  <a:tcPr/>
                </a:tc>
              </a:tr>
            </a:tbl>
          </a:graphicData>
        </a:graphic>
      </p:graphicFrame>
    </p:spTree>
    <p:extLst>
      <p:ext uri="{BB962C8B-B14F-4D97-AF65-F5344CB8AC3E}">
        <p14:creationId xmlns:p14="http://schemas.microsoft.com/office/powerpoint/2010/main" val="4195469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GB" dirty="0" smtClean="0"/>
              <a:t>Sources of Recruitment</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80259420"/>
              </p:ext>
            </p:extLst>
          </p:nvPr>
        </p:nvGraphicFramePr>
        <p:xfrm>
          <a:off x="533400" y="1752600"/>
          <a:ext cx="8229601" cy="4028440"/>
        </p:xfrm>
        <a:graphic>
          <a:graphicData uri="http://schemas.openxmlformats.org/drawingml/2006/table">
            <a:tbl>
              <a:tblPr firstRow="1" bandRow="1">
                <a:tableStyleId>{5C22544A-7EE6-4342-B048-85BDC9FD1C3A}</a:tableStyleId>
              </a:tblPr>
              <a:tblGrid>
                <a:gridCol w="1676400"/>
                <a:gridCol w="3810001"/>
                <a:gridCol w="2743200"/>
              </a:tblGrid>
              <a:tr h="370840">
                <a:tc>
                  <a:txBody>
                    <a:bodyPr/>
                    <a:lstStyle/>
                    <a:p>
                      <a:r>
                        <a:rPr lang="en-GB" dirty="0" smtClean="0"/>
                        <a:t>Source</a:t>
                      </a:r>
                      <a:endParaRPr lang="en-IN" dirty="0"/>
                    </a:p>
                  </a:txBody>
                  <a:tcPr/>
                </a:tc>
                <a:tc>
                  <a:txBody>
                    <a:bodyPr/>
                    <a:lstStyle/>
                    <a:p>
                      <a:r>
                        <a:rPr lang="en-GB" dirty="0" smtClean="0"/>
                        <a:t>Advantages</a:t>
                      </a:r>
                      <a:endParaRPr lang="en-IN" dirty="0"/>
                    </a:p>
                  </a:txBody>
                  <a:tcPr/>
                </a:tc>
                <a:tc>
                  <a:txBody>
                    <a:bodyPr/>
                    <a:lstStyle/>
                    <a:p>
                      <a:r>
                        <a:rPr lang="en-GB" dirty="0" smtClean="0"/>
                        <a:t>Disadvantages</a:t>
                      </a:r>
                      <a:endParaRPr lang="en-IN" dirty="0"/>
                    </a:p>
                  </a:txBody>
                  <a:tcPr/>
                </a:tc>
              </a:tr>
              <a:tr h="370840">
                <a:tc>
                  <a:txBody>
                    <a:bodyPr/>
                    <a:lstStyle/>
                    <a:p>
                      <a:r>
                        <a:rPr lang="en-IN" sz="1800" b="1" i="0" u="none" strike="noStrike" kern="1200" baseline="0" dirty="0" smtClean="0">
                          <a:solidFill>
                            <a:schemeClr val="dk1"/>
                          </a:solidFill>
                          <a:latin typeface="+mn-lt"/>
                          <a:ea typeface="+mn-ea"/>
                          <a:cs typeface="+mn-cs"/>
                        </a:rPr>
                        <a:t>School placement</a:t>
                      </a:r>
                    </a:p>
                  </a:txBody>
                  <a:tcPr/>
                </a:tc>
                <a:tc>
                  <a:txBody>
                    <a:bodyPr/>
                    <a:lstStyle/>
                    <a:p>
                      <a:r>
                        <a:rPr lang="en-GB" sz="1800" b="0" i="0" u="none" strike="noStrike" kern="1200" baseline="0" dirty="0" smtClean="0">
                          <a:solidFill>
                            <a:schemeClr val="dk1"/>
                          </a:solidFill>
                          <a:latin typeface="+mn-lt"/>
                          <a:ea typeface="+mn-ea"/>
                          <a:cs typeface="+mn-cs"/>
                        </a:rPr>
                        <a:t>Large, centralized body of candidates</a:t>
                      </a:r>
                    </a:p>
                  </a:txBody>
                  <a:tcPr/>
                </a:tc>
                <a:tc>
                  <a:txBody>
                    <a:bodyPr/>
                    <a:lstStyle/>
                    <a:p>
                      <a:r>
                        <a:rPr lang="en-IN" sz="1800" b="0" i="0" u="none" strike="noStrike" kern="1200" baseline="0" dirty="0" smtClean="0">
                          <a:solidFill>
                            <a:schemeClr val="dk1"/>
                          </a:solidFill>
                          <a:latin typeface="+mn-lt"/>
                          <a:ea typeface="+mn-ea"/>
                          <a:cs typeface="+mn-cs"/>
                        </a:rPr>
                        <a:t>Limited to entry-level positions</a:t>
                      </a:r>
                    </a:p>
                  </a:txBody>
                  <a:tcPr/>
                </a:tc>
              </a:tr>
              <a:tr h="370840">
                <a:tc>
                  <a:txBody>
                    <a:bodyPr/>
                    <a:lstStyle/>
                    <a:p>
                      <a:r>
                        <a:rPr lang="en-IN" sz="1800" b="1" i="0" u="none" strike="noStrike" kern="1200" baseline="0" dirty="0" smtClean="0">
                          <a:solidFill>
                            <a:schemeClr val="dk1"/>
                          </a:solidFill>
                          <a:latin typeface="+mn-lt"/>
                          <a:ea typeface="+mn-ea"/>
                          <a:cs typeface="+mn-cs"/>
                        </a:rPr>
                        <a:t>Temporary help services</a:t>
                      </a:r>
                    </a:p>
                  </a:txBody>
                  <a:tcPr/>
                </a:tc>
                <a:tc>
                  <a:txBody>
                    <a:bodyPr/>
                    <a:lstStyle/>
                    <a:p>
                      <a:r>
                        <a:rPr lang="en-IN" sz="1800" b="0" i="0" u="none" strike="noStrike" kern="1200" baseline="0" dirty="0" smtClean="0">
                          <a:solidFill>
                            <a:schemeClr val="dk1"/>
                          </a:solidFill>
                          <a:latin typeface="+mn-lt"/>
                          <a:ea typeface="+mn-ea"/>
                          <a:cs typeface="+mn-cs"/>
                        </a:rPr>
                        <a:t>Fills temporary needs</a:t>
                      </a:r>
                    </a:p>
                  </a:txBody>
                  <a:tcPr/>
                </a:tc>
                <a:tc>
                  <a:txBody>
                    <a:bodyPr/>
                    <a:lstStyle/>
                    <a:p>
                      <a:r>
                        <a:rPr lang="en-GB" sz="1800" b="0" i="0" u="none" strike="noStrike" kern="1200" baseline="0" dirty="0" smtClean="0">
                          <a:solidFill>
                            <a:schemeClr val="dk1"/>
                          </a:solidFill>
                          <a:latin typeface="+mn-lt"/>
                          <a:ea typeface="+mn-ea"/>
                          <a:cs typeface="+mn-cs"/>
                        </a:rPr>
                        <a:t>Expensive; may have limited understanding of organization's overall goals and activities</a:t>
                      </a:r>
                    </a:p>
                  </a:txBody>
                  <a:tcPr/>
                </a:tc>
              </a:tr>
              <a:tr h="370840">
                <a:tc>
                  <a:txBody>
                    <a:bodyPr/>
                    <a:lstStyle/>
                    <a:p>
                      <a:r>
                        <a:rPr lang="en-GB" sz="1800" b="1" i="0" u="none" strike="noStrike" kern="1200" baseline="0" dirty="0" smtClean="0">
                          <a:solidFill>
                            <a:schemeClr val="dk1"/>
                          </a:solidFill>
                          <a:latin typeface="+mn-lt"/>
                          <a:ea typeface="+mn-ea"/>
                          <a:cs typeface="+mn-cs"/>
                        </a:rPr>
                        <a:t>Employee leasing and independent contractors</a:t>
                      </a:r>
                    </a:p>
                  </a:txBody>
                  <a:tcPr/>
                </a:tc>
                <a:tc>
                  <a:txBody>
                    <a:bodyPr/>
                    <a:lstStyle/>
                    <a:p>
                      <a:r>
                        <a:rPr lang="en-GB" sz="1800" b="0" i="0" u="none" strike="noStrike" kern="1200" baseline="0" dirty="0" smtClean="0">
                          <a:solidFill>
                            <a:schemeClr val="dk1"/>
                          </a:solidFill>
                          <a:latin typeface="+mn-lt"/>
                          <a:ea typeface="+mn-ea"/>
                          <a:cs typeface="+mn-cs"/>
                        </a:rPr>
                        <a:t>Fills temporary needs, but usually for more specific, longer-term projects</a:t>
                      </a:r>
                    </a:p>
                  </a:txBody>
                  <a:tcPr/>
                </a:tc>
                <a:tc>
                  <a:txBody>
                    <a:bodyPr/>
                    <a:lstStyle/>
                    <a:p>
                      <a:r>
                        <a:rPr lang="en-GB" sz="1800" b="0" i="0" u="none" strike="noStrike" kern="1200" baseline="0" dirty="0" smtClean="0">
                          <a:solidFill>
                            <a:schemeClr val="dk1"/>
                          </a:solidFill>
                          <a:latin typeface="+mn-lt"/>
                          <a:ea typeface="+mn-ea"/>
                          <a:cs typeface="+mn-cs"/>
                        </a:rPr>
                        <a:t>Little commitment to organization other than current project</a:t>
                      </a:r>
                    </a:p>
                  </a:txBody>
                  <a:tcPr/>
                </a:tc>
              </a:tr>
              <a:tr h="370840">
                <a:tc>
                  <a:txBody>
                    <a:bodyPr/>
                    <a:lstStyle/>
                    <a:p>
                      <a:r>
                        <a:rPr lang="en-IN" sz="1800" b="1" i="0" u="none" strike="noStrike" kern="1200" baseline="0" dirty="0" smtClean="0">
                          <a:solidFill>
                            <a:schemeClr val="dk1"/>
                          </a:solidFill>
                          <a:latin typeface="+mn-lt"/>
                          <a:ea typeface="+mn-ea"/>
                          <a:cs typeface="+mn-cs"/>
                        </a:rPr>
                        <a:t>Web-based advertising</a:t>
                      </a:r>
                    </a:p>
                  </a:txBody>
                  <a:tcPr/>
                </a:tc>
                <a:tc>
                  <a:txBody>
                    <a:bodyPr/>
                    <a:lstStyle/>
                    <a:p>
                      <a:r>
                        <a:rPr lang="en-GB" sz="1800" b="0" i="0" u="none" strike="noStrike" kern="1200" baseline="0" dirty="0" smtClean="0">
                          <a:solidFill>
                            <a:schemeClr val="dk1"/>
                          </a:solidFill>
                          <a:latin typeface="+mn-lt"/>
                          <a:ea typeface="+mn-ea"/>
                          <a:cs typeface="+mn-cs"/>
                        </a:rPr>
                        <a:t>Reaches large numbers of people; can get immediate feedback</a:t>
                      </a:r>
                    </a:p>
                  </a:txBody>
                  <a:tcPr/>
                </a:tc>
                <a:tc>
                  <a:txBody>
                    <a:bodyPr/>
                    <a:lstStyle/>
                    <a:p>
                      <a:r>
                        <a:rPr lang="en-IN" sz="1800" b="0" i="0" u="none" strike="noStrike" kern="1200" baseline="0" dirty="0" smtClean="0">
                          <a:solidFill>
                            <a:schemeClr val="dk1"/>
                          </a:solidFill>
                          <a:latin typeface="+mn-lt"/>
                          <a:ea typeface="+mn-ea"/>
                          <a:cs typeface="+mn-cs"/>
                        </a:rPr>
                        <a:t>Generates many unqualified candidates</a:t>
                      </a:r>
                    </a:p>
                  </a:txBody>
                  <a:tcPr/>
                </a:tc>
              </a:tr>
            </a:tbl>
          </a:graphicData>
        </a:graphic>
      </p:graphicFrame>
    </p:spTree>
    <p:extLst>
      <p:ext uri="{BB962C8B-B14F-4D97-AF65-F5344CB8AC3E}">
        <p14:creationId xmlns:p14="http://schemas.microsoft.com/office/powerpoint/2010/main" val="2085669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Derecruitment</a:t>
            </a:r>
            <a:endParaRPr lang="en-IN" dirty="0"/>
          </a:p>
        </p:txBody>
      </p:sp>
      <p:sp>
        <p:nvSpPr>
          <p:cNvPr id="3" name="Content Placeholder 2"/>
          <p:cNvSpPr>
            <a:spLocks noGrp="1"/>
          </p:cNvSpPr>
          <p:nvPr>
            <p:ph idx="1"/>
          </p:nvPr>
        </p:nvSpPr>
        <p:spPr>
          <a:xfrm>
            <a:off x="457200" y="2133600"/>
            <a:ext cx="8229600" cy="3992563"/>
          </a:xfrm>
        </p:spPr>
        <p:txBody>
          <a:bodyPr>
            <a:normAutofit lnSpcReduction="10000"/>
          </a:bodyPr>
          <a:lstStyle/>
          <a:p>
            <a:pPr marL="0" indent="0" algn="ctr">
              <a:buNone/>
            </a:pPr>
            <a:r>
              <a:rPr lang="en-GB" dirty="0" smtClean="0"/>
              <a:t>If </a:t>
            </a:r>
            <a:r>
              <a:rPr lang="en-GB" dirty="0"/>
              <a:t>HR planning shows a surplus of employees, management may want to reduce the organization's workforce </a:t>
            </a:r>
            <a:endParaRPr lang="en-GB" dirty="0" smtClean="0"/>
          </a:p>
          <a:p>
            <a:pPr marL="0" indent="0" algn="ctr">
              <a:buNone/>
            </a:pPr>
            <a:endParaRPr lang="en-GB" dirty="0"/>
          </a:p>
          <a:p>
            <a:pPr marL="0" indent="0" algn="ctr">
              <a:buNone/>
            </a:pPr>
            <a:r>
              <a:rPr lang="en-GB" u="sng" dirty="0" smtClean="0"/>
              <a:t>Downsizing</a:t>
            </a:r>
            <a:r>
              <a:rPr lang="en-GB" dirty="0" smtClean="0"/>
              <a:t> </a:t>
            </a:r>
            <a:r>
              <a:rPr lang="en-GB" dirty="0"/>
              <a:t>is a way to meet the demands of a dynamic environment. For instance, through mergers designed to make themselves more competitive globally </a:t>
            </a:r>
          </a:p>
        </p:txBody>
      </p:sp>
    </p:spTree>
    <p:extLst>
      <p:ext uri="{BB962C8B-B14F-4D97-AF65-F5344CB8AC3E}">
        <p14:creationId xmlns:p14="http://schemas.microsoft.com/office/powerpoint/2010/main" val="3964299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0"/>
            <a:ext cx="8229600" cy="609600"/>
          </a:xfrm>
        </p:spPr>
        <p:txBody>
          <a:bodyPr>
            <a:normAutofit fontScale="90000"/>
          </a:bodyPr>
          <a:lstStyle/>
          <a:p>
            <a:r>
              <a:rPr lang="en-GB" dirty="0" smtClean="0"/>
              <a:t>Selection</a:t>
            </a:r>
            <a:endParaRPr lang="en-IN" dirty="0"/>
          </a:p>
        </p:txBody>
      </p:sp>
      <p:sp>
        <p:nvSpPr>
          <p:cNvPr id="3" name="Content Placeholder 2"/>
          <p:cNvSpPr>
            <a:spLocks noGrp="1"/>
          </p:cNvSpPr>
          <p:nvPr>
            <p:ph idx="1"/>
          </p:nvPr>
        </p:nvSpPr>
        <p:spPr>
          <a:xfrm>
            <a:off x="457200" y="4038600"/>
            <a:ext cx="8229600" cy="2087563"/>
          </a:xfrm>
        </p:spPr>
        <p:txBody>
          <a:bodyPr/>
          <a:lstStyle/>
          <a:p>
            <a:pPr marL="0" indent="0" algn="ctr">
              <a:buNone/>
            </a:pPr>
            <a:r>
              <a:rPr lang="en-GB" dirty="0" smtClean="0"/>
              <a:t>It is </a:t>
            </a:r>
            <a:r>
              <a:rPr lang="en-GB" dirty="0"/>
              <a:t>the process of screening job applicants to ensure that the most appropriate candidates are hired</a:t>
            </a:r>
          </a:p>
          <a:p>
            <a:pPr algn="ctr"/>
            <a:endParaRPr lang="en-IN" dirty="0"/>
          </a:p>
        </p:txBody>
      </p:sp>
    </p:spTree>
    <p:extLst>
      <p:ext uri="{BB962C8B-B14F-4D97-AF65-F5344CB8AC3E}">
        <p14:creationId xmlns:p14="http://schemas.microsoft.com/office/powerpoint/2010/main" val="2486052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12379311"/>
              </p:ext>
            </p:extLst>
          </p:nvPr>
        </p:nvGraphicFramePr>
        <p:xfrm>
          <a:off x="457200" y="304800"/>
          <a:ext cx="8229600" cy="58213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91427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Validity and Reliability of Selection</a:t>
            </a:r>
            <a:endParaRPr lang="en-IN" dirty="0"/>
          </a:p>
        </p:txBody>
      </p:sp>
      <p:sp>
        <p:nvSpPr>
          <p:cNvPr id="3" name="Content Placeholder 2"/>
          <p:cNvSpPr>
            <a:spLocks noGrp="1"/>
          </p:cNvSpPr>
          <p:nvPr>
            <p:ph idx="1"/>
          </p:nvPr>
        </p:nvSpPr>
        <p:spPr/>
        <p:txBody>
          <a:bodyPr>
            <a:normAutofit fontScale="92500" lnSpcReduction="20000"/>
          </a:bodyPr>
          <a:lstStyle/>
          <a:p>
            <a:r>
              <a:rPr lang="en-GB" dirty="0"/>
              <a:t>Any selection device that a manager uses should demonstrate </a:t>
            </a:r>
            <a:r>
              <a:rPr lang="en-GB" b="1" dirty="0"/>
              <a:t>validity</a:t>
            </a:r>
            <a:r>
              <a:rPr lang="en-GB" dirty="0"/>
              <a:t>. That is, there must be a proven relationship between the selection device and some relevant criterion </a:t>
            </a:r>
          </a:p>
          <a:p>
            <a:r>
              <a:rPr lang="en-IN" dirty="0" smtClean="0"/>
              <a:t>A </a:t>
            </a:r>
            <a:r>
              <a:rPr lang="en-GB" dirty="0" smtClean="0"/>
              <a:t>selection </a:t>
            </a:r>
            <a:r>
              <a:rPr lang="en-GB" dirty="0"/>
              <a:t>device must also demonstrate </a:t>
            </a:r>
            <a:r>
              <a:rPr lang="en-GB" b="1" dirty="0"/>
              <a:t>reliability</a:t>
            </a:r>
            <a:r>
              <a:rPr lang="en-GB" dirty="0"/>
              <a:t>, which indicates whether the device measures the same thing consistently. For example, if a test is </a:t>
            </a:r>
            <a:r>
              <a:rPr lang="en-GB" u="sng" dirty="0"/>
              <a:t>reliable</a:t>
            </a:r>
            <a:r>
              <a:rPr lang="en-GB" dirty="0"/>
              <a:t>, any single individual's score should remain fairly consistent over time, assuming that the characteristics the test is measuring are also stable </a:t>
            </a:r>
            <a:r>
              <a:rPr lang="en-IN" dirty="0" smtClean="0"/>
              <a:t>  </a:t>
            </a:r>
            <a:endParaRPr lang="en-IN" dirty="0"/>
          </a:p>
          <a:p>
            <a:endParaRPr lang="en-IN" dirty="0"/>
          </a:p>
        </p:txBody>
      </p:sp>
    </p:spTree>
    <p:extLst>
      <p:ext uri="{BB962C8B-B14F-4D97-AF65-F5344CB8AC3E}">
        <p14:creationId xmlns:p14="http://schemas.microsoft.com/office/powerpoint/2010/main" val="1650958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Selection Devices</a:t>
            </a:r>
            <a:endParaRPr lang="en-IN" dirty="0"/>
          </a:p>
        </p:txBody>
      </p:sp>
      <p:sp>
        <p:nvSpPr>
          <p:cNvPr id="3" name="Content Placeholder 2"/>
          <p:cNvSpPr>
            <a:spLocks noGrp="1"/>
          </p:cNvSpPr>
          <p:nvPr>
            <p:ph idx="1"/>
          </p:nvPr>
        </p:nvSpPr>
        <p:spPr>
          <a:xfrm>
            <a:off x="457200" y="1295400"/>
            <a:ext cx="8229600" cy="4830763"/>
          </a:xfrm>
        </p:spPr>
        <p:txBody>
          <a:bodyPr>
            <a:normAutofit fontScale="77500" lnSpcReduction="20000"/>
          </a:bodyPr>
          <a:lstStyle/>
          <a:p>
            <a:r>
              <a:rPr lang="en-GB" u="sng" dirty="0" smtClean="0"/>
              <a:t>Application form</a:t>
            </a:r>
          </a:p>
          <a:p>
            <a:r>
              <a:rPr lang="en-GB" u="sng" dirty="0" smtClean="0"/>
              <a:t>Written tests: </a:t>
            </a:r>
            <a:r>
              <a:rPr lang="en-GB" dirty="0"/>
              <a:t>tests of intelligence, aptitude, ability, and interest </a:t>
            </a:r>
            <a:endParaRPr lang="en-GB" dirty="0" smtClean="0"/>
          </a:p>
          <a:p>
            <a:r>
              <a:rPr lang="en-GB" u="sng" dirty="0" smtClean="0"/>
              <a:t>Performance-simulation tests: </a:t>
            </a:r>
            <a:r>
              <a:rPr lang="en-GB" i="1" dirty="0"/>
              <a:t>Work sampling </a:t>
            </a:r>
            <a:r>
              <a:rPr lang="en-GB" dirty="0"/>
              <a:t>involves presenting applicants with a miniature model of a job and having them perform a task or set of tasks central to </a:t>
            </a:r>
            <a:r>
              <a:rPr lang="en-GB" dirty="0" smtClean="0"/>
              <a:t>it. </a:t>
            </a:r>
            <a:r>
              <a:rPr lang="en-GB" i="1" dirty="0"/>
              <a:t>Assessment </a:t>
            </a:r>
            <a:r>
              <a:rPr lang="en-GB" i="1" dirty="0" err="1"/>
              <a:t>centers</a:t>
            </a:r>
            <a:r>
              <a:rPr lang="en-GB" i="1" dirty="0"/>
              <a:t> </a:t>
            </a:r>
            <a:r>
              <a:rPr lang="en-GB" dirty="0"/>
              <a:t>are places in which </a:t>
            </a:r>
            <a:r>
              <a:rPr lang="en-GB" dirty="0" smtClean="0"/>
              <a:t>executives</a:t>
            </a:r>
            <a:r>
              <a:rPr lang="en-GB" dirty="0"/>
              <a:t>, supervisors, or trained psychologists evaluate candidates for managerial positions as they go through extensive exercises that simulate real problems they would confront on the </a:t>
            </a:r>
            <a:r>
              <a:rPr lang="en-GB" dirty="0" smtClean="0"/>
              <a:t>job</a:t>
            </a:r>
          </a:p>
          <a:p>
            <a:r>
              <a:rPr lang="en-GB" u="sng" dirty="0" smtClean="0"/>
              <a:t>Interview</a:t>
            </a:r>
          </a:p>
          <a:p>
            <a:r>
              <a:rPr lang="en-GB" u="sng" dirty="0" smtClean="0"/>
              <a:t>Background investigations</a:t>
            </a:r>
          </a:p>
          <a:p>
            <a:r>
              <a:rPr lang="en-GB" u="sng" dirty="0" smtClean="0"/>
              <a:t>Physical examinations</a:t>
            </a:r>
            <a:endParaRPr lang="en-IN" u="sng" dirty="0"/>
          </a:p>
        </p:txBody>
      </p:sp>
    </p:spTree>
    <p:extLst>
      <p:ext uri="{BB962C8B-B14F-4D97-AF65-F5344CB8AC3E}">
        <p14:creationId xmlns:p14="http://schemas.microsoft.com/office/powerpoint/2010/main" val="1430693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Suggestions for Interviews</a:t>
            </a:r>
            <a:endParaRPr lang="en-IN" dirty="0"/>
          </a:p>
        </p:txBody>
      </p:sp>
      <p:sp>
        <p:nvSpPr>
          <p:cNvPr id="3" name="Content Placeholder 2"/>
          <p:cNvSpPr>
            <a:spLocks noGrp="1"/>
          </p:cNvSpPr>
          <p:nvPr>
            <p:ph idx="1"/>
          </p:nvPr>
        </p:nvSpPr>
        <p:spPr/>
        <p:txBody>
          <a:bodyPr>
            <a:normAutofit fontScale="77500" lnSpcReduction="20000"/>
          </a:bodyPr>
          <a:lstStyle/>
          <a:p>
            <a:endParaRPr lang="en-IN" dirty="0"/>
          </a:p>
          <a:p>
            <a:r>
              <a:rPr lang="en-GB" dirty="0"/>
              <a:t>Structure a </a:t>
            </a:r>
            <a:r>
              <a:rPr lang="en-GB" i="1" dirty="0"/>
              <a:t>fixed set of questions </a:t>
            </a:r>
            <a:r>
              <a:rPr lang="en-GB" dirty="0"/>
              <a:t>for all applicants.</a:t>
            </a:r>
          </a:p>
          <a:p>
            <a:r>
              <a:rPr lang="en-GB" dirty="0"/>
              <a:t>Have </a:t>
            </a:r>
            <a:r>
              <a:rPr lang="en-GB" i="1" dirty="0"/>
              <a:t>detailed information about the job </a:t>
            </a:r>
            <a:r>
              <a:rPr lang="en-GB" dirty="0"/>
              <a:t>for which applicants are interviewing.</a:t>
            </a:r>
          </a:p>
          <a:p>
            <a:r>
              <a:rPr lang="en-GB" i="1" dirty="0"/>
              <a:t>Minimize any prior knowledge </a:t>
            </a:r>
            <a:r>
              <a:rPr lang="en-GB" dirty="0"/>
              <a:t>of applicants' background, experience, interests, test scores, or other characteristics.</a:t>
            </a:r>
          </a:p>
          <a:p>
            <a:r>
              <a:rPr lang="en-GB" i="1" dirty="0"/>
              <a:t>Ask </a:t>
            </a:r>
            <a:r>
              <a:rPr lang="en-GB" i="1" dirty="0" err="1"/>
              <a:t>behavioral</a:t>
            </a:r>
            <a:r>
              <a:rPr lang="en-GB" i="1" dirty="0"/>
              <a:t> questions </a:t>
            </a:r>
            <a:r>
              <a:rPr lang="en-GB" dirty="0"/>
              <a:t>that require applicants to give detailed accounts of actual job </a:t>
            </a:r>
            <a:r>
              <a:rPr lang="en-GB" dirty="0" err="1"/>
              <a:t>behaviors</a:t>
            </a:r>
            <a:r>
              <a:rPr lang="en-GB" dirty="0"/>
              <a:t>.</a:t>
            </a:r>
          </a:p>
          <a:p>
            <a:r>
              <a:rPr lang="en-GB" dirty="0"/>
              <a:t>Use a </a:t>
            </a:r>
            <a:r>
              <a:rPr lang="en-GB" i="1" dirty="0"/>
              <a:t>standardized evaluation form.</a:t>
            </a:r>
            <a:endParaRPr lang="en-GB" dirty="0"/>
          </a:p>
          <a:p>
            <a:r>
              <a:rPr lang="en-GB" i="1" dirty="0"/>
              <a:t>Take notes </a:t>
            </a:r>
            <a:r>
              <a:rPr lang="en-GB" dirty="0"/>
              <a:t>during the interview.</a:t>
            </a:r>
          </a:p>
          <a:p>
            <a:r>
              <a:rPr lang="en-GB" i="1" dirty="0"/>
              <a:t>Avoid short interviews </a:t>
            </a:r>
            <a:r>
              <a:rPr lang="en-GB" dirty="0"/>
              <a:t>that encourage premature decision making</a:t>
            </a:r>
            <a:r>
              <a:rPr lang="en-GB" dirty="0" smtClean="0"/>
              <a:t>.</a:t>
            </a:r>
            <a:endParaRPr lang="en-GB" dirty="0"/>
          </a:p>
        </p:txBody>
      </p:sp>
    </p:spTree>
    <p:extLst>
      <p:ext uri="{BB962C8B-B14F-4D97-AF65-F5344CB8AC3E}">
        <p14:creationId xmlns:p14="http://schemas.microsoft.com/office/powerpoint/2010/main" val="763138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Orientation</a:t>
            </a:r>
            <a:endParaRPr lang="en-IN" dirty="0"/>
          </a:p>
        </p:txBody>
      </p:sp>
      <p:sp>
        <p:nvSpPr>
          <p:cNvPr id="3" name="Content Placeholder 2"/>
          <p:cNvSpPr>
            <a:spLocks noGrp="1"/>
          </p:cNvSpPr>
          <p:nvPr>
            <p:ph idx="1"/>
          </p:nvPr>
        </p:nvSpPr>
        <p:spPr>
          <a:xfrm>
            <a:off x="457200" y="1371600"/>
            <a:ext cx="8229600" cy="4754563"/>
          </a:xfrm>
        </p:spPr>
        <p:txBody>
          <a:bodyPr>
            <a:normAutofit fontScale="77500" lnSpcReduction="20000"/>
          </a:bodyPr>
          <a:lstStyle/>
          <a:p>
            <a:r>
              <a:rPr lang="en-GB" dirty="0"/>
              <a:t>A person starting a new job needs the same type of </a:t>
            </a:r>
            <a:r>
              <a:rPr lang="en-GB" u="sng" dirty="0"/>
              <a:t>introduction to his or her job and the organization</a:t>
            </a:r>
            <a:r>
              <a:rPr lang="en-GB" dirty="0"/>
              <a:t>. This introduction is called </a:t>
            </a:r>
            <a:r>
              <a:rPr lang="en-GB" b="1" dirty="0"/>
              <a:t>orientation</a:t>
            </a:r>
            <a:r>
              <a:rPr lang="en-GB" dirty="0" smtClean="0"/>
              <a:t>.</a:t>
            </a:r>
          </a:p>
          <a:p>
            <a:pPr marL="0" indent="0">
              <a:buNone/>
            </a:pPr>
            <a:endParaRPr lang="en-GB" dirty="0"/>
          </a:p>
          <a:p>
            <a:pPr marL="0" indent="0">
              <a:buNone/>
            </a:pPr>
            <a:r>
              <a:rPr lang="en-GB" u="sng" dirty="0" smtClean="0"/>
              <a:t>2 Types of Orientation</a:t>
            </a:r>
            <a:r>
              <a:rPr lang="en-GB" dirty="0" smtClean="0"/>
              <a:t>:</a:t>
            </a:r>
          </a:p>
          <a:p>
            <a:r>
              <a:rPr lang="en-GB" i="1" dirty="0"/>
              <a:t>Work unit orientation </a:t>
            </a:r>
            <a:r>
              <a:rPr lang="en-GB" dirty="0"/>
              <a:t>familiarizes the employee with the goals of the work unit, clarifies how his or her job contributes to the unit's goals, and includes an introduction to his or her new co-workers</a:t>
            </a:r>
            <a:r>
              <a:rPr lang="en-GB" dirty="0" smtClean="0"/>
              <a:t>.</a:t>
            </a:r>
          </a:p>
          <a:p>
            <a:r>
              <a:rPr lang="en-GB" i="1" dirty="0" smtClean="0"/>
              <a:t>Organization </a:t>
            </a:r>
            <a:r>
              <a:rPr lang="en-GB" i="1" dirty="0"/>
              <a:t>orientation </a:t>
            </a:r>
            <a:r>
              <a:rPr lang="en-GB" dirty="0"/>
              <a:t>informs the new employee about the organization's objectives, history, philosophy, procedures, and rules. This should include relevant human resource policies and benefits such as work hours, pay procedures, overtime requirements, and fringe benefits </a:t>
            </a:r>
            <a:r>
              <a:rPr lang="en-IN" dirty="0" smtClean="0"/>
              <a:t>  </a:t>
            </a:r>
            <a:endParaRPr lang="en-IN" dirty="0"/>
          </a:p>
          <a:p>
            <a:pPr marL="0" indent="0">
              <a:buNone/>
            </a:pPr>
            <a:endParaRPr lang="en-IN" dirty="0"/>
          </a:p>
        </p:txBody>
      </p:sp>
    </p:spTree>
    <p:extLst>
      <p:ext uri="{BB962C8B-B14F-4D97-AF65-F5344CB8AC3E}">
        <p14:creationId xmlns:p14="http://schemas.microsoft.com/office/powerpoint/2010/main" val="42820034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Employee training</a:t>
            </a:r>
            <a:endParaRPr lang="en-IN" dirty="0"/>
          </a:p>
        </p:txBody>
      </p:sp>
      <p:sp>
        <p:nvSpPr>
          <p:cNvPr id="3" name="Content Placeholder 2"/>
          <p:cNvSpPr>
            <a:spLocks noGrp="1"/>
          </p:cNvSpPr>
          <p:nvPr>
            <p:ph idx="1"/>
          </p:nvPr>
        </p:nvSpPr>
        <p:spPr>
          <a:xfrm>
            <a:off x="457200" y="1295400"/>
            <a:ext cx="8229600" cy="5181600"/>
          </a:xfrm>
        </p:spPr>
        <p:txBody>
          <a:bodyPr>
            <a:normAutofit fontScale="92500" lnSpcReduction="20000"/>
          </a:bodyPr>
          <a:lstStyle/>
          <a:p>
            <a:pPr marL="0" indent="0">
              <a:buNone/>
            </a:pPr>
            <a:r>
              <a:rPr lang="en-GB" b="1" dirty="0" smtClean="0"/>
              <a:t>Categories of Skills:</a:t>
            </a:r>
          </a:p>
          <a:p>
            <a:r>
              <a:rPr lang="en-GB" dirty="0"/>
              <a:t>A</a:t>
            </a:r>
            <a:r>
              <a:rPr lang="en-GB" dirty="0" smtClean="0"/>
              <a:t>n </a:t>
            </a:r>
            <a:r>
              <a:rPr lang="en-GB" dirty="0"/>
              <a:t>employee's </a:t>
            </a:r>
            <a:r>
              <a:rPr lang="en-GB" i="1" dirty="0"/>
              <a:t>technical </a:t>
            </a:r>
            <a:r>
              <a:rPr lang="en-GB" dirty="0"/>
              <a:t>skills, including basic skills—the ability to read, write, and do math computations—as well as job-specific competencies.</a:t>
            </a:r>
          </a:p>
          <a:p>
            <a:r>
              <a:rPr lang="en-IN" i="1" dirty="0" smtClean="0"/>
              <a:t>Interpersonal skills</a:t>
            </a:r>
            <a:r>
              <a:rPr lang="en-IN" dirty="0" smtClean="0"/>
              <a:t>: </a:t>
            </a:r>
            <a:r>
              <a:rPr lang="en-GB" dirty="0"/>
              <a:t>an employee's ability to interact effectively with his or her co-workers and manager </a:t>
            </a:r>
          </a:p>
          <a:p>
            <a:r>
              <a:rPr lang="en-IN" i="1" dirty="0" smtClean="0"/>
              <a:t>Problem-solving skills: </a:t>
            </a:r>
            <a:r>
              <a:rPr lang="en-GB" dirty="0"/>
              <a:t>participating in activities to sharpen logic, reasoning, and skills at defining problems; assessing causation; being creative in developing alternatives; </a:t>
            </a:r>
            <a:r>
              <a:rPr lang="en-GB" dirty="0" err="1"/>
              <a:t>analyzing</a:t>
            </a:r>
            <a:r>
              <a:rPr lang="en-GB" dirty="0"/>
              <a:t> alternatives; and selecting </a:t>
            </a:r>
            <a:r>
              <a:rPr lang="en-GB" dirty="0" smtClean="0"/>
              <a:t>solutions</a:t>
            </a:r>
            <a:r>
              <a:rPr lang="en-IN" dirty="0" smtClean="0"/>
              <a:t>  </a:t>
            </a:r>
            <a:endParaRPr lang="en-IN" dirty="0"/>
          </a:p>
          <a:p>
            <a:endParaRPr lang="en-IN" dirty="0"/>
          </a:p>
        </p:txBody>
      </p:sp>
    </p:spTree>
    <p:extLst>
      <p:ext uri="{BB962C8B-B14F-4D97-AF65-F5344CB8AC3E}">
        <p14:creationId xmlns:p14="http://schemas.microsoft.com/office/powerpoint/2010/main" val="9704478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124200"/>
            <a:ext cx="8229600" cy="1143000"/>
          </a:xfrm>
        </p:spPr>
        <p:txBody>
          <a:bodyPr/>
          <a:lstStyle/>
          <a:p>
            <a:r>
              <a:rPr lang="en-GB" b="1" dirty="0" smtClean="0"/>
              <a:t>Methods of Training</a:t>
            </a:r>
            <a:endParaRPr lang="en-IN" b="1" dirty="0"/>
          </a:p>
        </p:txBody>
      </p:sp>
    </p:spTree>
    <p:extLst>
      <p:ext uri="{BB962C8B-B14F-4D97-AF65-F5344CB8AC3E}">
        <p14:creationId xmlns:p14="http://schemas.microsoft.com/office/powerpoint/2010/main" val="26967332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On-The-Job Training Methods</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20640900"/>
              </p:ext>
            </p:extLst>
          </p:nvPr>
        </p:nvGraphicFramePr>
        <p:xfrm>
          <a:off x="381000" y="2895600"/>
          <a:ext cx="8229600" cy="2103120"/>
        </p:xfrm>
        <a:graphic>
          <a:graphicData uri="http://schemas.openxmlformats.org/drawingml/2006/table">
            <a:tbl>
              <a:tblPr firstRow="1" bandRow="1">
                <a:tableStyleId>{5C22544A-7EE6-4342-B048-85BDC9FD1C3A}</a:tableStyleId>
              </a:tblPr>
              <a:tblGrid>
                <a:gridCol w="2362200"/>
                <a:gridCol w="5867400"/>
              </a:tblGrid>
              <a:tr h="370840">
                <a:tc>
                  <a:txBody>
                    <a:bodyPr/>
                    <a:lstStyle/>
                    <a:p>
                      <a:r>
                        <a:rPr lang="en-IN" sz="1800" b="1" i="0" u="none" strike="noStrike" kern="1200" baseline="0" dirty="0" smtClean="0">
                          <a:solidFill>
                            <a:schemeClr val="lt1"/>
                          </a:solidFill>
                          <a:latin typeface="+mn-lt"/>
                          <a:ea typeface="+mn-ea"/>
                          <a:cs typeface="+mn-cs"/>
                        </a:rPr>
                        <a:t>Job rotation </a:t>
                      </a:r>
                    </a:p>
                  </a:txBody>
                  <a:tcPr/>
                </a:tc>
                <a:tc>
                  <a:txBody>
                    <a:bodyPr/>
                    <a:lstStyle/>
                    <a:p>
                      <a:r>
                        <a:rPr lang="en-GB" sz="1800" b="0" i="0" u="none" strike="noStrike" kern="1200" baseline="0" dirty="0" smtClean="0">
                          <a:solidFill>
                            <a:schemeClr val="lt1"/>
                          </a:solidFill>
                          <a:latin typeface="+mn-lt"/>
                          <a:ea typeface="+mn-ea"/>
                          <a:cs typeface="+mn-cs"/>
                        </a:rPr>
                        <a:t>Lateral transfers allowing employees to work at different jobs. </a:t>
                      </a:r>
                    </a:p>
                    <a:p>
                      <a:r>
                        <a:rPr lang="en-GB" sz="1800" b="0" i="0" u="none" strike="noStrike" kern="1200" baseline="0" dirty="0" smtClean="0">
                          <a:solidFill>
                            <a:schemeClr val="lt1"/>
                          </a:solidFill>
                          <a:latin typeface="+mn-lt"/>
                          <a:ea typeface="+mn-ea"/>
                          <a:cs typeface="+mn-cs"/>
                        </a:rPr>
                        <a:t>Provides good exposure to a variety of tasks.</a:t>
                      </a:r>
                    </a:p>
                  </a:txBody>
                  <a:tcPr/>
                </a:tc>
              </a:tr>
              <a:tr h="370840">
                <a:tc>
                  <a:txBody>
                    <a:bodyPr/>
                    <a:lstStyle/>
                    <a:p>
                      <a:r>
                        <a:rPr lang="en-IN" sz="1800" b="1" i="0" u="none" strike="noStrike" kern="1200" baseline="0" dirty="0" smtClean="0">
                          <a:solidFill>
                            <a:schemeClr val="dk1"/>
                          </a:solidFill>
                          <a:latin typeface="+mn-lt"/>
                          <a:ea typeface="+mn-ea"/>
                          <a:cs typeface="+mn-cs"/>
                        </a:rPr>
                        <a:t>Understudy assignments</a:t>
                      </a:r>
                    </a:p>
                  </a:txBody>
                  <a:tcPr/>
                </a:tc>
                <a:tc>
                  <a:txBody>
                    <a:bodyPr/>
                    <a:lstStyle/>
                    <a:p>
                      <a:r>
                        <a:rPr lang="en-GB" sz="1800" b="0" i="0" u="none" strike="noStrike" kern="1200" baseline="0" dirty="0" smtClean="0">
                          <a:solidFill>
                            <a:schemeClr val="dk1"/>
                          </a:solidFill>
                          <a:latin typeface="+mn-lt"/>
                          <a:ea typeface="+mn-ea"/>
                          <a:cs typeface="+mn-cs"/>
                        </a:rPr>
                        <a:t>Working with a seasoned veteran, coach, or mentor. </a:t>
                      </a:r>
                    </a:p>
                    <a:p>
                      <a:r>
                        <a:rPr lang="en-GB" sz="1800" b="0" i="0" u="none" strike="noStrike" kern="1200" baseline="0" dirty="0" smtClean="0">
                          <a:solidFill>
                            <a:schemeClr val="dk1"/>
                          </a:solidFill>
                          <a:latin typeface="+mn-lt"/>
                          <a:ea typeface="+mn-ea"/>
                          <a:cs typeface="+mn-cs"/>
                        </a:rPr>
                        <a:t>Provides support and encouragement from an experienced worker. </a:t>
                      </a:r>
                    </a:p>
                    <a:p>
                      <a:r>
                        <a:rPr lang="en-GB" sz="1800" b="0" i="0" u="none" strike="noStrike" kern="1200" baseline="0" dirty="0" smtClean="0">
                          <a:solidFill>
                            <a:schemeClr val="dk1"/>
                          </a:solidFill>
                          <a:latin typeface="+mn-lt"/>
                          <a:ea typeface="+mn-ea"/>
                          <a:cs typeface="+mn-cs"/>
                        </a:rPr>
                        <a:t>In the trades industry, this may also be an apprenticeship.</a:t>
                      </a:r>
                    </a:p>
                  </a:txBody>
                  <a:tcPr/>
                </a:tc>
              </a:tr>
            </a:tbl>
          </a:graphicData>
        </a:graphic>
      </p:graphicFrame>
    </p:spTree>
    <p:extLst>
      <p:ext uri="{BB962C8B-B14F-4D97-AF65-F5344CB8AC3E}">
        <p14:creationId xmlns:p14="http://schemas.microsoft.com/office/powerpoint/2010/main" val="676996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Off-The-Job Training Methods</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14531142"/>
              </p:ext>
            </p:extLst>
          </p:nvPr>
        </p:nvGraphicFramePr>
        <p:xfrm>
          <a:off x="457200" y="2590800"/>
          <a:ext cx="8229601" cy="2834640"/>
        </p:xfrm>
        <a:graphic>
          <a:graphicData uri="http://schemas.openxmlformats.org/drawingml/2006/table">
            <a:tbl>
              <a:tblPr firstRow="1" bandRow="1">
                <a:tableStyleId>{073A0DAA-6AF3-43AB-8588-CEC1D06C72B9}</a:tableStyleId>
              </a:tblPr>
              <a:tblGrid>
                <a:gridCol w="2438400"/>
                <a:gridCol w="5791201"/>
              </a:tblGrid>
              <a:tr h="370840">
                <a:tc>
                  <a:txBody>
                    <a:bodyPr/>
                    <a:lstStyle/>
                    <a:p>
                      <a:r>
                        <a:rPr lang="en-IN" sz="1800" b="1" u="none" strike="noStrike" kern="1200" baseline="0" dirty="0" smtClean="0"/>
                        <a:t>Classroom lectures </a:t>
                      </a:r>
                      <a:endParaRPr lang="en-IN" sz="1800" b="1" i="0" u="none" strike="noStrike" kern="1200" baseline="0" dirty="0" smtClean="0">
                        <a:solidFill>
                          <a:schemeClr val="lt1"/>
                        </a:solidFill>
                        <a:latin typeface="+mn-lt"/>
                        <a:ea typeface="+mn-ea"/>
                        <a:cs typeface="+mn-cs"/>
                      </a:endParaRPr>
                    </a:p>
                  </a:txBody>
                  <a:tcPr/>
                </a:tc>
                <a:tc>
                  <a:txBody>
                    <a:bodyPr/>
                    <a:lstStyle/>
                    <a:p>
                      <a:r>
                        <a:rPr lang="en-GB" sz="1800" u="none" strike="noStrike" kern="1200" baseline="0" dirty="0" smtClean="0"/>
                        <a:t>Lectures designed to convey specific technical, interpersonal, or problem-solving skills</a:t>
                      </a:r>
                      <a:endParaRPr lang="en-GB" sz="1800" b="0" i="0" u="none" strike="noStrike" kern="1200" baseline="0" dirty="0" smtClean="0">
                        <a:solidFill>
                          <a:schemeClr val="lt1"/>
                        </a:solidFill>
                        <a:latin typeface="+mn-lt"/>
                        <a:ea typeface="+mn-ea"/>
                        <a:cs typeface="+mn-cs"/>
                      </a:endParaRPr>
                    </a:p>
                  </a:txBody>
                  <a:tcPr/>
                </a:tc>
              </a:tr>
              <a:tr h="370840">
                <a:tc>
                  <a:txBody>
                    <a:bodyPr/>
                    <a:lstStyle/>
                    <a:p>
                      <a:r>
                        <a:rPr lang="en-IN" sz="1800" b="1" u="none" strike="noStrike" kern="1200" baseline="0" dirty="0" smtClean="0"/>
                        <a:t>Films and videos </a:t>
                      </a:r>
                      <a:endParaRPr lang="en-IN" sz="1800" b="1" i="0" u="none" strike="noStrike" kern="1200" baseline="0" dirty="0" smtClean="0">
                        <a:solidFill>
                          <a:schemeClr val="dk1"/>
                        </a:solidFill>
                        <a:latin typeface="+mn-lt"/>
                        <a:ea typeface="+mn-ea"/>
                        <a:cs typeface="+mn-cs"/>
                      </a:endParaRPr>
                    </a:p>
                  </a:txBody>
                  <a:tcPr/>
                </a:tc>
                <a:tc>
                  <a:txBody>
                    <a:bodyPr/>
                    <a:lstStyle/>
                    <a:p>
                      <a:r>
                        <a:rPr lang="en-GB" sz="1800" u="none" strike="noStrike" kern="1200" baseline="0" dirty="0" smtClean="0"/>
                        <a:t>Using media to explicitly demonstrate technical skills that are not easily presented by other training methods.</a:t>
                      </a:r>
                      <a:endParaRPr lang="en-GB" sz="1800" b="0" i="0" u="none" strike="noStrike" kern="1200" baseline="0" dirty="0" smtClean="0">
                        <a:solidFill>
                          <a:schemeClr val="dk1"/>
                        </a:solidFill>
                        <a:latin typeface="+mn-lt"/>
                        <a:ea typeface="+mn-ea"/>
                        <a:cs typeface="+mn-cs"/>
                      </a:endParaRPr>
                    </a:p>
                  </a:txBody>
                  <a:tcPr/>
                </a:tc>
              </a:tr>
              <a:tr h="370840">
                <a:tc>
                  <a:txBody>
                    <a:bodyPr/>
                    <a:lstStyle/>
                    <a:p>
                      <a:r>
                        <a:rPr lang="en-IN" sz="1800" b="1" u="none" strike="noStrike" kern="1200" baseline="0" dirty="0" smtClean="0"/>
                        <a:t>Simulation exercises </a:t>
                      </a:r>
                      <a:endParaRPr lang="en-IN" sz="1800" b="1" i="0" u="none" strike="noStrike" kern="1200" baseline="0" dirty="0" smtClean="0">
                        <a:solidFill>
                          <a:schemeClr val="dk1"/>
                        </a:solidFill>
                        <a:latin typeface="+mn-lt"/>
                        <a:ea typeface="+mn-ea"/>
                        <a:cs typeface="+mn-cs"/>
                      </a:endParaRPr>
                    </a:p>
                  </a:txBody>
                  <a:tcPr/>
                </a:tc>
                <a:tc>
                  <a:txBody>
                    <a:bodyPr/>
                    <a:lstStyle/>
                    <a:p>
                      <a:r>
                        <a:rPr lang="en-GB" sz="1800" u="none" strike="noStrike" kern="1200" baseline="0" dirty="0" smtClean="0"/>
                        <a:t>Learning a job by actually performing the work (or its simulation). May include case analyses, experiential exercises, role playing, and group interaction</a:t>
                      </a:r>
                      <a:endParaRPr lang="en-GB" sz="1800" b="0" i="0" u="none" strike="noStrike" kern="1200" baseline="0" dirty="0" smtClean="0">
                        <a:solidFill>
                          <a:schemeClr val="dk1"/>
                        </a:solidFill>
                        <a:latin typeface="+mn-lt"/>
                        <a:ea typeface="+mn-ea"/>
                        <a:cs typeface="+mn-cs"/>
                      </a:endParaRPr>
                    </a:p>
                  </a:txBody>
                  <a:tcPr/>
                </a:tc>
              </a:tr>
              <a:tr h="370840">
                <a:tc>
                  <a:txBody>
                    <a:bodyPr/>
                    <a:lstStyle/>
                    <a:p>
                      <a:r>
                        <a:rPr lang="en-IN" sz="1800" b="1" u="none" strike="noStrike" kern="1200" baseline="0" dirty="0" smtClean="0"/>
                        <a:t>Vestibule training </a:t>
                      </a:r>
                      <a:endParaRPr lang="en-IN" sz="1800" b="1" i="0" u="none" strike="noStrike" kern="1200" baseline="0" dirty="0" smtClean="0">
                        <a:solidFill>
                          <a:schemeClr val="dk1"/>
                        </a:solidFill>
                        <a:latin typeface="+mn-lt"/>
                        <a:ea typeface="+mn-ea"/>
                        <a:cs typeface="+mn-cs"/>
                      </a:endParaRPr>
                    </a:p>
                  </a:txBody>
                  <a:tcPr/>
                </a:tc>
                <a:tc>
                  <a:txBody>
                    <a:bodyPr/>
                    <a:lstStyle/>
                    <a:p>
                      <a:r>
                        <a:rPr lang="en-GB" sz="1800" u="none" strike="noStrike" kern="1200" baseline="0" dirty="0" smtClean="0"/>
                        <a:t>Learning tasks on the same equipment that one actually will use on the job but in a simulated work environment.</a:t>
                      </a:r>
                      <a:endParaRPr lang="en-GB" sz="1800" b="0" i="0" u="none" strike="noStrike" kern="1200" baseline="0" dirty="0" smtClean="0">
                        <a:solidFill>
                          <a:schemeClr val="dk1"/>
                        </a:solidFill>
                        <a:latin typeface="+mn-lt"/>
                        <a:ea typeface="+mn-ea"/>
                        <a:cs typeface="+mn-cs"/>
                      </a:endParaRPr>
                    </a:p>
                  </a:txBody>
                  <a:tcPr/>
                </a:tc>
              </a:tr>
            </a:tbl>
          </a:graphicData>
        </a:graphic>
      </p:graphicFrame>
    </p:spTree>
    <p:extLst>
      <p:ext uri="{BB962C8B-B14F-4D97-AF65-F5344CB8AC3E}">
        <p14:creationId xmlns:p14="http://schemas.microsoft.com/office/powerpoint/2010/main" val="8487753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Employee Performance Management</a:t>
            </a:r>
            <a:endParaRPr lang="en-IN" dirty="0"/>
          </a:p>
        </p:txBody>
      </p:sp>
      <p:sp>
        <p:nvSpPr>
          <p:cNvPr id="3" name="Content Placeholder 2"/>
          <p:cNvSpPr>
            <a:spLocks noGrp="1"/>
          </p:cNvSpPr>
          <p:nvPr>
            <p:ph idx="1"/>
          </p:nvPr>
        </p:nvSpPr>
        <p:spPr>
          <a:xfrm>
            <a:off x="457200" y="2895600"/>
            <a:ext cx="8229600" cy="3230563"/>
          </a:xfrm>
        </p:spPr>
        <p:txBody>
          <a:bodyPr>
            <a:normAutofit/>
          </a:bodyPr>
          <a:lstStyle/>
          <a:p>
            <a:pPr marL="0" indent="0" algn="ctr">
              <a:buNone/>
            </a:pPr>
            <a:r>
              <a:rPr lang="en-GB" dirty="0" smtClean="0"/>
              <a:t>A process </a:t>
            </a:r>
            <a:r>
              <a:rPr lang="en-GB" dirty="0"/>
              <a:t>of establishing performance standards and appraising employee performance in order to arrive at objective human resource decisions as well as to provide documentation to support those decisions </a:t>
            </a:r>
          </a:p>
        </p:txBody>
      </p:sp>
    </p:spTree>
    <p:extLst>
      <p:ext uri="{BB962C8B-B14F-4D97-AF65-F5344CB8AC3E}">
        <p14:creationId xmlns:p14="http://schemas.microsoft.com/office/powerpoint/2010/main" val="8574031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71800"/>
            <a:ext cx="8229600" cy="1143000"/>
          </a:xfrm>
        </p:spPr>
        <p:txBody>
          <a:bodyPr>
            <a:normAutofit fontScale="90000"/>
          </a:bodyPr>
          <a:lstStyle/>
          <a:p>
            <a:r>
              <a:rPr lang="en-GB" b="1" dirty="0" smtClean="0"/>
              <a:t>Methods of Performance Appraisal</a:t>
            </a:r>
            <a:endParaRPr lang="en-IN" b="1" dirty="0"/>
          </a:p>
        </p:txBody>
      </p:sp>
    </p:spTree>
    <p:extLst>
      <p:ext uri="{BB962C8B-B14F-4D97-AF65-F5344CB8AC3E}">
        <p14:creationId xmlns:p14="http://schemas.microsoft.com/office/powerpoint/2010/main" val="26419128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Written </a:t>
            </a:r>
            <a:r>
              <a:rPr lang="en-IN" b="1" dirty="0" smtClean="0"/>
              <a:t>Essays</a:t>
            </a:r>
            <a:endParaRPr lang="en-IN" dirty="0"/>
          </a:p>
        </p:txBody>
      </p:sp>
      <p:sp>
        <p:nvSpPr>
          <p:cNvPr id="3" name="Content Placeholder 2"/>
          <p:cNvSpPr>
            <a:spLocks noGrp="1"/>
          </p:cNvSpPr>
          <p:nvPr>
            <p:ph idx="1"/>
          </p:nvPr>
        </p:nvSpPr>
        <p:spPr/>
        <p:txBody>
          <a:bodyPr/>
          <a:lstStyle/>
          <a:p>
            <a:r>
              <a:rPr lang="en-GB" dirty="0"/>
              <a:t>The written essay is a performance appraisal technique in which an evaluator writes out a description of an employee's strengths and weaknesses, past performance, and potential</a:t>
            </a:r>
            <a:r>
              <a:rPr lang="en-GB" dirty="0" smtClean="0"/>
              <a:t>.</a:t>
            </a:r>
          </a:p>
          <a:p>
            <a:r>
              <a:rPr lang="en-GB" dirty="0" smtClean="0"/>
              <a:t>The </a:t>
            </a:r>
            <a:r>
              <a:rPr lang="en-GB" dirty="0"/>
              <a:t>evaluator would also make suggestions for improvement </a:t>
            </a:r>
          </a:p>
        </p:txBody>
      </p:sp>
    </p:spTree>
    <p:extLst>
      <p:ext uri="{BB962C8B-B14F-4D97-AF65-F5344CB8AC3E}">
        <p14:creationId xmlns:p14="http://schemas.microsoft.com/office/powerpoint/2010/main" val="32626230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Critical </a:t>
            </a:r>
            <a:r>
              <a:rPr lang="en-IN" b="1" dirty="0" smtClean="0"/>
              <a:t>Incidents</a:t>
            </a:r>
            <a:endParaRPr lang="en-IN" dirty="0"/>
          </a:p>
        </p:txBody>
      </p:sp>
      <p:sp>
        <p:nvSpPr>
          <p:cNvPr id="3" name="Content Placeholder 2"/>
          <p:cNvSpPr>
            <a:spLocks noGrp="1"/>
          </p:cNvSpPr>
          <p:nvPr>
            <p:ph idx="1"/>
          </p:nvPr>
        </p:nvSpPr>
        <p:spPr>
          <a:xfrm>
            <a:off x="457200" y="3124200"/>
            <a:ext cx="8229600" cy="3001963"/>
          </a:xfrm>
        </p:spPr>
        <p:txBody>
          <a:bodyPr/>
          <a:lstStyle/>
          <a:p>
            <a:pPr marL="0" indent="0" algn="ctr">
              <a:buNone/>
            </a:pPr>
            <a:r>
              <a:rPr lang="en-GB" dirty="0"/>
              <a:t>The appraiser writes down anecdotes that describe what the employee did that was especially effective or ineffective </a:t>
            </a:r>
          </a:p>
        </p:txBody>
      </p:sp>
    </p:spTree>
    <p:extLst>
      <p:ext uri="{BB962C8B-B14F-4D97-AF65-F5344CB8AC3E}">
        <p14:creationId xmlns:p14="http://schemas.microsoft.com/office/powerpoint/2010/main" val="11544476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Graphic Rating </a:t>
            </a:r>
            <a:r>
              <a:rPr lang="en-IN" b="1" dirty="0" smtClean="0"/>
              <a:t>Scales</a:t>
            </a:r>
            <a:endParaRPr lang="en-IN" dirty="0"/>
          </a:p>
        </p:txBody>
      </p:sp>
      <p:sp>
        <p:nvSpPr>
          <p:cNvPr id="3" name="Content Placeholder 2"/>
          <p:cNvSpPr>
            <a:spLocks noGrp="1"/>
          </p:cNvSpPr>
          <p:nvPr>
            <p:ph idx="1"/>
          </p:nvPr>
        </p:nvSpPr>
        <p:spPr/>
        <p:txBody>
          <a:bodyPr>
            <a:normAutofit fontScale="85000" lnSpcReduction="10000"/>
          </a:bodyPr>
          <a:lstStyle/>
          <a:p>
            <a:r>
              <a:rPr lang="en-GB" dirty="0"/>
              <a:t>This method lists a set of performance factors such as quantity and quality of work, job knowledge, cooperation, loyalty, attendance, honesty, and initiative. </a:t>
            </a:r>
            <a:endParaRPr lang="en-GB" dirty="0" smtClean="0"/>
          </a:p>
          <a:p>
            <a:r>
              <a:rPr lang="en-GB" dirty="0" smtClean="0"/>
              <a:t>The </a:t>
            </a:r>
            <a:r>
              <a:rPr lang="en-GB" dirty="0"/>
              <a:t>evaluator then goes down the list and rates the employee on each factor using an incremental scale. </a:t>
            </a:r>
            <a:endParaRPr lang="en-GB" dirty="0" smtClean="0"/>
          </a:p>
          <a:p>
            <a:r>
              <a:rPr lang="en-GB" dirty="0" smtClean="0"/>
              <a:t>The </a:t>
            </a:r>
            <a:r>
              <a:rPr lang="en-GB" dirty="0"/>
              <a:t>scales typically specify five points; for instance, a factor such as job knowledge might be rated from 1 ("poorly informed about work duties") to 5 ("has complete mastery of all phases of the job</a:t>
            </a:r>
            <a:r>
              <a:rPr lang="en-GB" dirty="0" smtClean="0"/>
              <a:t>").</a:t>
            </a:r>
            <a:endParaRPr lang="en-GB" dirty="0"/>
          </a:p>
        </p:txBody>
      </p:sp>
    </p:spTree>
    <p:extLst>
      <p:ext uri="{BB962C8B-B14F-4D97-AF65-F5344CB8AC3E}">
        <p14:creationId xmlns:p14="http://schemas.microsoft.com/office/powerpoint/2010/main" val="31580098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err="1"/>
              <a:t>Behaviorally</a:t>
            </a:r>
            <a:r>
              <a:rPr lang="en-IN" b="1" dirty="0"/>
              <a:t> Anchored Rating </a:t>
            </a:r>
            <a:r>
              <a:rPr lang="en-IN" b="1" dirty="0" smtClean="0"/>
              <a:t>Scales</a:t>
            </a:r>
            <a:endParaRPr lang="en-IN" dirty="0"/>
          </a:p>
        </p:txBody>
      </p:sp>
      <p:sp>
        <p:nvSpPr>
          <p:cNvPr id="3" name="Content Placeholder 2"/>
          <p:cNvSpPr>
            <a:spLocks noGrp="1"/>
          </p:cNvSpPr>
          <p:nvPr>
            <p:ph idx="1"/>
          </p:nvPr>
        </p:nvSpPr>
        <p:spPr>
          <a:xfrm>
            <a:off x="457200" y="3200400"/>
            <a:ext cx="8229600" cy="2925763"/>
          </a:xfrm>
        </p:spPr>
        <p:txBody>
          <a:bodyPr/>
          <a:lstStyle/>
          <a:p>
            <a:pPr marL="0" indent="0" algn="ctr">
              <a:buNone/>
            </a:pPr>
            <a:r>
              <a:rPr lang="en-GB" dirty="0" smtClean="0"/>
              <a:t>The </a:t>
            </a:r>
            <a:r>
              <a:rPr lang="en-GB" dirty="0"/>
              <a:t>appraiser rates an employee according to items along a numerical scale, but the items are examples of actual </a:t>
            </a:r>
            <a:r>
              <a:rPr lang="en-GB" dirty="0" err="1"/>
              <a:t>behavior</a:t>
            </a:r>
            <a:r>
              <a:rPr lang="en-GB" dirty="0"/>
              <a:t> on a job rather than general descriptions or </a:t>
            </a:r>
            <a:r>
              <a:rPr lang="en-GB" dirty="0" smtClean="0"/>
              <a:t>traits</a:t>
            </a:r>
            <a:endParaRPr lang="en-GB" dirty="0"/>
          </a:p>
        </p:txBody>
      </p:sp>
    </p:spTree>
    <p:extLst>
      <p:ext uri="{BB962C8B-B14F-4D97-AF65-F5344CB8AC3E}">
        <p14:creationId xmlns:p14="http://schemas.microsoft.com/office/powerpoint/2010/main" val="32620769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err="1"/>
              <a:t>Multiperson</a:t>
            </a:r>
            <a:r>
              <a:rPr lang="en-IN" b="1" dirty="0"/>
              <a:t> </a:t>
            </a:r>
            <a:r>
              <a:rPr lang="en-IN" b="1" dirty="0" smtClean="0"/>
              <a:t>Comparisons</a:t>
            </a:r>
            <a:endParaRPr lang="en-IN" dirty="0"/>
          </a:p>
        </p:txBody>
      </p:sp>
      <p:sp>
        <p:nvSpPr>
          <p:cNvPr id="3" name="Content Placeholder 2"/>
          <p:cNvSpPr>
            <a:spLocks noGrp="1"/>
          </p:cNvSpPr>
          <p:nvPr>
            <p:ph idx="1"/>
          </p:nvPr>
        </p:nvSpPr>
        <p:spPr/>
        <p:txBody>
          <a:bodyPr>
            <a:normAutofit fontScale="85000" lnSpcReduction="20000"/>
          </a:bodyPr>
          <a:lstStyle/>
          <a:p>
            <a:r>
              <a:rPr lang="en-GB" dirty="0" err="1"/>
              <a:t>Multiperson</a:t>
            </a:r>
            <a:r>
              <a:rPr lang="en-GB" dirty="0"/>
              <a:t> comparisons compare one individual's performance with that of one or more others. </a:t>
            </a:r>
          </a:p>
          <a:p>
            <a:r>
              <a:rPr lang="en-GB" dirty="0"/>
              <a:t>The </a:t>
            </a:r>
            <a:r>
              <a:rPr lang="en-GB" u="sng" dirty="0"/>
              <a:t>group order ranking </a:t>
            </a:r>
            <a:r>
              <a:rPr lang="en-GB" dirty="0"/>
              <a:t>requires the evaluator to place employees into a particular classification such as "top one-fifth" or "second one-fifth." </a:t>
            </a:r>
          </a:p>
          <a:p>
            <a:r>
              <a:rPr lang="en-GB" dirty="0"/>
              <a:t>The </a:t>
            </a:r>
            <a:r>
              <a:rPr lang="en-GB" u="sng" dirty="0"/>
              <a:t>individual ranking approach </a:t>
            </a:r>
            <a:r>
              <a:rPr lang="en-GB" dirty="0"/>
              <a:t>requires the evaluator merely to list the employees in order from highest to </a:t>
            </a:r>
            <a:r>
              <a:rPr lang="en-GB" dirty="0" smtClean="0"/>
              <a:t>lowest</a:t>
            </a:r>
            <a:endParaRPr lang="en-GB" dirty="0"/>
          </a:p>
          <a:p>
            <a:r>
              <a:rPr lang="en-GB" dirty="0"/>
              <a:t>In the </a:t>
            </a:r>
            <a:r>
              <a:rPr lang="en-GB" u="sng" dirty="0"/>
              <a:t>paired comparison approach</a:t>
            </a:r>
            <a:r>
              <a:rPr lang="en-GB" dirty="0"/>
              <a:t>, each employee is compared with every other employee in the comparison group and rated as either the superior or weaker member of the pair </a:t>
            </a:r>
          </a:p>
          <a:p>
            <a:endParaRPr lang="en-IN" dirty="0"/>
          </a:p>
        </p:txBody>
      </p:sp>
    </p:spTree>
    <p:extLst>
      <p:ext uri="{BB962C8B-B14F-4D97-AF65-F5344CB8AC3E}">
        <p14:creationId xmlns:p14="http://schemas.microsoft.com/office/powerpoint/2010/main" val="25632778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Management by Objectives (MBO)</a:t>
            </a:r>
            <a:endParaRPr lang="en-IN" dirty="0"/>
          </a:p>
        </p:txBody>
      </p:sp>
      <p:sp>
        <p:nvSpPr>
          <p:cNvPr id="3" name="Content Placeholder 2"/>
          <p:cNvSpPr>
            <a:spLocks noGrp="1"/>
          </p:cNvSpPr>
          <p:nvPr>
            <p:ph idx="1"/>
          </p:nvPr>
        </p:nvSpPr>
        <p:spPr>
          <a:xfrm>
            <a:off x="457200" y="3124200"/>
            <a:ext cx="8229600" cy="3001963"/>
          </a:xfrm>
        </p:spPr>
        <p:txBody>
          <a:bodyPr/>
          <a:lstStyle/>
          <a:p>
            <a:pPr marL="0" indent="0" algn="ctr">
              <a:buNone/>
            </a:pPr>
            <a:r>
              <a:rPr lang="en-GB" dirty="0"/>
              <a:t>With MBO, employees are evaluated by how well they accomplish a specific set of goals that has been determined to be critical in the successful completion of their jobs</a:t>
            </a:r>
            <a:r>
              <a:rPr lang="en-GB" dirty="0" smtClean="0"/>
              <a:t>.</a:t>
            </a:r>
            <a:endParaRPr lang="en-GB" dirty="0"/>
          </a:p>
        </p:txBody>
      </p:sp>
    </p:spTree>
    <p:extLst>
      <p:ext uri="{BB962C8B-B14F-4D97-AF65-F5344CB8AC3E}">
        <p14:creationId xmlns:p14="http://schemas.microsoft.com/office/powerpoint/2010/main" val="13604121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360 Degree Feedback</a:t>
            </a:r>
            <a:endParaRPr lang="en-IN" dirty="0"/>
          </a:p>
        </p:txBody>
      </p:sp>
      <p:sp>
        <p:nvSpPr>
          <p:cNvPr id="3" name="Content Placeholder 2"/>
          <p:cNvSpPr>
            <a:spLocks noGrp="1"/>
          </p:cNvSpPr>
          <p:nvPr>
            <p:ph idx="1"/>
          </p:nvPr>
        </p:nvSpPr>
        <p:spPr>
          <a:xfrm>
            <a:off x="457200" y="3352800"/>
            <a:ext cx="8229600" cy="2773363"/>
          </a:xfrm>
        </p:spPr>
        <p:txBody>
          <a:bodyPr/>
          <a:lstStyle/>
          <a:p>
            <a:pPr marL="0" indent="0" algn="ctr">
              <a:buNone/>
            </a:pPr>
            <a:r>
              <a:rPr lang="en-GB" dirty="0"/>
              <a:t>A</a:t>
            </a:r>
            <a:r>
              <a:rPr lang="en-GB" dirty="0" smtClean="0"/>
              <a:t> </a:t>
            </a:r>
            <a:r>
              <a:rPr lang="en-GB" dirty="0"/>
              <a:t>performance appraisal method that utilizes feedback from supervisors, employees, and co-workers </a:t>
            </a:r>
          </a:p>
        </p:txBody>
      </p:sp>
    </p:spTree>
    <p:extLst>
      <p:ext uri="{BB962C8B-B14F-4D97-AF65-F5344CB8AC3E}">
        <p14:creationId xmlns:p14="http://schemas.microsoft.com/office/powerpoint/2010/main" val="37426548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Compensation and Benefits</a:t>
            </a:r>
            <a:endParaRPr lang="en-IN" dirty="0"/>
          </a:p>
        </p:txBody>
      </p:sp>
      <p:sp>
        <p:nvSpPr>
          <p:cNvPr id="3" name="Content Placeholder 2"/>
          <p:cNvSpPr>
            <a:spLocks noGrp="1"/>
          </p:cNvSpPr>
          <p:nvPr>
            <p:ph idx="1"/>
          </p:nvPr>
        </p:nvSpPr>
        <p:spPr/>
        <p:txBody>
          <a:bodyPr>
            <a:normAutofit fontScale="77500" lnSpcReduction="20000"/>
          </a:bodyPr>
          <a:lstStyle/>
          <a:p>
            <a:pPr marL="0" indent="0">
              <a:buNone/>
            </a:pPr>
            <a:r>
              <a:rPr lang="en-GB" u="sng" dirty="0" smtClean="0"/>
              <a:t>Factors influencing compensation and benefits:</a:t>
            </a:r>
          </a:p>
          <a:p>
            <a:pPr marL="0" indent="0">
              <a:buNone/>
            </a:pPr>
            <a:endParaRPr lang="en-GB" u="sng" dirty="0" smtClean="0"/>
          </a:p>
          <a:p>
            <a:pPr marL="514350" indent="-514350">
              <a:buFont typeface="+mj-lt"/>
              <a:buAutoNum type="arabicPeriod"/>
            </a:pPr>
            <a:r>
              <a:rPr lang="en-GB" dirty="0"/>
              <a:t>Employee's tenure and performance</a:t>
            </a:r>
          </a:p>
          <a:p>
            <a:pPr marL="514350" indent="-514350">
              <a:buFont typeface="+mj-lt"/>
              <a:buAutoNum type="arabicPeriod"/>
            </a:pPr>
            <a:r>
              <a:rPr lang="en-GB" dirty="0"/>
              <a:t>Size of company</a:t>
            </a:r>
          </a:p>
          <a:p>
            <a:pPr marL="514350" indent="-514350">
              <a:buFont typeface="+mj-lt"/>
              <a:buAutoNum type="arabicPeriod"/>
            </a:pPr>
            <a:r>
              <a:rPr lang="en-GB" dirty="0"/>
              <a:t>Company profitability</a:t>
            </a:r>
          </a:p>
          <a:p>
            <a:pPr marL="514350" indent="-514350">
              <a:buFont typeface="+mj-lt"/>
              <a:buAutoNum type="arabicPeriod"/>
            </a:pPr>
            <a:r>
              <a:rPr lang="en-GB" dirty="0"/>
              <a:t>Geographical location</a:t>
            </a:r>
          </a:p>
          <a:p>
            <a:pPr marL="514350" indent="-514350">
              <a:buFont typeface="+mj-lt"/>
              <a:buAutoNum type="arabicPeriod"/>
            </a:pPr>
            <a:r>
              <a:rPr lang="en-GB" dirty="0"/>
              <a:t>Management philosophy</a:t>
            </a:r>
          </a:p>
          <a:p>
            <a:pPr marL="514350" indent="-514350">
              <a:buFont typeface="+mj-lt"/>
              <a:buAutoNum type="arabicPeriod"/>
            </a:pPr>
            <a:r>
              <a:rPr lang="en-GB" dirty="0" err="1"/>
              <a:t>Labor</a:t>
            </a:r>
            <a:r>
              <a:rPr lang="en-GB" dirty="0"/>
              <a:t> or capital intensive</a:t>
            </a:r>
          </a:p>
          <a:p>
            <a:pPr marL="514350" indent="-514350">
              <a:buFont typeface="+mj-lt"/>
              <a:buAutoNum type="arabicPeriod"/>
            </a:pPr>
            <a:r>
              <a:rPr lang="en-GB" dirty="0"/>
              <a:t>Unionization</a:t>
            </a:r>
          </a:p>
          <a:p>
            <a:pPr marL="514350" indent="-514350">
              <a:buFont typeface="+mj-lt"/>
              <a:buAutoNum type="arabicPeriod"/>
            </a:pPr>
            <a:r>
              <a:rPr lang="en-GB" dirty="0"/>
              <a:t>Kind of business</a:t>
            </a:r>
          </a:p>
          <a:p>
            <a:pPr marL="514350" indent="-514350">
              <a:buFont typeface="+mj-lt"/>
              <a:buAutoNum type="arabicPeriod"/>
            </a:pPr>
            <a:r>
              <a:rPr lang="en-GB" dirty="0"/>
              <a:t>Kind of job </a:t>
            </a:r>
            <a:r>
              <a:rPr lang="en-GB" dirty="0" smtClean="0"/>
              <a:t>performed</a:t>
            </a:r>
            <a:endParaRPr lang="en-GB" dirty="0"/>
          </a:p>
        </p:txBody>
      </p:sp>
    </p:spTree>
    <p:extLst>
      <p:ext uri="{BB962C8B-B14F-4D97-AF65-F5344CB8AC3E}">
        <p14:creationId xmlns:p14="http://schemas.microsoft.com/office/powerpoint/2010/main" val="41241065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Career Development</a:t>
            </a:r>
            <a:endParaRPr lang="en-IN" dirty="0"/>
          </a:p>
        </p:txBody>
      </p:sp>
      <p:sp>
        <p:nvSpPr>
          <p:cNvPr id="3" name="Content Placeholder 2"/>
          <p:cNvSpPr>
            <a:spLocks noGrp="1"/>
          </p:cNvSpPr>
          <p:nvPr>
            <p:ph idx="1"/>
          </p:nvPr>
        </p:nvSpPr>
        <p:spPr>
          <a:xfrm>
            <a:off x="457200" y="3886200"/>
            <a:ext cx="8229600" cy="2239963"/>
          </a:xfrm>
        </p:spPr>
        <p:txBody>
          <a:bodyPr/>
          <a:lstStyle/>
          <a:p>
            <a:pPr marL="0" indent="0">
              <a:buNone/>
            </a:pPr>
            <a:r>
              <a:rPr lang="en-GB" dirty="0"/>
              <a:t>A</a:t>
            </a:r>
            <a:r>
              <a:rPr lang="en-GB" dirty="0" smtClean="0"/>
              <a:t> </a:t>
            </a:r>
            <a:r>
              <a:rPr lang="en-GB" u="sng" dirty="0"/>
              <a:t>career</a:t>
            </a:r>
            <a:r>
              <a:rPr lang="en-GB" dirty="0"/>
              <a:t> as the sequence of positions held by a person during his or her </a:t>
            </a:r>
            <a:r>
              <a:rPr lang="en-GB" dirty="0" smtClean="0"/>
              <a:t>lifetime</a:t>
            </a:r>
            <a:endParaRPr lang="en-GB" dirty="0"/>
          </a:p>
        </p:txBody>
      </p:sp>
    </p:spTree>
    <p:extLst>
      <p:ext uri="{BB962C8B-B14F-4D97-AF65-F5344CB8AC3E}">
        <p14:creationId xmlns:p14="http://schemas.microsoft.com/office/powerpoint/2010/main" val="21583331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67000"/>
            <a:ext cx="8229600" cy="1143000"/>
          </a:xfrm>
        </p:spPr>
        <p:txBody>
          <a:bodyPr/>
          <a:lstStyle/>
          <a:p>
            <a:r>
              <a:rPr lang="en-GB" dirty="0" smtClean="0"/>
              <a:t>Current Issues in Management</a:t>
            </a:r>
            <a:endParaRPr lang="en-IN" dirty="0"/>
          </a:p>
        </p:txBody>
      </p:sp>
    </p:spTree>
    <p:extLst>
      <p:ext uri="{BB962C8B-B14F-4D97-AF65-F5344CB8AC3E}">
        <p14:creationId xmlns:p14="http://schemas.microsoft.com/office/powerpoint/2010/main" val="12236133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Managing Workforce Diversity</a:t>
            </a:r>
            <a:endParaRPr lang="en-IN" dirty="0"/>
          </a:p>
        </p:txBody>
      </p:sp>
      <p:sp>
        <p:nvSpPr>
          <p:cNvPr id="3" name="Content Placeholder 2"/>
          <p:cNvSpPr>
            <a:spLocks noGrp="1"/>
          </p:cNvSpPr>
          <p:nvPr>
            <p:ph idx="1"/>
          </p:nvPr>
        </p:nvSpPr>
        <p:spPr>
          <a:xfrm>
            <a:off x="457200" y="2971800"/>
            <a:ext cx="8229600" cy="3154363"/>
          </a:xfrm>
        </p:spPr>
        <p:txBody>
          <a:bodyPr/>
          <a:lstStyle/>
          <a:p>
            <a:r>
              <a:rPr lang="en-GB" dirty="0" smtClean="0"/>
              <a:t>Ensuring diversity in recruitment</a:t>
            </a:r>
          </a:p>
          <a:p>
            <a:r>
              <a:rPr lang="en-GB" dirty="0" smtClean="0"/>
              <a:t>Diversity in selection</a:t>
            </a:r>
          </a:p>
          <a:p>
            <a:r>
              <a:rPr lang="en-GB" dirty="0" smtClean="0"/>
              <a:t>Orientation and training</a:t>
            </a:r>
            <a:endParaRPr lang="en-IN" dirty="0"/>
          </a:p>
        </p:txBody>
      </p:sp>
    </p:spTree>
    <p:extLst>
      <p:ext uri="{BB962C8B-B14F-4D97-AF65-F5344CB8AC3E}">
        <p14:creationId xmlns:p14="http://schemas.microsoft.com/office/powerpoint/2010/main" val="15244287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124200"/>
            <a:ext cx="8229600" cy="1143000"/>
          </a:xfrm>
        </p:spPr>
        <p:txBody>
          <a:bodyPr/>
          <a:lstStyle/>
          <a:p>
            <a:r>
              <a:rPr lang="en-GB" dirty="0" smtClean="0"/>
              <a:t>Sexual Harassment at workplace</a:t>
            </a:r>
            <a:endParaRPr lang="en-IN" dirty="0"/>
          </a:p>
        </p:txBody>
      </p:sp>
    </p:spTree>
    <p:extLst>
      <p:ext uri="{BB962C8B-B14F-4D97-AF65-F5344CB8AC3E}">
        <p14:creationId xmlns:p14="http://schemas.microsoft.com/office/powerpoint/2010/main" val="35931440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Work Life Balance</a:t>
            </a:r>
            <a:endParaRPr lang="en-IN" dirty="0"/>
          </a:p>
        </p:txBody>
      </p:sp>
      <p:sp>
        <p:nvSpPr>
          <p:cNvPr id="3" name="Content Placeholder 2"/>
          <p:cNvSpPr>
            <a:spLocks noGrp="1"/>
          </p:cNvSpPr>
          <p:nvPr>
            <p:ph idx="1"/>
          </p:nvPr>
        </p:nvSpPr>
        <p:spPr>
          <a:xfrm>
            <a:off x="457200" y="2514600"/>
            <a:ext cx="8229600" cy="3611563"/>
          </a:xfrm>
        </p:spPr>
        <p:txBody>
          <a:bodyPr/>
          <a:lstStyle/>
          <a:p>
            <a:r>
              <a:rPr lang="en-GB" b="1" dirty="0" smtClean="0"/>
              <a:t>Family friendly benefits: </a:t>
            </a:r>
            <a:r>
              <a:rPr lang="en-GB" dirty="0" err="1"/>
              <a:t>flextime</a:t>
            </a:r>
            <a:r>
              <a:rPr lang="en-GB" dirty="0"/>
              <a:t>, child care, part-time employment, relocation programs, summer camps for employees' children, parental leave, and adoption benefits</a:t>
            </a:r>
          </a:p>
          <a:p>
            <a:r>
              <a:rPr lang="en-GB" b="1" dirty="0" smtClean="0"/>
              <a:t>Dual-career couples</a:t>
            </a:r>
            <a:endParaRPr lang="en-IN" b="1" dirty="0"/>
          </a:p>
        </p:txBody>
      </p:sp>
    </p:spTree>
    <p:extLst>
      <p:ext uri="{BB962C8B-B14F-4D97-AF65-F5344CB8AC3E}">
        <p14:creationId xmlns:p14="http://schemas.microsoft.com/office/powerpoint/2010/main" val="15492889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TotalTime>
  <Words>1907</Words>
  <Application>Microsoft Office PowerPoint</Application>
  <PresentationFormat>On-screen Show (4:3)</PresentationFormat>
  <Paragraphs>176</Paragraphs>
  <Slides>37</Slides>
  <Notes>0</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Human Resource Management (HRM)</vt:lpstr>
      <vt:lpstr>Why Human Resource Management is important?</vt:lpstr>
      <vt:lpstr>HRM Process</vt:lpstr>
      <vt:lpstr>Human Resource Planning (HRP)</vt:lpstr>
      <vt:lpstr>Current Assessment</vt:lpstr>
      <vt:lpstr>PowerPoint Presentation</vt:lpstr>
      <vt:lpstr>Meeting Future Human Resource Needs</vt:lpstr>
      <vt:lpstr>Recruitment</vt:lpstr>
      <vt:lpstr>Sources of Recruitment</vt:lpstr>
      <vt:lpstr>Sources of Recruitment</vt:lpstr>
      <vt:lpstr>Sources of Recruitment</vt:lpstr>
      <vt:lpstr>Derecruitment</vt:lpstr>
      <vt:lpstr>Selection</vt:lpstr>
      <vt:lpstr>PowerPoint Presentation</vt:lpstr>
      <vt:lpstr>Validity and Reliability of Selection</vt:lpstr>
      <vt:lpstr>Selection Devices</vt:lpstr>
      <vt:lpstr>Suggestions for Interviews</vt:lpstr>
      <vt:lpstr>Orientation</vt:lpstr>
      <vt:lpstr>Employee training</vt:lpstr>
      <vt:lpstr>Methods of Training</vt:lpstr>
      <vt:lpstr>On-The-Job Training Methods</vt:lpstr>
      <vt:lpstr>Off-The-Job Training Methods</vt:lpstr>
      <vt:lpstr>Employee Performance Management</vt:lpstr>
      <vt:lpstr>Methods of Performance Appraisal</vt:lpstr>
      <vt:lpstr>Written Essays</vt:lpstr>
      <vt:lpstr>Critical Incidents</vt:lpstr>
      <vt:lpstr>Graphic Rating Scales</vt:lpstr>
      <vt:lpstr>Behaviorally Anchored Rating Scales</vt:lpstr>
      <vt:lpstr>Multiperson Comparisons</vt:lpstr>
      <vt:lpstr>Management by Objectives (MBO)</vt:lpstr>
      <vt:lpstr>360 Degree Feedback</vt:lpstr>
      <vt:lpstr>Compensation and Benefits</vt:lpstr>
      <vt:lpstr>Career Development</vt:lpstr>
      <vt:lpstr>Current Issues in Management</vt:lpstr>
      <vt:lpstr>Managing Workforce Diversity</vt:lpstr>
      <vt:lpstr>Sexual Harassment at workplace</vt:lpstr>
      <vt:lpstr>Work Life Balance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Resource Management (HRM)</dc:title>
  <dc:creator>HP</dc:creator>
  <cp:lastModifiedBy>HP</cp:lastModifiedBy>
  <cp:revision>10</cp:revision>
  <dcterms:created xsi:type="dcterms:W3CDTF">2006-08-16T00:00:00Z</dcterms:created>
  <dcterms:modified xsi:type="dcterms:W3CDTF">2026-02-25T20:13:03Z</dcterms:modified>
</cp:coreProperties>
</file>